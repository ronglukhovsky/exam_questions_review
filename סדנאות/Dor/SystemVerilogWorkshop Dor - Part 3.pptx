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58"/>
  </p:notesMasterIdLst>
  <p:sldIdLst>
    <p:sldId id="256" r:id="rId2"/>
    <p:sldId id="353" r:id="rId3"/>
    <p:sldId id="581" r:id="rId4"/>
    <p:sldId id="577" r:id="rId5"/>
    <p:sldId id="544" r:id="rId6"/>
    <p:sldId id="338" r:id="rId7"/>
    <p:sldId id="536" r:id="rId8"/>
    <p:sldId id="559" r:id="rId9"/>
    <p:sldId id="352" r:id="rId10"/>
    <p:sldId id="270" r:id="rId11"/>
    <p:sldId id="546" r:id="rId12"/>
    <p:sldId id="287" r:id="rId13"/>
    <p:sldId id="560" r:id="rId14"/>
    <p:sldId id="547" r:id="rId15"/>
    <p:sldId id="566" r:id="rId16"/>
    <p:sldId id="343" r:id="rId17"/>
    <p:sldId id="548" r:id="rId18"/>
    <p:sldId id="344" r:id="rId19"/>
    <p:sldId id="345" r:id="rId20"/>
    <p:sldId id="392" r:id="rId21"/>
    <p:sldId id="292" r:id="rId22"/>
    <p:sldId id="567" r:id="rId23"/>
    <p:sldId id="561" r:id="rId24"/>
    <p:sldId id="282" r:id="rId25"/>
    <p:sldId id="568" r:id="rId26"/>
    <p:sldId id="563" r:id="rId27"/>
    <p:sldId id="553" r:id="rId28"/>
    <p:sldId id="574" r:id="rId29"/>
    <p:sldId id="556" r:id="rId30"/>
    <p:sldId id="378" r:id="rId31"/>
    <p:sldId id="552" r:id="rId32"/>
    <p:sldId id="290" r:id="rId33"/>
    <p:sldId id="291" r:id="rId34"/>
    <p:sldId id="340" r:id="rId35"/>
    <p:sldId id="549" r:id="rId36"/>
    <p:sldId id="554" r:id="rId37"/>
    <p:sldId id="555" r:id="rId38"/>
    <p:sldId id="569" r:id="rId39"/>
    <p:sldId id="584" r:id="rId40"/>
    <p:sldId id="585" r:id="rId41"/>
    <p:sldId id="562" r:id="rId42"/>
    <p:sldId id="375" r:id="rId43"/>
    <p:sldId id="540" r:id="rId44"/>
    <p:sldId id="586" r:id="rId45"/>
    <p:sldId id="557" r:id="rId46"/>
    <p:sldId id="558" r:id="rId47"/>
    <p:sldId id="564" r:id="rId48"/>
    <p:sldId id="573" r:id="rId49"/>
    <p:sldId id="571" r:id="rId50"/>
    <p:sldId id="583" r:id="rId51"/>
    <p:sldId id="582" r:id="rId52"/>
    <p:sldId id="474" r:id="rId53"/>
    <p:sldId id="572" r:id="rId54"/>
    <p:sldId id="578" r:id="rId55"/>
    <p:sldId id="579" r:id="rId56"/>
    <p:sldId id="580" r:id="rId5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92" autoAdjust="0"/>
    <p:restoredTop sz="89471" autoAdjust="0"/>
  </p:normalViewPr>
  <p:slideViewPr>
    <p:cSldViewPr snapToGrid="0">
      <p:cViewPr varScale="1">
        <p:scale>
          <a:sx n="136" d="100"/>
          <a:sy n="136" d="100"/>
        </p:scale>
        <p:origin x="276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09FD87-354B-4BF0-9E2E-80DD7324A6DD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1335E8-FD18-4802-BD5E-02665AF936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105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41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75228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07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9413587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873090E-79B6-479C-807A-4C55B1AF066D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157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7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746496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בדומה לסדנה הקודמת יצרנו כאן </a:t>
            </a:r>
            <a:r>
              <a:rPr lang="he-IL" dirty="0" err="1"/>
              <a:t>מוקס</a:t>
            </a:r>
            <a:r>
              <a:rPr lang="he-IL" dirty="0"/>
              <a:t>, רק שהפעם הקוד הרבה יותר קצר, ברור והמיפוי בקצה הוא אותו המיפוי</a:t>
            </a: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5312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5713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8707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r>
              <a:rPr lang="he-IL" dirty="0"/>
              <a:t>למה חשוב ערך </a:t>
            </a:r>
            <a:r>
              <a:rPr lang="he-IL" dirty="0" err="1"/>
              <a:t>דיפולטי</a:t>
            </a:r>
            <a:r>
              <a:rPr lang="he-IL" dirty="0"/>
              <a:t>?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411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AA5D810-E3A6-4CE2-97ED-210851BD2F8C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165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5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altLang="en-US" dirty="0"/>
              <a:t>מאחר ולא כיסינו את כלל האפשרויות </a:t>
            </a:r>
            <a:r>
              <a:rPr lang="he-IL" altLang="en-US" dirty="0" err="1"/>
              <a:t>יווצר</a:t>
            </a:r>
            <a:r>
              <a:rPr lang="he-IL" altLang="en-US" dirty="0"/>
              <a:t> לנו </a:t>
            </a:r>
            <a:r>
              <a:rPr lang="he-IL" altLang="en-US" dirty="0" err="1"/>
              <a:t>לאצ</a:t>
            </a:r>
            <a:r>
              <a:rPr lang="he-IL" altLang="en-US" dirty="0"/>
              <a:t>' אשר ישמור את הערך הקודם של קיו מאחר והערך של קיו לא משתנה ולא מוזן מהכניסות.</a:t>
            </a:r>
          </a:p>
          <a:p>
            <a:r>
              <a:rPr lang="he-IL" altLang="en-US" dirty="0"/>
              <a:t>צריך לשמור את הערך הקודם ולכן </a:t>
            </a:r>
            <a:r>
              <a:rPr lang="he-IL" altLang="en-US" dirty="0" err="1"/>
              <a:t>יווצר</a:t>
            </a:r>
            <a:r>
              <a:rPr lang="he-IL" altLang="en-US" dirty="0"/>
              <a:t> רכיב </a:t>
            </a:r>
            <a:r>
              <a:rPr lang="he-IL" altLang="en-US" dirty="0" err="1"/>
              <a:t>זכרון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7677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AA5D810-E3A6-4CE2-97ED-210851BD2F8C}" type="slidenum">
              <a:rPr lang="en-US" altLang="en-US"/>
              <a:pPr/>
              <a:t>21</a:t>
            </a:fld>
            <a:endParaRPr lang="en-US" altLang="en-US"/>
          </a:p>
        </p:txBody>
      </p:sp>
      <p:sp>
        <p:nvSpPr>
          <p:cNvPr id="165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5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087438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AA5D810-E3A6-4CE2-97ED-210851BD2F8C}" type="slidenum">
              <a:rPr lang="en-US" altLang="en-US"/>
              <a:pPr/>
              <a:t>22</a:t>
            </a:fld>
            <a:endParaRPr lang="en-US" altLang="en-US"/>
          </a:p>
        </p:txBody>
      </p:sp>
      <p:sp>
        <p:nvSpPr>
          <p:cNvPr id="165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5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altLang="en-US" dirty="0"/>
              <a:t>באג במג'יק של הוק ריבר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18682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סט – להכיל ערך של 1 </a:t>
            </a:r>
            <a:r>
              <a:rPr lang="he-IL" dirty="0" err="1"/>
              <a:t>בפליפלופ</a:t>
            </a:r>
            <a:r>
              <a:rPr lang="he-IL" dirty="0"/>
              <a:t> בתחילת עולם</a:t>
            </a:r>
          </a:p>
          <a:p>
            <a:r>
              <a:rPr lang="he-IL" dirty="0"/>
              <a:t>כליר – להתחיל ערך של 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8397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5832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רשימת רגישויות – מתי להריץ את אבן היסוד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1548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1440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 err="1"/>
              <a:t>ריסט</a:t>
            </a:r>
            <a:r>
              <a:rPr lang="he-IL" dirty="0"/>
              <a:t> אסינכרוני – תגובה מיידית</a:t>
            </a:r>
            <a:endParaRPr lang="en-US" dirty="0"/>
          </a:p>
          <a:p>
            <a:r>
              <a:rPr lang="he-IL" dirty="0"/>
              <a:t>הפסקה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777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1024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1836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מתי נבחר </a:t>
            </a:r>
            <a:r>
              <a:rPr lang="he-IL" dirty="0" err="1"/>
              <a:t>בלוקינג</a:t>
            </a:r>
            <a:r>
              <a:rPr lang="he-IL" dirty="0"/>
              <a:t> אל מול נון </a:t>
            </a:r>
            <a:r>
              <a:rPr lang="he-IL" dirty="0" err="1"/>
              <a:t>בלוקינג</a:t>
            </a:r>
            <a:endParaRPr lang="en-US" dirty="0"/>
          </a:p>
          <a:p>
            <a:r>
              <a:rPr lang="he-IL" dirty="0"/>
              <a:t>כשנרצה השמה מיידית – </a:t>
            </a:r>
            <a:r>
              <a:rPr lang="he-IL" dirty="0" err="1"/>
              <a:t>בלוקינג</a:t>
            </a:r>
            <a:endParaRPr lang="he-IL" dirty="0"/>
          </a:p>
          <a:p>
            <a:r>
              <a:rPr lang="he-IL" dirty="0"/>
              <a:t>כשנרצה השמה בסיום המערכת – נון </a:t>
            </a:r>
            <a:r>
              <a:rPr lang="he-IL" dirty="0" err="1"/>
              <a:t>בלוקינג</a:t>
            </a:r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40157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טבלת אמת</a:t>
            </a:r>
            <a:endParaRPr lang="en-US" dirty="0"/>
          </a:p>
          <a:p>
            <a:r>
              <a:rPr lang="en-US" dirty="0"/>
              <a:t>In = 0, A =1, B = 1, C = 1</a:t>
            </a:r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57616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he-IL" dirty="0"/>
              <a:t>מה זה </a:t>
            </a:r>
            <a:r>
              <a:rPr lang="en-US" dirty="0"/>
              <a:t>0x</a:t>
            </a:r>
            <a:r>
              <a:rPr lang="he-IL" dirty="0"/>
              <a:t>?</a:t>
            </a:r>
          </a:p>
          <a:p>
            <a:pPr algn="r" rtl="1"/>
            <a:r>
              <a:rPr lang="he-IL" dirty="0"/>
              <a:t>תשובה ה</a:t>
            </a:r>
            <a:endParaRPr lang="en-US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27797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מה ניתן לשנות בקוד כדי להשתמש רק בבלוק סינכרוני</a:t>
            </a: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39007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r>
              <a:rPr lang="he-IL" dirty="0"/>
              <a:t>מה הבעיות </a:t>
            </a:r>
            <a:r>
              <a:rPr lang="he-IL" dirty="0" err="1"/>
              <a:t>שיווצרו</a:t>
            </a:r>
            <a:r>
              <a:rPr lang="he-IL" dirty="0"/>
              <a:t> בקטע הקוד </a:t>
            </a:r>
            <a:r>
              <a:rPr lang="he-IL" dirty="0" err="1"/>
              <a:t>הנל</a:t>
            </a:r>
            <a:r>
              <a:rPr lang="he-IL" dirty="0"/>
              <a:t>?</a:t>
            </a:r>
          </a:p>
          <a:p>
            <a:pPr marL="0" algn="r" defTabSz="914400" rtl="1" eaLnBrk="1" latinLnBrk="0" hangingPunct="1"/>
            <a:r>
              <a:rPr lang="he-IL" dirty="0"/>
              <a:t>אנחנו עלולים להשתמש ב</a:t>
            </a:r>
            <a:r>
              <a:rPr lang="en-US" dirty="0"/>
              <a:t>d</a:t>
            </a:r>
            <a:r>
              <a:rPr lang="he-IL" dirty="0"/>
              <a:t> לפני שהוא אותחל</a:t>
            </a:r>
            <a:br>
              <a:rPr lang="en-US" dirty="0"/>
            </a:br>
            <a:r>
              <a:rPr lang="he-IL" dirty="0"/>
              <a:t>אין </a:t>
            </a:r>
            <a:r>
              <a:rPr lang="en-US" dirty="0"/>
              <a:t>else statement</a:t>
            </a:r>
            <a:r>
              <a:rPr lang="he-IL" dirty="0"/>
              <a:t> ל</a:t>
            </a:r>
            <a:r>
              <a:rPr lang="en-US" dirty="0"/>
              <a:t>d</a:t>
            </a:r>
            <a:r>
              <a:rPr lang="he-IL" dirty="0"/>
              <a:t> מה שיגרום לכך שישנם מסלולים אשר </a:t>
            </a:r>
            <a:r>
              <a:rPr lang="en-US" dirty="0"/>
              <a:t>d</a:t>
            </a:r>
            <a:r>
              <a:rPr lang="he-IL" dirty="0"/>
              <a:t> אינו מאותחל בהם ואין לו ערך </a:t>
            </a:r>
            <a:r>
              <a:rPr lang="he-IL" dirty="0" err="1"/>
              <a:t>דיפולטי</a:t>
            </a:r>
            <a:r>
              <a:rPr lang="he-IL" dirty="0"/>
              <a:t> במצב של </a:t>
            </a:r>
            <a:r>
              <a:rPr lang="en-US" dirty="0"/>
              <a:t>reset</a:t>
            </a:r>
            <a:r>
              <a:rPr lang="he-IL" dirty="0"/>
              <a:t>. </a:t>
            </a:r>
          </a:p>
          <a:p>
            <a:pPr marL="0" algn="r" defTabSz="914400" rtl="1" eaLnBrk="1" latinLnBrk="0" hangingPunct="1"/>
            <a:r>
              <a:rPr lang="he-IL" dirty="0" err="1"/>
              <a:t>הסיתנזה</a:t>
            </a:r>
            <a:r>
              <a:rPr lang="he-IL" dirty="0"/>
              <a:t> עלולה לחשוב ש</a:t>
            </a:r>
            <a:r>
              <a:rPr lang="en-US" dirty="0"/>
              <a:t>d</a:t>
            </a:r>
            <a:r>
              <a:rPr lang="he-IL" dirty="0"/>
              <a:t> משמר את הערך שלו מה שיגרום ליצירת </a:t>
            </a:r>
            <a:r>
              <a:rPr lang="en-US" dirty="0"/>
              <a:t>ff</a:t>
            </a:r>
            <a:r>
              <a:rPr lang="he-IL" dirty="0"/>
              <a:t> נוספים ופגיעה בביצועים בגלל </a:t>
            </a:r>
            <a:r>
              <a:rPr lang="he-IL" dirty="0" err="1"/>
              <a:t>דיליי</a:t>
            </a:r>
            <a:endParaRPr lang="he-IL" dirty="0"/>
          </a:p>
          <a:p>
            <a:pPr marL="0" algn="r" defTabSz="914400" rtl="1" eaLnBrk="1" latinLnBrk="0" hangingPunct="1"/>
            <a:endParaRPr lang="he-IL" dirty="0"/>
          </a:p>
          <a:p>
            <a:pPr marL="0" algn="r" defTabSz="914400" rtl="1" eaLnBrk="1" latinLnBrk="0" hangingPunct="1"/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6561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r>
              <a:rPr lang="he-IL" dirty="0"/>
              <a:t>מה זמן המחזור של השעון במקרה הזה? </a:t>
            </a:r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44153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54796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34565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הבהרה מאוד מאוד מאוד חשובה על סנכרון בין סיגנלים לשעון! לדוגמה, לא יקרה מצב בו סיגנל </a:t>
            </a:r>
            <a:r>
              <a:rPr lang="he-IL" dirty="0" err="1"/>
              <a:t>ריסט</a:t>
            </a:r>
            <a:r>
              <a:rPr lang="he-IL" dirty="0"/>
              <a:t> עולה בירידת שעון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74134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מה יקרה אחרי 16 מחזורי שעון </a:t>
            </a:r>
            <a:r>
              <a:rPr lang="he-IL" dirty="0" err="1"/>
              <a:t>לקאונטר</a:t>
            </a:r>
            <a:r>
              <a:rPr lang="he-IL" dirty="0"/>
              <a:t>? למה הוא יהיה שווה?</a:t>
            </a:r>
            <a:r>
              <a:rPr lang="en-US" dirty="0"/>
              <a:t> </a:t>
            </a:r>
            <a:endParaRPr lang="he-IL" dirty="0"/>
          </a:p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96312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תשובה ג</a:t>
            </a: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3972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FF8DE-8D1B-4B7B-8329-285CB76952A0}" type="datetime1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416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98B16-3E9C-4308-9BE8-6E9D1D5D4526}" type="datetime1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301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81056-97A0-4E94-B0D0-F3C51EEA3076}" type="datetime1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585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4D917-DF00-4623-B7D4-5D51A63B497D}" type="datetime1">
              <a:rPr lang="en-US" smtClean="0"/>
              <a:t>12/16/25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387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340DE-A940-4764-8E36-524CD4F2E2B6}" type="datetime1">
              <a:rPr lang="en-US" smtClean="0"/>
              <a:t>12/16/25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436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C2BFE-C8DF-4F57-991F-408BA04358E2}" type="datetime1">
              <a:rPr lang="en-US" smtClean="0"/>
              <a:t>12/16/25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527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7357A-3674-4A2C-B7E8-43097434B588}" type="datetime1">
              <a:rPr lang="en-US" smtClean="0"/>
              <a:t>12/16/25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750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A810C-6244-4D68-9E05-2DB45485D191}" type="datetime1">
              <a:rPr lang="en-US" smtClean="0"/>
              <a:t>12/16/25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935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C1478-73A6-4CE8-B8AB-D3887B6C0001}" type="datetime1">
              <a:rPr lang="en-US" smtClean="0"/>
              <a:t>12/16/25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19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E0040-C2AE-47B2-BCA4-1FD146571803}" type="datetime1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777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968A7-D41A-48E3-ACE0-CEFA48BE1158}" type="datetime1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205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9FD43B-65BB-438E-BECA-533F684B8E1C}" type="datetime1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F9015D-2E86-4A98-A269-2CCB378563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669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SystemVerilog</a:t>
            </a:r>
            <a:r>
              <a:rPr lang="en-US" dirty="0"/>
              <a:t> HDL</a:t>
            </a:r>
            <a:br>
              <a:rPr lang="en-US" dirty="0"/>
            </a:br>
            <a:r>
              <a:rPr lang="en-US" dirty="0"/>
              <a:t>Workshop #3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044252 - Digital Systems and Computer Structure</a:t>
            </a:r>
          </a:p>
        </p:txBody>
      </p:sp>
    </p:spTree>
    <p:extLst>
      <p:ext uri="{BB962C8B-B14F-4D97-AF65-F5344CB8AC3E}">
        <p14:creationId xmlns:p14="http://schemas.microsoft.com/office/powerpoint/2010/main" val="39210923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Covered Last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Hardware Description Languages</a:t>
            </a:r>
          </a:p>
          <a:p>
            <a:r>
              <a:rPr lang="en-US" dirty="0" err="1"/>
              <a:t>SystemVerilog</a:t>
            </a:r>
            <a:r>
              <a:rPr lang="en-US" dirty="0"/>
              <a:t> Building Blocks:</a:t>
            </a:r>
          </a:p>
          <a:p>
            <a:pPr lvl="1"/>
            <a:r>
              <a:rPr lang="en-US" dirty="0"/>
              <a:t>Values / Number representation</a:t>
            </a:r>
          </a:p>
          <a:p>
            <a:pPr lvl="1"/>
            <a:r>
              <a:rPr lang="en-US" dirty="0"/>
              <a:t>Bitwise operators</a:t>
            </a:r>
          </a:p>
          <a:p>
            <a:pPr lvl="1"/>
            <a:r>
              <a:rPr lang="en-US" dirty="0"/>
              <a:t>Module implementation</a:t>
            </a:r>
          </a:p>
          <a:p>
            <a:pPr lvl="2"/>
            <a:r>
              <a:rPr lang="en-US" dirty="0"/>
              <a:t>Module instantiation</a:t>
            </a:r>
          </a:p>
          <a:p>
            <a:pPr lvl="2"/>
            <a:r>
              <a:rPr lang="en-US" dirty="0"/>
              <a:t>Concurrent assignments</a:t>
            </a:r>
          </a:p>
          <a:p>
            <a:pPr lvl="2"/>
            <a:r>
              <a:rPr lang="en-US" dirty="0"/>
              <a:t>Procedural blocks</a:t>
            </a:r>
          </a:p>
          <a:p>
            <a:pPr lvl="1"/>
            <a:r>
              <a:rPr lang="en-US" dirty="0"/>
              <a:t>Parameters</a:t>
            </a:r>
          </a:p>
          <a:p>
            <a:r>
              <a:rPr lang="en-US" dirty="0"/>
              <a:t>Parallelism in HDL</a:t>
            </a:r>
          </a:p>
          <a:p>
            <a:r>
              <a:rPr lang="en-US" dirty="0"/>
              <a:t>Test benches and simulation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192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Covered Last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Hardware Description Languages</a:t>
            </a:r>
          </a:p>
          <a:p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SystemVerilog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Building Blocks: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Values / Number representation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Bitwise operators</a:t>
            </a:r>
          </a:p>
          <a:p>
            <a:pPr lvl="1"/>
            <a:r>
              <a:rPr lang="en-US" dirty="0"/>
              <a:t>Module implementation</a:t>
            </a:r>
          </a:p>
          <a:p>
            <a:pPr lvl="2"/>
            <a:r>
              <a:rPr lang="en-US" dirty="0"/>
              <a:t>Module instantiation</a:t>
            </a:r>
          </a:p>
          <a:p>
            <a:pPr lvl="2"/>
            <a:r>
              <a:rPr lang="en-US" dirty="0"/>
              <a:t>Concurrent assignments</a:t>
            </a:r>
          </a:p>
          <a:p>
            <a:pPr lvl="2"/>
            <a:r>
              <a:rPr lang="en-US" dirty="0"/>
              <a:t>Procedural blocks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Parameters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Parallelism in HDL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Test benches and simulation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5823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365127"/>
            <a:ext cx="7886700" cy="854074"/>
          </a:xfrm>
        </p:spPr>
        <p:txBody>
          <a:bodyPr>
            <a:normAutofit/>
          </a:bodyPr>
          <a:lstStyle/>
          <a:p>
            <a:r>
              <a:rPr lang="en-US" altLang="en-US" dirty="0"/>
              <a:t>Module Instantiation - Recap</a:t>
            </a:r>
          </a:p>
        </p:txBody>
      </p:sp>
      <p:sp>
        <p:nvSpPr>
          <p:cNvPr id="23347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04800" y="1143000"/>
            <a:ext cx="8534400" cy="965641"/>
          </a:xfrm>
        </p:spPr>
        <p:txBody>
          <a:bodyPr/>
          <a:lstStyle/>
          <a:p>
            <a:r>
              <a:rPr lang="en-US" altLang="en-US" dirty="0"/>
              <a:t>2-bit wide mux from two 1-bit </a:t>
            </a:r>
            <a:r>
              <a:rPr lang="en-US" altLang="en-US" dirty="0" err="1"/>
              <a:t>muxes</a:t>
            </a:r>
            <a:endParaRPr lang="en-US" altLang="en-US" dirty="0"/>
          </a:p>
        </p:txBody>
      </p:sp>
      <p:sp>
        <p:nvSpPr>
          <p:cNvPr id="233476" name="Rectangle 4"/>
          <p:cNvSpPr>
            <a:spLocks noChangeArrowheads="1"/>
          </p:cNvSpPr>
          <p:nvPr/>
        </p:nvSpPr>
        <p:spPr bwMode="auto">
          <a:xfrm>
            <a:off x="-523231" y="2494601"/>
            <a:ext cx="10341293" cy="41011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rgbClr val="030305"/>
              </a:buClr>
            </a:pP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module mux2to1_2 (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rgbClr val="030305"/>
              </a:buClr>
            </a:pP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output logic [1:0] O,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rgbClr val="030305"/>
              </a:buClr>
            </a:pP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input  logic [1:0] A,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rgbClr val="030305"/>
              </a:buClr>
            </a:pP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input  logic [1:0] B,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rgbClr val="030305"/>
              </a:buClr>
            </a:pP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input  logic </a:t>
            </a:r>
            <a:r>
              <a:rPr lang="en-US" altLang="en-US" sz="20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</a:t>
            </a:r>
            <a:endParaRPr lang="en-US" altLang="en-US" sz="20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rgbClr val="030305"/>
              </a:buClr>
            </a:pP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rgbClr val="030305"/>
              </a:buClr>
            </a:pPr>
            <a:endParaRPr lang="en-US" altLang="en-US" sz="20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rgbClr val="030305"/>
              </a:buClr>
            </a:pPr>
            <a:endParaRPr lang="en-US" altLang="en-US" sz="2000" b="1" dirty="0">
              <a:solidFill>
                <a:srgbClr val="000000"/>
              </a:solidFill>
              <a:latin typeface="Courier" charset="0"/>
            </a:endParaRP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rgbClr val="030305"/>
              </a:buClr>
            </a:pP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mux2to1 mux0 (.out(O[0]), .</a:t>
            </a:r>
            <a:r>
              <a:rPr lang="en-US" altLang="en-US" sz="20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0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 .A(A[0]), .B(B[0]));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rgbClr val="030305"/>
              </a:buClr>
            </a:pP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mux2to1 mux1 (.out(O[1]), .</a:t>
            </a:r>
            <a:r>
              <a:rPr lang="en-US" altLang="en-US" sz="20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0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 .A(A[1]), .B(B[1]));	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rgbClr val="030305"/>
              </a:buClr>
            </a:pP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rgbClr val="030305"/>
              </a:buClr>
            </a:pPr>
            <a:r>
              <a:rPr lang="en-US" altLang="en-US" sz="20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endmodule</a:t>
            </a:r>
            <a:endParaRPr lang="en-US" altLang="en-US" sz="20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4</a:t>
            </a:fld>
            <a:endParaRPr lang="en-US"/>
          </a:p>
        </p:txBody>
      </p:sp>
      <p:grpSp>
        <p:nvGrpSpPr>
          <p:cNvPr id="55" name="Group 54"/>
          <p:cNvGrpSpPr/>
          <p:nvPr/>
        </p:nvGrpSpPr>
        <p:grpSpPr>
          <a:xfrm>
            <a:off x="4781352" y="1877466"/>
            <a:ext cx="4556630" cy="3096790"/>
            <a:chOff x="4781352" y="1877466"/>
            <a:chExt cx="4556630" cy="3096790"/>
          </a:xfrm>
        </p:grpSpPr>
        <p:cxnSp>
          <p:nvCxnSpPr>
            <p:cNvPr id="18" name="Straight Arrow Connector 17"/>
            <p:cNvCxnSpPr/>
            <p:nvPr/>
          </p:nvCxnSpPr>
          <p:spPr>
            <a:xfrm flipV="1">
              <a:off x="4902758" y="2427890"/>
              <a:ext cx="637723" cy="1051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" name="Group 53"/>
            <p:cNvGrpSpPr/>
            <p:nvPr/>
          </p:nvGrpSpPr>
          <p:grpSpPr>
            <a:xfrm>
              <a:off x="4781352" y="1877466"/>
              <a:ext cx="4556630" cy="3096790"/>
              <a:chOff x="4781352" y="1877466"/>
              <a:chExt cx="4556630" cy="3096790"/>
            </a:xfrm>
          </p:grpSpPr>
          <p:sp>
            <p:nvSpPr>
              <p:cNvPr id="4" name="Rounded Rectangle 3"/>
              <p:cNvSpPr/>
              <p:nvPr/>
            </p:nvSpPr>
            <p:spPr>
              <a:xfrm>
                <a:off x="5603984" y="1877466"/>
                <a:ext cx="2911366" cy="2337181"/>
              </a:xfrm>
              <a:prstGeom prst="round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3" name="Straight Arrow Connector 22"/>
              <p:cNvCxnSpPr/>
              <p:nvPr/>
            </p:nvCxnSpPr>
            <p:spPr>
              <a:xfrm flipV="1">
                <a:off x="4908013" y="2906109"/>
                <a:ext cx="637723" cy="1051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684DB0E-3A97-4783-9130-4DC3C9FAA96B}"/>
                  </a:ext>
                </a:extLst>
              </p:cNvPr>
              <p:cNvSpPr txBox="1"/>
              <p:nvPr/>
            </p:nvSpPr>
            <p:spPr>
              <a:xfrm>
                <a:off x="4781352" y="2549465"/>
                <a:ext cx="88053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B</a:t>
                </a:r>
                <a:r>
                  <a:rPr lang="en-US" dirty="0">
                    <a:solidFill>
                      <a:srgbClr val="FF0000"/>
                    </a:solidFill>
                  </a:rPr>
                  <a:t>[1:0]</a:t>
                </a:r>
              </a:p>
            </p:txBody>
          </p:sp>
          <p:cxnSp>
            <p:nvCxnSpPr>
              <p:cNvPr id="26" name="Straight Arrow Connector 25"/>
              <p:cNvCxnSpPr/>
              <p:nvPr/>
            </p:nvCxnSpPr>
            <p:spPr>
              <a:xfrm flipH="1" flipV="1">
                <a:off x="6916913" y="4255149"/>
                <a:ext cx="30364" cy="447859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684DB0E-3A97-4783-9130-4DC3C9FAA96B}"/>
                  </a:ext>
                </a:extLst>
              </p:cNvPr>
              <p:cNvSpPr txBox="1"/>
              <p:nvPr/>
            </p:nvSpPr>
            <p:spPr>
              <a:xfrm>
                <a:off x="6669279" y="4604924"/>
                <a:ext cx="88053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err="1"/>
                  <a:t>sel</a:t>
                </a:r>
                <a:endParaRPr lang="en-US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684DB0E-3A97-4783-9130-4DC3C9FAA96B}"/>
                  </a:ext>
                </a:extLst>
              </p:cNvPr>
              <p:cNvSpPr txBox="1"/>
              <p:nvPr/>
            </p:nvSpPr>
            <p:spPr>
              <a:xfrm>
                <a:off x="8457449" y="2473520"/>
                <a:ext cx="88053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O</a:t>
                </a:r>
                <a:r>
                  <a:rPr lang="en-US" dirty="0">
                    <a:solidFill>
                      <a:srgbClr val="FF0000"/>
                    </a:solidFill>
                  </a:rPr>
                  <a:t>[1:0]</a:t>
                </a:r>
              </a:p>
            </p:txBody>
          </p:sp>
          <p:cxnSp>
            <p:nvCxnSpPr>
              <p:cNvPr id="29" name="Straight Arrow Connector 28"/>
              <p:cNvCxnSpPr/>
              <p:nvPr/>
            </p:nvCxnSpPr>
            <p:spPr>
              <a:xfrm flipV="1">
                <a:off x="8551294" y="2834431"/>
                <a:ext cx="579748" cy="1051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3684DB0E-3A97-4783-9130-4DC3C9FAA96B}"/>
                  </a:ext>
                </a:extLst>
              </p:cNvPr>
              <p:cNvSpPr txBox="1"/>
              <p:nvPr/>
            </p:nvSpPr>
            <p:spPr>
              <a:xfrm>
                <a:off x="4821103" y="2083615"/>
                <a:ext cx="88053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</a:t>
                </a:r>
                <a:r>
                  <a:rPr lang="en-US" dirty="0">
                    <a:solidFill>
                      <a:srgbClr val="FF0000"/>
                    </a:solidFill>
                  </a:rPr>
                  <a:t>[1:0]</a:t>
                </a:r>
              </a:p>
            </p:txBody>
          </p:sp>
        </p:grpSp>
      </p:grpSp>
      <p:grpSp>
        <p:nvGrpSpPr>
          <p:cNvPr id="58" name="Group 57"/>
          <p:cNvGrpSpPr/>
          <p:nvPr/>
        </p:nvGrpSpPr>
        <p:grpSpPr>
          <a:xfrm>
            <a:off x="5603985" y="1946836"/>
            <a:ext cx="2853465" cy="1135284"/>
            <a:chOff x="5603985" y="1946836"/>
            <a:chExt cx="2853465" cy="1135284"/>
          </a:xfrm>
        </p:grpSpPr>
        <p:grpSp>
          <p:nvGrpSpPr>
            <p:cNvPr id="56" name="Group 55"/>
            <p:cNvGrpSpPr/>
            <p:nvPr/>
          </p:nvGrpSpPr>
          <p:grpSpPr>
            <a:xfrm>
              <a:off x="5603985" y="1946836"/>
              <a:ext cx="2066033" cy="1135284"/>
              <a:chOff x="5603984" y="1946835"/>
              <a:chExt cx="2066033" cy="1135284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684DB0E-3A97-4783-9130-4DC3C9FAA96B}"/>
                  </a:ext>
                </a:extLst>
              </p:cNvPr>
              <p:cNvSpPr txBox="1"/>
              <p:nvPr/>
            </p:nvSpPr>
            <p:spPr>
              <a:xfrm>
                <a:off x="5919807" y="1950996"/>
                <a:ext cx="88053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rgbClr val="0070C0"/>
                    </a:solidFill>
                  </a:rPr>
                  <a:t>A</a:t>
                </a:r>
                <a:r>
                  <a:rPr lang="he-IL" sz="1400" dirty="0">
                    <a:solidFill>
                      <a:srgbClr val="0070C0"/>
                    </a:solidFill>
                  </a:rPr>
                  <a:t>]</a:t>
                </a:r>
                <a:r>
                  <a:rPr lang="en-US" sz="1400" dirty="0">
                    <a:solidFill>
                      <a:srgbClr val="0070C0"/>
                    </a:solidFill>
                  </a:rPr>
                  <a:t>0</a:t>
                </a:r>
                <a:r>
                  <a:rPr lang="he-IL" sz="1400" dirty="0">
                    <a:solidFill>
                      <a:srgbClr val="0070C0"/>
                    </a:solidFill>
                  </a:rPr>
                  <a:t>[</a:t>
                </a:r>
                <a:endParaRPr lang="en-US" sz="1400" dirty="0">
                  <a:solidFill>
                    <a:srgbClr val="0070C0"/>
                  </a:solidFill>
                </a:endParaRPr>
              </a:p>
            </p:txBody>
          </p:sp>
          <p:pic>
            <p:nvPicPr>
              <p:cNvPr id="30" name="Picture 2" descr="Image result for mux">
                <a:extLst>
                  <a:ext uri="{FF2B5EF4-FFF2-40B4-BE49-F238E27FC236}">
                    <a16:creationId xmlns:a16="http://schemas.microsoft.com/office/drawing/2014/main" id="{204BA42A-261C-42B6-87B4-F9AF2287CF0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360074" y="1946835"/>
                <a:ext cx="1309943" cy="113528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21" name="Elbow Connector 20"/>
              <p:cNvCxnSpPr/>
              <p:nvPr/>
            </p:nvCxnSpPr>
            <p:spPr>
              <a:xfrm flipV="1">
                <a:off x="5603984" y="2222576"/>
                <a:ext cx="805592" cy="205314"/>
              </a:xfrm>
              <a:prstGeom prst="bentConnector3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Elbow Connector 36"/>
              <p:cNvCxnSpPr/>
              <p:nvPr/>
            </p:nvCxnSpPr>
            <p:spPr>
              <a:xfrm flipV="1">
                <a:off x="5603984" y="2616146"/>
                <a:ext cx="805592" cy="247923"/>
              </a:xfrm>
              <a:prstGeom prst="bentConnector3">
                <a:avLst>
                  <a:gd name="adj1" fmla="val 31735"/>
                </a:avLst>
              </a:pr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3684DB0E-3A97-4783-9130-4DC3C9FAA96B}"/>
                  </a:ext>
                </a:extLst>
              </p:cNvPr>
              <p:cNvSpPr txBox="1"/>
              <p:nvPr/>
            </p:nvSpPr>
            <p:spPr>
              <a:xfrm>
                <a:off x="6000388" y="2355940"/>
                <a:ext cx="88053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2">
                        <a:lumMod val="75000"/>
                      </a:schemeClr>
                    </a:solidFill>
                  </a:rPr>
                  <a:t>B</a:t>
                </a:r>
                <a:r>
                  <a:rPr lang="he-IL" sz="1400" dirty="0">
                    <a:solidFill>
                      <a:schemeClr val="accent2">
                        <a:lumMod val="75000"/>
                      </a:schemeClr>
                    </a:solidFill>
                  </a:rPr>
                  <a:t>]</a:t>
                </a:r>
                <a:r>
                  <a:rPr lang="en-US" sz="1400" dirty="0">
                    <a:solidFill>
                      <a:schemeClr val="accent2">
                        <a:lumMod val="75000"/>
                      </a:schemeClr>
                    </a:solidFill>
                  </a:rPr>
                  <a:t>0</a:t>
                </a:r>
                <a:r>
                  <a:rPr lang="he-IL" sz="1400" dirty="0">
                    <a:solidFill>
                      <a:schemeClr val="accent2">
                        <a:lumMod val="75000"/>
                      </a:schemeClr>
                    </a:solidFill>
                  </a:rPr>
                  <a:t>[</a:t>
                </a:r>
                <a:endParaRPr lang="en-US" sz="1400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p:grpSp>
        <p:cxnSp>
          <p:nvCxnSpPr>
            <p:cNvPr id="45" name="Elbow Connector 44"/>
            <p:cNvCxnSpPr/>
            <p:nvPr/>
          </p:nvCxnSpPr>
          <p:spPr>
            <a:xfrm>
              <a:off x="7549813" y="2427890"/>
              <a:ext cx="907637" cy="414962"/>
            </a:xfrm>
            <a:prstGeom prst="bentConnector3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59" name="Group 58"/>
          <p:cNvGrpSpPr/>
          <p:nvPr/>
        </p:nvGrpSpPr>
        <p:grpSpPr>
          <a:xfrm>
            <a:off x="5866266" y="2438401"/>
            <a:ext cx="2123086" cy="1714570"/>
            <a:chOff x="5866266" y="2438401"/>
            <a:chExt cx="2123086" cy="1714570"/>
          </a:xfrm>
        </p:grpSpPr>
        <p:grpSp>
          <p:nvGrpSpPr>
            <p:cNvPr id="57" name="Group 56"/>
            <p:cNvGrpSpPr/>
            <p:nvPr/>
          </p:nvGrpSpPr>
          <p:grpSpPr>
            <a:xfrm>
              <a:off x="5866266" y="2438401"/>
              <a:ext cx="1823213" cy="1714570"/>
              <a:chOff x="5864776" y="2438401"/>
              <a:chExt cx="1823213" cy="1714570"/>
            </a:xfrm>
          </p:grpSpPr>
          <p:pic>
            <p:nvPicPr>
              <p:cNvPr id="32" name="Picture 2" descr="Image result for mux">
                <a:extLst>
                  <a:ext uri="{FF2B5EF4-FFF2-40B4-BE49-F238E27FC236}">
                    <a16:creationId xmlns:a16="http://schemas.microsoft.com/office/drawing/2014/main" id="{204BA42A-261C-42B6-87B4-F9AF2287CF0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378046" y="3017687"/>
                <a:ext cx="1309943" cy="113528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34" name="Elbow Connector 33"/>
              <p:cNvCxnSpPr/>
              <p:nvPr/>
            </p:nvCxnSpPr>
            <p:spPr>
              <a:xfrm rot="16200000" flipH="1">
                <a:off x="5801444" y="2643738"/>
                <a:ext cx="861844" cy="451170"/>
              </a:xfrm>
              <a:prstGeom prst="bentConnector3">
                <a:avLst>
                  <a:gd name="adj1" fmla="val 97561"/>
                </a:avLst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Elbow Connector 39"/>
              <p:cNvCxnSpPr/>
              <p:nvPr/>
            </p:nvCxnSpPr>
            <p:spPr>
              <a:xfrm rot="16200000" flipH="1">
                <a:off x="5738323" y="2990524"/>
                <a:ext cx="846083" cy="593178"/>
              </a:xfrm>
              <a:prstGeom prst="bentConnector3">
                <a:avLst>
                  <a:gd name="adj1" fmla="val 95963"/>
                </a:avLst>
              </a:pr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3684DB0E-3A97-4783-9130-4DC3C9FAA96B}"/>
                  </a:ext>
                </a:extLst>
              </p:cNvPr>
              <p:cNvSpPr txBox="1"/>
              <p:nvPr/>
            </p:nvSpPr>
            <p:spPr>
              <a:xfrm>
                <a:off x="5969311" y="3019833"/>
                <a:ext cx="88053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rgbClr val="0070C0"/>
                    </a:solidFill>
                  </a:rPr>
                  <a:t>A</a:t>
                </a:r>
                <a:r>
                  <a:rPr lang="he-IL" sz="1400" dirty="0">
                    <a:solidFill>
                      <a:srgbClr val="0070C0"/>
                    </a:solidFill>
                  </a:rPr>
                  <a:t>]</a:t>
                </a:r>
                <a:r>
                  <a:rPr lang="en-US" sz="1400" dirty="0">
                    <a:solidFill>
                      <a:srgbClr val="0070C0"/>
                    </a:solidFill>
                  </a:rPr>
                  <a:t>1</a:t>
                </a:r>
                <a:r>
                  <a:rPr lang="he-IL" sz="1400" dirty="0">
                    <a:solidFill>
                      <a:srgbClr val="0070C0"/>
                    </a:solidFill>
                  </a:rPr>
                  <a:t>[</a:t>
                </a:r>
                <a:endParaRPr lang="en-US" sz="1400" dirty="0">
                  <a:solidFill>
                    <a:srgbClr val="0070C0"/>
                  </a:solidFill>
                </a:endParaRP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3684DB0E-3A97-4783-9130-4DC3C9FAA96B}"/>
                  </a:ext>
                </a:extLst>
              </p:cNvPr>
              <p:cNvSpPr txBox="1"/>
              <p:nvPr/>
            </p:nvSpPr>
            <p:spPr>
              <a:xfrm>
                <a:off x="5959635" y="3402193"/>
                <a:ext cx="88053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2">
                        <a:lumMod val="75000"/>
                      </a:schemeClr>
                    </a:solidFill>
                  </a:rPr>
                  <a:t>B</a:t>
                </a:r>
                <a:r>
                  <a:rPr lang="he-IL" sz="1400" dirty="0">
                    <a:solidFill>
                      <a:schemeClr val="accent2">
                        <a:lumMod val="75000"/>
                      </a:schemeClr>
                    </a:solidFill>
                  </a:rPr>
                  <a:t>]</a:t>
                </a:r>
                <a:r>
                  <a:rPr lang="en-US" sz="1400" dirty="0">
                    <a:solidFill>
                      <a:schemeClr val="accent2">
                        <a:lumMod val="75000"/>
                      </a:schemeClr>
                    </a:solidFill>
                  </a:rPr>
                  <a:t>1</a:t>
                </a:r>
                <a:r>
                  <a:rPr lang="he-IL" sz="1400" dirty="0">
                    <a:solidFill>
                      <a:schemeClr val="accent2">
                        <a:lumMod val="75000"/>
                      </a:schemeClr>
                    </a:solidFill>
                  </a:rPr>
                  <a:t>[</a:t>
                </a:r>
                <a:endParaRPr lang="en-US" sz="1400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p:grpSp>
        <p:cxnSp>
          <p:nvCxnSpPr>
            <p:cNvPr id="52" name="Elbow Connector 51"/>
            <p:cNvCxnSpPr/>
            <p:nvPr/>
          </p:nvCxnSpPr>
          <p:spPr>
            <a:xfrm rot="5400000" flipH="1" flipV="1">
              <a:off x="7468363" y="2948727"/>
              <a:ext cx="621412" cy="420567"/>
            </a:xfrm>
            <a:prstGeom prst="bentConnector3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46524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Concurrent Assignments - Recap</a:t>
            </a:r>
          </a:p>
        </p:txBody>
      </p:sp>
      <p:sp>
        <p:nvSpPr>
          <p:cNvPr id="29184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75129" y="1604681"/>
            <a:ext cx="8193741" cy="4657165"/>
          </a:xfrm>
        </p:spPr>
        <p:txBody>
          <a:bodyPr>
            <a:normAutofit/>
          </a:bodyPr>
          <a:lstStyle/>
          <a:p>
            <a:r>
              <a:rPr lang="en-US" altLang="en-US" sz="2600" dirty="0"/>
              <a:t>Connect a wire to a combinational logic or another wire</a:t>
            </a:r>
          </a:p>
          <a:p>
            <a:r>
              <a:rPr lang="en-US" altLang="en-US" sz="2600" dirty="0"/>
              <a:t>When the right-hand-side of an assignment changes, it immediately flows through to the left-hand-side wire</a:t>
            </a:r>
          </a:p>
          <a:p>
            <a:r>
              <a:rPr lang="en-US" altLang="en-US" sz="2600" dirty="0"/>
              <a:t>Syntax:</a:t>
            </a:r>
          </a:p>
          <a:p>
            <a:endParaRPr lang="he-IL" altLang="en-US" b="1" dirty="0">
              <a:solidFill>
                <a:srgbClr val="FF3300"/>
              </a:solidFill>
              <a:latin typeface="Courier" charset="0"/>
            </a:endParaRPr>
          </a:p>
          <a:p>
            <a:pPr lvl="1">
              <a:buFontTx/>
              <a:buNone/>
            </a:pPr>
            <a:endParaRPr lang="en-US" altLang="en-US" b="1" dirty="0">
              <a:solidFill>
                <a:srgbClr val="FF3300"/>
              </a:solidFill>
              <a:latin typeface="Courier" charset="0"/>
            </a:endParaRPr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20" name="Slide Number Placeholder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5</a:t>
            </a:fld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C9D47D-A858-4694-8001-39D2168FB870}"/>
              </a:ext>
            </a:extLst>
          </p:cNvPr>
          <p:cNvSpPr txBox="1"/>
          <p:nvPr/>
        </p:nvSpPr>
        <p:spPr>
          <a:xfrm>
            <a:off x="714703" y="3514602"/>
            <a:ext cx="7083972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 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signal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endParaRPr lang="en-US" sz="2400" b="1" dirty="0">
              <a:solidFill>
                <a:srgbClr val="0000FF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assign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signal 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1'b0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D656B0-817F-41EF-A4B4-8FA38B3C7B81}"/>
              </a:ext>
            </a:extLst>
          </p:cNvPr>
          <p:cNvSpPr txBox="1"/>
          <p:nvPr/>
        </p:nvSpPr>
        <p:spPr>
          <a:xfrm>
            <a:off x="714703" y="4508605"/>
            <a:ext cx="7083972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 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signal1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endParaRPr lang="en-US" sz="2400" b="1" dirty="0">
              <a:solidFill>
                <a:srgbClr val="0000FF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 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signal2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endParaRPr lang="en-US" sz="2400" b="1" dirty="0">
              <a:solidFill>
                <a:srgbClr val="0000FF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assign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signal2 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signal1</a:t>
            </a:r>
            <a:r>
              <a:rPr lang="en-US" sz="2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480298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Procedural Blocks - Recap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030" y="1383984"/>
            <a:ext cx="7886700" cy="4679857"/>
          </a:xfrm>
        </p:spPr>
        <p:txBody>
          <a:bodyPr/>
          <a:lstStyle/>
          <a:p>
            <a:r>
              <a:rPr lang="en-US" altLang="en-US" dirty="0"/>
              <a:t>Sequential: all statements inside the block are executed sequentially</a:t>
            </a:r>
          </a:p>
          <a:p>
            <a:pPr lvl="1"/>
            <a:r>
              <a:rPr lang="en-US" altLang="en-US" dirty="0"/>
              <a:t>One line after the other</a:t>
            </a:r>
          </a:p>
          <a:p>
            <a:r>
              <a:rPr lang="en-US" altLang="en-US" dirty="0"/>
              <a:t>Two procedural constructs: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F5C911-9F18-4657-8D0B-59747730C082}"/>
              </a:ext>
            </a:extLst>
          </p:cNvPr>
          <p:cNvSpPr txBox="1"/>
          <p:nvPr/>
        </p:nvSpPr>
        <p:spPr>
          <a:xfrm>
            <a:off x="750713" y="3581190"/>
            <a:ext cx="2976881" cy="22467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en-US" sz="20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initial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20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 &lt;statement1&gt;;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he-IL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2000" dirty="0" err="1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time_to_wait</a:t>
            </a:r>
            <a:endParaRPr lang="he-IL" sz="2000" dirty="0">
              <a:solidFill>
                <a:srgbClr val="FF8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 &lt;statement2&gt;;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he-IL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2000" dirty="0" err="1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time_to_wait</a:t>
            </a:r>
            <a:r>
              <a:rPr lang="he-IL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20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 ...</a:t>
            </a:r>
          </a:p>
          <a:p>
            <a:r>
              <a:rPr lang="en-US" sz="20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r>
              <a:rPr lang="he-IL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CE415E-9386-4D6B-8BFD-6A2BD351FB92}"/>
              </a:ext>
            </a:extLst>
          </p:cNvPr>
          <p:cNvSpPr txBox="1"/>
          <p:nvPr/>
        </p:nvSpPr>
        <p:spPr>
          <a:xfrm>
            <a:off x="4734769" y="3581190"/>
            <a:ext cx="2524892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en-US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always_comb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&lt;statement1&gt;;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&lt;statement2&gt;;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...</a:t>
            </a:r>
          </a:p>
          <a:p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E0D64F-314E-4C47-8B8B-036E9CD374BF}"/>
              </a:ext>
            </a:extLst>
          </p:cNvPr>
          <p:cNvSpPr txBox="1"/>
          <p:nvPr/>
        </p:nvSpPr>
        <p:spPr>
          <a:xfrm>
            <a:off x="750713" y="3145253"/>
            <a:ext cx="2205872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FF3300"/>
                </a:solidFill>
              </a:rPr>
              <a:t>initial</a:t>
            </a:r>
            <a:r>
              <a:rPr lang="en-US" altLang="en-US" dirty="0">
                <a:solidFill>
                  <a:srgbClr val="FF3300"/>
                </a:solidFill>
              </a:rPr>
              <a:t>:</a:t>
            </a:r>
            <a:endParaRPr lang="en-US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B1E6C7-264F-44A4-BE6D-31E7C84A6697}"/>
              </a:ext>
            </a:extLst>
          </p:cNvPr>
          <p:cNvSpPr txBox="1"/>
          <p:nvPr/>
        </p:nvSpPr>
        <p:spPr>
          <a:xfrm>
            <a:off x="4711489" y="3179805"/>
            <a:ext cx="2205872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000" dirty="0" err="1">
                <a:solidFill>
                  <a:srgbClr val="FF3300"/>
                </a:solidFill>
              </a:rPr>
              <a:t>always_comb</a:t>
            </a:r>
            <a:r>
              <a:rPr lang="en-US" altLang="en-US" sz="2000" dirty="0">
                <a:solidFill>
                  <a:srgbClr val="FF3300"/>
                </a:solidFill>
              </a:rPr>
              <a:t>: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1164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5" grpId="0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More operators</a:t>
            </a:r>
          </a:p>
          <a:p>
            <a:r>
              <a:rPr lang="en-US" sz="3600" dirty="0"/>
              <a:t>Conditional statements</a:t>
            </a:r>
          </a:p>
          <a:p>
            <a:r>
              <a:rPr lang="en-US" sz="3600" dirty="0"/>
              <a:t>Synchronous logic and assignments</a:t>
            </a:r>
          </a:p>
          <a:p>
            <a:r>
              <a:rPr lang="en-US" sz="3600" dirty="0"/>
              <a:t>Test benches for synchronous logic</a:t>
            </a:r>
          </a:p>
          <a:p>
            <a:endParaRPr lang="en-US" sz="3600" dirty="0">
              <a:solidFill>
                <a:schemeClr val="bg1">
                  <a:lumMod val="65000"/>
                </a:schemeClr>
              </a:solidFill>
            </a:endParaRPr>
          </a:p>
          <a:p>
            <a:endParaRPr lang="en-US" sz="3600" dirty="0"/>
          </a:p>
          <a:p>
            <a:endParaRPr lang="en-US" sz="3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871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More operators</a:t>
            </a:r>
          </a:p>
          <a:p>
            <a:r>
              <a:rPr lang="en-US" sz="3600" dirty="0">
                <a:solidFill>
                  <a:schemeClr val="bg1">
                    <a:lumMod val="85000"/>
                  </a:schemeClr>
                </a:solidFill>
              </a:rPr>
              <a:t>Conditional statements</a:t>
            </a:r>
          </a:p>
          <a:p>
            <a:r>
              <a:rPr lang="en-US" sz="3600" dirty="0">
                <a:solidFill>
                  <a:schemeClr val="bg1">
                    <a:lumMod val="85000"/>
                  </a:schemeClr>
                </a:solidFill>
              </a:rPr>
              <a:t>Synchronous logic and assignments</a:t>
            </a:r>
          </a:p>
          <a:p>
            <a:r>
              <a:rPr lang="en-US" sz="3600" dirty="0">
                <a:solidFill>
                  <a:schemeClr val="bg1">
                    <a:lumMod val="85000"/>
                  </a:schemeClr>
                </a:solidFill>
              </a:rPr>
              <a:t>Test benches for synchronous logic</a:t>
            </a:r>
          </a:p>
          <a:p>
            <a:endParaRPr lang="en-US" sz="3600" dirty="0">
              <a:solidFill>
                <a:schemeClr val="bg1">
                  <a:lumMod val="65000"/>
                </a:schemeClr>
              </a:solidFill>
            </a:endParaRPr>
          </a:p>
          <a:p>
            <a:endParaRPr lang="en-US" sz="3600" dirty="0"/>
          </a:p>
          <a:p>
            <a:endParaRPr lang="en-US" sz="3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7507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Relational</a:t>
            </a:r>
            <a:r>
              <a:rPr lang="el-GR" altLang="en-US" dirty="0"/>
              <a:t> Operators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sz="2400" dirty="0">
              <a:solidFill>
                <a:schemeClr val="accent6"/>
              </a:solidFill>
            </a:endParaRPr>
          </a:p>
          <a:p>
            <a:endParaRPr lang="en-US" altLang="en-US" sz="2400" dirty="0"/>
          </a:p>
          <a:p>
            <a:endParaRPr lang="en-US" altLang="en-US" sz="2400" dirty="0"/>
          </a:p>
          <a:p>
            <a:endParaRPr lang="en-US" altLang="en-US" sz="2400" dirty="0"/>
          </a:p>
          <a:p>
            <a:endParaRPr lang="en-US" altLang="en-US" sz="2400" dirty="0"/>
          </a:p>
          <a:p>
            <a:endParaRPr lang="en-US" altLang="en-US" sz="2400" dirty="0"/>
          </a:p>
          <a:p>
            <a:r>
              <a:rPr lang="en-US" altLang="en-US" sz="2400" dirty="0"/>
              <a:t>All of these return a 1-bit logical value (true/false or ‘x’)</a:t>
            </a:r>
            <a:endParaRPr lang="el-GR" altLang="en-US" sz="24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9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B36FA0B-4501-4D75-BD3D-B91AB6E404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7080472"/>
              </p:ext>
            </p:extLst>
          </p:nvPr>
        </p:nvGraphicFramePr>
        <p:xfrm>
          <a:off x="1960312" y="1690689"/>
          <a:ext cx="5043802" cy="2595880"/>
        </p:xfrm>
        <a:graphic>
          <a:graphicData uri="http://schemas.openxmlformats.org/drawingml/2006/table">
            <a:tbl>
              <a:tblPr rtl="1" firstRow="1" bandRow="1">
                <a:tableStyleId>{5940675A-B579-460E-94D1-54222C63F5DA}</a:tableStyleId>
              </a:tblPr>
              <a:tblGrid>
                <a:gridCol w="2521901">
                  <a:extLst>
                    <a:ext uri="{9D8B030D-6E8A-4147-A177-3AD203B41FA5}">
                      <a16:colId xmlns:a16="http://schemas.microsoft.com/office/drawing/2014/main" val="3233016417"/>
                    </a:ext>
                  </a:extLst>
                </a:gridCol>
                <a:gridCol w="2521901">
                  <a:extLst>
                    <a:ext uri="{9D8B030D-6E8A-4147-A177-3AD203B41FA5}">
                      <a16:colId xmlns:a16="http://schemas.microsoft.com/office/drawing/2014/main" val="33170898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/>
                        <a:t>Meaning</a:t>
                      </a:r>
                      <a:endParaRPr lang="he-IL" b="1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/>
                        <a:t>Operator</a:t>
                      </a:r>
                      <a:endParaRPr lang="he-IL" b="1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2791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Less than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altLang="en-US" sz="18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</a:t>
                      </a:r>
                      <a:endParaRPr lang="he-I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97636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Less than or equal to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altLang="en-US" sz="18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&lt;=</a:t>
                      </a:r>
                      <a:endParaRPr lang="he-I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9999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Greater than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8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&gt;</a:t>
                      </a:r>
                      <a:endParaRPr lang="he-I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855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Greater than or equal to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&gt;=</a:t>
                      </a:r>
                      <a:endParaRPr lang="he-I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11212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Equal to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==</a:t>
                      </a:r>
                      <a:endParaRPr lang="he-I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9596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Not equal to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!=</a:t>
                      </a:r>
                      <a:endParaRPr lang="he-I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54033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293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l-GR" altLang="en-US"/>
              <a:t>Logical Operators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Used for </a:t>
            </a:r>
            <a:r>
              <a:rPr lang="en-US" altLang="en-US" b="1" dirty="0"/>
              <a:t>conditions</a:t>
            </a:r>
          </a:p>
          <a:p>
            <a:endParaRPr lang="en-US" altLang="en-US" dirty="0">
              <a:sym typeface="Symbol" panose="05050102010706020507" pitchFamily="18" charset="2"/>
            </a:endParaRPr>
          </a:p>
          <a:p>
            <a:endParaRPr lang="en-US" altLang="en-US" dirty="0">
              <a:sym typeface="Symbol" panose="05050102010706020507" pitchFamily="18" charset="2"/>
            </a:endParaRPr>
          </a:p>
          <a:p>
            <a:endParaRPr lang="en-US" altLang="en-US" dirty="0">
              <a:sym typeface="Symbol" panose="05050102010706020507" pitchFamily="18" charset="2"/>
            </a:endParaRPr>
          </a:p>
          <a:p>
            <a:r>
              <a:rPr lang="el-GR" altLang="en-US" dirty="0">
                <a:sym typeface="Symbol" panose="05050102010706020507" pitchFamily="18" charset="2"/>
              </a:rPr>
              <a:t>Operands evaluated to </a:t>
            </a:r>
            <a:r>
              <a:rPr lang="en-US" altLang="en-US" dirty="0">
                <a:sym typeface="Symbol" panose="05050102010706020507" pitchFamily="18" charset="2"/>
              </a:rPr>
              <a:t>1-</a:t>
            </a:r>
            <a:r>
              <a:rPr lang="el-GR" altLang="en-US" dirty="0">
                <a:sym typeface="Symbol" panose="05050102010706020507" pitchFamily="18" charset="2"/>
              </a:rPr>
              <a:t>bit value: </a:t>
            </a:r>
            <a:r>
              <a:rPr lang="el-GR" altLang="en-US" i="1" dirty="0">
                <a:solidFill>
                  <a:srgbClr val="FF0000"/>
                </a:solidFill>
                <a:sym typeface="Symbol" panose="05050102010706020507" pitchFamily="18" charset="2"/>
              </a:rPr>
              <a:t>0</a:t>
            </a:r>
            <a:r>
              <a:rPr lang="en-US" altLang="en-US" i="1" dirty="0">
                <a:solidFill>
                  <a:srgbClr val="FF0000"/>
                </a:solidFill>
                <a:sym typeface="Symbol" panose="05050102010706020507" pitchFamily="18" charset="2"/>
              </a:rPr>
              <a:t> (false)</a:t>
            </a:r>
            <a:r>
              <a:rPr lang="el-GR" altLang="en-US" dirty="0">
                <a:sym typeface="Symbol" panose="05050102010706020507" pitchFamily="18" charset="2"/>
              </a:rPr>
              <a:t>,</a:t>
            </a:r>
            <a:r>
              <a:rPr lang="el-GR" altLang="en-US" i="1" dirty="0">
                <a:sym typeface="Symbol" panose="05050102010706020507" pitchFamily="18" charset="2"/>
              </a:rPr>
              <a:t> </a:t>
            </a:r>
            <a:r>
              <a:rPr lang="el-GR" altLang="en-US" i="1" dirty="0">
                <a:solidFill>
                  <a:srgbClr val="FF0000"/>
                </a:solidFill>
                <a:sym typeface="Symbol" panose="05050102010706020507" pitchFamily="18" charset="2"/>
              </a:rPr>
              <a:t>1</a:t>
            </a:r>
            <a:r>
              <a:rPr lang="en-US" altLang="en-US" i="1" dirty="0">
                <a:solidFill>
                  <a:srgbClr val="FF0000"/>
                </a:solidFill>
                <a:sym typeface="Symbol" panose="05050102010706020507" pitchFamily="18" charset="2"/>
              </a:rPr>
              <a:t> (true)</a:t>
            </a:r>
            <a:r>
              <a:rPr lang="el-GR" altLang="en-US" i="1" dirty="0">
                <a:sym typeface="Symbol" panose="05050102010706020507" pitchFamily="18" charset="2"/>
              </a:rPr>
              <a:t> </a:t>
            </a:r>
            <a:r>
              <a:rPr lang="el-GR" altLang="en-US" dirty="0">
                <a:sym typeface="Symbol" panose="05050102010706020507" pitchFamily="18" charset="2"/>
              </a:rPr>
              <a:t>or</a:t>
            </a:r>
            <a:r>
              <a:rPr lang="el-GR" altLang="en-US" i="1" dirty="0">
                <a:sym typeface="Symbol" panose="05050102010706020507" pitchFamily="18" charset="2"/>
              </a:rPr>
              <a:t> </a:t>
            </a:r>
            <a:r>
              <a:rPr lang="el-GR" altLang="en-US" i="1" dirty="0">
                <a:solidFill>
                  <a:srgbClr val="FF0000"/>
                </a:solidFill>
                <a:sym typeface="Symbol" panose="05050102010706020507" pitchFamily="18" charset="2"/>
              </a:rPr>
              <a:t>x</a:t>
            </a:r>
          </a:p>
          <a:p>
            <a:r>
              <a:rPr lang="el-GR" altLang="en-US" dirty="0">
                <a:sym typeface="Symbol" panose="05050102010706020507" pitchFamily="18" charset="2"/>
              </a:rPr>
              <a:t>Result is </a:t>
            </a:r>
            <a:r>
              <a:rPr lang="en-US" altLang="en-US" dirty="0">
                <a:sym typeface="Symbol" panose="05050102010706020507" pitchFamily="18" charset="2"/>
              </a:rPr>
              <a:t>1-</a:t>
            </a:r>
            <a:r>
              <a:rPr lang="el-GR" altLang="en-US" dirty="0">
                <a:sym typeface="Symbol" panose="05050102010706020507" pitchFamily="18" charset="2"/>
              </a:rPr>
              <a:t>bit value: </a:t>
            </a:r>
            <a:r>
              <a:rPr lang="el-GR" altLang="en-US" i="1" dirty="0">
                <a:solidFill>
                  <a:srgbClr val="FF0000"/>
                </a:solidFill>
                <a:sym typeface="Symbol" panose="05050102010706020507" pitchFamily="18" charset="2"/>
              </a:rPr>
              <a:t>0</a:t>
            </a:r>
            <a:r>
              <a:rPr lang="en-US" altLang="en-US" i="1" dirty="0">
                <a:solidFill>
                  <a:srgbClr val="FF0000"/>
                </a:solidFill>
                <a:sym typeface="Symbol" panose="05050102010706020507" pitchFamily="18" charset="2"/>
              </a:rPr>
              <a:t> (false)</a:t>
            </a:r>
            <a:r>
              <a:rPr lang="el-GR" altLang="en-US" dirty="0">
                <a:sym typeface="Symbol" panose="05050102010706020507" pitchFamily="18" charset="2"/>
              </a:rPr>
              <a:t>,</a:t>
            </a:r>
            <a:r>
              <a:rPr lang="el-GR" altLang="en-US" i="1" dirty="0">
                <a:sym typeface="Symbol" panose="05050102010706020507" pitchFamily="18" charset="2"/>
              </a:rPr>
              <a:t> </a:t>
            </a:r>
            <a:r>
              <a:rPr lang="el-GR" altLang="en-US" i="1" dirty="0">
                <a:solidFill>
                  <a:srgbClr val="FF0000"/>
                </a:solidFill>
                <a:sym typeface="Symbol" panose="05050102010706020507" pitchFamily="18" charset="2"/>
              </a:rPr>
              <a:t>1</a:t>
            </a:r>
            <a:r>
              <a:rPr lang="en-US" altLang="en-US" i="1" dirty="0">
                <a:solidFill>
                  <a:srgbClr val="FF0000"/>
                </a:solidFill>
                <a:sym typeface="Symbol" panose="05050102010706020507" pitchFamily="18" charset="2"/>
              </a:rPr>
              <a:t> (true)</a:t>
            </a:r>
            <a:r>
              <a:rPr lang="el-GR" altLang="en-US" i="1" dirty="0">
                <a:sym typeface="Symbol" panose="05050102010706020507" pitchFamily="18" charset="2"/>
              </a:rPr>
              <a:t> </a:t>
            </a:r>
            <a:r>
              <a:rPr lang="el-GR" altLang="en-US" dirty="0">
                <a:sym typeface="Symbol" panose="05050102010706020507" pitchFamily="18" charset="2"/>
              </a:rPr>
              <a:t>or</a:t>
            </a:r>
            <a:r>
              <a:rPr lang="el-GR" altLang="en-US" i="1" dirty="0">
                <a:sym typeface="Symbol" panose="05050102010706020507" pitchFamily="18" charset="2"/>
              </a:rPr>
              <a:t> </a:t>
            </a:r>
            <a:r>
              <a:rPr lang="el-GR" altLang="en-US" i="1" dirty="0">
                <a:solidFill>
                  <a:srgbClr val="FF0000"/>
                </a:solidFill>
                <a:sym typeface="Symbol" panose="05050102010706020507" pitchFamily="18" charset="2"/>
              </a:rPr>
              <a:t>x </a:t>
            </a:r>
            <a:r>
              <a:rPr lang="el-GR" altLang="en-US" i="1" dirty="0">
                <a:sym typeface="Symbol" panose="05050102010706020507" pitchFamily="18" charset="2"/>
              </a:rPr>
              <a:t>	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10</a:t>
            </a:fld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4BDC10D-EDC3-41F3-AED9-A27DD4D5D1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0020262"/>
              </p:ext>
            </p:extLst>
          </p:nvPr>
        </p:nvGraphicFramePr>
        <p:xfrm>
          <a:off x="2393950" y="2358534"/>
          <a:ext cx="4064000" cy="1483360"/>
        </p:xfrm>
        <a:graphic>
          <a:graphicData uri="http://schemas.openxmlformats.org/drawingml/2006/table">
            <a:tbl>
              <a:tblPr rtl="1"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23301641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3170898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/>
                        <a:t>Meaning</a:t>
                      </a:r>
                      <a:endParaRPr lang="he-IL" b="1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/>
                        <a:t>Operator</a:t>
                      </a:r>
                      <a:endParaRPr lang="he-IL" b="1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2791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Logical AND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l-GR" altLang="en-US" sz="18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&amp;&amp;</a:t>
                      </a:r>
                      <a:endParaRPr lang="he-I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97636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Logical OR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l-GR" altLang="en-US" sz="18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||</a:t>
                      </a:r>
                      <a:endParaRPr lang="he-I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9999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Logical NOT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l-GR" altLang="en-US" sz="18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!</a:t>
                      </a:r>
                      <a:endParaRPr lang="he-I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8558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3388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l-GR" altLang="en-US"/>
              <a:t>Logical Operators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A</a:t>
            </a:r>
            <a:r>
              <a:rPr lang="en-US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B</a:t>
            </a:r>
            <a:r>
              <a:rPr lang="en-US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C</a:t>
            </a:r>
            <a:r>
              <a:rPr lang="en-US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he-IL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assign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A </a:t>
            </a:r>
            <a:r>
              <a:rPr lang="en-US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1'b1</a:t>
            </a:r>
            <a:r>
              <a:rPr lang="en-US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20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assign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B </a:t>
            </a:r>
            <a:r>
              <a:rPr lang="en-US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1'b0</a:t>
            </a:r>
            <a:r>
              <a:rPr lang="en-US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20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assign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C </a:t>
            </a:r>
            <a:r>
              <a:rPr lang="en-US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1'bx</a:t>
            </a:r>
            <a:r>
              <a:rPr lang="en-US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Examples:</a:t>
            </a:r>
            <a:r>
              <a:rPr lang="el-GR" altLang="en-US" i="1" dirty="0">
                <a:sym typeface="Symbol" panose="05050102010706020507" pitchFamily="18" charset="2"/>
              </a:rPr>
              <a:t>	</a:t>
            </a:r>
            <a:endParaRPr lang="en-US" altLang="en-US" i="1" dirty="0">
              <a:sym typeface="Symbol" panose="05050102010706020507" pitchFamily="18" charset="2"/>
            </a:endParaRPr>
          </a:p>
          <a:p>
            <a:pPr lvl="1">
              <a:buFontTx/>
              <a:buNone/>
            </a:pPr>
            <a:r>
              <a:rPr lang="el-GR" altLang="en-US" i="1" dirty="0">
                <a:sym typeface="Symbol" panose="05050102010706020507" pitchFamily="18" charset="2"/>
              </a:rPr>
              <a:t>	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11</a:t>
            </a:fld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1DDF181-5F69-4D0D-A19C-C3BFAD3220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8783382"/>
              </p:ext>
            </p:extLst>
          </p:nvPr>
        </p:nvGraphicFramePr>
        <p:xfrm>
          <a:off x="831430" y="4133060"/>
          <a:ext cx="7513557" cy="1483360"/>
        </p:xfrm>
        <a:graphic>
          <a:graphicData uri="http://schemas.openxmlformats.org/drawingml/2006/table">
            <a:tbl>
              <a:tblPr rtl="1" firstRow="1" bandRow="1">
                <a:tableStyleId>{2D5ABB26-0587-4C30-8999-92F81FD0307C}</a:tableStyleId>
              </a:tblPr>
              <a:tblGrid>
                <a:gridCol w="2504519">
                  <a:extLst>
                    <a:ext uri="{9D8B030D-6E8A-4147-A177-3AD203B41FA5}">
                      <a16:colId xmlns:a16="http://schemas.microsoft.com/office/drawing/2014/main" val="3283772587"/>
                    </a:ext>
                  </a:extLst>
                </a:gridCol>
                <a:gridCol w="2504519">
                  <a:extLst>
                    <a:ext uri="{9D8B030D-6E8A-4147-A177-3AD203B41FA5}">
                      <a16:colId xmlns:a16="http://schemas.microsoft.com/office/drawing/2014/main" val="1050967075"/>
                    </a:ext>
                  </a:extLst>
                </a:gridCol>
                <a:gridCol w="2504519">
                  <a:extLst>
                    <a:ext uri="{9D8B030D-6E8A-4147-A177-3AD203B41FA5}">
                      <a16:colId xmlns:a16="http://schemas.microsoft.com/office/drawing/2014/main" val="33070965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altLang="en-US" sz="1800" dirty="0">
                          <a:latin typeface="Courier New" panose="02070309020205020404" pitchFamily="49" charset="0"/>
                          <a:sym typeface="Symbol" panose="05050102010706020507" pitchFamily="18" charset="2"/>
                        </a:rPr>
                        <a:t>false</a:t>
                      </a:r>
                      <a:endParaRPr lang="he-IL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en-US" sz="1800" dirty="0">
                          <a:latin typeface="Courier New" panose="02070309020205020404" pitchFamily="49" charset="0"/>
                          <a:sym typeface="Symbol" panose="05050102010706020507" pitchFamily="18" charset="2"/>
                        </a:rPr>
                        <a:t>true</a:t>
                      </a:r>
                      <a:r>
                        <a:rPr lang="el-GR" altLang="en-US" sz="1800" dirty="0">
                          <a:latin typeface="Courier New" panose="02070309020205020404" pitchFamily="49" charset="0"/>
                          <a:sym typeface="Symbol" panose="05050102010706020507" pitchFamily="18" charset="2"/>
                        </a:rPr>
                        <a:t> &amp;&amp; </a:t>
                      </a:r>
                      <a:r>
                        <a:rPr lang="en-US" altLang="en-US" sz="1800" dirty="0">
                          <a:latin typeface="Courier New" panose="02070309020205020404" pitchFamily="49" charset="0"/>
                          <a:sym typeface="Symbol" panose="05050102010706020507" pitchFamily="18" charset="2"/>
                        </a:rPr>
                        <a:t>false</a:t>
                      </a:r>
                      <a:r>
                        <a:rPr lang="el-GR" altLang="en-US" sz="1800" dirty="0">
                          <a:latin typeface="Courier New" panose="02070309020205020404" pitchFamily="49" charset="0"/>
                          <a:sym typeface="Symbol" panose="05050102010706020507" pitchFamily="18" charset="2"/>
                        </a:rPr>
                        <a:t>  </a:t>
                      </a:r>
                      <a:endParaRPr lang="he-IL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l-GR" altLang="en-US" sz="1800" dirty="0">
                          <a:latin typeface="Courier New" panose="02070309020205020404" pitchFamily="49" charset="0"/>
                          <a:sym typeface="Symbol" panose="05050102010706020507" pitchFamily="18" charset="2"/>
                        </a:rPr>
                        <a:t>A &amp;&amp; B  </a:t>
                      </a:r>
                      <a:endParaRPr lang="he-IL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410815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n-US" altLang="en-US" sz="1800" dirty="0">
                          <a:latin typeface="Courier New" panose="02070309020205020404" pitchFamily="49" charset="0"/>
                          <a:sym typeface="Symbol" panose="05050102010706020507" pitchFamily="18" charset="2"/>
                        </a:rPr>
                        <a:t>true</a:t>
                      </a:r>
                      <a:endParaRPr lang="he-IL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en-US" sz="1800" dirty="0">
                          <a:latin typeface="Courier New" panose="02070309020205020404" pitchFamily="49" charset="0"/>
                          <a:sym typeface="Symbol" panose="05050102010706020507" pitchFamily="18" charset="2"/>
                        </a:rPr>
                        <a:t>true</a:t>
                      </a:r>
                      <a:r>
                        <a:rPr lang="el-GR" altLang="en-US" sz="1800" dirty="0">
                          <a:latin typeface="Courier New" panose="02070309020205020404" pitchFamily="49" charset="0"/>
                          <a:sym typeface="Symbol" panose="05050102010706020507" pitchFamily="18" charset="2"/>
                        </a:rPr>
                        <a:t> || </a:t>
                      </a:r>
                      <a:r>
                        <a:rPr lang="en-US" altLang="en-US" sz="1800" dirty="0">
                          <a:latin typeface="Courier New" panose="02070309020205020404" pitchFamily="49" charset="0"/>
                          <a:sym typeface="Symbol" panose="05050102010706020507" pitchFamily="18" charset="2"/>
                        </a:rPr>
                        <a:t>true</a:t>
                      </a:r>
                      <a:r>
                        <a:rPr lang="el-GR" altLang="en-US" sz="1800" dirty="0">
                          <a:latin typeface="Courier New" panose="02070309020205020404" pitchFamily="49" charset="0"/>
                          <a:sym typeface="Symbol" panose="05050102010706020507" pitchFamily="18" charset="2"/>
                        </a:rPr>
                        <a:t>  </a:t>
                      </a:r>
                      <a:endParaRPr lang="he-IL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l-GR" altLang="en-US" sz="1800" dirty="0">
                          <a:latin typeface="Courier New" panose="02070309020205020404" pitchFamily="49" charset="0"/>
                          <a:sym typeface="Symbol" panose="05050102010706020507" pitchFamily="18" charset="2"/>
                        </a:rPr>
                        <a:t>A || !B  </a:t>
                      </a:r>
                      <a:endParaRPr lang="he-IL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04290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/>
                      <a:r>
                        <a:rPr lang="el-GR" altLang="en-US" sz="1800" dirty="0">
                          <a:latin typeface="Courier New" panose="02070309020205020404" pitchFamily="49" charset="0"/>
                          <a:sym typeface="Symbol" panose="05050102010706020507" pitchFamily="18" charset="2"/>
                        </a:rPr>
                        <a:t>x</a:t>
                      </a:r>
                      <a:endParaRPr lang="he-IL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l-GR" altLang="en-US" sz="1800" dirty="0">
                          <a:latin typeface="Courier New" panose="02070309020205020404" pitchFamily="49" charset="0"/>
                          <a:sym typeface="Symbol" panose="05050102010706020507" pitchFamily="18" charset="2"/>
                        </a:rPr>
                        <a:t>x || </a:t>
                      </a:r>
                      <a:r>
                        <a:rPr lang="en-US" altLang="en-US" sz="1800" dirty="0">
                          <a:latin typeface="Courier New" panose="02070309020205020404" pitchFamily="49" charset="0"/>
                          <a:sym typeface="Symbol" panose="05050102010706020507" pitchFamily="18" charset="2"/>
                        </a:rPr>
                        <a:t>false</a:t>
                      </a:r>
                      <a:r>
                        <a:rPr lang="el-GR" altLang="en-US" sz="1800" dirty="0">
                          <a:latin typeface="Courier New" panose="02070309020205020404" pitchFamily="49" charset="0"/>
                          <a:sym typeface="Symbol" panose="05050102010706020507" pitchFamily="18" charset="2"/>
                        </a:rPr>
                        <a:t> </a:t>
                      </a:r>
                      <a:endParaRPr lang="he-IL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l-GR" altLang="en-US" sz="1800" dirty="0">
                          <a:latin typeface="Courier New" panose="02070309020205020404" pitchFamily="49" charset="0"/>
                          <a:sym typeface="Symbol" panose="05050102010706020507" pitchFamily="18" charset="2"/>
                        </a:rPr>
                        <a:t>C || B  </a:t>
                      </a:r>
                      <a:endParaRPr lang="he-IL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03348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>
                          <a:latin typeface="Courier New" panose="02070309020205020404" pitchFamily="49" charset="0"/>
                          <a:sym typeface="Symbol" panose="05050102010706020507" pitchFamily="18" charset="2"/>
                        </a:rPr>
                        <a:t>false</a:t>
                      </a:r>
                      <a:endParaRPr lang="he-IL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altLang="en-US" sz="1800" dirty="0">
                          <a:latin typeface="Courier New" panose="02070309020205020404" pitchFamily="49" charset="0"/>
                          <a:sym typeface="Symbol" panose="05050102010706020507" pitchFamily="18" charset="2"/>
                        </a:rPr>
                        <a:t>x </a:t>
                      </a:r>
                      <a:r>
                        <a:rPr lang="en-US" altLang="en-US" sz="1800" dirty="0">
                          <a:latin typeface="Courier New" panose="02070309020205020404" pitchFamily="49" charset="0"/>
                          <a:sym typeface="Symbol" panose="05050102010706020507" pitchFamily="18" charset="2"/>
                        </a:rPr>
                        <a:t>&amp;&amp;</a:t>
                      </a:r>
                      <a:r>
                        <a:rPr lang="el-GR" altLang="en-US" sz="1800" dirty="0">
                          <a:latin typeface="Courier New" panose="02070309020205020404" pitchFamily="49" charset="0"/>
                          <a:sym typeface="Symbol" panose="05050102010706020507" pitchFamily="18" charset="2"/>
                        </a:rPr>
                        <a:t> </a:t>
                      </a:r>
                      <a:r>
                        <a:rPr lang="en-US" altLang="en-US" sz="1800" dirty="0">
                          <a:latin typeface="Courier New" panose="02070309020205020404" pitchFamily="49" charset="0"/>
                          <a:sym typeface="Symbol" panose="05050102010706020507" pitchFamily="18" charset="2"/>
                        </a:rPr>
                        <a:t>false</a:t>
                      </a:r>
                      <a:r>
                        <a:rPr lang="el-GR" altLang="en-US" sz="1800" dirty="0">
                          <a:latin typeface="Courier New" panose="02070309020205020404" pitchFamily="49" charset="0"/>
                          <a:sym typeface="Symbol" panose="05050102010706020507" pitchFamily="18" charset="2"/>
                        </a:rPr>
                        <a:t> </a:t>
                      </a:r>
                      <a:endParaRPr lang="he-IL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altLang="en-US" sz="1800" dirty="0">
                          <a:latin typeface="Courier New" panose="02070309020205020404" pitchFamily="49" charset="0"/>
                          <a:sym typeface="Symbol" panose="05050102010706020507" pitchFamily="18" charset="2"/>
                        </a:rPr>
                        <a:t>C </a:t>
                      </a:r>
                      <a:r>
                        <a:rPr lang="en-US" altLang="en-US" sz="1800" dirty="0">
                          <a:latin typeface="Courier New" panose="02070309020205020404" pitchFamily="49" charset="0"/>
                          <a:sym typeface="Symbol" panose="05050102010706020507" pitchFamily="18" charset="2"/>
                        </a:rPr>
                        <a:t>&amp;&amp;</a:t>
                      </a:r>
                      <a:r>
                        <a:rPr lang="el-GR" altLang="en-US" sz="1800" dirty="0">
                          <a:latin typeface="Courier New" panose="02070309020205020404" pitchFamily="49" charset="0"/>
                          <a:sym typeface="Symbol" panose="05050102010706020507" pitchFamily="18" charset="2"/>
                        </a:rPr>
                        <a:t> B  </a:t>
                      </a:r>
                      <a:endParaRPr lang="he-IL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0588671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4DB1BDF2-A11D-4C05-84EE-598B7C4B3FA4}"/>
              </a:ext>
            </a:extLst>
          </p:cNvPr>
          <p:cNvSpPr/>
          <p:nvPr/>
        </p:nvSpPr>
        <p:spPr>
          <a:xfrm>
            <a:off x="1331861" y="4136386"/>
            <a:ext cx="1414021" cy="3338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57575F-936B-4F97-8EC0-7471D3E479C3}"/>
              </a:ext>
            </a:extLst>
          </p:cNvPr>
          <p:cNvSpPr/>
          <p:nvPr/>
        </p:nvSpPr>
        <p:spPr>
          <a:xfrm>
            <a:off x="3443354" y="4052750"/>
            <a:ext cx="2336347" cy="3338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6F8268A-4FA9-4E5F-AFEC-989AEE478BB8}"/>
              </a:ext>
            </a:extLst>
          </p:cNvPr>
          <p:cNvSpPr/>
          <p:nvPr/>
        </p:nvSpPr>
        <p:spPr>
          <a:xfrm>
            <a:off x="6383578" y="4136386"/>
            <a:ext cx="1414021" cy="3338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EA91F7-21F1-4A32-AD54-10793B3499E7}"/>
              </a:ext>
            </a:extLst>
          </p:cNvPr>
          <p:cNvSpPr/>
          <p:nvPr/>
        </p:nvSpPr>
        <p:spPr>
          <a:xfrm>
            <a:off x="1399420" y="4561117"/>
            <a:ext cx="1414021" cy="3338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4F49F74-3F5C-4F02-A265-1C664DD9A9D2}"/>
              </a:ext>
            </a:extLst>
          </p:cNvPr>
          <p:cNvSpPr/>
          <p:nvPr/>
        </p:nvSpPr>
        <p:spPr>
          <a:xfrm>
            <a:off x="3307748" y="4561117"/>
            <a:ext cx="2336347" cy="3338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61BC3BF-5AD4-4D0C-BF2C-155D709A9538}"/>
              </a:ext>
            </a:extLst>
          </p:cNvPr>
          <p:cNvSpPr/>
          <p:nvPr/>
        </p:nvSpPr>
        <p:spPr>
          <a:xfrm>
            <a:off x="6383577" y="4489123"/>
            <a:ext cx="1414021" cy="3338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A85168D-2831-423A-889B-CCD029EF1C2C}"/>
              </a:ext>
            </a:extLst>
          </p:cNvPr>
          <p:cNvSpPr/>
          <p:nvPr/>
        </p:nvSpPr>
        <p:spPr>
          <a:xfrm>
            <a:off x="1247663" y="4922709"/>
            <a:ext cx="1414021" cy="3338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375D85-BDBF-4B58-857D-2683857D609A}"/>
              </a:ext>
            </a:extLst>
          </p:cNvPr>
          <p:cNvSpPr/>
          <p:nvPr/>
        </p:nvSpPr>
        <p:spPr>
          <a:xfrm>
            <a:off x="3280697" y="4911695"/>
            <a:ext cx="2336347" cy="3338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2101FC5-8BA8-445B-8996-33565BA2B0C9}"/>
              </a:ext>
            </a:extLst>
          </p:cNvPr>
          <p:cNvSpPr/>
          <p:nvPr/>
        </p:nvSpPr>
        <p:spPr>
          <a:xfrm>
            <a:off x="6474557" y="4957942"/>
            <a:ext cx="1414021" cy="3338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A10C62E-8F43-45CE-9621-6AE7B209DE4F}"/>
              </a:ext>
            </a:extLst>
          </p:cNvPr>
          <p:cNvSpPr/>
          <p:nvPr/>
        </p:nvSpPr>
        <p:spPr>
          <a:xfrm>
            <a:off x="1247663" y="5331287"/>
            <a:ext cx="1414021" cy="3338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08EE312-3A53-4B4C-9941-DD0CE12FE4D5}"/>
              </a:ext>
            </a:extLst>
          </p:cNvPr>
          <p:cNvSpPr/>
          <p:nvPr/>
        </p:nvSpPr>
        <p:spPr>
          <a:xfrm>
            <a:off x="3344668" y="5245578"/>
            <a:ext cx="2336347" cy="3338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29C5384-185B-449F-82B3-48159FC464C4}"/>
              </a:ext>
            </a:extLst>
          </p:cNvPr>
          <p:cNvSpPr/>
          <p:nvPr/>
        </p:nvSpPr>
        <p:spPr>
          <a:xfrm>
            <a:off x="6174788" y="5227425"/>
            <a:ext cx="1414021" cy="3338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70569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defTabSz="927100"/>
            <a:r>
              <a:rPr lang="en-US" altLang="en-US" dirty="0" err="1"/>
              <a:t>SystemVerilog</a:t>
            </a:r>
            <a:r>
              <a:rPr lang="en-US" altLang="en-US" dirty="0"/>
              <a:t> Operator</a:t>
            </a:r>
            <a:r>
              <a:rPr lang="he-IL" altLang="en-US" dirty="0"/>
              <a:t> </a:t>
            </a:r>
            <a:r>
              <a:rPr lang="en-US" altLang="en-US" dirty="0"/>
              <a:t>Precedence</a:t>
            </a:r>
          </a:p>
        </p:txBody>
      </p:sp>
      <p:graphicFrame>
        <p:nvGraphicFramePr>
          <p:cNvPr id="91139" name="Object 3"/>
          <p:cNvGraphicFramePr>
            <a:graphicFrameLocks noChangeAspect="1"/>
          </p:cNvGraphicFramePr>
          <p:nvPr/>
        </p:nvGraphicFramePr>
        <p:xfrm>
          <a:off x="590550" y="1579563"/>
          <a:ext cx="3784600" cy="4589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13838334" imgH="16761031" progId="Photoshop.Image.4">
                  <p:embed/>
                </p:oleObj>
              </mc:Choice>
              <mc:Fallback>
                <p:oleObj name="Image" r:id="rId3" imgW="13838334" imgH="16761031" progId="Photoshop.Image.4">
                  <p:embed/>
                  <p:pic>
                    <p:nvPicPr>
                      <p:cNvPr id="9113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550" y="1579563"/>
                        <a:ext cx="3784600" cy="4589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40" name="Object 4"/>
          <p:cNvGraphicFramePr>
            <a:graphicFrameLocks noChangeAspect="1"/>
          </p:cNvGraphicFramePr>
          <p:nvPr/>
        </p:nvGraphicFramePr>
        <p:xfrm>
          <a:off x="4810125" y="1654175"/>
          <a:ext cx="3757613" cy="343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13762090" imgH="12580304" progId="Photoshop.Image.4">
                  <p:embed/>
                </p:oleObj>
              </mc:Choice>
              <mc:Fallback>
                <p:oleObj name="Image" r:id="rId5" imgW="13762090" imgH="12580304" progId="Photoshop.Image.4">
                  <p:embed/>
                  <p:pic>
                    <p:nvPicPr>
                      <p:cNvPr id="9114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0125" y="1654175"/>
                        <a:ext cx="3757613" cy="343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8948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bg1">
                    <a:lumMod val="85000"/>
                  </a:schemeClr>
                </a:solidFill>
              </a:rPr>
              <a:t>More operators</a:t>
            </a:r>
          </a:p>
          <a:p>
            <a:r>
              <a:rPr lang="en-US" sz="3600" dirty="0"/>
              <a:t>Conditional statements</a:t>
            </a:r>
          </a:p>
          <a:p>
            <a:r>
              <a:rPr lang="en-US" sz="3600" dirty="0">
                <a:solidFill>
                  <a:schemeClr val="bg1">
                    <a:lumMod val="85000"/>
                  </a:schemeClr>
                </a:solidFill>
              </a:rPr>
              <a:t>Synchronous logic and assignments</a:t>
            </a:r>
          </a:p>
          <a:p>
            <a:r>
              <a:rPr lang="en-US" sz="3600" dirty="0">
                <a:solidFill>
                  <a:schemeClr val="bg1">
                    <a:lumMod val="85000"/>
                  </a:schemeClr>
                </a:solidFill>
              </a:rPr>
              <a:t>Test benches for synchronous logic</a:t>
            </a:r>
          </a:p>
          <a:p>
            <a:endParaRPr lang="en-US" sz="3600" dirty="0">
              <a:solidFill>
                <a:schemeClr val="bg1">
                  <a:lumMod val="65000"/>
                </a:schemeClr>
              </a:solidFill>
            </a:endParaRPr>
          </a:p>
          <a:p>
            <a:endParaRPr lang="en-US" sz="3600" dirty="0"/>
          </a:p>
          <a:p>
            <a:endParaRPr lang="en-US" sz="3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2305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altLang="en-US" dirty="0"/>
              <a:t>Conditional Statements: The if Statement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8650" y="1825624"/>
            <a:ext cx="7886700" cy="4832628"/>
          </a:xfrm>
        </p:spPr>
        <p:txBody>
          <a:bodyPr>
            <a:normAutofit/>
          </a:bodyPr>
          <a:lstStyle/>
          <a:p>
            <a:r>
              <a:rPr lang="en-US" altLang="en-US" dirty="0"/>
              <a:t>Used in procedural blocks</a:t>
            </a:r>
          </a:p>
          <a:p>
            <a:r>
              <a:rPr lang="en-US" altLang="en-US" dirty="0"/>
              <a:t>Syntax: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14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C18EE6-B1F8-475B-B194-D3F598F10210}"/>
              </a:ext>
            </a:extLst>
          </p:cNvPr>
          <p:cNvSpPr txBox="1"/>
          <p:nvPr/>
        </p:nvSpPr>
        <p:spPr>
          <a:xfrm>
            <a:off x="968017" y="2875104"/>
            <a:ext cx="6271770" cy="28931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condition1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 &lt;statement1&gt;;</a:t>
            </a:r>
          </a:p>
          <a:p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condition2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 &lt;statement2&gt;;</a:t>
            </a:r>
          </a:p>
          <a:p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 &lt;statement3&gt;;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 &lt;statement4&gt;;</a:t>
            </a:r>
          </a:p>
          <a:p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5456670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2DC78DDE-629D-4F8E-9F21-778FBA258029}"/>
              </a:ext>
            </a:extLst>
          </p:cNvPr>
          <p:cNvSpPr txBox="1"/>
          <p:nvPr/>
        </p:nvSpPr>
        <p:spPr>
          <a:xfrm>
            <a:off x="557284" y="1656282"/>
            <a:ext cx="4595952" cy="452431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module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mux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 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out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outn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	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input 	logic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input	logic 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sel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		out1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out2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selb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he-IL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and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a1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out1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in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],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sel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i1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selb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sel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and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a2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out2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in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selb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always_comb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	out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out1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|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out2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assign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outn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~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endmodule</a:t>
            </a:r>
            <a:endParaRPr lang="he-I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Reminder: Mux Implementation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15</a:t>
            </a:fld>
            <a:endParaRPr lang="en-US"/>
          </a:p>
        </p:txBody>
      </p:sp>
      <p:grpSp>
        <p:nvGrpSpPr>
          <p:cNvPr id="22" name="Group 21"/>
          <p:cNvGrpSpPr/>
          <p:nvPr/>
        </p:nvGrpSpPr>
        <p:grpSpPr>
          <a:xfrm>
            <a:off x="4861932" y="4116988"/>
            <a:ext cx="4162103" cy="1986833"/>
            <a:chOff x="5788507" y="3336429"/>
            <a:chExt cx="4162103" cy="1986833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 rotWithShape="1">
            <a:blip r:embed="rId2"/>
            <a:srcRect r="16239"/>
            <a:stretch/>
          </p:blipFill>
          <p:spPr>
            <a:xfrm>
              <a:off x="6457950" y="3436472"/>
              <a:ext cx="3262105" cy="1886790"/>
            </a:xfrm>
            <a:prstGeom prst="rect">
              <a:avLst/>
            </a:prstGeom>
          </p:spPr>
        </p:pic>
        <p:sp>
          <p:nvSpPr>
            <p:cNvPr id="7" name="Rectangle 6"/>
            <p:cNvSpPr/>
            <p:nvPr/>
          </p:nvSpPr>
          <p:spPr>
            <a:xfrm>
              <a:off x="6845300" y="3498850"/>
              <a:ext cx="212725" cy="2095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6889750" y="4914900"/>
              <a:ext cx="212725" cy="2095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Connector 9"/>
            <p:cNvCxnSpPr/>
            <p:nvPr/>
          </p:nvCxnSpPr>
          <p:spPr>
            <a:xfrm flipH="1">
              <a:off x="5886445" y="3625054"/>
              <a:ext cx="1260000" cy="158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6262688" y="5005059"/>
              <a:ext cx="881062" cy="158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262688" y="3625054"/>
              <a:ext cx="0" cy="138000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5805488" y="3344961"/>
              <a:ext cx="41909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in</a:t>
              </a:r>
            </a:p>
          </p:txBody>
        </p:sp>
        <p:cxnSp>
          <p:nvCxnSpPr>
            <p:cNvPr id="17" name="Straight Connector 16"/>
            <p:cNvCxnSpPr/>
            <p:nvPr/>
          </p:nvCxnSpPr>
          <p:spPr>
            <a:xfrm flipV="1">
              <a:off x="6065043" y="3556557"/>
              <a:ext cx="100013" cy="13699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5995987" y="3623466"/>
              <a:ext cx="41909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2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674641" y="3336429"/>
              <a:ext cx="55276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In[0]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788507" y="4362512"/>
              <a:ext cx="55276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In[1]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9397849" y="4607123"/>
              <a:ext cx="55276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err="1"/>
                <a:t>outn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8359496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altLang="en-US" dirty="0"/>
              <a:t>The if Statement - Example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8650" y="1523723"/>
            <a:ext cx="7886700" cy="4832628"/>
          </a:xfrm>
        </p:spPr>
        <p:txBody>
          <a:bodyPr>
            <a:normAutofit/>
          </a:bodyPr>
          <a:lstStyle/>
          <a:p>
            <a:r>
              <a:rPr lang="en-US" altLang="en-US" dirty="0"/>
              <a:t>Mux Module: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16</a:t>
            </a:fld>
            <a:endParaRPr lang="en-US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417E1CFB-4A3A-4A51-95C2-3CDA988F4E7C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6411420" y="3818891"/>
            <a:ext cx="1950784" cy="880230"/>
          </a:xfrm>
          <a:custGeom>
            <a:avLst/>
            <a:gdLst>
              <a:gd name="G0" fmla="+- 5963 0 0"/>
              <a:gd name="G1" fmla="+- 21600 0 5963"/>
              <a:gd name="G2" fmla="*/ 5963 1 2"/>
              <a:gd name="G3" fmla="+- 21600 0 G2"/>
              <a:gd name="G4" fmla="+/ 5963 21600 2"/>
              <a:gd name="G5" fmla="+/ G1 0 2"/>
              <a:gd name="G6" fmla="*/ 21600 21600 5963"/>
              <a:gd name="G7" fmla="*/ G6 1 2"/>
              <a:gd name="G8" fmla="+- 21600 0 G7"/>
              <a:gd name="G9" fmla="*/ 21600 1 2"/>
              <a:gd name="G10" fmla="+- 5963 0 G9"/>
              <a:gd name="G11" fmla="?: G10 G8 0"/>
              <a:gd name="G12" fmla="?: G10 G7 21600"/>
              <a:gd name="T0" fmla="*/ 18618 w 21600"/>
              <a:gd name="T1" fmla="*/ 10800 h 21600"/>
              <a:gd name="T2" fmla="*/ 10800 w 21600"/>
              <a:gd name="T3" fmla="*/ 21600 h 21600"/>
              <a:gd name="T4" fmla="*/ 2982 w 21600"/>
              <a:gd name="T5" fmla="*/ 10800 h 21600"/>
              <a:gd name="T6" fmla="*/ 10800 w 21600"/>
              <a:gd name="T7" fmla="*/ 0 h 21600"/>
              <a:gd name="T8" fmla="*/ 4782 w 21600"/>
              <a:gd name="T9" fmla="*/ 4782 h 21600"/>
              <a:gd name="T10" fmla="*/ 16818 w 21600"/>
              <a:gd name="T11" fmla="*/ 16818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963" y="21600"/>
                </a:lnTo>
                <a:lnTo>
                  <a:pt x="15637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eaVert" wrap="none" anchor="ctr"/>
          <a:lstStyle/>
          <a:p>
            <a:pPr>
              <a:defRPr/>
            </a:pPr>
            <a:endParaRPr lang="el-GR" sz="1800">
              <a:latin typeface="Arial" charset="0"/>
            </a:endParaRPr>
          </a:p>
        </p:txBody>
      </p:sp>
      <p:sp>
        <p:nvSpPr>
          <p:cNvPr id="7" name="Line 5">
            <a:extLst>
              <a:ext uri="{FF2B5EF4-FFF2-40B4-BE49-F238E27FC236}">
                <a16:creationId xmlns:a16="http://schemas.microsoft.com/office/drawing/2014/main" id="{5EAEEF89-1CEA-448D-BBE2-CC86D2BD896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60897" y="389216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Line 6">
            <a:extLst>
              <a:ext uri="{FF2B5EF4-FFF2-40B4-BE49-F238E27FC236}">
                <a16:creationId xmlns:a16="http://schemas.microsoft.com/office/drawing/2014/main" id="{4353C614-5A78-4DA0-BFEC-81E670BFF35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60897" y="457876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Line 7">
            <a:extLst>
              <a:ext uri="{FF2B5EF4-FFF2-40B4-BE49-F238E27FC236}">
                <a16:creationId xmlns:a16="http://schemas.microsoft.com/office/drawing/2014/main" id="{EB4A781C-B350-4ABB-869B-1B83B714865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814598" y="4230329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Line 9">
            <a:extLst>
              <a:ext uri="{FF2B5EF4-FFF2-40B4-BE49-F238E27FC236}">
                <a16:creationId xmlns:a16="http://schemas.microsoft.com/office/drawing/2014/main" id="{F42E623C-1AA3-4CA0-B157-8F529467C2E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73923" y="4964219"/>
            <a:ext cx="15599" cy="64201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Text Box 10">
            <a:extLst>
              <a:ext uri="{FF2B5EF4-FFF2-40B4-BE49-F238E27FC236}">
                <a16:creationId xmlns:a16="http://schemas.microsoft.com/office/drawing/2014/main" id="{DAA608AF-3734-4B31-833E-4EDB7A01C9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8807" y="3543162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l-GR" altLang="en-US" sz="1800" dirty="0"/>
              <a:t>A</a:t>
            </a:r>
          </a:p>
        </p:txBody>
      </p:sp>
      <p:sp>
        <p:nvSpPr>
          <p:cNvPr id="12" name="Text Box 11">
            <a:extLst>
              <a:ext uri="{FF2B5EF4-FFF2-40B4-BE49-F238E27FC236}">
                <a16:creationId xmlns:a16="http://schemas.microsoft.com/office/drawing/2014/main" id="{E2A286D5-26D8-471E-9D28-8A7F09F68B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5251" y="4241159"/>
            <a:ext cx="354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l-GR" altLang="en-US" sz="1800" dirty="0"/>
              <a:t>B</a:t>
            </a:r>
          </a:p>
        </p:txBody>
      </p:sp>
      <p:sp>
        <p:nvSpPr>
          <p:cNvPr id="13" name="Text Box 12">
            <a:extLst>
              <a:ext uri="{FF2B5EF4-FFF2-40B4-BE49-F238E27FC236}">
                <a16:creationId xmlns:a16="http://schemas.microsoft.com/office/drawing/2014/main" id="{938841E7-E925-4B9B-86F2-9B3E6AA7B2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97314" y="3940037"/>
            <a:ext cx="36420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dirty="0"/>
              <a:t>Q</a:t>
            </a:r>
            <a:endParaRPr lang="el-GR" altLang="en-US" sz="1800" dirty="0"/>
          </a:p>
        </p:txBody>
      </p:sp>
      <p:sp>
        <p:nvSpPr>
          <p:cNvPr id="14" name="Text Box 13">
            <a:extLst>
              <a:ext uri="{FF2B5EF4-FFF2-40B4-BE49-F238E27FC236}">
                <a16:creationId xmlns:a16="http://schemas.microsoft.com/office/drawing/2014/main" id="{98A499D8-1685-4137-90A0-0BA5AB9DF3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9188" y="4966146"/>
            <a:ext cx="4651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l-GR" altLang="en-US" sz="1800" dirty="0"/>
              <a:t>sel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59265E-0E67-4F1A-8AFD-CECA9DC694FB}"/>
              </a:ext>
            </a:extLst>
          </p:cNvPr>
          <p:cNvSpPr txBox="1"/>
          <p:nvPr/>
        </p:nvSpPr>
        <p:spPr>
          <a:xfrm>
            <a:off x="822306" y="2106671"/>
            <a:ext cx="4486294" cy="42473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module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mux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A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B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sel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Q</a:t>
            </a:r>
          </a:p>
          <a:p>
            <a:r>
              <a:rPr lang="he-IL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;(</a:t>
            </a:r>
            <a:endParaRPr lang="he-IL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always_comb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sel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1'b0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Q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A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Q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B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endmodule</a:t>
            </a:r>
            <a:endParaRPr lang="he-I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E43CE3-841D-480C-B71A-DA510444F9A8}"/>
              </a:ext>
            </a:extLst>
          </p:cNvPr>
          <p:cNvSpPr/>
          <p:nvPr/>
        </p:nvSpPr>
        <p:spPr>
          <a:xfrm>
            <a:off x="6518253" y="3011648"/>
            <a:ext cx="1887507" cy="232262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9" name="Text Box 10">
            <a:extLst>
              <a:ext uri="{FF2B5EF4-FFF2-40B4-BE49-F238E27FC236}">
                <a16:creationId xmlns:a16="http://schemas.microsoft.com/office/drawing/2014/main" id="{4990354C-8F8D-4FAF-B829-8AAEAAE439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02453" y="3677734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dirty="0"/>
              <a:t>0</a:t>
            </a:r>
            <a:endParaRPr lang="el-GR" altLang="en-US" sz="1800" dirty="0"/>
          </a:p>
        </p:txBody>
      </p:sp>
      <p:sp>
        <p:nvSpPr>
          <p:cNvPr id="20" name="Text Box 10">
            <a:extLst>
              <a:ext uri="{FF2B5EF4-FFF2-40B4-BE49-F238E27FC236}">
                <a16:creationId xmlns:a16="http://schemas.microsoft.com/office/drawing/2014/main" id="{09E31DF2-A59A-470D-968D-A094083DD4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8468" y="437695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dirty="0"/>
              <a:t>1</a:t>
            </a:r>
            <a:endParaRPr lang="el-G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309473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altLang="en-US" dirty="0"/>
              <a:t>Conditional Statements: The case Statement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8650" y="1825624"/>
            <a:ext cx="7886700" cy="4832628"/>
          </a:xfrm>
        </p:spPr>
        <p:txBody>
          <a:bodyPr>
            <a:normAutofit/>
          </a:bodyPr>
          <a:lstStyle/>
          <a:p>
            <a:r>
              <a:rPr lang="en-US" altLang="en-US" dirty="0"/>
              <a:t>Used in procedural blocks</a:t>
            </a:r>
          </a:p>
          <a:p>
            <a:r>
              <a:rPr lang="en-US" altLang="en-US" dirty="0"/>
              <a:t>Syntax: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17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C18EE6-B1F8-475B-B194-D3F598F10210}"/>
              </a:ext>
            </a:extLst>
          </p:cNvPr>
          <p:cNvSpPr txBox="1"/>
          <p:nvPr/>
        </p:nvSpPr>
        <p:spPr>
          <a:xfrm>
            <a:off x="986870" y="2968728"/>
            <a:ext cx="6271770" cy="3416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&lt;signal/expression&gt;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&lt;value1&gt;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 </a:t>
            </a:r>
          </a:p>
          <a:p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&lt;statement1&gt;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&lt;value2&gt;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 </a:t>
            </a:r>
          </a:p>
          <a:p>
            <a:pPr lvl="1"/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&lt;statement2&gt;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1"/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&lt;statement3&gt;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1"/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default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 </a:t>
            </a:r>
          </a:p>
          <a:p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&lt;statement4&gt;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endcase</a:t>
            </a:r>
            <a:endParaRPr lang="he-I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72835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altLang="en-US" dirty="0"/>
              <a:t>The case Statement - Example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18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6305FE-27A2-48FB-88A7-7FFCF5394A0A}"/>
              </a:ext>
            </a:extLst>
          </p:cNvPr>
          <p:cNvSpPr txBox="1"/>
          <p:nvPr/>
        </p:nvSpPr>
        <p:spPr>
          <a:xfrm>
            <a:off x="367960" y="1552773"/>
            <a:ext cx="4188446" cy="45243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module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case_example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A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B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he-IL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he-IL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he-IL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he-IL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he-IL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w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Y</a:t>
            </a:r>
          </a:p>
          <a:p>
            <a:r>
              <a:rPr lang="he-IL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;(</a:t>
            </a:r>
            <a:endParaRPr lang="he-IL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he-IL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always_comb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w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</a:t>
            </a:r>
            <a:r>
              <a:rPr lang="en-US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2'b00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Y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A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B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</a:t>
            </a:r>
            <a:r>
              <a:rPr lang="en-US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2'b01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Y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A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|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B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</a:t>
            </a:r>
            <a:r>
              <a:rPr lang="en-US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2'b10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Y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A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^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B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default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Y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~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endcase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endmodule</a:t>
            </a:r>
            <a:endParaRPr lang="he-I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003E5C2A-2A07-4552-B554-5A839C6F6F9F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6774223" y="3817033"/>
            <a:ext cx="2193157" cy="641574"/>
          </a:xfrm>
          <a:custGeom>
            <a:avLst/>
            <a:gdLst>
              <a:gd name="G0" fmla="+- 5963 0 0"/>
              <a:gd name="G1" fmla="+- 21600 0 5963"/>
              <a:gd name="G2" fmla="*/ 5963 1 2"/>
              <a:gd name="G3" fmla="+- 21600 0 G2"/>
              <a:gd name="G4" fmla="+/ 5963 21600 2"/>
              <a:gd name="G5" fmla="+/ G1 0 2"/>
              <a:gd name="G6" fmla="*/ 21600 21600 5963"/>
              <a:gd name="G7" fmla="*/ G6 1 2"/>
              <a:gd name="G8" fmla="+- 21600 0 G7"/>
              <a:gd name="G9" fmla="*/ 21600 1 2"/>
              <a:gd name="G10" fmla="+- 5963 0 G9"/>
              <a:gd name="G11" fmla="?: G10 G8 0"/>
              <a:gd name="G12" fmla="?: G10 G7 21600"/>
              <a:gd name="T0" fmla="*/ 18618 w 21600"/>
              <a:gd name="T1" fmla="*/ 10800 h 21600"/>
              <a:gd name="T2" fmla="*/ 10800 w 21600"/>
              <a:gd name="T3" fmla="*/ 21600 h 21600"/>
              <a:gd name="T4" fmla="*/ 2982 w 21600"/>
              <a:gd name="T5" fmla="*/ 10800 h 21600"/>
              <a:gd name="T6" fmla="*/ 10800 w 21600"/>
              <a:gd name="T7" fmla="*/ 0 h 21600"/>
              <a:gd name="T8" fmla="*/ 4782 w 21600"/>
              <a:gd name="T9" fmla="*/ 4782 h 21600"/>
              <a:gd name="T10" fmla="*/ 16818 w 21600"/>
              <a:gd name="T11" fmla="*/ 16818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963" y="21600"/>
                </a:lnTo>
                <a:lnTo>
                  <a:pt x="15637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eaVert" wrap="none" anchor="ctr"/>
          <a:lstStyle/>
          <a:p>
            <a:pPr>
              <a:defRPr/>
            </a:pPr>
            <a:endParaRPr lang="el-GR" sz="1800">
              <a:latin typeface="Arial" charset="0"/>
            </a:endParaRPr>
          </a:p>
        </p:txBody>
      </p:sp>
      <p:sp>
        <p:nvSpPr>
          <p:cNvPr id="9" name="Line 5">
            <a:extLst>
              <a:ext uri="{FF2B5EF4-FFF2-40B4-BE49-F238E27FC236}">
                <a16:creationId xmlns:a16="http://schemas.microsoft.com/office/drawing/2014/main" id="{C4478A02-6808-41C1-B3EE-70E355008AB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91449" y="3339122"/>
            <a:ext cx="1758783" cy="1019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Line 6">
            <a:extLst>
              <a:ext uri="{FF2B5EF4-FFF2-40B4-BE49-F238E27FC236}">
                <a16:creationId xmlns:a16="http://schemas.microsoft.com/office/drawing/2014/main" id="{DB104FC8-FC27-4A89-AE42-F1A03C4C45F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35422" y="4975800"/>
            <a:ext cx="1336432" cy="0"/>
          </a:xfrm>
          <a:prstGeom prst="line">
            <a:avLst/>
          </a:prstGeom>
          <a:noFill/>
          <a:ln w="28575">
            <a:solidFill>
              <a:srgbClr val="7030A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Line 7">
            <a:extLst>
              <a:ext uri="{FF2B5EF4-FFF2-40B4-BE49-F238E27FC236}">
                <a16:creationId xmlns:a16="http://schemas.microsoft.com/office/drawing/2014/main" id="{05075402-B225-4EDE-A521-A622D3E8481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191588" y="4134843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Line 9">
            <a:extLst>
              <a:ext uri="{FF2B5EF4-FFF2-40B4-BE49-F238E27FC236}">
                <a16:creationId xmlns:a16="http://schemas.microsoft.com/office/drawing/2014/main" id="{E0E050A5-E670-4CDB-A916-9450443D65BC}"/>
              </a:ext>
            </a:extLst>
          </p:cNvPr>
          <p:cNvSpPr>
            <a:spLocks noChangeShapeType="1"/>
          </p:cNvSpPr>
          <p:nvPr/>
        </p:nvSpPr>
        <p:spPr bwMode="auto">
          <a:xfrm>
            <a:off x="7795987" y="5043898"/>
            <a:ext cx="10639" cy="60334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Text Box 10">
            <a:extLst>
              <a:ext uri="{FF2B5EF4-FFF2-40B4-BE49-F238E27FC236}">
                <a16:creationId xmlns:a16="http://schemas.microsoft.com/office/drawing/2014/main" id="{22B42A7F-1078-4BB4-933E-87A627855A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6895" y="3024779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l-GR" altLang="en-US" sz="1800" dirty="0"/>
              <a:t>A</a:t>
            </a:r>
          </a:p>
        </p:txBody>
      </p:sp>
      <p:sp>
        <p:nvSpPr>
          <p:cNvPr id="14" name="Text Box 11">
            <a:extLst>
              <a:ext uri="{FF2B5EF4-FFF2-40B4-BE49-F238E27FC236}">
                <a16:creationId xmlns:a16="http://schemas.microsoft.com/office/drawing/2014/main" id="{0DC8D4D1-1742-402A-BC7F-B11AED0319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2116" y="3268407"/>
            <a:ext cx="354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l-GR" altLang="en-US" sz="1800" dirty="0"/>
              <a:t>B</a:t>
            </a:r>
          </a:p>
        </p:txBody>
      </p:sp>
      <p:sp>
        <p:nvSpPr>
          <p:cNvPr id="15" name="Text Box 12">
            <a:extLst>
              <a:ext uri="{FF2B5EF4-FFF2-40B4-BE49-F238E27FC236}">
                <a16:creationId xmlns:a16="http://schemas.microsoft.com/office/drawing/2014/main" id="{1C57BDAD-69CE-46E4-9256-DE410A62BD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17654" y="3845182"/>
            <a:ext cx="33855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dirty="0"/>
              <a:t>Y</a:t>
            </a:r>
            <a:endParaRPr lang="el-GR" altLang="en-US" sz="1800" dirty="0"/>
          </a:p>
        </p:txBody>
      </p:sp>
      <p:sp>
        <p:nvSpPr>
          <p:cNvPr id="16" name="Text Box 13">
            <a:extLst>
              <a:ext uri="{FF2B5EF4-FFF2-40B4-BE49-F238E27FC236}">
                <a16:creationId xmlns:a16="http://schemas.microsoft.com/office/drawing/2014/main" id="{B1E60915-4994-4B9B-9331-41D64A36E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7480" y="5214047"/>
            <a:ext cx="3513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dirty="0"/>
              <a:t>w</a:t>
            </a:r>
            <a:endParaRPr lang="el-GR" altLang="en-US" sz="1800" dirty="0"/>
          </a:p>
        </p:txBody>
      </p:sp>
      <p:sp>
        <p:nvSpPr>
          <p:cNvPr id="18" name="Text Box 17">
            <a:extLst>
              <a:ext uri="{FF2B5EF4-FFF2-40B4-BE49-F238E27FC236}">
                <a16:creationId xmlns:a16="http://schemas.microsoft.com/office/drawing/2014/main" id="{103846E3-6C2A-4B5F-B395-738B2AB98B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39290" y="3268765"/>
            <a:ext cx="58284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dirty="0"/>
              <a:t>00</a:t>
            </a:r>
            <a:endParaRPr lang="el-GR" altLang="en-US" sz="18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B85B65F-9230-4EE5-BFDE-AC57ACC4067C}"/>
              </a:ext>
            </a:extLst>
          </p:cNvPr>
          <p:cNvCxnSpPr>
            <a:cxnSpLocks/>
          </p:cNvCxnSpPr>
          <p:nvPr/>
        </p:nvCxnSpPr>
        <p:spPr>
          <a:xfrm>
            <a:off x="7744081" y="5190464"/>
            <a:ext cx="126771" cy="9098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 Box 13">
            <a:extLst>
              <a:ext uri="{FF2B5EF4-FFF2-40B4-BE49-F238E27FC236}">
                <a16:creationId xmlns:a16="http://schemas.microsoft.com/office/drawing/2014/main" id="{8B6FE1B4-7779-43F8-B45B-FE593F169D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09234" y="5051835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dirty="0"/>
              <a:t>2</a:t>
            </a:r>
            <a:endParaRPr lang="el-GR" altLang="en-US" sz="1800" dirty="0"/>
          </a:p>
        </p:txBody>
      </p:sp>
      <p:pic>
        <p:nvPicPr>
          <p:cNvPr id="6146" name="Picture 2" descr="Image result for and gate">
            <a:extLst>
              <a:ext uri="{FF2B5EF4-FFF2-40B4-BE49-F238E27FC236}">
                <a16:creationId xmlns:a16="http://schemas.microsoft.com/office/drawing/2014/main" id="{29FED0CD-4BBE-4A3B-A856-F7CF75431A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5780" y="3224957"/>
            <a:ext cx="814233" cy="488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Line 5">
            <a:extLst>
              <a:ext uri="{FF2B5EF4-FFF2-40B4-BE49-F238E27FC236}">
                <a16:creationId xmlns:a16="http://schemas.microsoft.com/office/drawing/2014/main" id="{BDD99974-B643-41A2-9A1C-EE2DA79E34E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91449" y="3556931"/>
            <a:ext cx="1760355" cy="1048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6148" name="Picture 4" descr="Related image">
            <a:extLst>
              <a:ext uri="{FF2B5EF4-FFF2-40B4-BE49-F238E27FC236}">
                <a16:creationId xmlns:a16="http://schemas.microsoft.com/office/drawing/2014/main" id="{D4767312-E627-485B-BB2D-3DD972C160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7523" y="3821179"/>
            <a:ext cx="810134" cy="417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5120BDB-34C3-4B60-BDA4-E66D33DBD1D6}"/>
              </a:ext>
            </a:extLst>
          </p:cNvPr>
          <p:cNvCxnSpPr>
            <a:cxnSpLocks/>
          </p:cNvCxnSpPr>
          <p:nvPr/>
        </p:nvCxnSpPr>
        <p:spPr>
          <a:xfrm>
            <a:off x="6428274" y="3368983"/>
            <a:ext cx="0" cy="56717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Line 5">
            <a:extLst>
              <a:ext uri="{FF2B5EF4-FFF2-40B4-BE49-F238E27FC236}">
                <a16:creationId xmlns:a16="http://schemas.microsoft.com/office/drawing/2014/main" id="{B88CB6FB-085F-4F91-97C7-EF2ED46AFFF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428274" y="3916212"/>
            <a:ext cx="323509" cy="1"/>
          </a:xfrm>
          <a:prstGeom prst="line">
            <a:avLst/>
          </a:prstGeom>
          <a:ln w="28575"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36" name="Line 5">
            <a:extLst>
              <a:ext uri="{FF2B5EF4-FFF2-40B4-BE49-F238E27FC236}">
                <a16:creationId xmlns:a16="http://schemas.microsoft.com/office/drawing/2014/main" id="{BF4692C6-2AB8-4B50-9CAC-2DEAD91BDCB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274918" y="4125174"/>
            <a:ext cx="469105" cy="0"/>
          </a:xfrm>
          <a:prstGeom prst="line">
            <a:avLst/>
          </a:prstGeom>
          <a:ln w="28575"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US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972AF9E-8BE5-4E13-8DD1-F27A8F610485}"/>
              </a:ext>
            </a:extLst>
          </p:cNvPr>
          <p:cNvCxnSpPr>
            <a:cxnSpLocks/>
          </p:cNvCxnSpPr>
          <p:nvPr/>
        </p:nvCxnSpPr>
        <p:spPr>
          <a:xfrm>
            <a:off x="6286300" y="3567664"/>
            <a:ext cx="0" cy="56717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52" name="Picture 8" descr="Image result for not gate">
            <a:extLst>
              <a:ext uri="{FF2B5EF4-FFF2-40B4-BE49-F238E27FC236}">
                <a16:creationId xmlns:a16="http://schemas.microsoft.com/office/drawing/2014/main" id="{D9AE891D-F490-4921-8D16-A3B4A859E1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5907" y="4739120"/>
            <a:ext cx="868011" cy="470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Line 6">
            <a:extLst>
              <a:ext uri="{FF2B5EF4-FFF2-40B4-BE49-F238E27FC236}">
                <a16:creationId xmlns:a16="http://schemas.microsoft.com/office/drawing/2014/main" id="{59625E47-71A7-43F5-ABC8-2C364B1B479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17156" y="3559240"/>
            <a:ext cx="15897" cy="1431654"/>
          </a:xfrm>
          <a:prstGeom prst="line">
            <a:avLst/>
          </a:prstGeom>
          <a:noFill/>
          <a:ln w="28575">
            <a:solidFill>
              <a:srgbClr val="7030A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6154" name="Picture 10" descr="Related image">
            <a:extLst>
              <a:ext uri="{FF2B5EF4-FFF2-40B4-BE49-F238E27FC236}">
                <a16:creationId xmlns:a16="http://schemas.microsoft.com/office/drawing/2014/main" id="{ACD8D048-498C-470D-AE04-DC0F97E809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9726" y="4293524"/>
            <a:ext cx="900794" cy="450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Line 5">
            <a:extLst>
              <a:ext uri="{FF2B5EF4-FFF2-40B4-BE49-F238E27FC236}">
                <a16:creationId xmlns:a16="http://schemas.microsoft.com/office/drawing/2014/main" id="{2E91077A-0B46-4FCB-87AB-7B45065F37D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113059" y="4408152"/>
            <a:ext cx="630429" cy="1"/>
          </a:xfrm>
          <a:prstGeom prst="line">
            <a:avLst/>
          </a:prstGeom>
          <a:ln w="28575">
            <a:solidFill>
              <a:srgbClr val="00B050"/>
            </a:solidFill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43" name="Line 5">
            <a:extLst>
              <a:ext uri="{FF2B5EF4-FFF2-40B4-BE49-F238E27FC236}">
                <a16:creationId xmlns:a16="http://schemas.microsoft.com/office/drawing/2014/main" id="{69F5E3A1-DAC2-4CD7-AD4A-800AB338FEA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897169" y="4588833"/>
            <a:ext cx="839101" cy="1"/>
          </a:xfrm>
          <a:prstGeom prst="line">
            <a:avLst/>
          </a:prstGeom>
          <a:ln w="28575">
            <a:solidFill>
              <a:srgbClr val="00B050"/>
            </a:solidFill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44" name="Line 5">
            <a:extLst>
              <a:ext uri="{FF2B5EF4-FFF2-40B4-BE49-F238E27FC236}">
                <a16:creationId xmlns:a16="http://schemas.microsoft.com/office/drawing/2014/main" id="{F69BC1F5-962A-4CCE-8573-72F9746E36F0}"/>
              </a:ext>
            </a:extLst>
          </p:cNvPr>
          <p:cNvSpPr>
            <a:spLocks noChangeShapeType="1"/>
          </p:cNvSpPr>
          <p:nvPr/>
        </p:nvSpPr>
        <p:spPr bwMode="auto">
          <a:xfrm>
            <a:off x="6119026" y="3343876"/>
            <a:ext cx="4688" cy="1090410"/>
          </a:xfrm>
          <a:prstGeom prst="line">
            <a:avLst/>
          </a:prstGeom>
          <a:ln w="28575">
            <a:solidFill>
              <a:srgbClr val="00B050"/>
            </a:solidFill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45" name="Line 5">
            <a:extLst>
              <a:ext uri="{FF2B5EF4-FFF2-40B4-BE49-F238E27FC236}">
                <a16:creationId xmlns:a16="http://schemas.microsoft.com/office/drawing/2014/main" id="{9639FDAB-55B3-4906-8562-74CD8F4DEC2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99043" y="3575599"/>
            <a:ext cx="19552" cy="1031309"/>
          </a:xfrm>
          <a:prstGeom prst="line">
            <a:avLst/>
          </a:prstGeom>
          <a:ln w="28575">
            <a:solidFill>
              <a:srgbClr val="00B050"/>
            </a:solidFill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46" name="Text Box 17">
            <a:extLst>
              <a:ext uri="{FF2B5EF4-FFF2-40B4-BE49-F238E27FC236}">
                <a16:creationId xmlns:a16="http://schemas.microsoft.com/office/drawing/2014/main" id="{23D4DE8E-6D09-493F-81BA-DE9996BE2C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32436" y="3815838"/>
            <a:ext cx="58284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dirty="0"/>
              <a:t>01</a:t>
            </a:r>
            <a:endParaRPr lang="el-GR" altLang="en-US" sz="1800" dirty="0"/>
          </a:p>
        </p:txBody>
      </p:sp>
      <p:sp>
        <p:nvSpPr>
          <p:cNvPr id="47" name="Text Box 17">
            <a:extLst>
              <a:ext uri="{FF2B5EF4-FFF2-40B4-BE49-F238E27FC236}">
                <a16:creationId xmlns:a16="http://schemas.microsoft.com/office/drawing/2014/main" id="{9339EF9F-C832-4FAD-98E9-71C6209798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7350" y="4315523"/>
            <a:ext cx="58284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dirty="0"/>
              <a:t>10</a:t>
            </a:r>
            <a:endParaRPr lang="el-GR" altLang="en-US" sz="1800" dirty="0"/>
          </a:p>
        </p:txBody>
      </p:sp>
      <p:sp>
        <p:nvSpPr>
          <p:cNvPr id="48" name="Text Box 17">
            <a:extLst>
              <a:ext uri="{FF2B5EF4-FFF2-40B4-BE49-F238E27FC236}">
                <a16:creationId xmlns:a16="http://schemas.microsoft.com/office/drawing/2014/main" id="{F20CD23D-05A1-4E74-8ADB-C42DEA7D2C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74874" y="4769197"/>
            <a:ext cx="58284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dirty="0"/>
              <a:t>11</a:t>
            </a:r>
            <a:endParaRPr lang="el-GR" altLang="en-US" sz="180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6094CE0-B9B5-4523-A686-59567BFFCA13}"/>
              </a:ext>
            </a:extLst>
          </p:cNvPr>
          <p:cNvSpPr/>
          <p:nvPr/>
        </p:nvSpPr>
        <p:spPr>
          <a:xfrm>
            <a:off x="5170634" y="2854472"/>
            <a:ext cx="3441067" cy="266242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0823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/>
      <p:bldP spid="14" grpId="0"/>
      <p:bldP spid="15" grpId="0"/>
      <p:bldP spid="16" grpId="0"/>
      <p:bldP spid="18" grpId="0"/>
      <p:bldP spid="27" grpId="0"/>
      <p:bldP spid="30" grpId="0" animBg="1"/>
      <p:bldP spid="34" grpId="0" animBg="1"/>
      <p:bldP spid="36" grpId="0" animBg="1"/>
      <p:bldP spid="40" grpId="0" animBg="1"/>
      <p:bldP spid="42" grpId="0" animBg="1"/>
      <p:bldP spid="43" grpId="0" animBg="1"/>
      <p:bldP spid="44" grpId="0" animBg="1"/>
      <p:bldP spid="45" grpId="0" animBg="1"/>
      <p:bldP spid="46" grpId="0"/>
      <p:bldP spid="47" grpId="0"/>
      <p:bldP spid="48" grpId="0"/>
      <p:bldP spid="3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altLang="en-US" dirty="0"/>
              <a:t>Conditional Statements: </a:t>
            </a:r>
            <a:br>
              <a:rPr lang="en-US" altLang="en-US" dirty="0"/>
            </a:br>
            <a:r>
              <a:rPr lang="en-US" altLang="en-US" dirty="0" err="1"/>
              <a:t>casex</a:t>
            </a:r>
            <a:r>
              <a:rPr lang="en-US" altLang="en-US" dirty="0"/>
              <a:t>, </a:t>
            </a:r>
            <a:r>
              <a:rPr lang="en-US" altLang="en-US" dirty="0" err="1"/>
              <a:t>casez</a:t>
            </a:r>
            <a:endParaRPr lang="en-US" altLang="en-US" dirty="0"/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8650" y="1825625"/>
            <a:ext cx="7886700" cy="2765229"/>
          </a:xfrm>
          <a:ln w="44450">
            <a:noFill/>
            <a:miter lim="800000"/>
            <a:headEnd/>
            <a:tailEnd/>
          </a:ln>
        </p:spPr>
        <p:txBody>
          <a:bodyPr>
            <a:normAutofit fontScale="92500" lnSpcReduction="10000"/>
          </a:bodyPr>
          <a:lstStyle/>
          <a:p>
            <a:r>
              <a:rPr lang="en-US" altLang="en-US" dirty="0"/>
              <a:t>Variants of </a:t>
            </a:r>
            <a:r>
              <a:rPr lang="en-US" altLang="en-US" dirty="0">
                <a:solidFill>
                  <a:srgbClr val="FF3300"/>
                </a:solidFill>
              </a:rPr>
              <a:t>case</a:t>
            </a:r>
            <a:r>
              <a:rPr lang="en-US" altLang="en-US" dirty="0"/>
              <a:t> Statements:</a:t>
            </a:r>
          </a:p>
          <a:p>
            <a:pPr lvl="1"/>
            <a:r>
              <a:rPr lang="en-US" altLang="en-US" dirty="0"/>
              <a:t> </a:t>
            </a:r>
            <a:r>
              <a:rPr lang="en-US" altLang="en-US" dirty="0" err="1">
                <a:solidFill>
                  <a:srgbClr val="FF3300"/>
                </a:solidFill>
              </a:rPr>
              <a:t>casex</a:t>
            </a:r>
            <a:r>
              <a:rPr lang="en-US" altLang="en-US" b="1" i="1" dirty="0"/>
              <a:t> </a:t>
            </a:r>
            <a:r>
              <a:rPr lang="en-US" altLang="en-US" dirty="0"/>
              <a:t>and </a:t>
            </a:r>
            <a:r>
              <a:rPr lang="en-US" altLang="en-US" dirty="0" err="1">
                <a:solidFill>
                  <a:srgbClr val="FF3300"/>
                </a:solidFill>
              </a:rPr>
              <a:t>casez</a:t>
            </a:r>
            <a:endParaRPr lang="en-US" altLang="en-US" dirty="0">
              <a:solidFill>
                <a:srgbClr val="FF3300"/>
              </a:solidFill>
            </a:endParaRPr>
          </a:p>
          <a:p>
            <a:pPr lvl="1"/>
            <a:endParaRPr lang="en-US" altLang="en-US" sz="1000" dirty="0">
              <a:solidFill>
                <a:srgbClr val="FF3300"/>
              </a:solidFill>
            </a:endParaRPr>
          </a:p>
          <a:p>
            <a:r>
              <a:rPr lang="en-US" altLang="en-US" dirty="0" err="1">
                <a:solidFill>
                  <a:srgbClr val="FF3300"/>
                </a:solidFill>
              </a:rPr>
              <a:t>casez</a:t>
            </a:r>
            <a:r>
              <a:rPr lang="en-US" altLang="en-US" dirty="0"/>
              <a:t> – ? and z are considered as don’t cares [0,1,z]</a:t>
            </a:r>
          </a:p>
          <a:p>
            <a:endParaRPr lang="en-US" altLang="en-US" sz="1000" dirty="0"/>
          </a:p>
          <a:p>
            <a:r>
              <a:rPr lang="en-US" altLang="en-US" dirty="0" err="1">
                <a:solidFill>
                  <a:srgbClr val="FF3300"/>
                </a:solidFill>
              </a:rPr>
              <a:t>casex</a:t>
            </a:r>
            <a:r>
              <a:rPr lang="en-US" altLang="en-US" b="1" i="1" dirty="0"/>
              <a:t> </a:t>
            </a:r>
            <a:r>
              <a:rPr lang="en-US" altLang="en-US" dirty="0"/>
              <a:t>– ?, x and z are considered as don’t cares [0,1,x,z]</a:t>
            </a:r>
          </a:p>
          <a:p>
            <a:endParaRPr lang="en-US" altLang="en-US" sz="1000" dirty="0"/>
          </a:p>
          <a:p>
            <a:r>
              <a:rPr lang="en-US" altLang="en-US" dirty="0"/>
              <a:t>Example: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044252 - Digital Systems and Computer Structure - </a:t>
            </a:r>
            <a:r>
              <a:rPr lang="en-US" dirty="0" err="1"/>
              <a:t>SystemVerilog</a:t>
            </a:r>
            <a:r>
              <a:rPr lang="en-US" dirty="0"/>
              <a:t> HDL Workshop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19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AA609C-AA7F-491B-A3CD-32F38F77F536}"/>
              </a:ext>
            </a:extLst>
          </p:cNvPr>
          <p:cNvSpPr txBox="1"/>
          <p:nvPr/>
        </p:nvSpPr>
        <p:spPr>
          <a:xfrm>
            <a:off x="1005723" y="4640949"/>
            <a:ext cx="4188446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en-US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casez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w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2'b1?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A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B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C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2'b01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A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B ^ C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default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A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B – C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endcase</a:t>
            </a:r>
            <a:endParaRPr lang="he-I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D904C11E-07FD-3F22-FEA4-1A57C6AAC602}"/>
              </a:ext>
            </a:extLst>
          </p:cNvPr>
          <p:cNvSpPr txBox="1">
            <a:spLocks noChangeArrowheads="1"/>
          </p:cNvSpPr>
          <p:nvPr/>
        </p:nvSpPr>
        <p:spPr>
          <a:xfrm>
            <a:off x="5194169" y="4665430"/>
            <a:ext cx="3802049" cy="1325563"/>
          </a:xfrm>
          <a:prstGeom prst="rect">
            <a:avLst/>
          </a:prstGeom>
          <a:ln w="44450">
            <a:noFill/>
            <a:miter lim="800000"/>
            <a:headEnd/>
            <a:tailEnd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/>
              <a:t>When using </a:t>
            </a:r>
            <a:r>
              <a:rPr lang="en-US" altLang="en-US" dirty="0" err="1"/>
              <a:t>casez</a:t>
            </a:r>
            <a:r>
              <a:rPr lang="en-US" altLang="en-US" dirty="0"/>
              <a:t> or </a:t>
            </a:r>
            <a:r>
              <a:rPr lang="en-US" altLang="en-US" dirty="0" err="1"/>
              <a:t>casex</a:t>
            </a:r>
            <a:r>
              <a:rPr lang="en-US" altLang="en-US" dirty="0"/>
              <a:t> we will use ? As don’t cares of 0/1</a:t>
            </a:r>
          </a:p>
        </p:txBody>
      </p:sp>
    </p:spTree>
    <p:extLst>
      <p:ext uri="{BB962C8B-B14F-4D97-AF65-F5344CB8AC3E}">
        <p14:creationId xmlns:p14="http://schemas.microsoft.com/office/powerpoint/2010/main" val="625568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292975" cy="736600"/>
          </a:xfrm>
        </p:spPr>
        <p:txBody>
          <a:bodyPr>
            <a:normAutofit fontScale="90000"/>
          </a:bodyPr>
          <a:lstStyle/>
          <a:p>
            <a:pPr defTabSz="927100"/>
            <a:br>
              <a:rPr lang="en-US" altLang="en-US" dirty="0"/>
            </a:br>
            <a:r>
              <a:rPr lang="en-US" altLang="en-US" sz="4900" dirty="0"/>
              <a:t>A </a:t>
            </a:r>
            <a:r>
              <a:rPr lang="en-US" altLang="en-US" sz="4900" b="1" dirty="0">
                <a:solidFill>
                  <a:srgbClr val="FF0000"/>
                </a:solidFill>
              </a:rPr>
              <a:t>Not</a:t>
            </a:r>
            <a:r>
              <a:rPr lang="en-US" altLang="en-US" sz="4900" dirty="0"/>
              <a:t>-To-Do Example</a:t>
            </a:r>
            <a:endParaRPr lang="en-US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20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A91EF0-5F44-43ED-B25F-90F60398DAD0}"/>
              </a:ext>
            </a:extLst>
          </p:cNvPr>
          <p:cNvSpPr txBox="1"/>
          <p:nvPr/>
        </p:nvSpPr>
        <p:spPr>
          <a:xfrm>
            <a:off x="952107" y="1772239"/>
            <a:ext cx="4856925" cy="37856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en-US" sz="20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module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bad_mux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endParaRPr lang="en-US" sz="20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A</a:t>
            </a:r>
            <a:r>
              <a:rPr lang="en-US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endParaRPr lang="en-US" sz="20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B</a:t>
            </a:r>
            <a:r>
              <a:rPr lang="en-US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endParaRPr lang="en-US" sz="20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sel</a:t>
            </a:r>
            <a:r>
              <a:rPr lang="en-US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endParaRPr lang="en-US" sz="20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Q</a:t>
            </a:r>
          </a:p>
          <a:p>
            <a:r>
              <a:rPr lang="he-IL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;(</a:t>
            </a:r>
            <a:endParaRPr lang="he-IL" sz="20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always_comb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20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20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sel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1'b1</a:t>
            </a:r>
            <a:r>
              <a:rPr lang="en-US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20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Q </a:t>
            </a:r>
            <a:r>
              <a:rPr lang="en-US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A</a:t>
            </a:r>
            <a:r>
              <a:rPr lang="en-US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20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20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sz="20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end</a:t>
            </a:r>
            <a:endParaRPr lang="en-US" sz="20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endmodule</a:t>
            </a:r>
            <a:endParaRPr lang="he-IL" sz="2000" dirty="0"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75E52641-AB9D-437A-BB8B-C24A0CA65046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7117560" y="2990700"/>
            <a:ext cx="1066800" cy="9937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eaVert" wrap="none" anchor="ctr"/>
          <a:lstStyle/>
          <a:p>
            <a:pPr>
              <a:defRPr/>
            </a:pPr>
            <a:endParaRPr lang="el-GR" sz="1800">
              <a:latin typeface="Arial" charset="0"/>
            </a:endParaRPr>
          </a:p>
        </p:txBody>
      </p:sp>
      <p:sp>
        <p:nvSpPr>
          <p:cNvPr id="7" name="Line 5">
            <a:extLst>
              <a:ext uri="{FF2B5EF4-FFF2-40B4-BE49-F238E27FC236}">
                <a16:creationId xmlns:a16="http://schemas.microsoft.com/office/drawing/2014/main" id="{1BFFD455-388C-45AD-8324-578B8F8B1C1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68290" y="310657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Line 6">
            <a:extLst>
              <a:ext uri="{FF2B5EF4-FFF2-40B4-BE49-F238E27FC236}">
                <a16:creationId xmlns:a16="http://schemas.microsoft.com/office/drawing/2014/main" id="{C267C8DD-A56D-492D-9037-BD453FF2D64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68290" y="379237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Line 7">
            <a:extLst>
              <a:ext uri="{FF2B5EF4-FFF2-40B4-BE49-F238E27FC236}">
                <a16:creationId xmlns:a16="http://schemas.microsoft.com/office/drawing/2014/main" id="{96528139-4260-4158-9765-50588F61457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147830" y="348757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Text Box 10">
            <a:extLst>
              <a:ext uri="{FF2B5EF4-FFF2-40B4-BE49-F238E27FC236}">
                <a16:creationId xmlns:a16="http://schemas.microsoft.com/office/drawing/2014/main" id="{79D4253F-40C5-403E-8625-BE56A0B140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5675" y="2791372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l-GR" altLang="en-US" sz="1800" dirty="0"/>
              <a:t>A</a:t>
            </a:r>
          </a:p>
        </p:txBody>
      </p:sp>
      <p:sp>
        <p:nvSpPr>
          <p:cNvPr id="13" name="Text Box 12">
            <a:extLst>
              <a:ext uri="{FF2B5EF4-FFF2-40B4-BE49-F238E27FC236}">
                <a16:creationId xmlns:a16="http://schemas.microsoft.com/office/drawing/2014/main" id="{5F453106-6FC2-4B29-BC85-F26A223B2E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2630" y="3180666"/>
            <a:ext cx="36420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dirty="0"/>
              <a:t>Q</a:t>
            </a:r>
            <a:endParaRPr lang="el-GR" altLang="en-US" sz="1800" dirty="0"/>
          </a:p>
        </p:txBody>
      </p:sp>
      <p:sp>
        <p:nvSpPr>
          <p:cNvPr id="14" name="Text Box 13">
            <a:extLst>
              <a:ext uri="{FF2B5EF4-FFF2-40B4-BE49-F238E27FC236}">
                <a16:creationId xmlns:a16="http://schemas.microsoft.com/office/drawing/2014/main" id="{A5DC7B39-D184-4BE7-9FE4-6D467E5C7C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7256" y="3421769"/>
            <a:ext cx="4651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l-GR" altLang="en-US" sz="1800" dirty="0"/>
              <a:t>sel</a:t>
            </a:r>
          </a:p>
        </p:txBody>
      </p:sp>
      <p:sp>
        <p:nvSpPr>
          <p:cNvPr id="15" name="Text Box 16">
            <a:extLst>
              <a:ext uri="{FF2B5EF4-FFF2-40B4-BE49-F238E27FC236}">
                <a16:creationId xmlns:a16="http://schemas.microsoft.com/office/drawing/2014/main" id="{6074E197-5365-4FE7-9990-476AF3C7A9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2503" y="3575438"/>
            <a:ext cx="3079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dirty="0"/>
              <a:t>G</a:t>
            </a:r>
            <a:endParaRPr lang="el-GR" altLang="en-US" sz="1800" dirty="0"/>
          </a:p>
        </p:txBody>
      </p:sp>
      <p:sp>
        <p:nvSpPr>
          <p:cNvPr id="16" name="Text Box 17">
            <a:extLst>
              <a:ext uri="{FF2B5EF4-FFF2-40B4-BE49-F238E27FC236}">
                <a16:creationId xmlns:a16="http://schemas.microsoft.com/office/drawing/2014/main" id="{7A095A2F-630C-4721-8DE1-0DAA501A3E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4409" y="2972724"/>
            <a:ext cx="3079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dirty="0"/>
              <a:t>I</a:t>
            </a:r>
            <a:endParaRPr lang="el-GR" altLang="en-US" sz="1800" dirty="0"/>
          </a:p>
        </p:txBody>
      </p:sp>
      <p:sp>
        <p:nvSpPr>
          <p:cNvPr id="17" name="Text Box 17">
            <a:extLst>
              <a:ext uri="{FF2B5EF4-FFF2-40B4-BE49-F238E27FC236}">
                <a16:creationId xmlns:a16="http://schemas.microsoft.com/office/drawing/2014/main" id="{861B9087-9673-4A33-8A99-734C264DD7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7890" y="3302903"/>
            <a:ext cx="3079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dirty="0"/>
              <a:t>O</a:t>
            </a:r>
            <a:endParaRPr lang="el-GR" altLang="en-US" sz="1800" dirty="0"/>
          </a:p>
        </p:txBody>
      </p:sp>
      <p:sp>
        <p:nvSpPr>
          <p:cNvPr id="18" name="Text Box 17">
            <a:extLst>
              <a:ext uri="{FF2B5EF4-FFF2-40B4-BE49-F238E27FC236}">
                <a16:creationId xmlns:a16="http://schemas.microsoft.com/office/drawing/2014/main" id="{98A6AD87-E86B-40E8-B05A-CF06B979F3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6490" y="2883804"/>
            <a:ext cx="76676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dirty="0"/>
              <a:t>Latch</a:t>
            </a:r>
            <a:endParaRPr lang="el-G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665375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1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292975" cy="736600"/>
          </a:xfrm>
        </p:spPr>
        <p:txBody>
          <a:bodyPr>
            <a:normAutofit fontScale="90000"/>
          </a:bodyPr>
          <a:lstStyle/>
          <a:p>
            <a:pPr defTabSz="927100"/>
            <a:br>
              <a:rPr lang="en-US" altLang="en-US" dirty="0"/>
            </a:br>
            <a:r>
              <a:rPr lang="en-US" altLang="en-US" sz="4900" dirty="0"/>
              <a:t>Complete</a:t>
            </a:r>
            <a:r>
              <a:rPr lang="en-US" altLang="en-US" dirty="0"/>
              <a:t> Assignments</a:t>
            </a:r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7663" indent="-347663" defTabSz="927100"/>
            <a:r>
              <a:rPr lang="en-US" altLang="en-US" dirty="0" err="1"/>
              <a:t>always_comb</a:t>
            </a:r>
            <a:r>
              <a:rPr lang="en-US" altLang="en-US" dirty="0"/>
              <a:t> should </a:t>
            </a:r>
            <a:r>
              <a:rPr lang="en-US" altLang="en-US" b="1" dirty="0"/>
              <a:t>NOT </a:t>
            </a:r>
            <a:r>
              <a:rPr lang="en-US" altLang="en-US" dirty="0"/>
              <a:t>be used for memory elements!</a:t>
            </a:r>
          </a:p>
          <a:p>
            <a:pPr marL="804863" lvl="1" indent="-347663" defTabSz="927100"/>
            <a:r>
              <a:rPr lang="en-US" altLang="en-US" dirty="0"/>
              <a:t>If a signal is not assigned in a certain flow, a memory element is implicitly created to preserve the previous value</a:t>
            </a:r>
          </a:p>
          <a:p>
            <a:pPr marL="804863" lvl="1" indent="-347663" defTabSz="927100"/>
            <a:r>
              <a:rPr lang="en-US" altLang="en-US" dirty="0"/>
              <a:t>Usually, this is a bug!</a:t>
            </a:r>
          </a:p>
          <a:p>
            <a:pPr marL="347663" indent="-347663" defTabSz="927100"/>
            <a:r>
              <a:rPr lang="en-US" altLang="en-US" dirty="0"/>
              <a:t>When using </a:t>
            </a:r>
            <a:r>
              <a:rPr lang="en-US" altLang="en-US" dirty="0" err="1"/>
              <a:t>always_comb</a:t>
            </a:r>
            <a:r>
              <a:rPr lang="en-US" altLang="en-US" dirty="0"/>
              <a:t>, always use complete assignments, i.e., </a:t>
            </a:r>
            <a:r>
              <a:rPr lang="en-US" altLang="en-US" dirty="0">
                <a:solidFill>
                  <a:srgbClr val="FF0000"/>
                </a:solidFill>
              </a:rPr>
              <a:t>assign values to all signals in all logic flows!</a:t>
            </a:r>
            <a:endParaRPr lang="en-US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7439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292975" cy="736600"/>
          </a:xfrm>
        </p:spPr>
        <p:txBody>
          <a:bodyPr>
            <a:normAutofit fontScale="90000"/>
          </a:bodyPr>
          <a:lstStyle/>
          <a:p>
            <a:pPr defTabSz="927100"/>
            <a:br>
              <a:rPr lang="en-US" altLang="en-US" dirty="0"/>
            </a:br>
            <a:r>
              <a:rPr lang="en-US" altLang="en-US" sz="4900" dirty="0"/>
              <a:t>Complete</a:t>
            </a:r>
            <a:r>
              <a:rPr lang="en-US" altLang="en-US" dirty="0"/>
              <a:t> Assignments: Guidelines</a:t>
            </a:r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defTabSz="927100"/>
            <a:r>
              <a:rPr lang="en-US" altLang="en-US" dirty="0"/>
              <a:t>“if” statements</a:t>
            </a:r>
          </a:p>
          <a:p>
            <a:pPr lvl="1" defTabSz="927100"/>
            <a:r>
              <a:rPr lang="en-US" altLang="en-US" dirty="0"/>
              <a:t>Use “else”</a:t>
            </a:r>
          </a:p>
          <a:p>
            <a:pPr defTabSz="927100"/>
            <a:r>
              <a:rPr lang="en-US" altLang="en-US" dirty="0"/>
              <a:t>“case” statements</a:t>
            </a:r>
          </a:p>
          <a:p>
            <a:pPr lvl="1" defTabSz="927100"/>
            <a:r>
              <a:rPr lang="en-US" altLang="en-US" dirty="0"/>
              <a:t>Use “default”</a:t>
            </a:r>
          </a:p>
          <a:p>
            <a:pPr defTabSz="927100"/>
            <a:r>
              <a:rPr lang="en-US" altLang="en-US" dirty="0"/>
              <a:t>General solution</a:t>
            </a:r>
          </a:p>
          <a:p>
            <a:pPr lvl="1" defTabSz="927100"/>
            <a:r>
              <a:rPr lang="en-US" altLang="en-US" dirty="0"/>
              <a:t>Use default assignments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22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75599E-358D-4809-93EC-A51CE47B00A4}"/>
              </a:ext>
            </a:extLst>
          </p:cNvPr>
          <p:cNvSpPr txBox="1"/>
          <p:nvPr/>
        </p:nvSpPr>
        <p:spPr>
          <a:xfrm>
            <a:off x="1313275" y="4417359"/>
            <a:ext cx="4856925" cy="1938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en-US" sz="20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always_comb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20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Q </a:t>
            </a:r>
            <a:r>
              <a:rPr lang="en-US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1'b0</a:t>
            </a:r>
            <a:r>
              <a:rPr lang="en-US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2000" b="1" dirty="0">
              <a:solidFill>
                <a:srgbClr val="0000FF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if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sel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1'b1</a:t>
            </a:r>
            <a:r>
              <a:rPr lang="en-US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20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Q </a:t>
            </a:r>
            <a:r>
              <a:rPr lang="en-US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A</a:t>
            </a:r>
            <a:r>
              <a:rPr lang="en-US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20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sz="20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sz="20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Text Box 10">
            <a:extLst>
              <a:ext uri="{FF2B5EF4-FFF2-40B4-BE49-F238E27FC236}">
                <a16:creationId xmlns:a16="http://schemas.microsoft.com/office/drawing/2014/main" id="{F6C011D9-1079-4779-B440-98BA6C99A4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2800" y="4337181"/>
            <a:ext cx="41549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dirty="0"/>
              <a:t>‘0’</a:t>
            </a:r>
            <a:endParaRPr lang="el-GR" altLang="en-US" sz="1800" dirty="0"/>
          </a:p>
        </p:txBody>
      </p:sp>
      <p:sp>
        <p:nvSpPr>
          <p:cNvPr id="13" name="Text Box 11">
            <a:extLst>
              <a:ext uri="{FF2B5EF4-FFF2-40B4-BE49-F238E27FC236}">
                <a16:creationId xmlns:a16="http://schemas.microsoft.com/office/drawing/2014/main" id="{BA7CC0DC-561B-44BA-BE79-212856879D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1866" y="4997362"/>
            <a:ext cx="33855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dirty="0"/>
              <a:t>A</a:t>
            </a:r>
            <a:endParaRPr lang="el-GR" altLang="en-US" sz="1800" dirty="0"/>
          </a:p>
        </p:txBody>
      </p:sp>
      <p:sp>
        <p:nvSpPr>
          <p:cNvPr id="15" name="Text Box 13">
            <a:extLst>
              <a:ext uri="{FF2B5EF4-FFF2-40B4-BE49-F238E27FC236}">
                <a16:creationId xmlns:a16="http://schemas.microsoft.com/office/drawing/2014/main" id="{AD7B0EB4-F7B9-4C5B-A99D-254EAA8576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8605" y="5987019"/>
            <a:ext cx="47961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dirty="0" err="1"/>
              <a:t>sel</a:t>
            </a:r>
            <a:endParaRPr lang="el-GR" altLang="en-US" sz="1800" dirty="0"/>
          </a:p>
        </p:txBody>
      </p:sp>
      <p:sp>
        <p:nvSpPr>
          <p:cNvPr id="18" name="AutoShape 4">
            <a:extLst>
              <a:ext uri="{FF2B5EF4-FFF2-40B4-BE49-F238E27FC236}">
                <a16:creationId xmlns:a16="http://schemas.microsoft.com/office/drawing/2014/main" id="{A62732EF-7036-4605-9A90-BD8EBC770FF5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6701957" y="4585924"/>
            <a:ext cx="1950784" cy="880230"/>
          </a:xfrm>
          <a:custGeom>
            <a:avLst/>
            <a:gdLst>
              <a:gd name="G0" fmla="+- 5963 0 0"/>
              <a:gd name="G1" fmla="+- 21600 0 5963"/>
              <a:gd name="G2" fmla="*/ 5963 1 2"/>
              <a:gd name="G3" fmla="+- 21600 0 G2"/>
              <a:gd name="G4" fmla="+/ 5963 21600 2"/>
              <a:gd name="G5" fmla="+/ G1 0 2"/>
              <a:gd name="G6" fmla="*/ 21600 21600 5963"/>
              <a:gd name="G7" fmla="*/ G6 1 2"/>
              <a:gd name="G8" fmla="+- 21600 0 G7"/>
              <a:gd name="G9" fmla="*/ 21600 1 2"/>
              <a:gd name="G10" fmla="+- 5963 0 G9"/>
              <a:gd name="G11" fmla="?: G10 G8 0"/>
              <a:gd name="G12" fmla="?: G10 G7 21600"/>
              <a:gd name="T0" fmla="*/ 18618 w 21600"/>
              <a:gd name="T1" fmla="*/ 10800 h 21600"/>
              <a:gd name="T2" fmla="*/ 10800 w 21600"/>
              <a:gd name="T3" fmla="*/ 21600 h 21600"/>
              <a:gd name="T4" fmla="*/ 2982 w 21600"/>
              <a:gd name="T5" fmla="*/ 10800 h 21600"/>
              <a:gd name="T6" fmla="*/ 10800 w 21600"/>
              <a:gd name="T7" fmla="*/ 0 h 21600"/>
              <a:gd name="T8" fmla="*/ 4782 w 21600"/>
              <a:gd name="T9" fmla="*/ 4782 h 21600"/>
              <a:gd name="T10" fmla="*/ 16818 w 21600"/>
              <a:gd name="T11" fmla="*/ 16818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963" y="21600"/>
                </a:lnTo>
                <a:lnTo>
                  <a:pt x="15637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eaVert" wrap="none" anchor="ctr"/>
          <a:lstStyle/>
          <a:p>
            <a:pPr>
              <a:defRPr/>
            </a:pPr>
            <a:endParaRPr lang="el-GR" sz="1800">
              <a:latin typeface="Arial" charset="0"/>
            </a:endParaRPr>
          </a:p>
        </p:txBody>
      </p:sp>
      <p:sp>
        <p:nvSpPr>
          <p:cNvPr id="19" name="Line 5">
            <a:extLst>
              <a:ext uri="{FF2B5EF4-FFF2-40B4-BE49-F238E27FC236}">
                <a16:creationId xmlns:a16="http://schemas.microsoft.com/office/drawing/2014/main" id="{6ECCC1AC-AF19-4F34-A470-D20E82C9DD3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51434" y="4659193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" name="Line 6">
            <a:extLst>
              <a:ext uri="{FF2B5EF4-FFF2-40B4-BE49-F238E27FC236}">
                <a16:creationId xmlns:a16="http://schemas.microsoft.com/office/drawing/2014/main" id="{7CC40232-0F13-4A69-88EB-7DF8AE1D937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51434" y="5345793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" name="Line 7">
            <a:extLst>
              <a:ext uri="{FF2B5EF4-FFF2-40B4-BE49-F238E27FC236}">
                <a16:creationId xmlns:a16="http://schemas.microsoft.com/office/drawing/2014/main" id="{09FDE644-AF21-4FB2-B92A-7418B8A047A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105135" y="4997362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" name="Line 9">
            <a:extLst>
              <a:ext uri="{FF2B5EF4-FFF2-40B4-BE49-F238E27FC236}">
                <a16:creationId xmlns:a16="http://schemas.microsoft.com/office/drawing/2014/main" id="{0C1998B5-9119-4B4C-9739-DC674FD7443F}"/>
              </a:ext>
            </a:extLst>
          </p:cNvPr>
          <p:cNvSpPr>
            <a:spLocks noChangeShapeType="1"/>
          </p:cNvSpPr>
          <p:nvPr/>
        </p:nvSpPr>
        <p:spPr bwMode="auto">
          <a:xfrm>
            <a:off x="7680059" y="5731253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" name="Text Box 10">
            <a:extLst>
              <a:ext uri="{FF2B5EF4-FFF2-40B4-BE49-F238E27FC236}">
                <a16:creationId xmlns:a16="http://schemas.microsoft.com/office/drawing/2014/main" id="{A0F097CC-A669-49F6-A1B3-3CA2E445C8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13145" y="4466211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dirty="0"/>
              <a:t>0</a:t>
            </a:r>
            <a:endParaRPr lang="el-GR" altLang="en-US" sz="1800" dirty="0"/>
          </a:p>
        </p:txBody>
      </p:sp>
      <p:sp>
        <p:nvSpPr>
          <p:cNvPr id="24" name="Text Box 11">
            <a:extLst>
              <a:ext uri="{FF2B5EF4-FFF2-40B4-BE49-F238E27FC236}">
                <a16:creationId xmlns:a16="http://schemas.microsoft.com/office/drawing/2014/main" id="{640855F2-A590-4347-B546-49824A4CFC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9725" y="514254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dirty="0"/>
              <a:t>1</a:t>
            </a:r>
            <a:endParaRPr lang="el-GR" altLang="en-US" sz="1800" dirty="0"/>
          </a:p>
        </p:txBody>
      </p:sp>
      <p:sp>
        <p:nvSpPr>
          <p:cNvPr id="25" name="Text Box 12">
            <a:extLst>
              <a:ext uri="{FF2B5EF4-FFF2-40B4-BE49-F238E27FC236}">
                <a16:creationId xmlns:a16="http://schemas.microsoft.com/office/drawing/2014/main" id="{AE755B4E-9C66-44EE-8BA0-D0B7125F93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2167" y="4662677"/>
            <a:ext cx="36420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dirty="0"/>
              <a:t>Q</a:t>
            </a:r>
            <a:endParaRPr lang="el-GR" altLang="en-US" sz="1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6E09F4-74C8-91BD-03EF-4C1ABF8C9A75}"/>
              </a:ext>
            </a:extLst>
          </p:cNvPr>
          <p:cNvSpPr txBox="1">
            <a:spLocks noChangeArrowheads="1"/>
          </p:cNvSpPr>
          <p:nvPr/>
        </p:nvSpPr>
        <p:spPr>
          <a:xfrm>
            <a:off x="3379788" y="2442729"/>
            <a:ext cx="5672772" cy="11245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27100">
              <a:buNone/>
            </a:pPr>
            <a:r>
              <a:rPr lang="en-US" altLang="en-US" sz="2600" dirty="0">
                <a:solidFill>
                  <a:srgbClr val="FF0000"/>
                </a:solidFill>
              </a:rPr>
              <a:t>Otherwise there might be uncovered options which lead to a bug.</a:t>
            </a:r>
          </a:p>
        </p:txBody>
      </p:sp>
    </p:spTree>
    <p:extLst>
      <p:ext uri="{BB962C8B-B14F-4D97-AF65-F5344CB8AC3E}">
        <p14:creationId xmlns:p14="http://schemas.microsoft.com/office/powerpoint/2010/main" val="958591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31" grpId="0" uiExpand="1" build="p"/>
      <p:bldP spid="6" grpId="0" animBg="1"/>
      <p:bldP spid="12" grpId="0"/>
      <p:bldP spid="13" grpId="0"/>
      <p:bldP spid="15" grpId="0"/>
      <p:bldP spid="18" grpId="0" animBg="1"/>
      <p:bldP spid="19" grpId="0" animBg="1"/>
      <p:bldP spid="20" grpId="0" animBg="1"/>
      <p:bldP spid="21" grpId="0" animBg="1"/>
      <p:bldP spid="22" grpId="0" animBg="1"/>
      <p:bldP spid="23" grpId="0"/>
      <p:bldP spid="24" grpId="0"/>
      <p:bldP spid="25" grpId="0"/>
      <p:bldP spid="4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bg1">
                    <a:lumMod val="85000"/>
                  </a:schemeClr>
                </a:solidFill>
              </a:rPr>
              <a:t>More operators</a:t>
            </a:r>
          </a:p>
          <a:p>
            <a:r>
              <a:rPr lang="en-US" sz="3600" dirty="0">
                <a:solidFill>
                  <a:schemeClr val="bg1">
                    <a:lumMod val="85000"/>
                  </a:schemeClr>
                </a:solidFill>
              </a:rPr>
              <a:t>Conditional statements</a:t>
            </a:r>
          </a:p>
          <a:p>
            <a:r>
              <a:rPr lang="en-US" sz="3600" dirty="0"/>
              <a:t>Synchronous logic and assignments</a:t>
            </a:r>
          </a:p>
          <a:p>
            <a:r>
              <a:rPr lang="en-US" sz="3600" dirty="0">
                <a:solidFill>
                  <a:schemeClr val="bg1">
                    <a:lumMod val="85000"/>
                  </a:schemeClr>
                </a:solidFill>
              </a:rPr>
              <a:t>Test benches for synchronous logic</a:t>
            </a:r>
          </a:p>
          <a:p>
            <a:endParaRPr lang="en-US" sz="3600" dirty="0">
              <a:solidFill>
                <a:schemeClr val="bg1">
                  <a:lumMod val="65000"/>
                </a:schemeClr>
              </a:solidFill>
            </a:endParaRPr>
          </a:p>
          <a:p>
            <a:endParaRPr lang="en-US" sz="3600" dirty="0"/>
          </a:p>
          <a:p>
            <a:endParaRPr lang="en-US" sz="3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5567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Flip Flop: Reminder</a:t>
            </a:r>
            <a:endParaRPr lang="en-US" altLang="zh-CN" sz="4000" dirty="0">
              <a:ea typeface="宋体" panose="02010600030101010101" pitchFamily="2" charset="-122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24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83C67F-9FCA-4A22-B867-8C26386782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633" y="1888237"/>
            <a:ext cx="2857500" cy="3305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6601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The </a:t>
            </a:r>
            <a:r>
              <a:rPr lang="en-US" altLang="zh-CN" dirty="0" err="1">
                <a:ea typeface="宋体" panose="02010600030101010101" pitchFamily="2" charset="-122"/>
              </a:rPr>
              <a:t>always_ff</a:t>
            </a:r>
            <a:r>
              <a:rPr lang="en-US" altLang="zh-CN" dirty="0">
                <a:ea typeface="宋体" panose="02010600030101010101" pitchFamily="2" charset="-122"/>
              </a:rPr>
              <a:t> Statement</a:t>
            </a:r>
            <a:endParaRPr lang="en-US" altLang="zh-CN" sz="4000" dirty="0">
              <a:ea typeface="宋体" panose="02010600030101010101" pitchFamily="2" charset="-122"/>
            </a:endParaRP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8649" y="1825625"/>
            <a:ext cx="8204265" cy="4351338"/>
          </a:xfrm>
        </p:spPr>
        <p:txBody>
          <a:bodyPr>
            <a:normAutofit/>
          </a:bodyPr>
          <a:lstStyle/>
          <a:p>
            <a:r>
              <a:rPr lang="en-US" altLang="zh-CN" dirty="0" err="1">
                <a:solidFill>
                  <a:srgbClr val="FF0000"/>
                </a:solidFill>
                <a:ea typeface="宋体" panose="02010600030101010101" pitchFamily="2" charset="-122"/>
              </a:rPr>
              <a:t>always_comb</a:t>
            </a:r>
            <a:r>
              <a:rPr lang="en-US" altLang="zh-CN" dirty="0">
                <a:ea typeface="宋体" panose="02010600030101010101" pitchFamily="2" charset="-122"/>
              </a:rPr>
              <a:t>: implements an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asynchronous/ </a:t>
            </a:r>
            <a:r>
              <a:rPr lang="en-US" altLang="zh-CN" dirty="0" err="1">
                <a:solidFill>
                  <a:srgbClr val="FF0000"/>
                </a:solidFill>
                <a:ea typeface="宋体" panose="02010600030101010101" pitchFamily="2" charset="-122"/>
              </a:rPr>
              <a:t>combinatorical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block</a:t>
            </a:r>
          </a:p>
          <a:p>
            <a:endParaRPr lang="en-US" altLang="zh-CN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endParaRPr lang="en-US" altLang="zh-CN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endParaRPr lang="en-US" altLang="zh-CN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r>
              <a:rPr lang="en-US" altLang="zh-CN" dirty="0" err="1">
                <a:solidFill>
                  <a:srgbClr val="FF0000"/>
                </a:solidFill>
                <a:ea typeface="宋体" panose="02010600030101010101" pitchFamily="2" charset="-122"/>
              </a:rPr>
              <a:t>always_ff</a:t>
            </a:r>
            <a:r>
              <a:rPr lang="en-US" altLang="zh-CN" dirty="0">
                <a:ea typeface="宋体" panose="02010600030101010101" pitchFamily="2" charset="-122"/>
              </a:rPr>
              <a:t>: implements a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synchronous </a:t>
            </a:r>
            <a:r>
              <a:rPr lang="en-US" altLang="zh-CN" dirty="0">
                <a:ea typeface="宋体" panose="02010600030101010101" pitchFamily="2" charset="-122"/>
              </a:rPr>
              <a:t>block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25</a:t>
            </a:fld>
            <a:endParaRPr lang="en-US" dirty="0"/>
          </a:p>
        </p:txBody>
      </p:sp>
      <p:pic>
        <p:nvPicPr>
          <p:cNvPr id="8" name="Picture 2" descr="Image result for and gate">
            <a:extLst>
              <a:ext uri="{FF2B5EF4-FFF2-40B4-BE49-F238E27FC236}">
                <a16:creationId xmlns:a16="http://schemas.microsoft.com/office/drawing/2014/main" id="{35C1EC6D-3480-4ABD-BE3F-552C8F04F3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8950" y="3184730"/>
            <a:ext cx="814233" cy="488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Related image">
            <a:extLst>
              <a:ext uri="{FF2B5EF4-FFF2-40B4-BE49-F238E27FC236}">
                <a16:creationId xmlns:a16="http://schemas.microsoft.com/office/drawing/2014/main" id="{A8963F3E-E7C6-4A66-BEA9-1E9C409C3D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5061" y="3222505"/>
            <a:ext cx="810134" cy="417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ACE1D928-0FF0-4708-969A-E56A3D1D716B}"/>
              </a:ext>
            </a:extLst>
          </p:cNvPr>
          <p:cNvGrpSpPr/>
          <p:nvPr/>
        </p:nvGrpSpPr>
        <p:grpSpPr>
          <a:xfrm>
            <a:off x="3028950" y="4816091"/>
            <a:ext cx="2629498" cy="1233819"/>
            <a:chOff x="5139252" y="5172937"/>
            <a:chExt cx="2629498" cy="1233819"/>
          </a:xfrm>
        </p:grpSpPr>
        <p:grpSp>
          <p:nvGrpSpPr>
            <p:cNvPr id="18" name="Group 5">
              <a:extLst>
                <a:ext uri="{FF2B5EF4-FFF2-40B4-BE49-F238E27FC236}">
                  <a16:creationId xmlns:a16="http://schemas.microsoft.com/office/drawing/2014/main" id="{9042B34C-E0A5-4C3F-B02E-17C9A55F37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97150" y="5172937"/>
              <a:ext cx="1371600" cy="838200"/>
              <a:chOff x="3168" y="1776"/>
              <a:chExt cx="864" cy="528"/>
            </a:xfrm>
          </p:grpSpPr>
          <p:sp>
            <p:nvSpPr>
              <p:cNvPr id="23" name="Rectangle 6">
                <a:extLst>
                  <a:ext uri="{FF2B5EF4-FFF2-40B4-BE49-F238E27FC236}">
                    <a16:creationId xmlns:a16="http://schemas.microsoft.com/office/drawing/2014/main" id="{B8758E99-FE9A-4F57-BD14-FB0CF3402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8" y="1776"/>
                <a:ext cx="384" cy="52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" name="Line 7">
                <a:extLst>
                  <a:ext uri="{FF2B5EF4-FFF2-40B4-BE49-F238E27FC236}">
                    <a16:creationId xmlns:a16="http://schemas.microsoft.com/office/drawing/2014/main" id="{64C4836E-FF9C-49E8-80A3-4CC395712B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52" y="2208"/>
                <a:ext cx="48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" name="Line 8">
                <a:extLst>
                  <a:ext uri="{FF2B5EF4-FFF2-40B4-BE49-F238E27FC236}">
                    <a16:creationId xmlns:a16="http://schemas.microsoft.com/office/drawing/2014/main" id="{20105C8F-2FA7-409E-9894-DA427F2934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600" y="2208"/>
                <a:ext cx="48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6" name="Line 9">
                <a:extLst>
                  <a:ext uri="{FF2B5EF4-FFF2-40B4-BE49-F238E27FC236}">
                    <a16:creationId xmlns:a16="http://schemas.microsoft.com/office/drawing/2014/main" id="{AE58DEB4-93AF-43ED-B4A6-7DDC591CE4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8" y="2016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7" name="Line 10">
                <a:extLst>
                  <a:ext uri="{FF2B5EF4-FFF2-40B4-BE49-F238E27FC236}">
                    <a16:creationId xmlns:a16="http://schemas.microsoft.com/office/drawing/2014/main" id="{CB0B79E4-B058-45EA-9BF4-B3D0351535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92" y="2016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19" name="Line 27">
              <a:extLst>
                <a:ext uri="{FF2B5EF4-FFF2-40B4-BE49-F238E27FC236}">
                  <a16:creationId xmlns:a16="http://schemas.microsoft.com/office/drawing/2014/main" id="{C76DEA24-71B0-47F6-89E1-6E0FBF0128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97150" y="6298806"/>
              <a:ext cx="6858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0" name="Line 28">
              <a:extLst>
                <a:ext uri="{FF2B5EF4-FFF2-40B4-BE49-F238E27FC236}">
                  <a16:creationId xmlns:a16="http://schemas.microsoft.com/office/drawing/2014/main" id="{BC101C6E-BFA5-4F20-AA96-E131AAA259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082950" y="5994006"/>
              <a:ext cx="0" cy="3048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1" name="Text Box 31">
              <a:extLst>
                <a:ext uri="{FF2B5EF4-FFF2-40B4-BE49-F238E27FC236}">
                  <a16:creationId xmlns:a16="http://schemas.microsoft.com/office/drawing/2014/main" id="{B976096D-77A3-4D2A-84D6-8FF56A67F4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63750" y="6070206"/>
              <a:ext cx="466725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dirty="0"/>
                <a:t>clk</a:t>
              </a:r>
            </a:p>
          </p:txBody>
        </p:sp>
        <p:pic>
          <p:nvPicPr>
            <p:cNvPr id="22" name="Picture 2" descr="Image result for hardware description language">
              <a:extLst>
                <a:ext uri="{FF2B5EF4-FFF2-40B4-BE49-F238E27FC236}">
                  <a16:creationId xmlns:a16="http://schemas.microsoft.com/office/drawing/2014/main" id="{1133C1F8-F70A-4DA0-893D-D70D1388246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grayscl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7018" b="89474" l="9942" r="89766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39252" y="5225693"/>
              <a:ext cx="1422799" cy="7092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913608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The </a:t>
            </a:r>
            <a:r>
              <a:rPr lang="en-US" altLang="zh-CN" dirty="0" err="1">
                <a:ea typeface="宋体" panose="02010600030101010101" pitchFamily="2" charset="-122"/>
              </a:rPr>
              <a:t>always_ff</a:t>
            </a:r>
            <a:r>
              <a:rPr lang="en-US" altLang="zh-CN" dirty="0">
                <a:ea typeface="宋体" panose="02010600030101010101" pitchFamily="2" charset="-122"/>
              </a:rPr>
              <a:t> Statement (without Reset)</a:t>
            </a:r>
            <a:endParaRPr lang="en-US" altLang="zh-CN" sz="4000" dirty="0">
              <a:ea typeface="宋体" panose="02010600030101010101" pitchFamily="2" charset="-122"/>
            </a:endParaRP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ea typeface="宋体" panose="02010600030101010101" pitchFamily="2" charset="-122"/>
              </a:rPr>
              <a:t>Syntax: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26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66C5BE-0F26-4F89-9DD2-E37055959D12}"/>
              </a:ext>
            </a:extLst>
          </p:cNvPr>
          <p:cNvSpPr txBox="1"/>
          <p:nvPr/>
        </p:nvSpPr>
        <p:spPr>
          <a:xfrm>
            <a:off x="3088750" y="2915845"/>
            <a:ext cx="3487917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en-US" sz="14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always_ff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@(</a:t>
            </a:r>
            <a:r>
              <a:rPr lang="en-US" sz="14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posedge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clk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 &lt;sync statement1&gt;;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 &lt;sync statement2&gt;;</a:t>
            </a:r>
            <a:r>
              <a:rPr lang="he-IL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he-I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C21E34F5-43AF-42C0-9A21-AC5FCD203ED2}"/>
              </a:ext>
            </a:extLst>
          </p:cNvPr>
          <p:cNvSpPr/>
          <p:nvPr/>
        </p:nvSpPr>
        <p:spPr>
          <a:xfrm rot="9844616">
            <a:off x="5717683" y="3125411"/>
            <a:ext cx="314325" cy="166847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9" name="Rectangle: Rounded Corners 31">
            <a:extLst>
              <a:ext uri="{FF2B5EF4-FFF2-40B4-BE49-F238E27FC236}">
                <a16:creationId xmlns:a16="http://schemas.microsoft.com/office/drawing/2014/main" id="{89D900D3-60D5-4619-AF53-23CF3A7DD52D}"/>
              </a:ext>
            </a:extLst>
          </p:cNvPr>
          <p:cNvSpPr/>
          <p:nvPr/>
        </p:nvSpPr>
        <p:spPr>
          <a:xfrm>
            <a:off x="5276049" y="4558139"/>
            <a:ext cx="1412267" cy="493702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Sensitivity List</a:t>
            </a:r>
          </a:p>
        </p:txBody>
      </p:sp>
      <p:sp>
        <p:nvSpPr>
          <p:cNvPr id="21" name="Arrow: Left 32">
            <a:extLst>
              <a:ext uri="{FF2B5EF4-FFF2-40B4-BE49-F238E27FC236}">
                <a16:creationId xmlns:a16="http://schemas.microsoft.com/office/drawing/2014/main" id="{60B9E045-6550-46DC-B629-159DE0A3EDD7}"/>
              </a:ext>
            </a:extLst>
          </p:cNvPr>
          <p:cNvSpPr/>
          <p:nvPr/>
        </p:nvSpPr>
        <p:spPr>
          <a:xfrm rot="5400000">
            <a:off x="3795529" y="3917121"/>
            <a:ext cx="846544" cy="231528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31">
            <a:extLst>
              <a:ext uri="{FF2B5EF4-FFF2-40B4-BE49-F238E27FC236}">
                <a16:creationId xmlns:a16="http://schemas.microsoft.com/office/drawing/2014/main" id="{20B34BB7-BE2C-49CC-A9FB-6C0018757891}"/>
              </a:ext>
            </a:extLst>
          </p:cNvPr>
          <p:cNvSpPr/>
          <p:nvPr/>
        </p:nvSpPr>
        <p:spPr>
          <a:xfrm>
            <a:off x="3463605" y="4466470"/>
            <a:ext cx="1461884" cy="118018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Sync Statements (on clock rise)</a:t>
            </a:r>
          </a:p>
        </p:txBody>
      </p:sp>
    </p:spTree>
    <p:extLst>
      <p:ext uri="{BB962C8B-B14F-4D97-AF65-F5344CB8AC3E}">
        <p14:creationId xmlns:p14="http://schemas.microsoft.com/office/powerpoint/2010/main" val="490909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5" grpId="0" animBg="1"/>
      <p:bldP spid="19" grpId="0" animBg="1"/>
      <p:bldP spid="21" grpId="0" animBg="1"/>
      <p:bldP spid="2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9F643335-FAB8-450C-9A4A-2A8E26CCBB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9784" y="3803767"/>
            <a:ext cx="1652820" cy="1912086"/>
          </a:xfrm>
          <a:prstGeom prst="rect">
            <a:avLst/>
          </a:prstGeom>
        </p:spPr>
      </p:pic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ea typeface="宋体" panose="02010600030101010101" pitchFamily="2" charset="-122"/>
              </a:rPr>
              <a:t>always_ff</a:t>
            </a:r>
            <a:r>
              <a:rPr lang="en-US" altLang="zh-CN" dirty="0">
                <a:ea typeface="宋体" panose="02010600030101010101" pitchFamily="2" charset="-122"/>
              </a:rPr>
              <a:t> Example: Implementing a Flip-Flop</a:t>
            </a:r>
            <a:endParaRPr lang="en-US" altLang="zh-CN" sz="4000" dirty="0">
              <a:ea typeface="宋体" panose="02010600030101010101" pitchFamily="2" charset="-122"/>
            </a:endParaRP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 dirty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27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66A72C-2A8C-49A1-8A25-A99A43667EBB}"/>
              </a:ext>
            </a:extLst>
          </p:cNvPr>
          <p:cNvSpPr txBox="1"/>
          <p:nvPr/>
        </p:nvSpPr>
        <p:spPr>
          <a:xfrm>
            <a:off x="628650" y="1953591"/>
            <a:ext cx="6165130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B05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always_ff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@(</a:t>
            </a:r>
            <a:r>
              <a:rPr lang="en-US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posedge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clk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&lt;=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B05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he-I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Text Box 31">
            <a:extLst>
              <a:ext uri="{FF2B5EF4-FFF2-40B4-BE49-F238E27FC236}">
                <a16:creationId xmlns:a16="http://schemas.microsoft.com/office/drawing/2014/main" id="{F4CED88C-795F-4A53-BEDE-F1BF1B574D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2286" y="4515601"/>
            <a:ext cx="43954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>
                <a:solidFill>
                  <a:schemeClr val="accent4">
                    <a:lumMod val="75000"/>
                  </a:schemeClr>
                </a:solidFill>
              </a:rPr>
              <a:t>clk</a:t>
            </a:r>
          </a:p>
        </p:txBody>
      </p:sp>
      <p:sp>
        <p:nvSpPr>
          <p:cNvPr id="19" name="Text Box 31">
            <a:extLst>
              <a:ext uri="{FF2B5EF4-FFF2-40B4-BE49-F238E27FC236}">
                <a16:creationId xmlns:a16="http://schemas.microsoft.com/office/drawing/2014/main" id="{2F844C90-9122-4BED-A063-EFBDBFF9ED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2436" y="4054014"/>
            <a:ext cx="35939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>
                <a:solidFill>
                  <a:srgbClr val="00B050"/>
                </a:solidFill>
              </a:rPr>
              <a:t>in</a:t>
            </a:r>
          </a:p>
        </p:txBody>
      </p:sp>
      <p:sp>
        <p:nvSpPr>
          <p:cNvPr id="20" name="Text Box 31">
            <a:extLst>
              <a:ext uri="{FF2B5EF4-FFF2-40B4-BE49-F238E27FC236}">
                <a16:creationId xmlns:a16="http://schemas.microsoft.com/office/drawing/2014/main" id="{846EBD0B-9A38-432C-AFB9-315C4665DB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7419" y="4046278"/>
            <a:ext cx="22129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22" name="Text Box 31">
            <a:extLst>
              <a:ext uri="{FF2B5EF4-FFF2-40B4-BE49-F238E27FC236}">
                <a16:creationId xmlns:a16="http://schemas.microsoft.com/office/drawing/2014/main" id="{9BD67EEA-D7AA-4BD9-8167-B7CAAD0460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6338" y="5073193"/>
            <a:ext cx="41710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/>
              <a:t>‘1’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096D83A-E0AC-4428-8A97-A9C1CF8E5C57}"/>
              </a:ext>
            </a:extLst>
          </p:cNvPr>
          <p:cNvCxnSpPr>
            <a:cxnSpLocks/>
          </p:cNvCxnSpPr>
          <p:nvPr/>
        </p:nvCxnSpPr>
        <p:spPr>
          <a:xfrm>
            <a:off x="4434363" y="5503163"/>
            <a:ext cx="0" cy="21269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F726A48-EB95-45BF-9206-190DE726BF19}"/>
              </a:ext>
            </a:extLst>
          </p:cNvPr>
          <p:cNvCxnSpPr>
            <a:cxnSpLocks/>
          </p:cNvCxnSpPr>
          <p:nvPr/>
        </p:nvCxnSpPr>
        <p:spPr>
          <a:xfrm>
            <a:off x="4439966" y="3848662"/>
            <a:ext cx="0" cy="21269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 Box 31">
            <a:extLst>
              <a:ext uri="{FF2B5EF4-FFF2-40B4-BE49-F238E27FC236}">
                <a16:creationId xmlns:a16="http://schemas.microsoft.com/office/drawing/2014/main" id="{59B32B24-7B2B-409D-A781-2BCFA6CE2F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9123" y="5711018"/>
            <a:ext cx="41710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/>
              <a:t>‘0’</a:t>
            </a:r>
          </a:p>
        </p:txBody>
      </p:sp>
      <p:sp>
        <p:nvSpPr>
          <p:cNvPr id="16" name="Text Box 31">
            <a:extLst>
              <a:ext uri="{FF2B5EF4-FFF2-40B4-BE49-F238E27FC236}">
                <a16:creationId xmlns:a16="http://schemas.microsoft.com/office/drawing/2014/main" id="{AB870FC3-6438-412C-BF95-DAAADCB445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5812" y="3484165"/>
            <a:ext cx="41710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/>
              <a:t>‘0’</a:t>
            </a:r>
          </a:p>
        </p:txBody>
      </p:sp>
    </p:spTree>
    <p:extLst>
      <p:ext uri="{BB962C8B-B14F-4D97-AF65-F5344CB8AC3E}">
        <p14:creationId xmlns:p14="http://schemas.microsoft.com/office/powerpoint/2010/main" val="993017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9" grpId="0"/>
      <p:bldP spid="20" grpId="0"/>
      <p:bldP spid="22" grpId="0"/>
      <p:bldP spid="15" grpId="0"/>
      <p:bldP spid="1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The </a:t>
            </a:r>
            <a:r>
              <a:rPr lang="en-US" altLang="zh-CN" dirty="0" err="1">
                <a:ea typeface="宋体" panose="02010600030101010101" pitchFamily="2" charset="-122"/>
              </a:rPr>
              <a:t>always_ff</a:t>
            </a:r>
            <a:r>
              <a:rPr lang="en-US" altLang="zh-CN" dirty="0">
                <a:ea typeface="宋体" panose="02010600030101010101" pitchFamily="2" charset="-122"/>
              </a:rPr>
              <a:t> Statement with Reset</a:t>
            </a:r>
            <a:endParaRPr lang="en-US" altLang="zh-CN" sz="4000" dirty="0">
              <a:ea typeface="宋体" panose="02010600030101010101" pitchFamily="2" charset="-122"/>
            </a:endParaRP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ea typeface="宋体" panose="02010600030101010101" pitchFamily="2" charset="-122"/>
              </a:rPr>
              <a:t>Syntax: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28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80B945-8834-4EF4-8541-B445DF94FF05}"/>
              </a:ext>
            </a:extLst>
          </p:cNvPr>
          <p:cNvSpPr txBox="1"/>
          <p:nvPr/>
        </p:nvSpPr>
        <p:spPr>
          <a:xfrm>
            <a:off x="5074866" y="2915845"/>
            <a:ext cx="3615092" cy="18158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en-US" sz="14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always_ff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@(</a:t>
            </a:r>
            <a:r>
              <a:rPr lang="en-US" sz="14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posedge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clk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if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rst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1'b1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	 &lt;reset statement1&gt;;</a:t>
            </a:r>
          </a:p>
          <a:p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 end</a:t>
            </a:r>
          </a:p>
          <a:p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 else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	 &lt;sync statement2&gt;;</a:t>
            </a:r>
          </a:p>
          <a:p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 end</a:t>
            </a:r>
            <a:r>
              <a:rPr lang="he-IL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he-I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7833F8F-09C1-4BCB-B4B8-85ACBF5B253A}"/>
              </a:ext>
            </a:extLst>
          </p:cNvPr>
          <p:cNvSpPr txBox="1"/>
          <p:nvPr/>
        </p:nvSpPr>
        <p:spPr>
          <a:xfrm>
            <a:off x="4972913" y="2444066"/>
            <a:ext cx="3252248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u="sng" dirty="0"/>
              <a:t>With Synchronous Reset:</a:t>
            </a:r>
            <a:endParaRPr lang="he-IL" sz="2000" u="sng" dirty="0"/>
          </a:p>
        </p:txBody>
      </p:sp>
      <p:sp>
        <p:nvSpPr>
          <p:cNvPr id="23" name="Arrow: Left 32">
            <a:extLst>
              <a:ext uri="{FF2B5EF4-FFF2-40B4-BE49-F238E27FC236}">
                <a16:creationId xmlns:a16="http://schemas.microsoft.com/office/drawing/2014/main" id="{B2E81AC2-01EF-4C41-8156-2ECE06846682}"/>
              </a:ext>
            </a:extLst>
          </p:cNvPr>
          <p:cNvSpPr/>
          <p:nvPr/>
        </p:nvSpPr>
        <p:spPr>
          <a:xfrm rot="5400000">
            <a:off x="7301281" y="4172618"/>
            <a:ext cx="1432753" cy="238724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31">
            <a:extLst>
              <a:ext uri="{FF2B5EF4-FFF2-40B4-BE49-F238E27FC236}">
                <a16:creationId xmlns:a16="http://schemas.microsoft.com/office/drawing/2014/main" id="{FA6FB9E3-77A3-4740-A89E-DB93FA8C83DF}"/>
              </a:ext>
            </a:extLst>
          </p:cNvPr>
          <p:cNvSpPr/>
          <p:nvPr/>
        </p:nvSpPr>
        <p:spPr>
          <a:xfrm>
            <a:off x="7040983" y="5008356"/>
            <a:ext cx="1621115" cy="861304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Initialization Statements (on reset)</a:t>
            </a:r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F579CFAA-D5E9-4B32-B9C6-8D2157D18004}"/>
              </a:ext>
            </a:extLst>
          </p:cNvPr>
          <p:cNvSpPr/>
          <p:nvPr/>
        </p:nvSpPr>
        <p:spPr>
          <a:xfrm rot="2721874">
            <a:off x="7799493" y="2265503"/>
            <a:ext cx="314325" cy="84284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6" name="Rectangle: Rounded Corners 31">
            <a:extLst>
              <a:ext uri="{FF2B5EF4-FFF2-40B4-BE49-F238E27FC236}">
                <a16:creationId xmlns:a16="http://schemas.microsoft.com/office/drawing/2014/main" id="{935F22F0-B1AA-4055-A547-148903A2AA0F}"/>
              </a:ext>
            </a:extLst>
          </p:cNvPr>
          <p:cNvSpPr/>
          <p:nvPr/>
        </p:nvSpPr>
        <p:spPr>
          <a:xfrm>
            <a:off x="6990483" y="1919605"/>
            <a:ext cx="1818364" cy="493702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Sensitivity List (no reset!)</a:t>
            </a:r>
          </a:p>
        </p:txBody>
      </p:sp>
      <p:sp>
        <p:nvSpPr>
          <p:cNvPr id="27" name="Arrow: Left 32">
            <a:extLst>
              <a:ext uri="{FF2B5EF4-FFF2-40B4-BE49-F238E27FC236}">
                <a16:creationId xmlns:a16="http://schemas.microsoft.com/office/drawing/2014/main" id="{5F7B73E4-17D2-427F-BFB7-26715938A369}"/>
              </a:ext>
            </a:extLst>
          </p:cNvPr>
          <p:cNvSpPr/>
          <p:nvPr/>
        </p:nvSpPr>
        <p:spPr>
          <a:xfrm rot="5400000">
            <a:off x="6021772" y="4534325"/>
            <a:ext cx="846544" cy="231528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: Rounded Corners 31">
            <a:extLst>
              <a:ext uri="{FF2B5EF4-FFF2-40B4-BE49-F238E27FC236}">
                <a16:creationId xmlns:a16="http://schemas.microsoft.com/office/drawing/2014/main" id="{12BDBCA8-4B8A-485F-8BF6-0EAAE124C6B4}"/>
              </a:ext>
            </a:extLst>
          </p:cNvPr>
          <p:cNvSpPr/>
          <p:nvPr/>
        </p:nvSpPr>
        <p:spPr>
          <a:xfrm>
            <a:off x="5460558" y="4930613"/>
            <a:ext cx="1454621" cy="1103602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Sync Statements (on clock rise)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1ECFB88-C179-4FB9-AFCD-CF9B2D928348}"/>
              </a:ext>
            </a:extLst>
          </p:cNvPr>
          <p:cNvSpPr txBox="1"/>
          <p:nvPr/>
        </p:nvSpPr>
        <p:spPr>
          <a:xfrm>
            <a:off x="59802" y="2915845"/>
            <a:ext cx="4831388" cy="18158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en-US" sz="14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always_ff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@(</a:t>
            </a:r>
            <a:r>
              <a:rPr lang="en-US" sz="14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posedge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clk, </a:t>
            </a:r>
            <a:r>
              <a:rPr lang="en-US" sz="14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posedge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rst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if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rst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1'b1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	 &lt;reset statement1&gt;;</a:t>
            </a:r>
          </a:p>
          <a:p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 end</a:t>
            </a:r>
          </a:p>
          <a:p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 else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	 &lt;sync statement2&gt;;</a:t>
            </a:r>
          </a:p>
          <a:p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 end</a:t>
            </a:r>
            <a:r>
              <a:rPr lang="he-IL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he-I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53E7C0A-12D6-49B2-9A6F-9B17EA541C5B}"/>
              </a:ext>
            </a:extLst>
          </p:cNvPr>
          <p:cNvSpPr txBox="1"/>
          <p:nvPr/>
        </p:nvSpPr>
        <p:spPr>
          <a:xfrm>
            <a:off x="59802" y="2442804"/>
            <a:ext cx="3252248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u="sng" dirty="0"/>
              <a:t>With Asynchronous Reset:</a:t>
            </a:r>
            <a:endParaRPr lang="he-IL" sz="2000" u="sng" dirty="0"/>
          </a:p>
        </p:txBody>
      </p:sp>
      <p:sp>
        <p:nvSpPr>
          <p:cNvPr id="30" name="Arrow: Left 32">
            <a:extLst>
              <a:ext uri="{FF2B5EF4-FFF2-40B4-BE49-F238E27FC236}">
                <a16:creationId xmlns:a16="http://schemas.microsoft.com/office/drawing/2014/main" id="{DD085227-FC81-4181-BBD0-9A31045A3F56}"/>
              </a:ext>
            </a:extLst>
          </p:cNvPr>
          <p:cNvSpPr/>
          <p:nvPr/>
        </p:nvSpPr>
        <p:spPr>
          <a:xfrm rot="5400000">
            <a:off x="2406861" y="4172617"/>
            <a:ext cx="1432753" cy="238724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: Rounded Corners 31">
            <a:extLst>
              <a:ext uri="{FF2B5EF4-FFF2-40B4-BE49-F238E27FC236}">
                <a16:creationId xmlns:a16="http://schemas.microsoft.com/office/drawing/2014/main" id="{DE92A8DC-925E-4567-B409-B701BFE1B326}"/>
              </a:ext>
            </a:extLst>
          </p:cNvPr>
          <p:cNvSpPr/>
          <p:nvPr/>
        </p:nvSpPr>
        <p:spPr>
          <a:xfrm>
            <a:off x="2168461" y="4960643"/>
            <a:ext cx="1621115" cy="861304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Initialization Statements (on reset)</a:t>
            </a:r>
          </a:p>
        </p:txBody>
      </p:sp>
      <p:sp>
        <p:nvSpPr>
          <p:cNvPr id="32" name="Arrow: Down 31">
            <a:extLst>
              <a:ext uri="{FF2B5EF4-FFF2-40B4-BE49-F238E27FC236}">
                <a16:creationId xmlns:a16="http://schemas.microsoft.com/office/drawing/2014/main" id="{DAD6BF8E-D2CB-43CD-BD56-FB0B8C3F73A8}"/>
              </a:ext>
            </a:extLst>
          </p:cNvPr>
          <p:cNvSpPr/>
          <p:nvPr/>
        </p:nvSpPr>
        <p:spPr>
          <a:xfrm rot="9844616">
            <a:off x="3827768" y="3125410"/>
            <a:ext cx="314325" cy="166847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3" name="Rectangle: Rounded Corners 31">
            <a:extLst>
              <a:ext uri="{FF2B5EF4-FFF2-40B4-BE49-F238E27FC236}">
                <a16:creationId xmlns:a16="http://schemas.microsoft.com/office/drawing/2014/main" id="{AE69A9C1-021F-43BF-B340-C9041B7BC63D}"/>
              </a:ext>
            </a:extLst>
          </p:cNvPr>
          <p:cNvSpPr/>
          <p:nvPr/>
        </p:nvSpPr>
        <p:spPr>
          <a:xfrm>
            <a:off x="3503813" y="4399473"/>
            <a:ext cx="1412267" cy="493702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Sensitivity List</a:t>
            </a:r>
          </a:p>
        </p:txBody>
      </p:sp>
      <p:sp>
        <p:nvSpPr>
          <p:cNvPr id="34" name="Arrow: Left 32">
            <a:extLst>
              <a:ext uri="{FF2B5EF4-FFF2-40B4-BE49-F238E27FC236}">
                <a16:creationId xmlns:a16="http://schemas.microsoft.com/office/drawing/2014/main" id="{907745FE-742B-4A59-B118-EBA2DA55A5C8}"/>
              </a:ext>
            </a:extLst>
          </p:cNvPr>
          <p:cNvSpPr/>
          <p:nvPr/>
        </p:nvSpPr>
        <p:spPr>
          <a:xfrm rot="5400000">
            <a:off x="1051509" y="4524012"/>
            <a:ext cx="846544" cy="231528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: Rounded Corners 31">
            <a:extLst>
              <a:ext uri="{FF2B5EF4-FFF2-40B4-BE49-F238E27FC236}">
                <a16:creationId xmlns:a16="http://schemas.microsoft.com/office/drawing/2014/main" id="{F5FBFBB6-0596-44CE-8E08-96F009804DF9}"/>
              </a:ext>
            </a:extLst>
          </p:cNvPr>
          <p:cNvSpPr/>
          <p:nvPr/>
        </p:nvSpPr>
        <p:spPr>
          <a:xfrm>
            <a:off x="622170" y="5073361"/>
            <a:ext cx="1454621" cy="1103602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Sync Statements (on clock rise)</a:t>
            </a:r>
          </a:p>
        </p:txBody>
      </p:sp>
    </p:spTree>
    <p:extLst>
      <p:ext uri="{BB962C8B-B14F-4D97-AF65-F5344CB8AC3E}">
        <p14:creationId xmlns:p14="http://schemas.microsoft.com/office/powerpoint/2010/main" val="529573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7" grpId="0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0" grpId="0" animBg="1"/>
      <p:bldP spid="29" grpId="0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>
            <a:extLst>
              <a:ext uri="{FF2B5EF4-FFF2-40B4-BE49-F238E27FC236}">
                <a16:creationId xmlns:a16="http://schemas.microsoft.com/office/drawing/2014/main" id="{183F8862-D665-4151-92DE-B6ED8A4085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7636" y="4331425"/>
            <a:ext cx="1652820" cy="1912086"/>
          </a:xfrm>
          <a:prstGeom prst="rect">
            <a:avLst/>
          </a:prstGeom>
        </p:spPr>
      </p:pic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ea typeface="宋体" panose="02010600030101010101" pitchFamily="2" charset="-122"/>
              </a:rPr>
              <a:t>always_ff</a:t>
            </a:r>
            <a:r>
              <a:rPr lang="en-US" altLang="zh-CN" dirty="0">
                <a:ea typeface="宋体" panose="02010600030101010101" pitchFamily="2" charset="-122"/>
              </a:rPr>
              <a:t> Example: Implementing a Flip-Flop with Reset</a:t>
            </a:r>
            <a:endParaRPr lang="en-US" altLang="zh-CN" sz="4000" dirty="0">
              <a:ea typeface="宋体" panose="02010600030101010101" pitchFamily="2" charset="-122"/>
            </a:endParaRP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 dirty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044252 - Digital Systems and Computer Structure - </a:t>
            </a:r>
            <a:r>
              <a:rPr lang="en-US" dirty="0" err="1"/>
              <a:t>SystemVerilog</a:t>
            </a:r>
            <a:r>
              <a:rPr lang="en-US" dirty="0"/>
              <a:t> HDL Workshop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29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66A72C-2A8C-49A1-8A25-A99A43667EBB}"/>
              </a:ext>
            </a:extLst>
          </p:cNvPr>
          <p:cNvSpPr txBox="1"/>
          <p:nvPr/>
        </p:nvSpPr>
        <p:spPr>
          <a:xfrm>
            <a:off x="819387" y="1623247"/>
            <a:ext cx="6165130" cy="25853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B05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always_ff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@(</a:t>
            </a:r>
            <a:r>
              <a:rPr lang="en-US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posedge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clk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posedge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rst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rst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1'b1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&lt;=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1'b0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&lt;=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B05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he-I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2" name="Text Box 31">
            <a:extLst>
              <a:ext uri="{FF2B5EF4-FFF2-40B4-BE49-F238E27FC236}">
                <a16:creationId xmlns:a16="http://schemas.microsoft.com/office/drawing/2014/main" id="{F66ACE72-00C4-4F1A-8303-7BC2BEE7ED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1552" y="6077787"/>
            <a:ext cx="42498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 err="1">
                <a:solidFill>
                  <a:srgbClr val="0070C0"/>
                </a:solidFill>
              </a:rPr>
              <a:t>rst</a:t>
            </a:r>
            <a:endParaRPr lang="en-US" altLang="en-US" dirty="0">
              <a:solidFill>
                <a:srgbClr val="0070C0"/>
              </a:solidFill>
            </a:endParaRPr>
          </a:p>
        </p:txBody>
      </p:sp>
      <p:sp>
        <p:nvSpPr>
          <p:cNvPr id="32" name="Text Box 31">
            <a:extLst>
              <a:ext uri="{FF2B5EF4-FFF2-40B4-BE49-F238E27FC236}">
                <a16:creationId xmlns:a16="http://schemas.microsoft.com/office/drawing/2014/main" id="{0D492455-AD1F-4008-98B8-1F30C37B19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8092" y="5004189"/>
            <a:ext cx="43954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>
                <a:solidFill>
                  <a:schemeClr val="accent4">
                    <a:lumMod val="75000"/>
                  </a:schemeClr>
                </a:solidFill>
              </a:rPr>
              <a:t>clk</a:t>
            </a:r>
          </a:p>
        </p:txBody>
      </p:sp>
      <p:sp>
        <p:nvSpPr>
          <p:cNvPr id="33" name="Text Box 31">
            <a:extLst>
              <a:ext uri="{FF2B5EF4-FFF2-40B4-BE49-F238E27FC236}">
                <a16:creationId xmlns:a16="http://schemas.microsoft.com/office/drawing/2014/main" id="{24A28BDE-E9FC-413D-BCD3-15918D6902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8242" y="4542602"/>
            <a:ext cx="35939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>
                <a:solidFill>
                  <a:srgbClr val="00B050"/>
                </a:solidFill>
              </a:rPr>
              <a:t>in</a:t>
            </a:r>
          </a:p>
        </p:txBody>
      </p:sp>
      <p:sp>
        <p:nvSpPr>
          <p:cNvPr id="34" name="Text Box 31">
            <a:extLst>
              <a:ext uri="{FF2B5EF4-FFF2-40B4-BE49-F238E27FC236}">
                <a16:creationId xmlns:a16="http://schemas.microsoft.com/office/drawing/2014/main" id="{6D242DAB-C1FF-4F76-B15F-1D89198D6C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0456" y="4581749"/>
            <a:ext cx="22129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35" name="Text Box 31">
            <a:extLst>
              <a:ext uri="{FF2B5EF4-FFF2-40B4-BE49-F238E27FC236}">
                <a16:creationId xmlns:a16="http://schemas.microsoft.com/office/drawing/2014/main" id="{97B644C2-2D03-4614-BF7A-956446C9C5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2144" y="5561781"/>
            <a:ext cx="41710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/>
              <a:t>‘1’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D24670B-0A4A-4BBB-94B6-F4BAABBFCBA9}"/>
              </a:ext>
            </a:extLst>
          </p:cNvPr>
          <p:cNvCxnSpPr>
            <a:cxnSpLocks/>
          </p:cNvCxnSpPr>
          <p:nvPr/>
        </p:nvCxnSpPr>
        <p:spPr>
          <a:xfrm>
            <a:off x="4604046" y="5992938"/>
            <a:ext cx="0" cy="21269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C7E20DB-66A5-4509-85EA-C780A6C8689A}"/>
              </a:ext>
            </a:extLst>
          </p:cNvPr>
          <p:cNvCxnSpPr>
            <a:cxnSpLocks/>
          </p:cNvCxnSpPr>
          <p:nvPr/>
        </p:nvCxnSpPr>
        <p:spPr>
          <a:xfrm>
            <a:off x="4581102" y="4369059"/>
            <a:ext cx="0" cy="21269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 Box 31">
            <a:extLst>
              <a:ext uri="{FF2B5EF4-FFF2-40B4-BE49-F238E27FC236}">
                <a16:creationId xmlns:a16="http://schemas.microsoft.com/office/drawing/2014/main" id="{516236A9-BC8C-4661-AA5C-68B50279AE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4932" y="4122966"/>
            <a:ext cx="41710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/>
              <a:t>‘0’</a:t>
            </a:r>
          </a:p>
        </p:txBody>
      </p:sp>
    </p:spTree>
    <p:extLst>
      <p:ext uri="{BB962C8B-B14F-4D97-AF65-F5344CB8AC3E}">
        <p14:creationId xmlns:p14="http://schemas.microsoft.com/office/powerpoint/2010/main" val="3794777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2" grpId="0"/>
      <p:bldP spid="32" grpId="0"/>
      <p:bldP spid="33" grpId="0"/>
      <p:bldP spid="34" grpId="0"/>
      <p:bldP spid="35" grpId="0"/>
      <p:bldP spid="1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Assignment in an </a:t>
            </a:r>
            <a:r>
              <a:rPr lang="en-US" altLang="zh-CN" dirty="0" err="1">
                <a:ea typeface="宋体" panose="02010600030101010101" pitchFamily="2" charset="-122"/>
              </a:rPr>
              <a:t>always_ff</a:t>
            </a:r>
            <a:r>
              <a:rPr lang="en-US" altLang="zh-CN" dirty="0">
                <a:ea typeface="宋体" panose="02010600030101010101" pitchFamily="2" charset="-122"/>
              </a:rPr>
              <a:t> Block</a:t>
            </a:r>
            <a:endParaRPr lang="en-US" altLang="zh-CN" sz="4000" dirty="0">
              <a:ea typeface="宋体" panose="02010600030101010101" pitchFamily="2" charset="-122"/>
            </a:endParaRP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ea typeface="宋体" panose="02010600030101010101" pitchFamily="2" charset="-122"/>
              </a:rPr>
              <a:t>In </a:t>
            </a:r>
            <a:r>
              <a:rPr lang="en-US" altLang="zh-CN" dirty="0" err="1">
                <a:ea typeface="宋体" panose="02010600030101010101" pitchFamily="2" charset="-122"/>
              </a:rPr>
              <a:t>always_comb</a:t>
            </a:r>
            <a:r>
              <a:rPr lang="en-US" altLang="zh-CN" dirty="0">
                <a:ea typeface="宋体" panose="02010600030101010101" pitchFamily="2" charset="-122"/>
              </a:rPr>
              <a:t>, we use a </a:t>
            </a:r>
            <a:r>
              <a:rPr lang="en-US" altLang="zh-CN" b="1" dirty="0">
                <a:ea typeface="宋体" panose="02010600030101010101" pitchFamily="2" charset="-122"/>
              </a:rPr>
              <a:t>blocking </a:t>
            </a:r>
            <a:r>
              <a:rPr lang="en-US" altLang="zh-CN" dirty="0">
                <a:ea typeface="宋体" panose="02010600030101010101" pitchFamily="2" charset="-122"/>
              </a:rPr>
              <a:t>assignment      (= operator):</a:t>
            </a:r>
          </a:p>
          <a:p>
            <a:endParaRPr lang="en-US" altLang="zh-CN" dirty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In </a:t>
            </a:r>
            <a:r>
              <a:rPr lang="en-US" altLang="zh-CN" dirty="0" err="1">
                <a:ea typeface="宋体" panose="02010600030101010101" pitchFamily="2" charset="-122"/>
              </a:rPr>
              <a:t>always_ff</a:t>
            </a:r>
            <a:r>
              <a:rPr lang="en-US" altLang="zh-CN" dirty="0">
                <a:ea typeface="宋体" panose="02010600030101010101" pitchFamily="2" charset="-122"/>
              </a:rPr>
              <a:t>, we use a </a:t>
            </a:r>
            <a:r>
              <a:rPr lang="en-US" altLang="zh-CN" b="1" dirty="0">
                <a:ea typeface="宋体" panose="02010600030101010101" pitchFamily="2" charset="-122"/>
              </a:rPr>
              <a:t>non-blocking </a:t>
            </a:r>
            <a:r>
              <a:rPr lang="en-US" altLang="zh-CN" dirty="0">
                <a:ea typeface="宋体" panose="02010600030101010101" pitchFamily="2" charset="-122"/>
              </a:rPr>
              <a:t>assignment    (&lt;= operator):</a:t>
            </a:r>
          </a:p>
          <a:p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30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7E11D1-836D-49E4-AFB1-CEE0EF5B97B2}"/>
              </a:ext>
            </a:extLst>
          </p:cNvPr>
          <p:cNvSpPr txBox="1"/>
          <p:nvPr/>
        </p:nvSpPr>
        <p:spPr>
          <a:xfrm>
            <a:off x="989814" y="2828041"/>
            <a:ext cx="6165130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a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in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always_comb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a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in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he-I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66A72C-2A8C-49A1-8A25-A99A43667EBB}"/>
              </a:ext>
            </a:extLst>
          </p:cNvPr>
          <p:cNvSpPr txBox="1"/>
          <p:nvPr/>
        </p:nvSpPr>
        <p:spPr>
          <a:xfrm>
            <a:off x="989814" y="5111570"/>
            <a:ext cx="6165130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a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in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always_ff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@(</a:t>
            </a:r>
            <a:r>
              <a:rPr lang="en-US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posedge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clk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a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&lt;=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in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he-I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5918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Procedural </a:t>
            </a:r>
            <a:r>
              <a:rPr lang="en-US" altLang="zh-CN" dirty="0"/>
              <a:t>Assignments</a:t>
            </a:r>
            <a:endParaRPr lang="en-US" altLang="zh-CN" sz="4000" dirty="0">
              <a:ea typeface="宋体" panose="02010600030101010101" pitchFamily="2" charset="-122"/>
            </a:endParaRP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>
                <a:ea typeface="宋体" panose="02010600030101010101" pitchFamily="2" charset="-122"/>
              </a:rPr>
              <a:t>Occur within procedural blocks such as </a:t>
            </a:r>
            <a:r>
              <a:rPr lang="en-US" altLang="zh-CN" i="1" dirty="0" err="1">
                <a:solidFill>
                  <a:srgbClr val="FF0000"/>
                </a:solidFill>
                <a:ea typeface="宋体" panose="02010600030101010101" pitchFamily="2" charset="-122"/>
              </a:rPr>
              <a:t>always_comb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</a:rPr>
              <a:t>, </a:t>
            </a:r>
            <a:r>
              <a:rPr lang="en-US" altLang="zh-CN" i="1" dirty="0" err="1">
                <a:solidFill>
                  <a:srgbClr val="FF0000"/>
                </a:solidFill>
                <a:ea typeface="宋体" panose="02010600030101010101" pitchFamily="2" charset="-122"/>
              </a:rPr>
              <a:t>always_ff</a:t>
            </a:r>
            <a:r>
              <a:rPr lang="en-US" altLang="zh-CN" i="1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and 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</a:rPr>
              <a:t>initial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Triggered when the flow of execution reaches them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Blocking/Non-blocking</a:t>
            </a:r>
          </a:p>
          <a:p>
            <a:pPr lvl="1"/>
            <a:r>
              <a:rPr lang="en-US" altLang="zh-CN" sz="2400" b="1" dirty="0">
                <a:ea typeface="宋体" panose="02010600030101010101" pitchFamily="2" charset="-122"/>
              </a:rPr>
              <a:t>Blocking </a:t>
            </a:r>
            <a:r>
              <a:rPr lang="en-US" altLang="zh-CN" sz="2400" dirty="0">
                <a:ea typeface="宋体" panose="02010600030101010101" pitchFamily="2" charset="-122"/>
              </a:rPr>
              <a:t>assignment statement (</a:t>
            </a:r>
            <a:r>
              <a:rPr lang="en-US" altLang="zh-CN" sz="2400" b="1" dirty="0">
                <a:ea typeface="宋体" panose="02010600030101010101" pitchFamily="2" charset="-122"/>
              </a:rPr>
              <a:t>= </a:t>
            </a:r>
            <a:r>
              <a:rPr lang="en-US" altLang="zh-CN" sz="2400" dirty="0">
                <a:ea typeface="宋体" panose="02010600030101010101" pitchFamily="2" charset="-122"/>
              </a:rPr>
              <a:t>operator) acts much like in traditional programming languages. The whole statement is done before control passes on to the next statement</a:t>
            </a:r>
          </a:p>
          <a:p>
            <a:pPr lvl="1"/>
            <a:r>
              <a:rPr lang="en-US" altLang="zh-CN" sz="2400" b="1" dirty="0">
                <a:ea typeface="宋体" panose="02010600030101010101" pitchFamily="2" charset="-122"/>
              </a:rPr>
              <a:t>Non-blocking</a:t>
            </a:r>
            <a:r>
              <a:rPr lang="en-US" altLang="zh-CN" sz="2400" dirty="0">
                <a:ea typeface="宋体" panose="02010600030101010101" pitchFamily="2" charset="-122"/>
              </a:rPr>
              <a:t> assignment statement (</a:t>
            </a:r>
            <a:r>
              <a:rPr lang="en-US" altLang="zh-CN" sz="2400" b="1" dirty="0">
                <a:ea typeface="宋体" panose="02010600030101010101" pitchFamily="2" charset="-122"/>
              </a:rPr>
              <a:t>&lt;=</a:t>
            </a:r>
            <a:r>
              <a:rPr lang="en-US" altLang="zh-CN" sz="2400" dirty="0">
                <a:ea typeface="宋体" panose="02010600030101010101" pitchFamily="2" charset="-122"/>
              </a:rPr>
              <a:t> operator) evaluates all the right-hand sides for the current time unit and assigns the left-hand sides at the end of the procedural block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6434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Example – Non blocking</a:t>
            </a:r>
          </a:p>
        </p:txBody>
      </p:sp>
      <p:sp>
        <p:nvSpPr>
          <p:cNvPr id="189444" name="Text Box 4"/>
          <p:cNvSpPr txBox="1">
            <a:spLocks noChangeArrowheads="1"/>
          </p:cNvSpPr>
          <p:nvPr/>
        </p:nvSpPr>
        <p:spPr bwMode="auto">
          <a:xfrm>
            <a:off x="381000" y="1524000"/>
            <a:ext cx="426720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0"/>
              </a:spcBef>
              <a:tabLst>
                <a:tab pos="231775" algn="l"/>
                <a:tab pos="508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spcBef>
                <a:spcPct val="0"/>
              </a:spcBef>
              <a:tabLst>
                <a:tab pos="231775" algn="l"/>
                <a:tab pos="508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spcBef>
                <a:spcPct val="0"/>
              </a:spcBef>
              <a:tabLst>
                <a:tab pos="231775" algn="l"/>
                <a:tab pos="508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spcBef>
                <a:spcPct val="0"/>
              </a:spcBef>
              <a:tabLst>
                <a:tab pos="231775" algn="l"/>
                <a:tab pos="508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spcBef>
                <a:spcPct val="0"/>
              </a:spcBef>
              <a:tabLst>
                <a:tab pos="231775" algn="l"/>
                <a:tab pos="508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31775" algn="l"/>
                <a:tab pos="508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31775" algn="l"/>
                <a:tab pos="508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31775" algn="l"/>
                <a:tab pos="508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31775" algn="l"/>
                <a:tab pos="508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module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shifter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in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clk</a:t>
            </a:r>
          </a:p>
          <a:p>
            <a:r>
              <a:rPr lang="he-IL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;(</a:t>
            </a:r>
            <a:endParaRPr lang="he-IL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A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B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C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always_ff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@(</a:t>
            </a:r>
            <a:r>
              <a:rPr lang="en-US" sz="16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posedge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clk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	A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&lt;=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in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	B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&lt;=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A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	C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&lt;=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B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endmodule</a:t>
            </a:r>
            <a:endParaRPr lang="en-US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DE99365-C333-476A-833E-5B17AFC856A6}"/>
              </a:ext>
            </a:extLst>
          </p:cNvPr>
          <p:cNvGrpSpPr/>
          <p:nvPr/>
        </p:nvGrpSpPr>
        <p:grpSpPr>
          <a:xfrm>
            <a:off x="2727325" y="3810000"/>
            <a:ext cx="2387600" cy="1266825"/>
            <a:chOff x="2727325" y="3810000"/>
            <a:chExt cx="2387600" cy="1266825"/>
          </a:xfrm>
        </p:grpSpPr>
        <p:grpSp>
          <p:nvGrpSpPr>
            <p:cNvPr id="189445" name="Group 5"/>
            <p:cNvGrpSpPr>
              <a:grpSpLocks/>
            </p:cNvGrpSpPr>
            <p:nvPr/>
          </p:nvGrpSpPr>
          <p:grpSpPr bwMode="auto">
            <a:xfrm>
              <a:off x="3581400" y="3825875"/>
              <a:ext cx="1371600" cy="838200"/>
              <a:chOff x="3168" y="1776"/>
              <a:chExt cx="864" cy="528"/>
            </a:xfrm>
          </p:grpSpPr>
          <p:sp>
            <p:nvSpPr>
              <p:cNvPr id="189446" name="Rectangle 6"/>
              <p:cNvSpPr>
                <a:spLocks noChangeArrowheads="1"/>
              </p:cNvSpPr>
              <p:nvPr/>
            </p:nvSpPr>
            <p:spPr bwMode="auto">
              <a:xfrm>
                <a:off x="3408" y="1776"/>
                <a:ext cx="384" cy="52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9447" name="Line 7"/>
              <p:cNvSpPr>
                <a:spLocks noChangeShapeType="1"/>
              </p:cNvSpPr>
              <p:nvPr/>
            </p:nvSpPr>
            <p:spPr bwMode="auto">
              <a:xfrm flipV="1">
                <a:off x="3552" y="2208"/>
                <a:ext cx="48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9448" name="Line 8"/>
              <p:cNvSpPr>
                <a:spLocks noChangeShapeType="1"/>
              </p:cNvSpPr>
              <p:nvPr/>
            </p:nvSpPr>
            <p:spPr bwMode="auto">
              <a:xfrm flipH="1" flipV="1">
                <a:off x="3600" y="2208"/>
                <a:ext cx="48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9449" name="Line 9"/>
              <p:cNvSpPr>
                <a:spLocks noChangeShapeType="1"/>
              </p:cNvSpPr>
              <p:nvPr/>
            </p:nvSpPr>
            <p:spPr bwMode="auto">
              <a:xfrm>
                <a:off x="3168" y="2016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9450" name="Line 10"/>
              <p:cNvSpPr>
                <a:spLocks noChangeShapeType="1"/>
              </p:cNvSpPr>
              <p:nvPr/>
            </p:nvSpPr>
            <p:spPr bwMode="auto">
              <a:xfrm>
                <a:off x="3792" y="2016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189451" name="Text Box 11"/>
            <p:cNvSpPr txBox="1">
              <a:spLocks noChangeArrowheads="1"/>
            </p:cNvSpPr>
            <p:nvPr/>
          </p:nvSpPr>
          <p:spPr bwMode="auto">
            <a:xfrm>
              <a:off x="4784725" y="3810000"/>
              <a:ext cx="3302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A</a:t>
              </a:r>
            </a:p>
          </p:txBody>
        </p:sp>
        <p:sp>
          <p:nvSpPr>
            <p:cNvPr id="189467" name="Line 27"/>
            <p:cNvSpPr>
              <a:spLocks noChangeShapeType="1"/>
            </p:cNvSpPr>
            <p:nvPr/>
          </p:nvSpPr>
          <p:spPr bwMode="auto">
            <a:xfrm>
              <a:off x="3581400" y="4968875"/>
              <a:ext cx="69836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en-US"/>
            </a:p>
          </p:txBody>
        </p:sp>
        <p:sp>
          <p:nvSpPr>
            <p:cNvPr id="189468" name="Line 28"/>
            <p:cNvSpPr>
              <a:spLocks noChangeShapeType="1"/>
            </p:cNvSpPr>
            <p:nvPr/>
          </p:nvSpPr>
          <p:spPr bwMode="auto">
            <a:xfrm flipV="1">
              <a:off x="4267200" y="4664075"/>
              <a:ext cx="0" cy="3048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89471" name="Text Box 31"/>
            <p:cNvSpPr txBox="1">
              <a:spLocks noChangeArrowheads="1"/>
            </p:cNvSpPr>
            <p:nvPr/>
          </p:nvSpPr>
          <p:spPr bwMode="auto">
            <a:xfrm>
              <a:off x="3048000" y="4740275"/>
              <a:ext cx="466725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dirty="0"/>
                <a:t>clk</a:t>
              </a:r>
            </a:p>
          </p:txBody>
        </p:sp>
        <p:grpSp>
          <p:nvGrpSpPr>
            <p:cNvPr id="189474" name="Group 34"/>
            <p:cNvGrpSpPr>
              <a:grpSpLocks/>
            </p:cNvGrpSpPr>
            <p:nvPr/>
          </p:nvGrpSpPr>
          <p:grpSpPr bwMode="auto">
            <a:xfrm>
              <a:off x="2727325" y="3886200"/>
              <a:ext cx="930275" cy="336550"/>
              <a:chOff x="1718" y="2678"/>
              <a:chExt cx="586" cy="212"/>
            </a:xfrm>
          </p:grpSpPr>
          <p:sp>
            <p:nvSpPr>
              <p:cNvPr id="189475" name="Line 35"/>
              <p:cNvSpPr>
                <a:spLocks noChangeShapeType="1"/>
              </p:cNvSpPr>
              <p:nvPr/>
            </p:nvSpPr>
            <p:spPr bwMode="auto">
              <a:xfrm>
                <a:off x="2064" y="2880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9476" name="Text Box 36"/>
              <p:cNvSpPr txBox="1">
                <a:spLocks noChangeArrowheads="1"/>
              </p:cNvSpPr>
              <p:nvPr/>
            </p:nvSpPr>
            <p:spPr bwMode="auto">
              <a:xfrm>
                <a:off x="1718" y="2678"/>
                <a:ext cx="23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 dirty="0"/>
                  <a:t>in</a:t>
                </a:r>
              </a:p>
            </p:txBody>
          </p:sp>
        </p:grpSp>
      </p:grp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32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A5C33ED-589F-41B9-9892-3C07FA0950FF}"/>
              </a:ext>
            </a:extLst>
          </p:cNvPr>
          <p:cNvGrpSpPr/>
          <p:nvPr/>
        </p:nvGrpSpPr>
        <p:grpSpPr>
          <a:xfrm>
            <a:off x="4222815" y="3810000"/>
            <a:ext cx="2568510" cy="1158875"/>
            <a:chOff x="4222815" y="3810000"/>
            <a:chExt cx="2568510" cy="1158875"/>
          </a:xfrm>
        </p:grpSpPr>
        <p:sp>
          <p:nvSpPr>
            <p:cNvPr id="189473" name="Line 33"/>
            <p:cNvSpPr>
              <a:spLocks noChangeShapeType="1"/>
            </p:cNvSpPr>
            <p:nvPr/>
          </p:nvSpPr>
          <p:spPr bwMode="auto">
            <a:xfrm>
              <a:off x="4876800" y="4206875"/>
              <a:ext cx="381000" cy="0"/>
            </a:xfrm>
            <a:prstGeom prst="line">
              <a:avLst/>
            </a:prstGeom>
            <a:noFill/>
            <a:ln w="1270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en-US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852159C-5370-435A-B5B7-EA37C7568F46}"/>
                </a:ext>
              </a:extLst>
            </p:cNvPr>
            <p:cNvGrpSpPr/>
            <p:nvPr/>
          </p:nvGrpSpPr>
          <p:grpSpPr>
            <a:xfrm>
              <a:off x="4222815" y="3810000"/>
              <a:ext cx="2568510" cy="1158875"/>
              <a:chOff x="4222815" y="3810000"/>
              <a:chExt cx="2568510" cy="1158875"/>
            </a:xfrm>
          </p:grpSpPr>
          <p:sp>
            <p:nvSpPr>
              <p:cNvPr id="189469" name="Line 29"/>
              <p:cNvSpPr>
                <a:spLocks noChangeShapeType="1"/>
              </p:cNvSpPr>
              <p:nvPr/>
            </p:nvSpPr>
            <p:spPr bwMode="auto">
              <a:xfrm flipV="1">
                <a:off x="5943600" y="4664075"/>
                <a:ext cx="0" cy="3048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D422161E-6044-4BBB-879D-F01A204DEAF5}"/>
                  </a:ext>
                </a:extLst>
              </p:cNvPr>
              <p:cNvGrpSpPr/>
              <p:nvPr/>
            </p:nvGrpSpPr>
            <p:grpSpPr>
              <a:xfrm>
                <a:off x="4222815" y="3810000"/>
                <a:ext cx="2568510" cy="1158875"/>
                <a:chOff x="4222815" y="3810000"/>
                <a:chExt cx="2568510" cy="1158875"/>
              </a:xfrm>
            </p:grpSpPr>
            <p:grpSp>
              <p:nvGrpSpPr>
                <p:cNvPr id="189452" name="Group 12"/>
                <p:cNvGrpSpPr>
                  <a:grpSpLocks/>
                </p:cNvGrpSpPr>
                <p:nvPr/>
              </p:nvGrpSpPr>
              <p:grpSpPr bwMode="auto">
                <a:xfrm>
                  <a:off x="5257800" y="3825875"/>
                  <a:ext cx="1371600" cy="838200"/>
                  <a:chOff x="3168" y="1776"/>
                  <a:chExt cx="864" cy="528"/>
                </a:xfrm>
              </p:grpSpPr>
              <p:sp>
                <p:nvSpPr>
                  <p:cNvPr id="189453" name="Rectangle 13"/>
                  <p:cNvSpPr>
                    <a:spLocks noChangeArrowheads="1"/>
                  </p:cNvSpPr>
                  <p:nvPr/>
                </p:nvSpPr>
                <p:spPr bwMode="auto">
                  <a:xfrm>
                    <a:off x="3408" y="1776"/>
                    <a:ext cx="384" cy="528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9454" name="Line 14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552" y="2208"/>
                    <a:ext cx="48" cy="96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9455" name="Line 15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3600" y="2208"/>
                    <a:ext cx="48" cy="96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9456" name="Line 16"/>
                  <p:cNvSpPr>
                    <a:spLocks noChangeShapeType="1"/>
                  </p:cNvSpPr>
                  <p:nvPr/>
                </p:nvSpPr>
                <p:spPr bwMode="auto">
                  <a:xfrm>
                    <a:off x="3168" y="2016"/>
                    <a:ext cx="240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 type="arrow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9457" name="Line 17"/>
                  <p:cNvSpPr>
                    <a:spLocks noChangeShapeType="1"/>
                  </p:cNvSpPr>
                  <p:nvPr/>
                </p:nvSpPr>
                <p:spPr bwMode="auto">
                  <a:xfrm>
                    <a:off x="3792" y="2016"/>
                    <a:ext cx="240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 type="arrow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189458" name="Text Box 18"/>
                <p:cNvSpPr txBox="1">
                  <a:spLocks noChangeArrowheads="1"/>
                </p:cNvSpPr>
                <p:nvPr/>
              </p:nvSpPr>
              <p:spPr bwMode="auto">
                <a:xfrm>
                  <a:off x="6461125" y="3810000"/>
                  <a:ext cx="330200" cy="3365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en-US"/>
                    <a:t>B</a:t>
                  </a:r>
                </a:p>
              </p:txBody>
            </p:sp>
            <p:sp>
              <p:nvSpPr>
                <p:cNvPr id="39" name="Line 27">
                  <a:extLst>
                    <a:ext uri="{FF2B5EF4-FFF2-40B4-BE49-F238E27FC236}">
                      <a16:creationId xmlns:a16="http://schemas.microsoft.com/office/drawing/2014/main" id="{7FC6891D-4A94-4C6C-B0D8-D1A311CFC3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22815" y="4968875"/>
                  <a:ext cx="1746185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anchor="ctr">
                  <a:spAutoFit/>
                </a:bodyPr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7946022-9516-419C-B13E-E5DBFDA3411C}"/>
              </a:ext>
            </a:extLst>
          </p:cNvPr>
          <p:cNvGrpSpPr/>
          <p:nvPr/>
        </p:nvGrpSpPr>
        <p:grpSpPr>
          <a:xfrm>
            <a:off x="5969000" y="3810000"/>
            <a:ext cx="2422525" cy="1158876"/>
            <a:chOff x="5969000" y="3810000"/>
            <a:chExt cx="2422525" cy="1158876"/>
          </a:xfrm>
        </p:grpSpPr>
        <p:sp>
          <p:nvSpPr>
            <p:cNvPr id="189472" name="Line 32"/>
            <p:cNvSpPr>
              <a:spLocks noChangeShapeType="1"/>
            </p:cNvSpPr>
            <p:nvPr/>
          </p:nvSpPr>
          <p:spPr bwMode="auto">
            <a:xfrm>
              <a:off x="6553200" y="4206875"/>
              <a:ext cx="381000" cy="0"/>
            </a:xfrm>
            <a:prstGeom prst="line">
              <a:avLst/>
            </a:prstGeom>
            <a:noFill/>
            <a:ln w="1270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F5A7A3AD-5E58-4D15-A728-6A1679245C7B}"/>
                </a:ext>
              </a:extLst>
            </p:cNvPr>
            <p:cNvGrpSpPr/>
            <p:nvPr/>
          </p:nvGrpSpPr>
          <p:grpSpPr>
            <a:xfrm>
              <a:off x="5969000" y="3810000"/>
              <a:ext cx="2422525" cy="1158876"/>
              <a:chOff x="5969000" y="3810000"/>
              <a:chExt cx="2422525" cy="1158876"/>
            </a:xfrm>
          </p:grpSpPr>
          <p:grpSp>
            <p:nvGrpSpPr>
              <p:cNvPr id="189459" name="Group 19"/>
              <p:cNvGrpSpPr>
                <a:grpSpLocks/>
              </p:cNvGrpSpPr>
              <p:nvPr/>
            </p:nvGrpSpPr>
            <p:grpSpPr bwMode="auto">
              <a:xfrm>
                <a:off x="6858000" y="3825875"/>
                <a:ext cx="1371600" cy="838200"/>
                <a:chOff x="3168" y="1776"/>
                <a:chExt cx="864" cy="528"/>
              </a:xfrm>
            </p:grpSpPr>
            <p:sp>
              <p:nvSpPr>
                <p:cNvPr id="189460" name="Rectangle 20"/>
                <p:cNvSpPr>
                  <a:spLocks noChangeArrowheads="1"/>
                </p:cNvSpPr>
                <p:nvPr/>
              </p:nvSpPr>
              <p:spPr bwMode="auto">
                <a:xfrm>
                  <a:off x="3408" y="1776"/>
                  <a:ext cx="384" cy="528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89461" name="Line 21"/>
                <p:cNvSpPr>
                  <a:spLocks noChangeShapeType="1"/>
                </p:cNvSpPr>
                <p:nvPr/>
              </p:nvSpPr>
              <p:spPr bwMode="auto">
                <a:xfrm flipV="1">
                  <a:off x="3552" y="2208"/>
                  <a:ext cx="48" cy="9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89462" name="Line 22"/>
                <p:cNvSpPr>
                  <a:spLocks noChangeShapeType="1"/>
                </p:cNvSpPr>
                <p:nvPr/>
              </p:nvSpPr>
              <p:spPr bwMode="auto">
                <a:xfrm flipH="1" flipV="1">
                  <a:off x="3600" y="2208"/>
                  <a:ext cx="48" cy="9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89463" name="Line 23"/>
                <p:cNvSpPr>
                  <a:spLocks noChangeShapeType="1"/>
                </p:cNvSpPr>
                <p:nvPr/>
              </p:nvSpPr>
              <p:spPr bwMode="auto">
                <a:xfrm>
                  <a:off x="3168" y="2016"/>
                  <a:ext cx="24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 type="arrow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89464" name="Line 24"/>
                <p:cNvSpPr>
                  <a:spLocks noChangeShapeType="1"/>
                </p:cNvSpPr>
                <p:nvPr/>
              </p:nvSpPr>
              <p:spPr bwMode="auto">
                <a:xfrm>
                  <a:off x="3792" y="2016"/>
                  <a:ext cx="24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 type="arrow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189465" name="Text Box 25"/>
              <p:cNvSpPr txBox="1">
                <a:spLocks noChangeArrowheads="1"/>
              </p:cNvSpPr>
              <p:nvPr/>
            </p:nvSpPr>
            <p:spPr bwMode="auto">
              <a:xfrm>
                <a:off x="8061325" y="3810000"/>
                <a:ext cx="330200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/>
                  <a:t>C</a:t>
                </a:r>
              </a:p>
            </p:txBody>
          </p:sp>
          <p:sp>
            <p:nvSpPr>
              <p:cNvPr id="189470" name="Line 30"/>
              <p:cNvSpPr>
                <a:spLocks noChangeShapeType="1"/>
              </p:cNvSpPr>
              <p:nvPr/>
            </p:nvSpPr>
            <p:spPr bwMode="auto">
              <a:xfrm flipV="1">
                <a:off x="7543800" y="4664075"/>
                <a:ext cx="0" cy="3048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1695629A-EFC4-41D4-B37B-338725215C0A}"/>
                  </a:ext>
                </a:extLst>
              </p:cNvPr>
              <p:cNvCxnSpPr>
                <a:stCxn id="39" idx="1"/>
              </p:cNvCxnSpPr>
              <p:nvPr/>
            </p:nvCxnSpPr>
            <p:spPr>
              <a:xfrm flipV="1">
                <a:off x="5969000" y="4968875"/>
                <a:ext cx="1574800" cy="1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823590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Example – Blocking</a:t>
            </a:r>
          </a:p>
        </p:txBody>
      </p:sp>
      <p:sp>
        <p:nvSpPr>
          <p:cNvPr id="188420" name="Text Box 4"/>
          <p:cNvSpPr txBox="1">
            <a:spLocks noChangeArrowheads="1"/>
          </p:cNvSpPr>
          <p:nvPr/>
        </p:nvSpPr>
        <p:spPr bwMode="auto">
          <a:xfrm>
            <a:off x="381000" y="1524000"/>
            <a:ext cx="426720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0"/>
              </a:spcBef>
              <a:tabLst>
                <a:tab pos="231775" algn="l"/>
                <a:tab pos="508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spcBef>
                <a:spcPct val="0"/>
              </a:spcBef>
              <a:tabLst>
                <a:tab pos="231775" algn="l"/>
                <a:tab pos="508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spcBef>
                <a:spcPct val="0"/>
              </a:spcBef>
              <a:tabLst>
                <a:tab pos="231775" algn="l"/>
                <a:tab pos="508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spcBef>
                <a:spcPct val="0"/>
              </a:spcBef>
              <a:tabLst>
                <a:tab pos="231775" algn="l"/>
                <a:tab pos="508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spcBef>
                <a:spcPct val="0"/>
              </a:spcBef>
              <a:tabLst>
                <a:tab pos="231775" algn="l"/>
                <a:tab pos="508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31775" algn="l"/>
                <a:tab pos="508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31775" algn="l"/>
                <a:tab pos="508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31775" algn="l"/>
                <a:tab pos="508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31775" algn="l"/>
                <a:tab pos="508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module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bad_shifter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in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clk</a:t>
            </a:r>
          </a:p>
          <a:p>
            <a:r>
              <a:rPr lang="he-IL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;(</a:t>
            </a:r>
            <a:endParaRPr lang="he-IL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A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B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C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he-IL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always_ff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@(</a:t>
            </a:r>
            <a:r>
              <a:rPr lang="en-US" sz="16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posedge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clk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	A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in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	B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A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	C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B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endmodule</a:t>
            </a:r>
            <a:endParaRPr lang="en-US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8434" name="Text Box 18"/>
          <p:cNvSpPr txBox="1">
            <a:spLocks noChangeArrowheads="1"/>
          </p:cNvSpPr>
          <p:nvPr/>
        </p:nvSpPr>
        <p:spPr bwMode="auto">
          <a:xfrm>
            <a:off x="5283200" y="4191000"/>
            <a:ext cx="330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/>
              <a:t>B</a:t>
            </a:r>
          </a:p>
        </p:txBody>
      </p:sp>
      <p:sp>
        <p:nvSpPr>
          <p:cNvPr id="188441" name="Text Box 25"/>
          <p:cNvSpPr txBox="1">
            <a:spLocks noChangeArrowheads="1"/>
          </p:cNvSpPr>
          <p:nvPr/>
        </p:nvSpPr>
        <p:spPr bwMode="auto">
          <a:xfrm>
            <a:off x="5660439" y="4191000"/>
            <a:ext cx="330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/>
              <a:t>C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33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13F5734-02D3-4AE0-A4CE-0B722186C5C0}"/>
              </a:ext>
            </a:extLst>
          </p:cNvPr>
          <p:cNvGrpSpPr/>
          <p:nvPr/>
        </p:nvGrpSpPr>
        <p:grpSpPr>
          <a:xfrm>
            <a:off x="2727325" y="4191000"/>
            <a:ext cx="3292475" cy="1250950"/>
            <a:chOff x="2727325" y="4191000"/>
            <a:chExt cx="3292475" cy="1250950"/>
          </a:xfrm>
        </p:grpSpPr>
        <p:sp>
          <p:nvSpPr>
            <p:cNvPr id="188427" name="Text Box 11"/>
            <p:cNvSpPr txBox="1">
              <a:spLocks noChangeArrowheads="1"/>
            </p:cNvSpPr>
            <p:nvPr/>
          </p:nvSpPr>
          <p:spPr bwMode="auto">
            <a:xfrm>
              <a:off x="4910030" y="4191000"/>
              <a:ext cx="3302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dirty="0"/>
                <a:t>A</a:t>
              </a:r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793B38E6-1F4E-4D98-8C7B-D65C45C121EE}"/>
                </a:ext>
              </a:extLst>
            </p:cNvPr>
            <p:cNvGrpSpPr/>
            <p:nvPr/>
          </p:nvGrpSpPr>
          <p:grpSpPr>
            <a:xfrm>
              <a:off x="2727325" y="4191000"/>
              <a:ext cx="3292475" cy="1250950"/>
              <a:chOff x="2727325" y="4191000"/>
              <a:chExt cx="3292475" cy="1250950"/>
            </a:xfrm>
          </p:grpSpPr>
          <p:sp>
            <p:nvSpPr>
              <p:cNvPr id="188447" name="Text Box 31"/>
              <p:cNvSpPr txBox="1">
                <a:spLocks noChangeArrowheads="1"/>
              </p:cNvSpPr>
              <p:nvPr/>
            </p:nvSpPr>
            <p:spPr bwMode="auto">
              <a:xfrm>
                <a:off x="3048000" y="5105400"/>
                <a:ext cx="466725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 dirty="0"/>
                  <a:t>clk</a:t>
                </a:r>
              </a:p>
            </p:txBody>
          </p:sp>
          <p:grpSp>
            <p:nvGrpSpPr>
              <p:cNvPr id="2" name="Group 1">
                <a:extLst>
                  <a:ext uri="{FF2B5EF4-FFF2-40B4-BE49-F238E27FC236}">
                    <a16:creationId xmlns:a16="http://schemas.microsoft.com/office/drawing/2014/main" id="{DE35B6BE-AD9A-4D0E-B0C9-36C650EA87A9}"/>
                  </a:ext>
                </a:extLst>
              </p:cNvPr>
              <p:cNvGrpSpPr/>
              <p:nvPr/>
            </p:nvGrpSpPr>
            <p:grpSpPr>
              <a:xfrm>
                <a:off x="2727325" y="4191000"/>
                <a:ext cx="3292475" cy="1143000"/>
                <a:chOff x="2727325" y="4191000"/>
                <a:chExt cx="3292475" cy="1143000"/>
              </a:xfrm>
            </p:grpSpPr>
            <p:sp>
              <p:nvSpPr>
                <p:cNvPr id="188443" name="Line 27"/>
                <p:cNvSpPr>
                  <a:spLocks noChangeShapeType="1"/>
                </p:cNvSpPr>
                <p:nvPr/>
              </p:nvSpPr>
              <p:spPr bwMode="auto">
                <a:xfrm>
                  <a:off x="3581400" y="5334000"/>
                  <a:ext cx="68580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88444" name="Line 28"/>
                <p:cNvSpPr>
                  <a:spLocks noChangeShapeType="1"/>
                </p:cNvSpPr>
                <p:nvPr/>
              </p:nvSpPr>
              <p:spPr bwMode="auto">
                <a:xfrm flipV="1">
                  <a:off x="4267200" y="5029200"/>
                  <a:ext cx="0" cy="30480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grpSp>
              <p:nvGrpSpPr>
                <p:cNvPr id="188421" name="Group 5"/>
                <p:cNvGrpSpPr>
                  <a:grpSpLocks/>
                </p:cNvGrpSpPr>
                <p:nvPr/>
              </p:nvGrpSpPr>
              <p:grpSpPr bwMode="auto">
                <a:xfrm>
                  <a:off x="3581400" y="4191000"/>
                  <a:ext cx="1371600" cy="838200"/>
                  <a:chOff x="3168" y="1776"/>
                  <a:chExt cx="864" cy="528"/>
                </a:xfrm>
              </p:grpSpPr>
              <p:sp>
                <p:nvSpPr>
                  <p:cNvPr id="188422" name="Rectangle 6"/>
                  <p:cNvSpPr>
                    <a:spLocks noChangeArrowheads="1"/>
                  </p:cNvSpPr>
                  <p:nvPr/>
                </p:nvSpPr>
                <p:spPr bwMode="auto">
                  <a:xfrm>
                    <a:off x="3408" y="1776"/>
                    <a:ext cx="384" cy="528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8423" name="Line 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552" y="2208"/>
                    <a:ext cx="48" cy="96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8424" name="Line 8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3600" y="2208"/>
                    <a:ext cx="48" cy="96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8425" name="Line 9"/>
                  <p:cNvSpPr>
                    <a:spLocks noChangeShapeType="1"/>
                  </p:cNvSpPr>
                  <p:nvPr/>
                </p:nvSpPr>
                <p:spPr bwMode="auto">
                  <a:xfrm>
                    <a:off x="3168" y="2016"/>
                    <a:ext cx="240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 type="arrow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8426" name="Line 10"/>
                  <p:cNvSpPr>
                    <a:spLocks noChangeShapeType="1"/>
                  </p:cNvSpPr>
                  <p:nvPr/>
                </p:nvSpPr>
                <p:spPr bwMode="auto">
                  <a:xfrm>
                    <a:off x="3792" y="2016"/>
                    <a:ext cx="240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 type="arrow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188449" name="Line 33"/>
                <p:cNvSpPr>
                  <a:spLocks noChangeShapeType="1"/>
                </p:cNvSpPr>
                <p:nvPr/>
              </p:nvSpPr>
              <p:spPr bwMode="auto">
                <a:xfrm>
                  <a:off x="4876800" y="4572000"/>
                  <a:ext cx="381000" cy="0"/>
                </a:xfrm>
                <a:prstGeom prst="line">
                  <a:avLst/>
                </a:prstGeom>
                <a:noFill/>
                <a:ln w="12700">
                  <a:solidFill>
                    <a:schemeClr val="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grpSp>
              <p:nvGrpSpPr>
                <p:cNvPr id="188450" name="Group 34"/>
                <p:cNvGrpSpPr>
                  <a:grpSpLocks/>
                </p:cNvGrpSpPr>
                <p:nvPr/>
              </p:nvGrpSpPr>
              <p:grpSpPr bwMode="auto">
                <a:xfrm>
                  <a:off x="2727325" y="4251325"/>
                  <a:ext cx="930275" cy="336550"/>
                  <a:chOff x="1718" y="2678"/>
                  <a:chExt cx="586" cy="212"/>
                </a:xfrm>
              </p:grpSpPr>
              <p:sp>
                <p:nvSpPr>
                  <p:cNvPr id="188451" name="Line 35"/>
                  <p:cNvSpPr>
                    <a:spLocks noChangeShapeType="1"/>
                  </p:cNvSpPr>
                  <p:nvPr/>
                </p:nvSpPr>
                <p:spPr bwMode="auto">
                  <a:xfrm>
                    <a:off x="2064" y="2880"/>
                    <a:ext cx="240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hlink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8452" name="Text Box 3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718" y="2678"/>
                    <a:ext cx="230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altLang="en-US"/>
                      <a:t>in</a:t>
                    </a:r>
                  </a:p>
                </p:txBody>
              </p:sp>
            </p:grpSp>
            <p:sp>
              <p:nvSpPr>
                <p:cNvPr id="23" name="Line 33">
                  <a:extLst>
                    <a:ext uri="{FF2B5EF4-FFF2-40B4-BE49-F238E27FC236}">
                      <a16:creationId xmlns:a16="http://schemas.microsoft.com/office/drawing/2014/main" id="{9FBA1F68-7FED-4B38-8FEF-9F682F8DF1D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57800" y="4572000"/>
                  <a:ext cx="381000" cy="0"/>
                </a:xfrm>
                <a:prstGeom prst="line">
                  <a:avLst/>
                </a:prstGeom>
                <a:noFill/>
                <a:ln w="12700">
                  <a:solidFill>
                    <a:schemeClr val="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4" name="Line 33">
                  <a:extLst>
                    <a:ext uri="{FF2B5EF4-FFF2-40B4-BE49-F238E27FC236}">
                      <a16:creationId xmlns:a16="http://schemas.microsoft.com/office/drawing/2014/main" id="{A5231A00-B7E1-46AD-BDD5-5CF57192046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638800" y="4572000"/>
                  <a:ext cx="381000" cy="0"/>
                </a:xfrm>
                <a:prstGeom prst="line">
                  <a:avLst/>
                </a:prstGeom>
                <a:noFill/>
                <a:ln w="12700">
                  <a:solidFill>
                    <a:schemeClr val="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74642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8434" grpId="0"/>
      <p:bldP spid="18844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Assignment Summary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dirty="0"/>
              <a:t>Synchronous logic</a:t>
            </a:r>
            <a:r>
              <a:rPr lang="en-US" altLang="en-US" dirty="0"/>
              <a:t>: Use </a:t>
            </a:r>
            <a:r>
              <a:rPr lang="en-US" altLang="en-US" b="1" dirty="0"/>
              <a:t>non-blocking statements</a:t>
            </a:r>
            <a:r>
              <a:rPr lang="en-US" altLang="en-US" dirty="0"/>
              <a:t> with </a:t>
            </a:r>
            <a:r>
              <a:rPr lang="en-US" altLang="en-US" dirty="0" err="1">
                <a:solidFill>
                  <a:srgbClr val="FF0000"/>
                </a:solidFill>
              </a:rPr>
              <a:t>always_ff</a:t>
            </a:r>
            <a:r>
              <a:rPr lang="en-US" altLang="en-US" dirty="0"/>
              <a:t> blocks sensitive only to rising clock edge to mimic parallel synchronous logic.</a:t>
            </a:r>
          </a:p>
          <a:p>
            <a:r>
              <a:rPr lang="en-US" altLang="en-US" b="1" dirty="0"/>
              <a:t>Combinational logic</a:t>
            </a:r>
            <a:r>
              <a:rPr lang="en-US" altLang="en-US" dirty="0"/>
              <a:t>: Use </a:t>
            </a:r>
            <a:r>
              <a:rPr lang="en-US" altLang="en-US" b="1" dirty="0"/>
              <a:t>blocking statements</a:t>
            </a:r>
            <a:r>
              <a:rPr lang="en-US" altLang="en-US" dirty="0"/>
              <a:t> inside </a:t>
            </a:r>
            <a:r>
              <a:rPr lang="en-US" altLang="en-US" dirty="0" err="1">
                <a:solidFill>
                  <a:srgbClr val="FF0000"/>
                </a:solidFill>
              </a:rPr>
              <a:t>always_comb</a:t>
            </a:r>
            <a:r>
              <a:rPr lang="en-US" altLang="en-US" dirty="0"/>
              <a:t> blocks with</a:t>
            </a:r>
            <a:r>
              <a:rPr lang="en-US" altLang="en-US" dirty="0">
                <a:solidFill>
                  <a:schemeClr val="accent6"/>
                </a:solidFill>
              </a:rPr>
              <a:t> </a:t>
            </a:r>
            <a:r>
              <a:rPr lang="en-US" altLang="en-US" dirty="0"/>
              <a:t>to mimic logic flow of combinational logic.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34</a:t>
            </a:fld>
            <a:endParaRPr lang="en-US"/>
          </a:p>
        </p:txBody>
      </p:sp>
      <p:pic>
        <p:nvPicPr>
          <p:cNvPr id="6146" name="Picture 2" descr="Image result for rule of thumb funn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050" y="4165145"/>
            <a:ext cx="1918447" cy="2556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8309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Assignment: A Question From an Exam (Winter '18-'19)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35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DC464B-F5EF-4F3C-8326-59FFB4D0E7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6028" y="1833167"/>
            <a:ext cx="5756044" cy="4380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2999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Rectangle: Rounded Corners 108">
            <a:extLst>
              <a:ext uri="{FF2B5EF4-FFF2-40B4-BE49-F238E27FC236}">
                <a16:creationId xmlns:a16="http://schemas.microsoft.com/office/drawing/2014/main" id="{830E1961-38BC-459A-B3CA-DA7594E733A1}"/>
              </a:ext>
            </a:extLst>
          </p:cNvPr>
          <p:cNvSpPr/>
          <p:nvPr/>
        </p:nvSpPr>
        <p:spPr>
          <a:xfrm>
            <a:off x="1736299" y="1736906"/>
            <a:ext cx="4617367" cy="4938353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grpSp>
        <p:nvGrpSpPr>
          <p:cNvPr id="48" name="Group 5">
            <a:extLst>
              <a:ext uri="{FF2B5EF4-FFF2-40B4-BE49-F238E27FC236}">
                <a16:creationId xmlns:a16="http://schemas.microsoft.com/office/drawing/2014/main" id="{34024AB8-BE6D-4E8F-B8BF-50CDAAFAE3E8}"/>
              </a:ext>
            </a:extLst>
          </p:cNvPr>
          <p:cNvGrpSpPr>
            <a:grpSpLocks/>
          </p:cNvGrpSpPr>
          <p:nvPr/>
        </p:nvGrpSpPr>
        <p:grpSpPr bwMode="auto">
          <a:xfrm>
            <a:off x="3765958" y="4061856"/>
            <a:ext cx="1371600" cy="838200"/>
            <a:chOff x="3168" y="1776"/>
            <a:chExt cx="864" cy="528"/>
          </a:xfrm>
        </p:grpSpPr>
        <p:sp>
          <p:nvSpPr>
            <p:cNvPr id="56" name="Rectangle 6">
              <a:extLst>
                <a:ext uri="{FF2B5EF4-FFF2-40B4-BE49-F238E27FC236}">
                  <a16:creationId xmlns:a16="http://schemas.microsoft.com/office/drawing/2014/main" id="{6BA5D429-A345-400F-8AF2-4C1913EE8C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1776"/>
              <a:ext cx="384" cy="52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7" name="Line 7">
              <a:extLst>
                <a:ext uri="{FF2B5EF4-FFF2-40B4-BE49-F238E27FC236}">
                  <a16:creationId xmlns:a16="http://schemas.microsoft.com/office/drawing/2014/main" id="{E57A431B-B173-408A-B570-2E5C22195A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52" y="2208"/>
              <a:ext cx="48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8" name="Line 8">
              <a:extLst>
                <a:ext uri="{FF2B5EF4-FFF2-40B4-BE49-F238E27FC236}">
                  <a16:creationId xmlns:a16="http://schemas.microsoft.com/office/drawing/2014/main" id="{AB1ED5D0-9FC9-4649-9BB3-BA52232BB7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600" y="2208"/>
              <a:ext cx="48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9" name="Line 9">
              <a:extLst>
                <a:ext uri="{FF2B5EF4-FFF2-40B4-BE49-F238E27FC236}">
                  <a16:creationId xmlns:a16="http://schemas.microsoft.com/office/drawing/2014/main" id="{A0E46C62-D64A-4375-8F2D-DB65F5F01F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2016"/>
              <a:ext cx="2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0" name="Line 10">
              <a:extLst>
                <a:ext uri="{FF2B5EF4-FFF2-40B4-BE49-F238E27FC236}">
                  <a16:creationId xmlns:a16="http://schemas.microsoft.com/office/drawing/2014/main" id="{CC5BA403-2269-48EB-966F-1DF48301C9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2016"/>
              <a:ext cx="2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49" name="Text Box 11">
            <a:extLst>
              <a:ext uri="{FF2B5EF4-FFF2-40B4-BE49-F238E27FC236}">
                <a16:creationId xmlns:a16="http://schemas.microsoft.com/office/drawing/2014/main" id="{A9114C3A-8DB3-4AB3-B9F7-6DDB278C64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98606" y="4219502"/>
            <a:ext cx="330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/>
              <a:t>A</a:t>
            </a:r>
          </a:p>
        </p:txBody>
      </p:sp>
      <p:sp>
        <p:nvSpPr>
          <p:cNvPr id="50" name="Line 27">
            <a:extLst>
              <a:ext uri="{FF2B5EF4-FFF2-40B4-BE49-F238E27FC236}">
                <a16:creationId xmlns:a16="http://schemas.microsoft.com/office/drawing/2014/main" id="{DC996AA0-14D4-46F0-B947-7308CA878D3A}"/>
              </a:ext>
            </a:extLst>
          </p:cNvPr>
          <p:cNvSpPr>
            <a:spLocks noChangeShapeType="1"/>
          </p:cNvSpPr>
          <p:nvPr/>
        </p:nvSpPr>
        <p:spPr bwMode="auto">
          <a:xfrm>
            <a:off x="3973383" y="5204855"/>
            <a:ext cx="462274" cy="1"/>
          </a:xfrm>
          <a:prstGeom prst="line">
            <a:avLst/>
          </a:prstGeom>
          <a:noFill/>
          <a:ln w="12700">
            <a:solidFill>
              <a:schemeClr val="accent2">
                <a:lumMod val="7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en-US" dirty="0"/>
          </a:p>
        </p:txBody>
      </p:sp>
      <p:sp>
        <p:nvSpPr>
          <p:cNvPr id="51" name="Line 28">
            <a:extLst>
              <a:ext uri="{FF2B5EF4-FFF2-40B4-BE49-F238E27FC236}">
                <a16:creationId xmlns:a16="http://schemas.microsoft.com/office/drawing/2014/main" id="{F2BC5C8A-C9A8-42A6-93C2-B93574C7D0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43044" y="4900056"/>
            <a:ext cx="0" cy="304800"/>
          </a:xfrm>
          <a:prstGeom prst="line">
            <a:avLst/>
          </a:prstGeom>
          <a:noFill/>
          <a:ln w="12700">
            <a:solidFill>
              <a:schemeClr val="accent2">
                <a:lumMod val="75000"/>
              </a:schemeClr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 dirty="0"/>
          </a:p>
        </p:txBody>
      </p:sp>
      <p:sp>
        <p:nvSpPr>
          <p:cNvPr id="52" name="Text Box 31">
            <a:extLst>
              <a:ext uri="{FF2B5EF4-FFF2-40B4-BE49-F238E27FC236}">
                <a16:creationId xmlns:a16="http://schemas.microsoft.com/office/drawing/2014/main" id="{0EE688A4-858A-4125-A884-0E420A526A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1318" y="6022130"/>
            <a:ext cx="4667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/>
              <a:t>clk</a:t>
            </a:r>
          </a:p>
        </p:txBody>
      </p:sp>
      <p:sp>
        <p:nvSpPr>
          <p:cNvPr id="54" name="Line 35">
            <a:extLst>
              <a:ext uri="{FF2B5EF4-FFF2-40B4-BE49-F238E27FC236}">
                <a16:creationId xmlns:a16="http://schemas.microsoft.com/office/drawing/2014/main" id="{B4C6D239-070D-48D2-A720-3B8CA60B772C}"/>
              </a:ext>
            </a:extLst>
          </p:cNvPr>
          <p:cNvSpPr>
            <a:spLocks noChangeShapeType="1"/>
          </p:cNvSpPr>
          <p:nvPr/>
        </p:nvSpPr>
        <p:spPr bwMode="auto">
          <a:xfrm>
            <a:off x="3461158" y="-126264"/>
            <a:ext cx="381000" cy="0"/>
          </a:xfrm>
          <a:prstGeom prst="line">
            <a:avLst/>
          </a:prstGeom>
          <a:noFill/>
          <a:ln w="127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89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Example: Synchronous and Asynchronous Logic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36</a:t>
            </a:fld>
            <a:endParaRPr lang="en-US"/>
          </a:p>
        </p:txBody>
      </p:sp>
      <p:pic>
        <p:nvPicPr>
          <p:cNvPr id="45" name="Picture 2" descr="Image result for and gate">
            <a:extLst>
              <a:ext uri="{FF2B5EF4-FFF2-40B4-BE49-F238E27FC236}">
                <a16:creationId xmlns:a16="http://schemas.microsoft.com/office/drawing/2014/main" id="{C1F4E9C2-A8D5-400B-8315-3AAEED39B4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4025661" y="1963272"/>
            <a:ext cx="814233" cy="488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4" descr="Related image">
            <a:extLst>
              <a:ext uri="{FF2B5EF4-FFF2-40B4-BE49-F238E27FC236}">
                <a16:creationId xmlns:a16="http://schemas.microsoft.com/office/drawing/2014/main" id="{0012D253-F165-48D3-A79A-1FE94681F9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3985529" y="3077448"/>
            <a:ext cx="810134" cy="417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12">
            <a:extLst>
              <a:ext uri="{FF2B5EF4-FFF2-40B4-BE49-F238E27FC236}">
                <a16:creationId xmlns:a16="http://schemas.microsoft.com/office/drawing/2014/main" id="{C30D8DE9-7FCF-4625-B88B-21556576CF63}"/>
              </a:ext>
            </a:extLst>
          </p:cNvPr>
          <p:cNvGrpSpPr>
            <a:grpSpLocks/>
          </p:cNvGrpSpPr>
          <p:nvPr/>
        </p:nvGrpSpPr>
        <p:grpSpPr bwMode="auto">
          <a:xfrm>
            <a:off x="3823178" y="5326119"/>
            <a:ext cx="1371600" cy="838200"/>
            <a:chOff x="3168" y="1776"/>
            <a:chExt cx="864" cy="528"/>
          </a:xfrm>
        </p:grpSpPr>
        <p:sp>
          <p:nvSpPr>
            <p:cNvPr id="69" name="Rectangle 13">
              <a:extLst>
                <a:ext uri="{FF2B5EF4-FFF2-40B4-BE49-F238E27FC236}">
                  <a16:creationId xmlns:a16="http://schemas.microsoft.com/office/drawing/2014/main" id="{AC724BE3-3E43-498B-933A-7F9805F7AB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1776"/>
              <a:ext cx="384" cy="52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70" name="Line 14">
              <a:extLst>
                <a:ext uri="{FF2B5EF4-FFF2-40B4-BE49-F238E27FC236}">
                  <a16:creationId xmlns:a16="http://schemas.microsoft.com/office/drawing/2014/main" id="{8E7723A4-4BAF-437D-98BD-F18425FF37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52" y="2208"/>
              <a:ext cx="48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71" name="Line 15">
              <a:extLst>
                <a:ext uri="{FF2B5EF4-FFF2-40B4-BE49-F238E27FC236}">
                  <a16:creationId xmlns:a16="http://schemas.microsoft.com/office/drawing/2014/main" id="{92097673-5C39-4F22-BBB6-8AEDE43890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600" y="2208"/>
              <a:ext cx="48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72" name="Line 16">
              <a:extLst>
                <a:ext uri="{FF2B5EF4-FFF2-40B4-BE49-F238E27FC236}">
                  <a16:creationId xmlns:a16="http://schemas.microsoft.com/office/drawing/2014/main" id="{3177E2BB-0C0A-41A6-9366-7732A12304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2016"/>
              <a:ext cx="2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73" name="Line 17">
              <a:extLst>
                <a:ext uri="{FF2B5EF4-FFF2-40B4-BE49-F238E27FC236}">
                  <a16:creationId xmlns:a16="http://schemas.microsoft.com/office/drawing/2014/main" id="{7927FD95-B9DF-4EE0-AB34-F1F8314C9C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2016"/>
              <a:ext cx="2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67" name="Text Box 18">
            <a:extLst>
              <a:ext uri="{FF2B5EF4-FFF2-40B4-BE49-F238E27FC236}">
                <a16:creationId xmlns:a16="http://schemas.microsoft.com/office/drawing/2014/main" id="{CD762B68-EC50-45DC-BBE7-747FCE2FA0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5174" y="5342764"/>
            <a:ext cx="330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/>
              <a:t>B</a:t>
            </a:r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D766E5CB-4537-4A51-B688-78A136E64502}"/>
              </a:ext>
            </a:extLst>
          </p:cNvPr>
          <p:cNvCxnSpPr>
            <a:cxnSpLocks/>
          </p:cNvCxnSpPr>
          <p:nvPr/>
        </p:nvCxnSpPr>
        <p:spPr>
          <a:xfrm rot="16200000" flipV="1">
            <a:off x="3590307" y="3281499"/>
            <a:ext cx="3661896" cy="1227837"/>
          </a:xfrm>
          <a:prstGeom prst="bentConnector3">
            <a:avLst>
              <a:gd name="adj1" fmla="val 99684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E8EE3326-2534-4688-BAEF-5F4E7DDAAD92}"/>
              </a:ext>
            </a:extLst>
          </p:cNvPr>
          <p:cNvCxnSpPr>
            <a:cxnSpLocks/>
          </p:cNvCxnSpPr>
          <p:nvPr/>
        </p:nvCxnSpPr>
        <p:spPr>
          <a:xfrm rot="16200000" flipH="1">
            <a:off x="3885439" y="3267789"/>
            <a:ext cx="2174054" cy="252280"/>
          </a:xfrm>
          <a:prstGeom prst="bentConnector3">
            <a:avLst>
              <a:gd name="adj1" fmla="val 1003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: Elbow 114">
            <a:extLst>
              <a:ext uri="{FF2B5EF4-FFF2-40B4-BE49-F238E27FC236}">
                <a16:creationId xmlns:a16="http://schemas.microsoft.com/office/drawing/2014/main" id="{AF3ACD4A-8BD5-498A-BE81-1DBE4DAC27E0}"/>
              </a:ext>
            </a:extLst>
          </p:cNvPr>
          <p:cNvCxnSpPr>
            <a:cxnSpLocks/>
          </p:cNvCxnSpPr>
          <p:nvPr/>
        </p:nvCxnSpPr>
        <p:spPr>
          <a:xfrm rot="10800000" flipV="1">
            <a:off x="4801078" y="3186433"/>
            <a:ext cx="1210835" cy="2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: Elbow 116">
            <a:extLst>
              <a:ext uri="{FF2B5EF4-FFF2-40B4-BE49-F238E27FC236}">
                <a16:creationId xmlns:a16="http://schemas.microsoft.com/office/drawing/2014/main" id="{DAA39FC2-31F2-4177-9D6C-519940A8D54D}"/>
              </a:ext>
            </a:extLst>
          </p:cNvPr>
          <p:cNvCxnSpPr>
            <a:cxnSpLocks/>
          </p:cNvCxnSpPr>
          <p:nvPr/>
        </p:nvCxnSpPr>
        <p:spPr>
          <a:xfrm rot="10800000" flipV="1">
            <a:off x="5191663" y="5716544"/>
            <a:ext cx="827016" cy="2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5350336E-B8EF-4BA2-A383-04ACE371001A}"/>
              </a:ext>
            </a:extLst>
          </p:cNvPr>
          <p:cNvCxnSpPr>
            <a:cxnSpLocks/>
            <a:stCxn id="46" idx="3"/>
          </p:cNvCxnSpPr>
          <p:nvPr/>
        </p:nvCxnSpPr>
        <p:spPr>
          <a:xfrm rot="10800000" flipV="1">
            <a:off x="3745201" y="3286056"/>
            <a:ext cx="240328" cy="1184393"/>
          </a:xfrm>
          <a:prstGeom prst="bentConnector2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 Box 11">
            <a:extLst>
              <a:ext uri="{FF2B5EF4-FFF2-40B4-BE49-F238E27FC236}">
                <a16:creationId xmlns:a16="http://schemas.microsoft.com/office/drawing/2014/main" id="{1EEF5490-4090-4D9E-8FDF-4C9F504179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5435" y="2989448"/>
            <a:ext cx="85311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 err="1"/>
              <a:t>or_out</a:t>
            </a:r>
            <a:endParaRPr lang="en-US" altLang="en-US" dirty="0"/>
          </a:p>
        </p:txBody>
      </p:sp>
      <p:cxnSp>
        <p:nvCxnSpPr>
          <p:cNvPr id="123" name="Connector: Elbow 122">
            <a:extLst>
              <a:ext uri="{FF2B5EF4-FFF2-40B4-BE49-F238E27FC236}">
                <a16:creationId xmlns:a16="http://schemas.microsoft.com/office/drawing/2014/main" id="{9AD4A54E-EC1F-453D-A287-D4C2D70579B0}"/>
              </a:ext>
            </a:extLst>
          </p:cNvPr>
          <p:cNvCxnSpPr>
            <a:cxnSpLocks/>
          </p:cNvCxnSpPr>
          <p:nvPr/>
        </p:nvCxnSpPr>
        <p:spPr>
          <a:xfrm rot="5400000">
            <a:off x="2157004" y="3872228"/>
            <a:ext cx="3510492" cy="178144"/>
          </a:xfrm>
          <a:prstGeom prst="bentConnector5">
            <a:avLst>
              <a:gd name="adj1" fmla="val -216"/>
              <a:gd name="adj2" fmla="val 693991"/>
              <a:gd name="adj3" fmla="val 100067"/>
            </a:avLst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Text Box 11">
            <a:extLst>
              <a:ext uri="{FF2B5EF4-FFF2-40B4-BE49-F238E27FC236}">
                <a16:creationId xmlns:a16="http://schemas.microsoft.com/office/drawing/2014/main" id="{83441037-A2F9-479F-9181-DD2A78DEC4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0712" y="1850457"/>
            <a:ext cx="97494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 err="1"/>
              <a:t>and_out</a:t>
            </a:r>
            <a:endParaRPr lang="en-US" altLang="en-US" dirty="0"/>
          </a:p>
        </p:txBody>
      </p:sp>
      <p:sp>
        <p:nvSpPr>
          <p:cNvPr id="141" name="Line 27">
            <a:extLst>
              <a:ext uri="{FF2B5EF4-FFF2-40B4-BE49-F238E27FC236}">
                <a16:creationId xmlns:a16="http://schemas.microsoft.com/office/drawing/2014/main" id="{F3CC867C-2C5E-42AD-9B92-7C467C8C193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83447" y="6356351"/>
            <a:ext cx="2917275" cy="0"/>
          </a:xfrm>
          <a:prstGeom prst="line">
            <a:avLst/>
          </a:prstGeom>
          <a:noFill/>
          <a:ln w="12700">
            <a:solidFill>
              <a:schemeClr val="accent2">
                <a:lumMod val="7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en-US" dirty="0"/>
          </a:p>
        </p:txBody>
      </p:sp>
      <p:sp>
        <p:nvSpPr>
          <p:cNvPr id="142" name="Line 28">
            <a:extLst>
              <a:ext uri="{FF2B5EF4-FFF2-40B4-BE49-F238E27FC236}">
                <a16:creationId xmlns:a16="http://schemas.microsoft.com/office/drawing/2014/main" id="{CDC431A5-1777-4C12-B128-CEE1752AAE8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09917" y="6156458"/>
            <a:ext cx="0" cy="189257"/>
          </a:xfrm>
          <a:prstGeom prst="line">
            <a:avLst/>
          </a:prstGeom>
          <a:noFill/>
          <a:ln w="12700">
            <a:solidFill>
              <a:schemeClr val="accent2">
                <a:lumMod val="75000"/>
              </a:schemeClr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 dirty="0"/>
          </a:p>
        </p:txBody>
      </p:sp>
      <p:sp>
        <p:nvSpPr>
          <p:cNvPr id="143" name="Line 27">
            <a:extLst>
              <a:ext uri="{FF2B5EF4-FFF2-40B4-BE49-F238E27FC236}">
                <a16:creationId xmlns:a16="http://schemas.microsoft.com/office/drawing/2014/main" id="{A204D9D0-AA94-49F8-9335-1831439DD5C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973382" y="5204856"/>
            <a:ext cx="25927" cy="1134200"/>
          </a:xfrm>
          <a:prstGeom prst="line">
            <a:avLst/>
          </a:prstGeom>
          <a:noFill/>
          <a:ln w="12700">
            <a:solidFill>
              <a:schemeClr val="accent2">
                <a:lumMod val="7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en-US" dirty="0"/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37C97F40-9DCE-4236-A1A5-583FFF86B2BC}"/>
              </a:ext>
            </a:extLst>
          </p:cNvPr>
          <p:cNvSpPr/>
          <p:nvPr/>
        </p:nvSpPr>
        <p:spPr>
          <a:xfrm>
            <a:off x="3890798" y="3978111"/>
            <a:ext cx="1062173" cy="2619090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54" name="Text Box 11">
            <a:extLst>
              <a:ext uri="{FF2B5EF4-FFF2-40B4-BE49-F238E27FC236}">
                <a16:creationId xmlns:a16="http://schemas.microsoft.com/office/drawing/2014/main" id="{94A0D159-B8EA-4899-B78F-8BD413F233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0278" y="6203608"/>
            <a:ext cx="194187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b="1" dirty="0"/>
              <a:t>Synchronous Logic</a:t>
            </a:r>
          </a:p>
        </p:txBody>
      </p:sp>
      <p:sp>
        <p:nvSpPr>
          <p:cNvPr id="155" name="Rectangle: Rounded Corners 154">
            <a:extLst>
              <a:ext uri="{FF2B5EF4-FFF2-40B4-BE49-F238E27FC236}">
                <a16:creationId xmlns:a16="http://schemas.microsoft.com/office/drawing/2014/main" id="{1607641E-4826-4212-B5F6-81E41CD92E99}"/>
              </a:ext>
            </a:extLst>
          </p:cNvPr>
          <p:cNvSpPr/>
          <p:nvPr/>
        </p:nvSpPr>
        <p:spPr>
          <a:xfrm>
            <a:off x="4010114" y="1833788"/>
            <a:ext cx="949223" cy="1992855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56" name="Text Box 11">
            <a:extLst>
              <a:ext uri="{FF2B5EF4-FFF2-40B4-BE49-F238E27FC236}">
                <a16:creationId xmlns:a16="http://schemas.microsoft.com/office/drawing/2014/main" id="{75F2858E-8DB9-4CDC-9290-56FD4FE800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0278" y="1683759"/>
            <a:ext cx="361432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b="1" dirty="0"/>
              <a:t>Asynchronous/</a:t>
            </a:r>
            <a:r>
              <a:rPr lang="en-US" altLang="en-US" b="1" dirty="0" err="1"/>
              <a:t>Combinatorical</a:t>
            </a:r>
            <a:r>
              <a:rPr lang="en-US" altLang="en-US" b="1" dirty="0"/>
              <a:t> Logic</a:t>
            </a:r>
          </a:p>
        </p:txBody>
      </p:sp>
      <p:sp>
        <p:nvSpPr>
          <p:cNvPr id="163" name="Line 28">
            <a:extLst>
              <a:ext uri="{FF2B5EF4-FFF2-40B4-BE49-F238E27FC236}">
                <a16:creationId xmlns:a16="http://schemas.microsoft.com/office/drawing/2014/main" id="{940A2EA6-395A-4B51-9592-5B5B6C68252C}"/>
              </a:ext>
            </a:extLst>
          </p:cNvPr>
          <p:cNvSpPr>
            <a:spLocks noChangeShapeType="1"/>
          </p:cNvSpPr>
          <p:nvPr/>
        </p:nvSpPr>
        <p:spPr bwMode="auto">
          <a:xfrm>
            <a:off x="4502774" y="5155280"/>
            <a:ext cx="5896" cy="16664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en-US"/>
          </a:p>
        </p:txBody>
      </p:sp>
      <p:sp>
        <p:nvSpPr>
          <p:cNvPr id="164" name="Line 28">
            <a:extLst>
              <a:ext uri="{FF2B5EF4-FFF2-40B4-BE49-F238E27FC236}">
                <a16:creationId xmlns:a16="http://schemas.microsoft.com/office/drawing/2014/main" id="{8784A544-4B04-4790-9DE6-0E6EAEF55FA2}"/>
              </a:ext>
            </a:extLst>
          </p:cNvPr>
          <p:cNvSpPr>
            <a:spLocks noChangeShapeType="1"/>
          </p:cNvSpPr>
          <p:nvPr/>
        </p:nvSpPr>
        <p:spPr bwMode="auto">
          <a:xfrm>
            <a:off x="4429662" y="3907112"/>
            <a:ext cx="5896" cy="16664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en-US"/>
          </a:p>
        </p:txBody>
      </p:sp>
      <p:sp>
        <p:nvSpPr>
          <p:cNvPr id="169" name="Line 27">
            <a:extLst>
              <a:ext uri="{FF2B5EF4-FFF2-40B4-BE49-F238E27FC236}">
                <a16:creationId xmlns:a16="http://schemas.microsoft.com/office/drawing/2014/main" id="{B2CBF704-F949-4B22-AAE5-D02955F91B3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83447" y="5171404"/>
            <a:ext cx="29172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en-US" dirty="0"/>
          </a:p>
        </p:txBody>
      </p:sp>
      <p:sp>
        <p:nvSpPr>
          <p:cNvPr id="170" name="Text Box 31">
            <a:extLst>
              <a:ext uri="{FF2B5EF4-FFF2-40B4-BE49-F238E27FC236}">
                <a16:creationId xmlns:a16="http://schemas.microsoft.com/office/drawing/2014/main" id="{18BFC10D-C728-406C-8BD9-DBB7A0A9DB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7887" y="4854703"/>
            <a:ext cx="42498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 err="1"/>
              <a:t>rst</a:t>
            </a:r>
            <a:endParaRPr lang="en-US" altLang="en-US" dirty="0"/>
          </a:p>
        </p:txBody>
      </p:sp>
      <p:sp>
        <p:nvSpPr>
          <p:cNvPr id="188" name="Line 27">
            <a:extLst>
              <a:ext uri="{FF2B5EF4-FFF2-40B4-BE49-F238E27FC236}">
                <a16:creationId xmlns:a16="http://schemas.microsoft.com/office/drawing/2014/main" id="{2CCA30E9-17E8-4D4C-91FF-162CABEC6305}"/>
              </a:ext>
            </a:extLst>
          </p:cNvPr>
          <p:cNvSpPr>
            <a:spLocks noChangeShapeType="1"/>
          </p:cNvSpPr>
          <p:nvPr/>
        </p:nvSpPr>
        <p:spPr bwMode="auto">
          <a:xfrm>
            <a:off x="2427247" y="3898895"/>
            <a:ext cx="19925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en-US" dirty="0"/>
          </a:p>
        </p:txBody>
      </p: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BAA548ED-AD02-4ED4-820E-BDB7C8757783}"/>
              </a:ext>
            </a:extLst>
          </p:cNvPr>
          <p:cNvCxnSpPr>
            <a:stCxn id="188" idx="0"/>
          </p:cNvCxnSpPr>
          <p:nvPr/>
        </p:nvCxnSpPr>
        <p:spPr>
          <a:xfrm>
            <a:off x="2427247" y="3898895"/>
            <a:ext cx="0" cy="12725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CD7383FE-11B7-4FE0-9290-95B0F9480884}"/>
              </a:ext>
            </a:extLst>
          </p:cNvPr>
          <p:cNvCxnSpPr/>
          <p:nvPr/>
        </p:nvCxnSpPr>
        <p:spPr>
          <a:xfrm>
            <a:off x="4797909" y="3384502"/>
            <a:ext cx="30293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Line 27">
            <a:extLst>
              <a:ext uri="{FF2B5EF4-FFF2-40B4-BE49-F238E27FC236}">
                <a16:creationId xmlns:a16="http://schemas.microsoft.com/office/drawing/2014/main" id="{AD034E5F-FB0B-4567-95B2-D06D755640C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20192" y="5702421"/>
            <a:ext cx="567742" cy="430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en-US" dirty="0"/>
          </a:p>
        </p:txBody>
      </p:sp>
      <p:sp>
        <p:nvSpPr>
          <p:cNvPr id="200" name="Line 27">
            <a:extLst>
              <a:ext uri="{FF2B5EF4-FFF2-40B4-BE49-F238E27FC236}">
                <a16:creationId xmlns:a16="http://schemas.microsoft.com/office/drawing/2014/main" id="{275B08AF-23EF-4BD0-8494-B6C7B3B683F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09525" y="3371724"/>
            <a:ext cx="1458962" cy="23109"/>
          </a:xfrm>
          <a:prstGeom prst="line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en-US" dirty="0"/>
          </a:p>
        </p:txBody>
      </p:sp>
      <p:sp>
        <p:nvSpPr>
          <p:cNvPr id="201" name="Text Box 11">
            <a:extLst>
              <a:ext uri="{FF2B5EF4-FFF2-40B4-BE49-F238E27FC236}">
                <a16:creationId xmlns:a16="http://schemas.microsoft.com/office/drawing/2014/main" id="{5504A0F7-EACB-4EA8-AB21-E439E77E48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98340" y="4218674"/>
            <a:ext cx="330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/>
              <a:t>A</a:t>
            </a:r>
          </a:p>
        </p:txBody>
      </p:sp>
      <p:sp>
        <p:nvSpPr>
          <p:cNvPr id="202" name="Text Box 11">
            <a:extLst>
              <a:ext uri="{FF2B5EF4-FFF2-40B4-BE49-F238E27FC236}">
                <a16:creationId xmlns:a16="http://schemas.microsoft.com/office/drawing/2014/main" id="{8A667207-2875-4EE6-9D10-B56F3F3B1D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09091" y="3054913"/>
            <a:ext cx="330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/>
              <a:t>A</a:t>
            </a:r>
          </a:p>
        </p:txBody>
      </p:sp>
      <p:sp>
        <p:nvSpPr>
          <p:cNvPr id="203" name="Text Box 11">
            <a:extLst>
              <a:ext uri="{FF2B5EF4-FFF2-40B4-BE49-F238E27FC236}">
                <a16:creationId xmlns:a16="http://schemas.microsoft.com/office/drawing/2014/main" id="{5B7AFF4D-961C-49E4-8CF8-9DC2F90893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1944" y="5375887"/>
            <a:ext cx="3097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981948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51" grpId="0" animBg="1"/>
      <p:bldP spid="121" grpId="0"/>
      <p:bldP spid="128" grpId="0"/>
      <p:bldP spid="141" grpId="0" animBg="1"/>
      <p:bldP spid="142" grpId="0" animBg="1"/>
      <p:bldP spid="143" grpId="0" animBg="1"/>
      <p:bldP spid="100" grpId="0" animBg="1"/>
      <p:bldP spid="154" grpId="0"/>
      <p:bldP spid="155" grpId="0" animBg="1"/>
      <p:bldP spid="156" grpId="0"/>
      <p:bldP spid="163" grpId="0" animBg="1"/>
      <p:bldP spid="164" grpId="0" animBg="1"/>
      <p:bldP spid="169" grpId="0" animBg="1"/>
      <p:bldP spid="188" grpId="0" animBg="1"/>
      <p:bldP spid="199" grpId="0" animBg="1"/>
      <p:bldP spid="200" grpId="0" animBg="1"/>
      <p:bldP spid="202" grpId="0"/>
      <p:bldP spid="20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0ABFEC7-3C70-44BA-A652-FE357161F6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6464" y="2315436"/>
            <a:ext cx="3301727" cy="3244447"/>
          </a:xfrm>
          <a:prstGeom prst="rect">
            <a:avLst/>
          </a:prstGeom>
        </p:spPr>
      </p:pic>
      <p:sp>
        <p:nvSpPr>
          <p:cNvPr id="189442" name="Rectangle 2"/>
          <p:cNvSpPr>
            <a:spLocks noGrp="1" noChangeArrowheads="1"/>
          </p:cNvSpPr>
          <p:nvPr>
            <p:ph type="title"/>
          </p:nvPr>
        </p:nvSpPr>
        <p:spPr>
          <a:xfrm>
            <a:off x="150829" y="-119776"/>
            <a:ext cx="8364521" cy="1325563"/>
          </a:xfrm>
        </p:spPr>
        <p:txBody>
          <a:bodyPr/>
          <a:lstStyle/>
          <a:p>
            <a:r>
              <a:rPr lang="en-US" altLang="en-US" dirty="0"/>
              <a:t>Example: Sync. and Async. Logic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37</a:t>
            </a:fld>
            <a:endParaRPr lang="en-US"/>
          </a:p>
        </p:txBody>
      </p:sp>
      <p:sp>
        <p:nvSpPr>
          <p:cNvPr id="53" name="Footer Placeholder 1">
            <a:extLst>
              <a:ext uri="{FF2B5EF4-FFF2-40B4-BE49-F238E27FC236}">
                <a16:creationId xmlns:a16="http://schemas.microsoft.com/office/drawing/2014/main" id="{140D5B8F-DA64-47B3-9E36-055E92886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lang="en-US"/>
              <a:t>044252 - Digital Systems and Computer Structure - SystemVerilog HDL Workshop</a:t>
            </a:r>
            <a:endParaRPr lang="en-US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5DC9AB1-6CB5-4D04-AA65-58108EDFDAE0}"/>
              </a:ext>
            </a:extLst>
          </p:cNvPr>
          <p:cNvSpPr txBox="1"/>
          <p:nvPr/>
        </p:nvSpPr>
        <p:spPr>
          <a:xfrm>
            <a:off x="489429" y="1119815"/>
            <a:ext cx="4697348" cy="526297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module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my_module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clk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rst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A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B</a:t>
            </a:r>
          </a:p>
          <a:p>
            <a:r>
              <a:rPr lang="he-IL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;(</a:t>
            </a:r>
            <a:endParaRPr lang="en-US" sz="1400" b="1" dirty="0">
              <a:solidFill>
                <a:srgbClr val="0000FF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and_out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or_out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400" b="1" dirty="0">
              <a:solidFill>
                <a:srgbClr val="0000FF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4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always_ff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@(</a:t>
            </a:r>
            <a:r>
              <a:rPr lang="en-US" sz="14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posedge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clk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posedge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rst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rst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1'b1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A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&lt;=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1'b0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B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&lt;=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1'b1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A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&lt;=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or_out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B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&lt;=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and_out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pPr lvl="1"/>
            <a:endParaRPr lang="en-US" sz="1400" b="1" dirty="0">
              <a:solidFill>
                <a:srgbClr val="0000FF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4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always_comb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and_out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A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B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or_out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A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|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B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he-IL" sz="1400" dirty="0"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endmodule</a:t>
            </a:r>
            <a:endParaRPr lang="he-I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D1458C94-0234-4AEE-AC4A-B0DC0605D1CC}"/>
              </a:ext>
            </a:extLst>
          </p:cNvPr>
          <p:cNvSpPr/>
          <p:nvPr/>
        </p:nvSpPr>
        <p:spPr>
          <a:xfrm>
            <a:off x="7309543" y="2315436"/>
            <a:ext cx="561838" cy="1328147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63" name="Text Box 11">
            <a:extLst>
              <a:ext uri="{FF2B5EF4-FFF2-40B4-BE49-F238E27FC236}">
                <a16:creationId xmlns:a16="http://schemas.microsoft.com/office/drawing/2014/main" id="{5AEF2BE4-3AEB-408C-984C-05BE29E121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9677" y="1906025"/>
            <a:ext cx="361432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b="1" dirty="0"/>
              <a:t>Asynchronous/</a:t>
            </a:r>
            <a:r>
              <a:rPr lang="en-US" altLang="en-US" b="1" dirty="0" err="1"/>
              <a:t>Combinatorical</a:t>
            </a:r>
            <a:r>
              <a:rPr lang="en-US" altLang="en-US" b="1" dirty="0"/>
              <a:t> Logic</a:t>
            </a: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139DD957-0437-442F-9CDA-C85F2B279F6D}"/>
              </a:ext>
            </a:extLst>
          </p:cNvPr>
          <p:cNvSpPr/>
          <p:nvPr/>
        </p:nvSpPr>
        <p:spPr>
          <a:xfrm>
            <a:off x="7170550" y="3762364"/>
            <a:ext cx="785673" cy="1691108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65" name="Text Box 11">
            <a:extLst>
              <a:ext uri="{FF2B5EF4-FFF2-40B4-BE49-F238E27FC236}">
                <a16:creationId xmlns:a16="http://schemas.microsoft.com/office/drawing/2014/main" id="{48B7A109-1B5A-4EF0-B630-925B2EC450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7071" y="5532173"/>
            <a:ext cx="194187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b="1" dirty="0"/>
              <a:t>Synchronous Logic</a:t>
            </a:r>
          </a:p>
        </p:txBody>
      </p:sp>
    </p:spTree>
    <p:extLst>
      <p:ext uri="{BB962C8B-B14F-4D97-AF65-F5344CB8AC3E}">
        <p14:creationId xmlns:p14="http://schemas.microsoft.com/office/powerpoint/2010/main" val="1912766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animBg="1"/>
      <p:bldP spid="63" grpId="0"/>
      <p:bldP spid="64" grpId="0" animBg="1"/>
      <p:bldP spid="6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D3812941-A9AE-4A11-9F76-A65C141207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6464" y="2315436"/>
            <a:ext cx="3301727" cy="3244447"/>
          </a:xfrm>
          <a:prstGeom prst="rect">
            <a:avLst/>
          </a:prstGeom>
        </p:spPr>
      </p:pic>
      <p:sp>
        <p:nvSpPr>
          <p:cNvPr id="189442" name="Rectangle 2"/>
          <p:cNvSpPr>
            <a:spLocks noGrp="1" noChangeArrowheads="1"/>
          </p:cNvSpPr>
          <p:nvPr>
            <p:ph type="title"/>
          </p:nvPr>
        </p:nvSpPr>
        <p:spPr>
          <a:xfrm>
            <a:off x="150829" y="0"/>
            <a:ext cx="8364521" cy="1325563"/>
          </a:xfrm>
        </p:spPr>
        <p:txBody>
          <a:bodyPr/>
          <a:lstStyle/>
          <a:p>
            <a:r>
              <a:rPr lang="en-US" altLang="en-US" dirty="0"/>
              <a:t>Example: Sync. and Async. Logic: Another Implementation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38</a:t>
            </a:fld>
            <a:endParaRPr lang="en-US"/>
          </a:p>
        </p:txBody>
      </p:sp>
      <p:sp>
        <p:nvSpPr>
          <p:cNvPr id="53" name="Footer Placeholder 1">
            <a:extLst>
              <a:ext uri="{FF2B5EF4-FFF2-40B4-BE49-F238E27FC236}">
                <a16:creationId xmlns:a16="http://schemas.microsoft.com/office/drawing/2014/main" id="{140D5B8F-DA64-47B3-9E36-055E92886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lang="en-US"/>
              <a:t>044252 - Digital Systems and Computer Structure - SystemVerilog HDL Workshop</a:t>
            </a:r>
            <a:endParaRPr lang="en-US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5DC9AB1-6CB5-4D04-AA65-58108EDFDAE0}"/>
              </a:ext>
            </a:extLst>
          </p:cNvPr>
          <p:cNvSpPr txBox="1"/>
          <p:nvPr/>
        </p:nvSpPr>
        <p:spPr>
          <a:xfrm>
            <a:off x="470576" y="1282842"/>
            <a:ext cx="4697348" cy="418576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module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my_module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clk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rst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A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B</a:t>
            </a:r>
          </a:p>
          <a:p>
            <a:r>
              <a:rPr lang="he-IL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;(</a:t>
            </a:r>
            <a:endParaRPr lang="en-US" sz="1400" b="1" dirty="0">
              <a:solidFill>
                <a:srgbClr val="0000FF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4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always_ff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@(</a:t>
            </a:r>
            <a:r>
              <a:rPr lang="en-US" sz="14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posedge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clk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posedge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rst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rst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1'b1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A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&lt;=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1'b0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B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&lt;=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1'b1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A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&lt;=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A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|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B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B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&lt;=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A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B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pPr lvl="1"/>
            <a:endParaRPr lang="en-US" sz="1400" b="1" dirty="0">
              <a:solidFill>
                <a:srgbClr val="0000FF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endmodule</a:t>
            </a:r>
            <a:endParaRPr lang="he-I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139DD957-0437-442F-9CDA-C85F2B279F6D}"/>
              </a:ext>
            </a:extLst>
          </p:cNvPr>
          <p:cNvSpPr/>
          <p:nvPr/>
        </p:nvSpPr>
        <p:spPr>
          <a:xfrm>
            <a:off x="7170550" y="2315436"/>
            <a:ext cx="785673" cy="3138036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65" name="Text Box 11">
            <a:extLst>
              <a:ext uri="{FF2B5EF4-FFF2-40B4-BE49-F238E27FC236}">
                <a16:creationId xmlns:a16="http://schemas.microsoft.com/office/drawing/2014/main" id="{48B7A109-1B5A-4EF0-B630-925B2EC450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7071" y="5532173"/>
            <a:ext cx="194187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b="1" dirty="0"/>
              <a:t> Asynchronous &amp; </a:t>
            </a:r>
          </a:p>
          <a:p>
            <a:r>
              <a:rPr lang="en-US" altLang="en-US" b="1" dirty="0"/>
              <a:t>Synchronous Logic</a:t>
            </a:r>
          </a:p>
        </p:txBody>
      </p:sp>
    </p:spTree>
    <p:extLst>
      <p:ext uri="{BB962C8B-B14F-4D97-AF65-F5344CB8AC3E}">
        <p14:creationId xmlns:p14="http://schemas.microsoft.com/office/powerpoint/2010/main" val="2251714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animBg="1"/>
      <p:bldP spid="6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CEE9C-062B-A415-F1CF-21F8EA304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2">
            <a:extLst>
              <a:ext uri="{FF2B5EF4-FFF2-40B4-BE49-F238E27FC236}">
                <a16:creationId xmlns:a16="http://schemas.microsoft.com/office/drawing/2014/main" id="{2E5A738B-309E-7198-3D15-1E687EEBF9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0829" y="0"/>
            <a:ext cx="8364521" cy="1325563"/>
          </a:xfrm>
        </p:spPr>
        <p:txBody>
          <a:bodyPr/>
          <a:lstStyle/>
          <a:p>
            <a:r>
              <a:rPr lang="en-US" altLang="en-US" dirty="0"/>
              <a:t>Example: Sync. and Async. Logic: Synthesis error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FEFF0B-167F-ED54-FCB6-9B3D7E4AA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39</a:t>
            </a:fld>
            <a:endParaRPr lang="en-US"/>
          </a:p>
        </p:txBody>
      </p:sp>
      <p:sp>
        <p:nvSpPr>
          <p:cNvPr id="53" name="Footer Placeholder 1">
            <a:extLst>
              <a:ext uri="{FF2B5EF4-FFF2-40B4-BE49-F238E27FC236}">
                <a16:creationId xmlns:a16="http://schemas.microsoft.com/office/drawing/2014/main" id="{54FEE2D6-D982-818F-43E2-E899FAB37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lang="en-US"/>
              <a:t>044252 - Digital Systems and Computer Structure - SystemVerilog HDL Workshop</a:t>
            </a:r>
            <a:endParaRPr lang="en-US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154C94E-6D8E-70A7-2284-B02AFC1547AB}"/>
              </a:ext>
            </a:extLst>
          </p:cNvPr>
          <p:cNvSpPr txBox="1"/>
          <p:nvPr/>
        </p:nvSpPr>
        <p:spPr>
          <a:xfrm>
            <a:off x="488332" y="1256209"/>
            <a:ext cx="4697348" cy="526297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module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my_module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clk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rst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  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A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B</a:t>
            </a:r>
          </a:p>
          <a:p>
            <a:r>
              <a:rPr lang="he-IL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;(</a:t>
            </a:r>
            <a:endParaRPr lang="en-US" sz="1400" b="1" dirty="0">
              <a:solidFill>
                <a:srgbClr val="00008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400" b="1" dirty="0">
              <a:solidFill>
                <a:srgbClr val="0000FF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4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always_ff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@(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posedge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clk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posedge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rst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rst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1'b1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A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&lt;=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1'b0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B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&lt;=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1'b1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A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&lt;=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A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|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d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B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&lt;=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A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B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pPr lvl="1"/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if (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 begin</a:t>
            </a:r>
          </a:p>
          <a:p>
            <a:pPr lvl="1"/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&lt;=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1'b1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1"/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end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pPr lvl="1"/>
            <a:endParaRPr lang="en-US" sz="1400" b="1" dirty="0">
              <a:solidFill>
                <a:srgbClr val="0000FF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endmodule</a:t>
            </a:r>
            <a:endParaRPr lang="he-I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26364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E07E93C6-3B66-ACB6-0069-E0C5C7DEE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70B360C0-12DF-C089-AA33-2037C0E89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40</a:t>
            </a:fld>
            <a:endParaRPr 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F55B325D-E6BA-B4A5-10AA-76209AA1F2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0829" y="0"/>
            <a:ext cx="8364521" cy="1325563"/>
          </a:xfrm>
        </p:spPr>
        <p:txBody>
          <a:bodyPr/>
          <a:lstStyle/>
          <a:p>
            <a:r>
              <a:rPr lang="en-US" altLang="en-US" dirty="0"/>
              <a:t>Example: Sync. and Async. Logic: Synthesis error</a:t>
            </a:r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394A9798-6697-E1E0-0613-3834585975A8}"/>
              </a:ext>
            </a:extLst>
          </p:cNvPr>
          <p:cNvSpPr txBox="1"/>
          <p:nvPr/>
        </p:nvSpPr>
        <p:spPr>
          <a:xfrm>
            <a:off x="628650" y="1748901"/>
            <a:ext cx="6837470" cy="424731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There are </a:t>
            </a:r>
            <a:r>
              <a:rPr lang="en-US" b="1" dirty="0"/>
              <a:t>3 types of synthesis issues</a:t>
            </a:r>
            <a:r>
              <a:rPr lang="en-US" dirty="0"/>
              <a:t> that may arise in this design:</a:t>
            </a:r>
          </a:p>
          <a:p>
            <a:pPr marL="342900" indent="-342900">
              <a:buAutoNum type="arabicPeriod"/>
            </a:pPr>
            <a:r>
              <a:rPr lang="en-US" dirty="0"/>
              <a:t>“Variable d used before assigned”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This occurs because d is used in A &lt;= A | d; before being guaranteed an initial value when C == 0.</a:t>
            </a:r>
          </a:p>
          <a:p>
            <a:pPr marL="342900" indent="-342900">
              <a:buAutoNum type="arabicPeriod"/>
            </a:pPr>
            <a:r>
              <a:rPr lang="en-US" dirty="0"/>
              <a:t>“Variable d is not fully assigned in all paths”.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he-IL" dirty="0"/>
              <a:t>The assignment to d only happens conditionally (if(c)) with no else clause or reset.</a:t>
            </a:r>
            <a:r>
              <a:rPr lang="he-IL" altLang="he-IL" dirty="0"/>
              <a:t> 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“Synthesis assumes d retains its value”</a:t>
            </a:r>
            <a:endParaRPr lang="en-US" b="0" i="1" dirty="0">
              <a:latin typeface="Cambria Math" panose="020405030504060302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When d is not updated in a cycle, tools assume it holds its previous value via a </a:t>
            </a:r>
            <a:r>
              <a:rPr lang="en-US" b="1" dirty="0"/>
              <a:t>flip-flop.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While technically legal, this can result in</a:t>
            </a:r>
            <a:r>
              <a:rPr lang="en-US" b="1" dirty="0"/>
              <a:t>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Unintended stateful behavior.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b="1" dirty="0"/>
              <a:t>Incorrect logic</a:t>
            </a:r>
            <a:r>
              <a:rPr lang="en-US" dirty="0"/>
              <a:t> if the user expected a purely combinational update.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Performance delay.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674021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bg1">
                    <a:lumMod val="85000"/>
                  </a:schemeClr>
                </a:solidFill>
              </a:rPr>
              <a:t>More operators</a:t>
            </a:r>
          </a:p>
          <a:p>
            <a:r>
              <a:rPr lang="en-US" sz="3600" dirty="0">
                <a:solidFill>
                  <a:schemeClr val="bg1">
                    <a:lumMod val="85000"/>
                  </a:schemeClr>
                </a:solidFill>
              </a:rPr>
              <a:t>Conditional statements</a:t>
            </a:r>
          </a:p>
          <a:p>
            <a:r>
              <a:rPr lang="en-US" sz="3600" dirty="0">
                <a:solidFill>
                  <a:schemeClr val="bg1">
                    <a:lumMod val="85000"/>
                  </a:schemeClr>
                </a:solidFill>
              </a:rPr>
              <a:t>Synchronous logic and assignments</a:t>
            </a:r>
          </a:p>
          <a:p>
            <a:r>
              <a:rPr lang="en-US" sz="3600" dirty="0"/>
              <a:t>Test benches for synchronous logic</a:t>
            </a:r>
          </a:p>
          <a:p>
            <a:endParaRPr lang="en-US" sz="3600" dirty="0">
              <a:solidFill>
                <a:schemeClr val="bg1">
                  <a:lumMod val="65000"/>
                </a:schemeClr>
              </a:solidFill>
            </a:endParaRPr>
          </a:p>
          <a:p>
            <a:endParaRPr lang="en-US" sz="3600" dirty="0"/>
          </a:p>
          <a:p>
            <a:endParaRPr lang="en-US" sz="3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9636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0"/>
            <a:ext cx="7886700" cy="1325563"/>
          </a:xfrm>
          <a:ln/>
        </p:spPr>
        <p:txBody>
          <a:bodyPr/>
          <a:lstStyle/>
          <a:p>
            <a:r>
              <a:rPr lang="en-US" altLang="en-US" dirty="0"/>
              <a:t>Test Bench: Generating a Clock Signal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8650" y="1360116"/>
            <a:ext cx="3943350" cy="2908446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initial</a:t>
            </a:r>
            <a:r>
              <a:rPr lang="en-US" sz="19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9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19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9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Clock </a:t>
            </a:r>
            <a:r>
              <a:rPr lang="en-US" sz="19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9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9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1'b0</a:t>
            </a:r>
            <a:r>
              <a:rPr lang="en-US" sz="19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9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9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sz="19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he-IL" sz="19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  <a:endParaRPr lang="he-IL" sz="19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9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always</a:t>
            </a:r>
            <a:r>
              <a:rPr lang="en-US" sz="19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9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19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9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9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sz="19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-US" sz="19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Clock </a:t>
            </a:r>
            <a:r>
              <a:rPr lang="en-US" sz="19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9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9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~</a:t>
            </a:r>
            <a:r>
              <a:rPr lang="en-US" sz="19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Clock</a:t>
            </a:r>
            <a:r>
              <a:rPr lang="en-US" sz="19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9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9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altLang="en-US" sz="1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3435" y="4860142"/>
            <a:ext cx="4810125" cy="112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42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903D6C-D274-481A-96C0-93CE21B5AA89}"/>
              </a:ext>
            </a:extLst>
          </p:cNvPr>
          <p:cNvSpPr txBox="1"/>
          <p:nvPr/>
        </p:nvSpPr>
        <p:spPr>
          <a:xfrm>
            <a:off x="3450574" y="5357184"/>
            <a:ext cx="100572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Clock</a:t>
            </a:r>
            <a:endParaRPr lang="he-IL" dirty="0"/>
          </a:p>
        </p:txBody>
      </p:sp>
      <p:sp>
        <p:nvSpPr>
          <p:cNvPr id="8" name="Arrow: Left 32">
            <a:extLst>
              <a:ext uri="{FF2B5EF4-FFF2-40B4-BE49-F238E27FC236}">
                <a16:creationId xmlns:a16="http://schemas.microsoft.com/office/drawing/2014/main" id="{1002C6F6-AAA2-4981-A6A6-EAC6604FD796}"/>
              </a:ext>
            </a:extLst>
          </p:cNvPr>
          <p:cNvSpPr/>
          <p:nvPr/>
        </p:nvSpPr>
        <p:spPr>
          <a:xfrm>
            <a:off x="2624531" y="2957660"/>
            <a:ext cx="2560211" cy="231528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31">
            <a:extLst>
              <a:ext uri="{FF2B5EF4-FFF2-40B4-BE49-F238E27FC236}">
                <a16:creationId xmlns:a16="http://schemas.microsoft.com/office/drawing/2014/main" id="{660BEBF8-BD49-48AF-9993-D97DC4610D48}"/>
              </a:ext>
            </a:extLst>
          </p:cNvPr>
          <p:cNvSpPr/>
          <p:nvPr/>
        </p:nvSpPr>
        <p:spPr>
          <a:xfrm>
            <a:off x="5022183" y="2521623"/>
            <a:ext cx="2057347" cy="1103602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always statement: runs in an endless loop</a:t>
            </a:r>
          </a:p>
        </p:txBody>
      </p:sp>
    </p:spTree>
    <p:extLst>
      <p:ext uri="{BB962C8B-B14F-4D97-AF65-F5344CB8AC3E}">
        <p14:creationId xmlns:p14="http://schemas.microsoft.com/office/powerpoint/2010/main" val="4045345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 animBg="1"/>
      <p:bldP spid="9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131238"/>
            <a:ext cx="7886700" cy="1325563"/>
          </a:xfrm>
          <a:ln/>
        </p:spPr>
        <p:txBody>
          <a:bodyPr/>
          <a:lstStyle/>
          <a:p>
            <a:r>
              <a:rPr lang="en-US" altLang="en-US" dirty="0"/>
              <a:t>Test Bench: The Repeat Loop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3490" y="1027907"/>
            <a:ext cx="7886700" cy="4351338"/>
          </a:xfrm>
        </p:spPr>
        <p:txBody>
          <a:bodyPr>
            <a:normAutofit/>
          </a:bodyPr>
          <a:lstStyle/>
          <a:p>
            <a:pPr lvl="1">
              <a:buFont typeface="Wingdings" panose="05000000000000000000" pitchFamily="2" charset="2"/>
              <a:buNone/>
            </a:pPr>
            <a:endParaRPr lang="en-US" altLang="en-US" sz="1050" dirty="0"/>
          </a:p>
          <a:p>
            <a:pPr lvl="1"/>
            <a:r>
              <a:rPr lang="en-US" altLang="en-US" sz="2800" dirty="0"/>
              <a:t>Used in an initial block to repeat statements. </a:t>
            </a:r>
          </a:p>
          <a:p>
            <a:pPr lvl="1"/>
            <a:r>
              <a:rPr lang="en-US" altLang="en-US" sz="2800" dirty="0"/>
              <a:t>Syntax:</a:t>
            </a:r>
          </a:p>
          <a:p>
            <a:pPr lvl="1"/>
            <a:endParaRPr lang="en-US" altLang="en-US" sz="2800" dirty="0"/>
          </a:p>
          <a:p>
            <a:pPr lvl="1"/>
            <a:endParaRPr lang="en-US" altLang="en-US" sz="2800" dirty="0"/>
          </a:p>
          <a:p>
            <a:pPr lvl="1"/>
            <a:endParaRPr lang="en-US" altLang="en-US" sz="2800" dirty="0"/>
          </a:p>
          <a:p>
            <a:pPr lvl="1"/>
            <a:r>
              <a:rPr lang="en-US" altLang="en-US" sz="2800" dirty="0"/>
              <a:t>Example: Waiting for 4 clock cycles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43</a:t>
            </a:fld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307F488-F40A-4ED4-87C5-13E866B8F701}"/>
              </a:ext>
            </a:extLst>
          </p:cNvPr>
          <p:cNvSpPr txBox="1">
            <a:spLocks noChangeArrowheads="1"/>
          </p:cNvSpPr>
          <p:nvPr/>
        </p:nvSpPr>
        <p:spPr>
          <a:xfrm>
            <a:off x="1469844" y="3961803"/>
            <a:ext cx="6373993" cy="210217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7000"/>
              </a:lnSpc>
              <a:buNone/>
            </a:pPr>
            <a:r>
              <a:rPr lang="en-US" sz="20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initial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begin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	</a:t>
            </a:r>
            <a:r>
              <a:rPr lang="en-US" sz="20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repeat</a:t>
            </a:r>
            <a:r>
              <a:rPr lang="en-US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</a:t>
            </a:r>
            <a:r>
              <a:rPr lang="en-US" sz="20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4</a:t>
            </a:r>
            <a:r>
              <a:rPr lang="en-US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) </a:t>
            </a:r>
            <a:r>
              <a:rPr lang="en-US" sz="20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begin</a:t>
            </a:r>
            <a:endParaRPr lang="en-US" sz="2000" dirty="0">
              <a:highlight>
                <a:srgbClr val="FFFFFF"/>
              </a:highlight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		</a:t>
            </a:r>
            <a:r>
              <a:rPr lang="en-US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@(</a:t>
            </a:r>
            <a:r>
              <a:rPr lang="en-US" sz="20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posedge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clk</a:t>
            </a:r>
            <a:r>
              <a:rPr lang="en-US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);</a:t>
            </a:r>
            <a:endParaRPr lang="en-US" sz="2000" dirty="0">
              <a:highlight>
                <a:srgbClr val="FFFFFF"/>
              </a:highlight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	</a:t>
            </a:r>
            <a:r>
              <a:rPr lang="en-US" sz="20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end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lang="en-US" sz="2000" dirty="0">
              <a:highlight>
                <a:srgbClr val="FFFFFF"/>
              </a:highlight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en-US" sz="20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end</a:t>
            </a:r>
            <a:endParaRPr lang="en-US" sz="2000" dirty="0">
              <a:highlight>
                <a:srgbClr val="FFFFFF"/>
              </a:highlight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en-US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D9729F9-06AC-4E32-B580-CA523A42C8CA}"/>
              </a:ext>
            </a:extLst>
          </p:cNvPr>
          <p:cNvSpPr txBox="1">
            <a:spLocks noChangeArrowheads="1"/>
          </p:cNvSpPr>
          <p:nvPr/>
        </p:nvSpPr>
        <p:spPr>
          <a:xfrm>
            <a:off x="1469844" y="2150544"/>
            <a:ext cx="6373993" cy="132270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7000"/>
              </a:lnSpc>
              <a:buNone/>
            </a:pPr>
            <a:r>
              <a:rPr lang="en-US" sz="20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repeat</a:t>
            </a:r>
            <a:r>
              <a:rPr lang="en-US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</a:t>
            </a:r>
            <a:r>
              <a:rPr lang="en-US" sz="2000" dirty="0" err="1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num_of_times</a:t>
            </a:r>
            <a:r>
              <a:rPr lang="en-US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) </a:t>
            </a:r>
            <a:r>
              <a:rPr lang="en-US" sz="20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begin</a:t>
            </a:r>
            <a:endParaRPr lang="en-US" sz="2000" dirty="0">
              <a:highlight>
                <a:srgbClr val="FFFFFF"/>
              </a:highlight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	</a:t>
            </a:r>
            <a:r>
              <a:rPr lang="en-US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&lt;statement1&gt;;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en-US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	&lt;statement2&gt;;</a:t>
            </a:r>
            <a:endParaRPr lang="en-US" sz="2000" dirty="0">
              <a:highlight>
                <a:srgbClr val="FFFFFF"/>
              </a:highlight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en-US" sz="20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end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lang="en-US" sz="2000" dirty="0">
              <a:highlight>
                <a:srgbClr val="FFFFFF"/>
              </a:highlight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2003795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09D94-4C50-5364-E498-602098ACA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7A91D35D-C8C5-15F5-AB7F-47F89B6C54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6464" y="2315436"/>
            <a:ext cx="3301727" cy="3244447"/>
          </a:xfrm>
          <a:prstGeom prst="rect">
            <a:avLst/>
          </a:prstGeom>
        </p:spPr>
      </p:pic>
      <p:sp>
        <p:nvSpPr>
          <p:cNvPr id="189442" name="Rectangle 2">
            <a:extLst>
              <a:ext uri="{FF2B5EF4-FFF2-40B4-BE49-F238E27FC236}">
                <a16:creationId xmlns:a16="http://schemas.microsoft.com/office/drawing/2014/main" id="{25747447-53E4-7609-5DFC-6D5081F780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0829" y="0"/>
            <a:ext cx="8364521" cy="1325563"/>
          </a:xfrm>
        </p:spPr>
        <p:txBody>
          <a:bodyPr/>
          <a:lstStyle/>
          <a:p>
            <a:r>
              <a:rPr lang="en-US" altLang="en-US" dirty="0"/>
              <a:t>Example: Sync. and Async. Logic: Another Implementation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7604C9-537F-72CC-36C4-A56951F74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44</a:t>
            </a:fld>
            <a:endParaRPr lang="en-US"/>
          </a:p>
        </p:txBody>
      </p:sp>
      <p:sp>
        <p:nvSpPr>
          <p:cNvPr id="53" name="Footer Placeholder 1">
            <a:extLst>
              <a:ext uri="{FF2B5EF4-FFF2-40B4-BE49-F238E27FC236}">
                <a16:creationId xmlns:a16="http://schemas.microsoft.com/office/drawing/2014/main" id="{3142DA94-5973-7979-D59E-058468078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lang="en-US"/>
              <a:t>044252 - Digital Systems and Computer Structure - SystemVerilog HDL Workshop</a:t>
            </a:r>
            <a:endParaRPr lang="en-US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7D60EDA-EFAD-1F24-E976-0588F2ACDA7E}"/>
              </a:ext>
            </a:extLst>
          </p:cNvPr>
          <p:cNvSpPr txBox="1"/>
          <p:nvPr/>
        </p:nvSpPr>
        <p:spPr>
          <a:xfrm>
            <a:off x="470576" y="1282842"/>
            <a:ext cx="4697348" cy="418576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module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my_module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clk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rst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A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B</a:t>
            </a:r>
          </a:p>
          <a:p>
            <a:r>
              <a:rPr lang="he-IL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;(</a:t>
            </a:r>
            <a:endParaRPr lang="en-US" sz="1400" b="1" dirty="0">
              <a:solidFill>
                <a:srgbClr val="0000FF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4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always_ff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@(</a:t>
            </a:r>
            <a:r>
              <a:rPr lang="en-US" sz="14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posedge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clk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posedge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rst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rst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1'b1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A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&lt;=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1'b0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B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&lt;=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1'b1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A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&lt;=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A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|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B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B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&lt;=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A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B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pPr lvl="1"/>
            <a:endParaRPr lang="en-US" sz="1400" b="1" dirty="0">
              <a:solidFill>
                <a:srgbClr val="0000FF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endmodule</a:t>
            </a:r>
            <a:endParaRPr lang="he-I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4C87BB4C-5CBC-1FCD-06BC-FA0D3FE6D56E}"/>
              </a:ext>
            </a:extLst>
          </p:cNvPr>
          <p:cNvSpPr/>
          <p:nvPr/>
        </p:nvSpPr>
        <p:spPr>
          <a:xfrm>
            <a:off x="7170550" y="2315436"/>
            <a:ext cx="785673" cy="3138036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65" name="Text Box 11">
            <a:extLst>
              <a:ext uri="{FF2B5EF4-FFF2-40B4-BE49-F238E27FC236}">
                <a16:creationId xmlns:a16="http://schemas.microsoft.com/office/drawing/2014/main" id="{9682CCCD-1CDC-9A2F-F19F-7FCC25C02F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7071" y="5532173"/>
            <a:ext cx="194187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b="1" dirty="0"/>
              <a:t> Asynchronous &amp; </a:t>
            </a:r>
          </a:p>
          <a:p>
            <a:r>
              <a:rPr lang="en-US" altLang="en-US" b="1" dirty="0"/>
              <a:t>Synchronous Logic</a:t>
            </a:r>
          </a:p>
        </p:txBody>
      </p:sp>
    </p:spTree>
    <p:extLst>
      <p:ext uri="{BB962C8B-B14F-4D97-AF65-F5344CB8AC3E}">
        <p14:creationId xmlns:p14="http://schemas.microsoft.com/office/powerpoint/2010/main" val="1981267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animBg="1"/>
      <p:bldP spid="6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131238"/>
            <a:ext cx="7886700" cy="1325563"/>
          </a:xfrm>
          <a:ln/>
        </p:spPr>
        <p:txBody>
          <a:bodyPr/>
          <a:lstStyle/>
          <a:p>
            <a:r>
              <a:rPr lang="en-US" altLang="en-US" dirty="0"/>
              <a:t>Test Bench: Full Example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45</a:t>
            </a:fld>
            <a:endParaRPr 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D9729F9-06AC-4E32-B580-CA523A42C8CA}"/>
              </a:ext>
            </a:extLst>
          </p:cNvPr>
          <p:cNvSpPr txBox="1">
            <a:spLocks noChangeArrowheads="1"/>
          </p:cNvSpPr>
          <p:nvPr/>
        </p:nvSpPr>
        <p:spPr>
          <a:xfrm>
            <a:off x="271138" y="1159498"/>
            <a:ext cx="6044821" cy="519685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module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my_module_tb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clk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rst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A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B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my_module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(.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clk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clk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rst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rst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always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sz="14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clk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~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clk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initial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clk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1'b0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rst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1'b1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@(</a:t>
            </a:r>
            <a:r>
              <a:rPr lang="en-US" sz="14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posedge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clk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he-IL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 </a:t>
            </a:r>
            <a:r>
              <a:rPr lang="he-IL" sz="14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  <a:r>
              <a:rPr lang="he-IL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endParaRPr lang="he-IL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rst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1'b0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repeat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@(</a:t>
            </a:r>
            <a:r>
              <a:rPr lang="en-US" sz="14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posedge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clk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endmodule</a:t>
            </a:r>
            <a:endParaRPr lang="en-US" alt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A9E7A99-5A72-4013-A21A-44DB5C3A5D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7834" y="2886161"/>
            <a:ext cx="3315642" cy="3291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80173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131238"/>
            <a:ext cx="7886700" cy="1325563"/>
          </a:xfrm>
          <a:ln/>
        </p:spPr>
        <p:txBody>
          <a:bodyPr/>
          <a:lstStyle/>
          <a:p>
            <a:r>
              <a:rPr lang="en-US" altLang="en-US" dirty="0"/>
              <a:t>Test Bench: Full Example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46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5C4C51-B112-4FC2-8230-3756C34BE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6428" y="2318994"/>
            <a:ext cx="5773884" cy="1884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05642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84A57-02F6-448E-854D-904FFB275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Example: Simple Counter</a:t>
            </a:r>
            <a:endParaRPr lang="he-I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D2FFFD-51B7-458B-930B-9D7130F34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044252 - Digital Systems and Computer Structure - </a:t>
            </a:r>
            <a:r>
              <a:rPr lang="en-US" dirty="0" err="1"/>
              <a:t>SystemVerilog</a:t>
            </a:r>
            <a:r>
              <a:rPr lang="en-US" dirty="0"/>
              <a:t> HDL Workshop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8C9A2D-5C9D-4588-9D95-E22E83E69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47</a:t>
            </a:fld>
            <a:endParaRPr lang="en-US"/>
          </a:p>
        </p:txBody>
      </p:sp>
      <p:grpSp>
        <p:nvGrpSpPr>
          <p:cNvPr id="9" name="Group 5">
            <a:extLst>
              <a:ext uri="{FF2B5EF4-FFF2-40B4-BE49-F238E27FC236}">
                <a16:creationId xmlns:a16="http://schemas.microsoft.com/office/drawing/2014/main" id="{E2F9550E-328F-4324-B7E7-5EB46E694D41}"/>
              </a:ext>
            </a:extLst>
          </p:cNvPr>
          <p:cNvGrpSpPr>
            <a:grpSpLocks/>
          </p:cNvGrpSpPr>
          <p:nvPr/>
        </p:nvGrpSpPr>
        <p:grpSpPr bwMode="auto">
          <a:xfrm>
            <a:off x="4033887" y="3405982"/>
            <a:ext cx="1371600" cy="838200"/>
            <a:chOff x="3168" y="1776"/>
            <a:chExt cx="864" cy="528"/>
          </a:xfrm>
        </p:grpSpPr>
        <p:sp>
          <p:nvSpPr>
            <p:cNvPr id="17" name="Rectangle 6">
              <a:extLst>
                <a:ext uri="{FF2B5EF4-FFF2-40B4-BE49-F238E27FC236}">
                  <a16:creationId xmlns:a16="http://schemas.microsoft.com/office/drawing/2014/main" id="{EB9A90C6-A55B-4FF5-B3A7-F7C900DC05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1776"/>
              <a:ext cx="384" cy="52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 dirty="0"/>
            </a:p>
          </p:txBody>
        </p:sp>
        <p:sp>
          <p:nvSpPr>
            <p:cNvPr id="18" name="Line 7">
              <a:extLst>
                <a:ext uri="{FF2B5EF4-FFF2-40B4-BE49-F238E27FC236}">
                  <a16:creationId xmlns:a16="http://schemas.microsoft.com/office/drawing/2014/main" id="{D2AE4022-A9D6-45A9-A936-ADF5952DD5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52" y="2208"/>
              <a:ext cx="48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9" name="Line 8">
              <a:extLst>
                <a:ext uri="{FF2B5EF4-FFF2-40B4-BE49-F238E27FC236}">
                  <a16:creationId xmlns:a16="http://schemas.microsoft.com/office/drawing/2014/main" id="{E31F6508-405A-47DD-9382-C5D389EFDF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600" y="2208"/>
              <a:ext cx="48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0" name="Line 9">
              <a:extLst>
                <a:ext uri="{FF2B5EF4-FFF2-40B4-BE49-F238E27FC236}">
                  <a16:creationId xmlns:a16="http://schemas.microsoft.com/office/drawing/2014/main" id="{5213D14A-19A2-4E22-9A08-3A04426104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2016"/>
              <a:ext cx="2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1" name="Line 10">
              <a:extLst>
                <a:ext uri="{FF2B5EF4-FFF2-40B4-BE49-F238E27FC236}">
                  <a16:creationId xmlns:a16="http://schemas.microsoft.com/office/drawing/2014/main" id="{1B94A6F8-2C36-44AD-A501-D7989264F0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2016"/>
              <a:ext cx="2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10" name="Text Box 11">
            <a:extLst>
              <a:ext uri="{FF2B5EF4-FFF2-40B4-BE49-F238E27FC236}">
                <a16:creationId xmlns:a16="http://schemas.microsoft.com/office/drawing/2014/main" id="{A9B7047D-0E1F-412B-AEBD-45C8E42A7B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4487" y="3702501"/>
            <a:ext cx="174393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/>
              <a:t>current_counter</a:t>
            </a:r>
          </a:p>
        </p:txBody>
      </p:sp>
      <p:sp>
        <p:nvSpPr>
          <p:cNvPr id="11" name="Line 27">
            <a:extLst>
              <a:ext uri="{FF2B5EF4-FFF2-40B4-BE49-F238E27FC236}">
                <a16:creationId xmlns:a16="http://schemas.microsoft.com/office/drawing/2014/main" id="{12E9A578-3C21-45C3-A84A-FFC27088697F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3887" y="4548982"/>
            <a:ext cx="698369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en-US"/>
          </a:p>
        </p:txBody>
      </p:sp>
      <p:sp>
        <p:nvSpPr>
          <p:cNvPr id="12" name="Line 28">
            <a:extLst>
              <a:ext uri="{FF2B5EF4-FFF2-40B4-BE49-F238E27FC236}">
                <a16:creationId xmlns:a16="http://schemas.microsoft.com/office/drawing/2014/main" id="{01A1C252-BF2D-46B6-84A8-569590B7766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19687" y="4244182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" name="Text Box 31">
            <a:extLst>
              <a:ext uri="{FF2B5EF4-FFF2-40B4-BE49-F238E27FC236}">
                <a16:creationId xmlns:a16="http://schemas.microsoft.com/office/drawing/2014/main" id="{DE6D2315-C798-47EE-81E4-1B3A47ACBD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0487" y="4320382"/>
            <a:ext cx="4667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/>
              <a:t>clk</a:t>
            </a:r>
          </a:p>
        </p:txBody>
      </p:sp>
      <p:grpSp>
        <p:nvGrpSpPr>
          <p:cNvPr id="14" name="Group 34">
            <a:extLst>
              <a:ext uri="{FF2B5EF4-FFF2-40B4-BE49-F238E27FC236}">
                <a16:creationId xmlns:a16="http://schemas.microsoft.com/office/drawing/2014/main" id="{9832AD9D-BC6D-4D1A-A8D8-52D2B2ABAF2F}"/>
              </a:ext>
            </a:extLst>
          </p:cNvPr>
          <p:cNvGrpSpPr>
            <a:grpSpLocks/>
          </p:cNvGrpSpPr>
          <p:nvPr/>
        </p:nvGrpSpPr>
        <p:grpSpPr bwMode="auto">
          <a:xfrm>
            <a:off x="2930578" y="3702850"/>
            <a:ext cx="1439865" cy="369888"/>
            <a:chOff x="1561" y="2827"/>
            <a:chExt cx="907" cy="233"/>
          </a:xfrm>
        </p:grpSpPr>
        <p:sp>
          <p:nvSpPr>
            <p:cNvPr id="15" name="Line 35">
              <a:extLst>
                <a:ext uri="{FF2B5EF4-FFF2-40B4-BE49-F238E27FC236}">
                  <a16:creationId xmlns:a16="http://schemas.microsoft.com/office/drawing/2014/main" id="{81DCA2B6-30A7-4A91-8E6E-5F0D6CE584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2880"/>
              <a:ext cx="240" cy="0"/>
            </a:xfrm>
            <a:prstGeom prst="line">
              <a:avLst/>
            </a:prstGeom>
            <a:noFill/>
            <a:ln w="1270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6" name="Text Box 36">
              <a:extLst>
                <a:ext uri="{FF2B5EF4-FFF2-40B4-BE49-F238E27FC236}">
                  <a16:creationId xmlns:a16="http://schemas.microsoft.com/office/drawing/2014/main" id="{93E73D90-719C-4F1F-B0AA-025FB9B358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1" y="2827"/>
              <a:ext cx="90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dirty="0"/>
                <a:t>next_counter</a:t>
              </a:r>
            </a:p>
          </p:txBody>
        </p:sp>
      </p:grpSp>
      <p:sp>
        <p:nvSpPr>
          <p:cNvPr id="3" name="Oval 2">
            <a:extLst>
              <a:ext uri="{FF2B5EF4-FFF2-40B4-BE49-F238E27FC236}">
                <a16:creationId xmlns:a16="http://schemas.microsoft.com/office/drawing/2014/main" id="{D8C681F7-E008-4B92-8D5A-F4D786B8F0B3}"/>
              </a:ext>
            </a:extLst>
          </p:cNvPr>
          <p:cNvSpPr/>
          <p:nvPr/>
        </p:nvSpPr>
        <p:spPr>
          <a:xfrm>
            <a:off x="4319637" y="2338869"/>
            <a:ext cx="800100" cy="72405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800" dirty="0"/>
              <a:t>+1</a:t>
            </a:r>
            <a:endParaRPr lang="he-IL" sz="2800" dirty="0"/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73C4039F-C451-4C89-8CD5-3694C1B7B38B}"/>
              </a:ext>
            </a:extLst>
          </p:cNvPr>
          <p:cNvCxnSpPr>
            <a:cxnSpLocks/>
          </p:cNvCxnSpPr>
          <p:nvPr/>
        </p:nvCxnSpPr>
        <p:spPr>
          <a:xfrm rot="16200000" flipV="1">
            <a:off x="4680320" y="3104027"/>
            <a:ext cx="1124184" cy="282575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93F9341A-55B9-4920-995A-F679C40DB258}"/>
              </a:ext>
            </a:extLst>
          </p:cNvPr>
          <p:cNvCxnSpPr>
            <a:cxnSpLocks/>
            <a:stCxn id="3" idx="2"/>
            <a:endCxn id="15" idx="0"/>
          </p:cNvCxnSpPr>
          <p:nvPr/>
        </p:nvCxnSpPr>
        <p:spPr>
          <a:xfrm rot="10800000" flipV="1">
            <a:off x="3729087" y="2700898"/>
            <a:ext cx="590550" cy="1086084"/>
          </a:xfrm>
          <a:prstGeom prst="bentConnector4">
            <a:avLst>
              <a:gd name="adj1" fmla="val 17742"/>
              <a:gd name="adj2" fmla="val 40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139277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84A57-02F6-448E-854D-904FFB275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Example: Simple Counter</a:t>
            </a:r>
            <a:endParaRPr lang="he-I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D2FFFD-51B7-458B-930B-9D7130F34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044252 - Digital Systems and Computer Structure - </a:t>
            </a:r>
            <a:r>
              <a:rPr lang="en-US" dirty="0" err="1"/>
              <a:t>SystemVerilog</a:t>
            </a:r>
            <a:r>
              <a:rPr lang="en-US" dirty="0"/>
              <a:t> HDL Workshop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8C9A2D-5C9D-4588-9D95-E22E83E69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48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77C256-2D46-4364-90B5-36E57C9F73B5}"/>
              </a:ext>
            </a:extLst>
          </p:cNvPr>
          <p:cNvSpPr txBox="1"/>
          <p:nvPr/>
        </p:nvSpPr>
        <p:spPr>
          <a:xfrm>
            <a:off x="282804" y="1974739"/>
            <a:ext cx="5642736" cy="35394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he-IL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he-IL" sz="16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he-IL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he-IL" sz="16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he-IL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current_counter</a:t>
            </a:r>
            <a:r>
              <a:rPr lang="en-US" sz="1600" b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60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he-IL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always_ff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@(</a:t>
            </a:r>
            <a:r>
              <a:rPr lang="en-US" sz="16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posedge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clk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posedge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rst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</a:p>
          <a:p>
            <a:pPr lvl="1"/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rst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1'b1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	current_counter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&lt;=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4'b0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current_counter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&lt;=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next_counter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he-IL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always_comb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next_counter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current_counter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he-I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9" name="Group 5">
            <a:extLst>
              <a:ext uri="{FF2B5EF4-FFF2-40B4-BE49-F238E27FC236}">
                <a16:creationId xmlns:a16="http://schemas.microsoft.com/office/drawing/2014/main" id="{DCA77159-539A-4A56-BB89-F943CDD1F229}"/>
              </a:ext>
            </a:extLst>
          </p:cNvPr>
          <p:cNvGrpSpPr>
            <a:grpSpLocks/>
          </p:cNvGrpSpPr>
          <p:nvPr/>
        </p:nvGrpSpPr>
        <p:grpSpPr bwMode="auto">
          <a:xfrm>
            <a:off x="6494304" y="5187648"/>
            <a:ext cx="1371600" cy="838200"/>
            <a:chOff x="3168" y="1776"/>
            <a:chExt cx="864" cy="528"/>
          </a:xfrm>
        </p:grpSpPr>
        <p:sp>
          <p:nvSpPr>
            <p:cNvPr id="17" name="Rectangle 6">
              <a:extLst>
                <a:ext uri="{FF2B5EF4-FFF2-40B4-BE49-F238E27FC236}">
                  <a16:creationId xmlns:a16="http://schemas.microsoft.com/office/drawing/2014/main" id="{3E5C62C1-5951-4BA0-BCCF-B0F939C7BD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1776"/>
              <a:ext cx="384" cy="52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 dirty="0"/>
            </a:p>
          </p:txBody>
        </p:sp>
        <p:sp>
          <p:nvSpPr>
            <p:cNvPr id="18" name="Line 7">
              <a:extLst>
                <a:ext uri="{FF2B5EF4-FFF2-40B4-BE49-F238E27FC236}">
                  <a16:creationId xmlns:a16="http://schemas.microsoft.com/office/drawing/2014/main" id="{7E5EE8C6-0BD1-4F31-9B50-4D312E4A95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52" y="2208"/>
              <a:ext cx="48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9" name="Line 8">
              <a:extLst>
                <a:ext uri="{FF2B5EF4-FFF2-40B4-BE49-F238E27FC236}">
                  <a16:creationId xmlns:a16="http://schemas.microsoft.com/office/drawing/2014/main" id="{B50FB637-2D58-46CA-9650-BBD8137916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600" y="2208"/>
              <a:ext cx="48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0" name="Line 9">
              <a:extLst>
                <a:ext uri="{FF2B5EF4-FFF2-40B4-BE49-F238E27FC236}">
                  <a16:creationId xmlns:a16="http://schemas.microsoft.com/office/drawing/2014/main" id="{F6A6CFF1-5045-4575-A55E-62464D2C51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2016"/>
              <a:ext cx="2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1" name="Line 10">
              <a:extLst>
                <a:ext uri="{FF2B5EF4-FFF2-40B4-BE49-F238E27FC236}">
                  <a16:creationId xmlns:a16="http://schemas.microsoft.com/office/drawing/2014/main" id="{55D2682A-969E-4BCB-AE23-9CADA1343C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2016"/>
              <a:ext cx="2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10" name="Text Box 11">
            <a:extLst>
              <a:ext uri="{FF2B5EF4-FFF2-40B4-BE49-F238E27FC236}">
                <a16:creationId xmlns:a16="http://schemas.microsoft.com/office/drawing/2014/main" id="{D92241F2-F4C4-4EDC-A147-11257D81EB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43199" y="5504116"/>
            <a:ext cx="174393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/>
              <a:t>current_counter</a:t>
            </a:r>
          </a:p>
        </p:txBody>
      </p:sp>
      <p:sp>
        <p:nvSpPr>
          <p:cNvPr id="11" name="Line 27">
            <a:extLst>
              <a:ext uri="{FF2B5EF4-FFF2-40B4-BE49-F238E27FC236}">
                <a16:creationId xmlns:a16="http://schemas.microsoft.com/office/drawing/2014/main" id="{CE241BDD-2CF3-47F4-B59C-89293411A916}"/>
              </a:ext>
            </a:extLst>
          </p:cNvPr>
          <p:cNvSpPr>
            <a:spLocks noChangeShapeType="1"/>
          </p:cNvSpPr>
          <p:nvPr/>
        </p:nvSpPr>
        <p:spPr bwMode="auto">
          <a:xfrm>
            <a:off x="6494304" y="6330648"/>
            <a:ext cx="698369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en-US"/>
          </a:p>
        </p:txBody>
      </p:sp>
      <p:sp>
        <p:nvSpPr>
          <p:cNvPr id="12" name="Line 28">
            <a:extLst>
              <a:ext uri="{FF2B5EF4-FFF2-40B4-BE49-F238E27FC236}">
                <a16:creationId xmlns:a16="http://schemas.microsoft.com/office/drawing/2014/main" id="{8F11C0E6-848F-40CC-B941-FAFF2574742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80104" y="6025848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" name="Text Box 31">
            <a:extLst>
              <a:ext uri="{FF2B5EF4-FFF2-40B4-BE49-F238E27FC236}">
                <a16:creationId xmlns:a16="http://schemas.microsoft.com/office/drawing/2014/main" id="{3CC48AD3-0B47-4EA5-9417-CDD73125AC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0904" y="6102048"/>
            <a:ext cx="4667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/>
              <a:t>clk</a:t>
            </a:r>
          </a:p>
        </p:txBody>
      </p:sp>
      <p:grpSp>
        <p:nvGrpSpPr>
          <p:cNvPr id="14" name="Group 34">
            <a:extLst>
              <a:ext uri="{FF2B5EF4-FFF2-40B4-BE49-F238E27FC236}">
                <a16:creationId xmlns:a16="http://schemas.microsoft.com/office/drawing/2014/main" id="{1810634D-3494-4FB3-89DD-233B6C3BF353}"/>
              </a:ext>
            </a:extLst>
          </p:cNvPr>
          <p:cNvGrpSpPr>
            <a:grpSpLocks/>
          </p:cNvGrpSpPr>
          <p:nvPr/>
        </p:nvGrpSpPr>
        <p:grpSpPr bwMode="auto">
          <a:xfrm>
            <a:off x="5495770" y="5532141"/>
            <a:ext cx="1439865" cy="369888"/>
            <a:chOff x="1627" y="2857"/>
            <a:chExt cx="907" cy="233"/>
          </a:xfrm>
        </p:grpSpPr>
        <p:sp>
          <p:nvSpPr>
            <p:cNvPr id="15" name="Line 35">
              <a:extLst>
                <a:ext uri="{FF2B5EF4-FFF2-40B4-BE49-F238E27FC236}">
                  <a16:creationId xmlns:a16="http://schemas.microsoft.com/office/drawing/2014/main" id="{E7BB49E0-9D47-4F43-8854-DBDB2354E7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2880"/>
              <a:ext cx="240" cy="0"/>
            </a:xfrm>
            <a:prstGeom prst="line">
              <a:avLst/>
            </a:prstGeom>
            <a:noFill/>
            <a:ln w="1270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6" name="Text Box 36">
              <a:extLst>
                <a:ext uri="{FF2B5EF4-FFF2-40B4-BE49-F238E27FC236}">
                  <a16:creationId xmlns:a16="http://schemas.microsoft.com/office/drawing/2014/main" id="{2A11C27C-A038-4263-9F47-D99EDFB7B7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27" y="2857"/>
              <a:ext cx="90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dirty="0"/>
                <a:t>next_counter</a:t>
              </a:r>
            </a:p>
          </p:txBody>
        </p:sp>
      </p:grpSp>
      <p:sp>
        <p:nvSpPr>
          <p:cNvPr id="22" name="Oval 21">
            <a:extLst>
              <a:ext uri="{FF2B5EF4-FFF2-40B4-BE49-F238E27FC236}">
                <a16:creationId xmlns:a16="http://schemas.microsoft.com/office/drawing/2014/main" id="{FCBD9BBE-D276-4674-8425-5D3EDC8C7A81}"/>
              </a:ext>
            </a:extLst>
          </p:cNvPr>
          <p:cNvSpPr/>
          <p:nvPr/>
        </p:nvSpPr>
        <p:spPr>
          <a:xfrm>
            <a:off x="6780054" y="4120535"/>
            <a:ext cx="800100" cy="72405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800" dirty="0"/>
              <a:t>+1</a:t>
            </a:r>
            <a:endParaRPr lang="he-IL" sz="2800" dirty="0"/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F950F922-C71E-4649-80B8-D68B06D906BD}"/>
              </a:ext>
            </a:extLst>
          </p:cNvPr>
          <p:cNvCxnSpPr>
            <a:cxnSpLocks/>
          </p:cNvCxnSpPr>
          <p:nvPr/>
        </p:nvCxnSpPr>
        <p:spPr>
          <a:xfrm rot="16200000" flipV="1">
            <a:off x="7140737" y="4885693"/>
            <a:ext cx="1124184" cy="282575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2B7A024B-44EE-41D8-B9ED-6E14B051C3A3}"/>
              </a:ext>
            </a:extLst>
          </p:cNvPr>
          <p:cNvCxnSpPr>
            <a:cxnSpLocks/>
            <a:stCxn id="22" idx="2"/>
            <a:endCxn id="15" idx="0"/>
          </p:cNvCxnSpPr>
          <p:nvPr/>
        </p:nvCxnSpPr>
        <p:spPr>
          <a:xfrm rot="10800000" flipV="1">
            <a:off x="6189504" y="4482564"/>
            <a:ext cx="590550" cy="1086084"/>
          </a:xfrm>
          <a:prstGeom prst="bentConnector4">
            <a:avLst>
              <a:gd name="adj1" fmla="val 17742"/>
              <a:gd name="adj2" fmla="val 40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845716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84A57-02F6-448E-854D-904FFB275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Example: Simple Counter</a:t>
            </a:r>
            <a:endParaRPr lang="he-I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D2FFFD-51B7-458B-930B-9D7130F34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8C9A2D-5C9D-4588-9D95-E22E83E69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49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77C256-2D46-4364-90B5-36E57C9F73B5}"/>
              </a:ext>
            </a:extLst>
          </p:cNvPr>
          <p:cNvSpPr txBox="1"/>
          <p:nvPr/>
        </p:nvSpPr>
        <p:spPr>
          <a:xfrm>
            <a:off x="282804" y="1974739"/>
            <a:ext cx="6033155" cy="25545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he-IL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he-IL" sz="16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he-IL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he-IL" sz="16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he-IL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current_counter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he-IL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always_ff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@(</a:t>
            </a:r>
            <a:r>
              <a:rPr lang="en-US" sz="16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posedge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clk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posedge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rst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</a:p>
          <a:p>
            <a:pPr lvl="1"/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rst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1'b1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	current_counter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&lt;=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4'b0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current_counter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&lt;=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current_counter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26" name="Group 5">
            <a:extLst>
              <a:ext uri="{FF2B5EF4-FFF2-40B4-BE49-F238E27FC236}">
                <a16:creationId xmlns:a16="http://schemas.microsoft.com/office/drawing/2014/main" id="{81A1F0D3-EBBD-49A8-8296-48FBAD22B5B2}"/>
              </a:ext>
            </a:extLst>
          </p:cNvPr>
          <p:cNvGrpSpPr>
            <a:grpSpLocks/>
          </p:cNvGrpSpPr>
          <p:nvPr/>
        </p:nvGrpSpPr>
        <p:grpSpPr bwMode="auto">
          <a:xfrm>
            <a:off x="6494304" y="5263064"/>
            <a:ext cx="1371600" cy="838200"/>
            <a:chOff x="3168" y="1776"/>
            <a:chExt cx="864" cy="528"/>
          </a:xfrm>
        </p:grpSpPr>
        <p:sp>
          <p:nvSpPr>
            <p:cNvPr id="34" name="Rectangle 6">
              <a:extLst>
                <a:ext uri="{FF2B5EF4-FFF2-40B4-BE49-F238E27FC236}">
                  <a16:creationId xmlns:a16="http://schemas.microsoft.com/office/drawing/2014/main" id="{AD64A0FE-8316-46FB-87DB-6A5C674105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1776"/>
              <a:ext cx="384" cy="52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 dirty="0"/>
            </a:p>
          </p:txBody>
        </p:sp>
        <p:sp>
          <p:nvSpPr>
            <p:cNvPr id="35" name="Line 7">
              <a:extLst>
                <a:ext uri="{FF2B5EF4-FFF2-40B4-BE49-F238E27FC236}">
                  <a16:creationId xmlns:a16="http://schemas.microsoft.com/office/drawing/2014/main" id="{FBF7523D-7E43-4EE1-B48D-9AA42E2F9E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52" y="2208"/>
              <a:ext cx="48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6" name="Line 8">
              <a:extLst>
                <a:ext uri="{FF2B5EF4-FFF2-40B4-BE49-F238E27FC236}">
                  <a16:creationId xmlns:a16="http://schemas.microsoft.com/office/drawing/2014/main" id="{FB8B521B-1A95-4B4F-96AF-D0C2CEE1C1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600" y="2208"/>
              <a:ext cx="48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7" name="Line 9">
              <a:extLst>
                <a:ext uri="{FF2B5EF4-FFF2-40B4-BE49-F238E27FC236}">
                  <a16:creationId xmlns:a16="http://schemas.microsoft.com/office/drawing/2014/main" id="{4CEBBFF7-BC3C-41DF-8C82-BC152C37CF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2016"/>
              <a:ext cx="2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8" name="Line 10">
              <a:extLst>
                <a:ext uri="{FF2B5EF4-FFF2-40B4-BE49-F238E27FC236}">
                  <a16:creationId xmlns:a16="http://schemas.microsoft.com/office/drawing/2014/main" id="{0E3A478F-A6C1-499B-B520-21BF7CD688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2016"/>
              <a:ext cx="2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27" name="Text Box 11">
            <a:extLst>
              <a:ext uri="{FF2B5EF4-FFF2-40B4-BE49-F238E27FC236}">
                <a16:creationId xmlns:a16="http://schemas.microsoft.com/office/drawing/2014/main" id="{C776956B-072C-43C6-B871-3297A0B677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43199" y="5579532"/>
            <a:ext cx="174393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/>
              <a:t>current_counter</a:t>
            </a:r>
          </a:p>
        </p:txBody>
      </p:sp>
      <p:sp>
        <p:nvSpPr>
          <p:cNvPr id="28" name="Line 27">
            <a:extLst>
              <a:ext uri="{FF2B5EF4-FFF2-40B4-BE49-F238E27FC236}">
                <a16:creationId xmlns:a16="http://schemas.microsoft.com/office/drawing/2014/main" id="{FA4D41E8-9704-4A84-9D0F-6AFF884E2F7E}"/>
              </a:ext>
            </a:extLst>
          </p:cNvPr>
          <p:cNvSpPr>
            <a:spLocks noChangeShapeType="1"/>
          </p:cNvSpPr>
          <p:nvPr/>
        </p:nvSpPr>
        <p:spPr bwMode="auto">
          <a:xfrm>
            <a:off x="6494304" y="6406064"/>
            <a:ext cx="698369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en-US"/>
          </a:p>
        </p:txBody>
      </p:sp>
      <p:sp>
        <p:nvSpPr>
          <p:cNvPr id="29" name="Line 28">
            <a:extLst>
              <a:ext uri="{FF2B5EF4-FFF2-40B4-BE49-F238E27FC236}">
                <a16:creationId xmlns:a16="http://schemas.microsoft.com/office/drawing/2014/main" id="{06089AA9-1B43-423A-96F2-6943BC7B6AA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80104" y="6101264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0" name="Text Box 31">
            <a:extLst>
              <a:ext uri="{FF2B5EF4-FFF2-40B4-BE49-F238E27FC236}">
                <a16:creationId xmlns:a16="http://schemas.microsoft.com/office/drawing/2014/main" id="{4855BF25-63C7-475A-A554-7719FDC2CF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0904" y="6177464"/>
            <a:ext cx="4667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/>
              <a:t>clk</a:t>
            </a:r>
          </a:p>
        </p:txBody>
      </p:sp>
      <p:sp>
        <p:nvSpPr>
          <p:cNvPr id="32" name="Line 35">
            <a:extLst>
              <a:ext uri="{FF2B5EF4-FFF2-40B4-BE49-F238E27FC236}">
                <a16:creationId xmlns:a16="http://schemas.microsoft.com/office/drawing/2014/main" id="{9D3BD719-B205-46E3-90F8-7AA71350CEE6}"/>
              </a:ext>
            </a:extLst>
          </p:cNvPr>
          <p:cNvSpPr>
            <a:spLocks noChangeShapeType="1"/>
          </p:cNvSpPr>
          <p:nvPr/>
        </p:nvSpPr>
        <p:spPr bwMode="auto">
          <a:xfrm>
            <a:off x="6189509" y="5644070"/>
            <a:ext cx="381001" cy="0"/>
          </a:xfrm>
          <a:prstGeom prst="line">
            <a:avLst/>
          </a:prstGeom>
          <a:noFill/>
          <a:ln w="127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5814E60E-D05B-4AF3-BB37-2AB8C445B67A}"/>
              </a:ext>
            </a:extLst>
          </p:cNvPr>
          <p:cNvSpPr/>
          <p:nvPr/>
        </p:nvSpPr>
        <p:spPr>
          <a:xfrm>
            <a:off x="6780054" y="4195951"/>
            <a:ext cx="800100" cy="72405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800" dirty="0"/>
              <a:t>+1</a:t>
            </a:r>
            <a:endParaRPr lang="he-IL" sz="2800" dirty="0"/>
          </a:p>
        </p:txBody>
      </p: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4EBCDEFA-4C75-4F12-8826-71F029062AF4}"/>
              </a:ext>
            </a:extLst>
          </p:cNvPr>
          <p:cNvCxnSpPr>
            <a:cxnSpLocks/>
          </p:cNvCxnSpPr>
          <p:nvPr/>
        </p:nvCxnSpPr>
        <p:spPr>
          <a:xfrm rot="16200000" flipV="1">
            <a:off x="7140737" y="4961109"/>
            <a:ext cx="1124184" cy="282575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AA8BCDEF-D80F-4B27-AC04-C1D4C27F8022}"/>
              </a:ext>
            </a:extLst>
          </p:cNvPr>
          <p:cNvCxnSpPr>
            <a:cxnSpLocks/>
            <a:stCxn id="39" idx="2"/>
            <a:endCxn id="32" idx="0"/>
          </p:cNvCxnSpPr>
          <p:nvPr/>
        </p:nvCxnSpPr>
        <p:spPr>
          <a:xfrm rot="10800000" flipV="1">
            <a:off x="6189504" y="4557980"/>
            <a:ext cx="590550" cy="1086084"/>
          </a:xfrm>
          <a:prstGeom prst="bentConnector4">
            <a:avLst>
              <a:gd name="adj1" fmla="val 17742"/>
              <a:gd name="adj2" fmla="val 40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635684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C0ED1A-108C-4A9C-9554-DDC0C2113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44B447-6088-43D1-8D0F-A84612EA8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50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185547-2CCC-4AA7-AC2A-103A6C25464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2924"/>
          <a:stretch/>
        </p:blipFill>
        <p:spPr>
          <a:xfrm>
            <a:off x="319301" y="777811"/>
            <a:ext cx="8279939" cy="5656545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5D0B22DD-A048-4F7E-9D51-0B323EA81B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7172" y="-247271"/>
            <a:ext cx="9982899" cy="1325563"/>
          </a:xfrm>
        </p:spPr>
        <p:txBody>
          <a:bodyPr/>
          <a:lstStyle/>
          <a:p>
            <a:r>
              <a:rPr lang="en-US" altLang="en-US" b="1" dirty="0"/>
              <a:t>A Question From an Exam (Spring '19)</a:t>
            </a:r>
          </a:p>
        </p:txBody>
      </p:sp>
    </p:spTree>
    <p:extLst>
      <p:ext uri="{BB962C8B-B14F-4D97-AF65-F5344CB8AC3E}">
        <p14:creationId xmlns:p14="http://schemas.microsoft.com/office/powerpoint/2010/main" val="93769236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C0ED1A-108C-4A9C-9554-DDC0C2113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44B447-6088-43D1-8D0F-A84612EA8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51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B3B2A2-16D6-44C0-B5FE-D53A214AAE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358" y="-5799165"/>
            <a:ext cx="8279939" cy="12015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33582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32C7D-15B9-484D-A47F-2DEB6FB8F9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017015"/>
            <a:ext cx="7772400" cy="934695"/>
          </a:xfrm>
        </p:spPr>
        <p:txBody>
          <a:bodyPr/>
          <a:lstStyle/>
          <a:p>
            <a:r>
              <a:rPr lang="en-US" dirty="0"/>
              <a:t>Questions?</a:t>
            </a:r>
            <a:endParaRPr lang="he-I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66A771-0480-40AF-8FD9-BC21348EF1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e-IL"/>
          </a:p>
        </p:txBody>
      </p:sp>
      <p:pic>
        <p:nvPicPr>
          <p:cNvPr id="4098" name="Picture 2" descr="Image result for android nandroid">
            <a:extLst>
              <a:ext uri="{FF2B5EF4-FFF2-40B4-BE49-F238E27FC236}">
                <a16:creationId xmlns:a16="http://schemas.microsoft.com/office/drawing/2014/main" id="{B14AAFC5-1D3B-4285-A434-66CAC015D7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316163"/>
            <a:ext cx="9144000" cy="4219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638453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pPr eaLnBrk="1" hangingPunct="1"/>
            <a:r>
              <a:rPr lang="en-US" altLang="en-US" dirty="0"/>
              <a:t>Workshop #3 Cheat Sheet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8650" y="1429698"/>
            <a:ext cx="7886700" cy="4556323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altLang="zh-TW" sz="2800" dirty="0">
                <a:ea typeface="新細明體" pitchFamily="18" charset="-120"/>
              </a:rPr>
              <a:t>Logical operators: &amp;&amp;, ||, !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800" dirty="0">
                <a:ea typeface="新細明體" pitchFamily="18" charset="-120"/>
              </a:rPr>
              <a:t>Relational operators: &gt;, &gt;=, &lt;, &lt;=, ==, !=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/>
              <a:t>i</a:t>
            </a:r>
            <a:r>
              <a:rPr lang="en-US" altLang="en-US" sz="2800" dirty="0"/>
              <a:t>f statement: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71F9015D-2E86-4A98-A269-2CCB378563ED}" type="slidenum">
              <a:rPr lang="en-US" smtClean="0"/>
              <a:t>53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428302-6F12-4798-9F82-EBBD6726D7E2}"/>
              </a:ext>
            </a:extLst>
          </p:cNvPr>
          <p:cNvSpPr txBox="1"/>
          <p:nvPr/>
        </p:nvSpPr>
        <p:spPr>
          <a:xfrm>
            <a:off x="911456" y="2856250"/>
            <a:ext cx="6271770" cy="28931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condition1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 &lt;statement1&gt;;</a:t>
            </a:r>
          </a:p>
          <a:p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condition2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 &lt;statement2&gt;;</a:t>
            </a:r>
          </a:p>
          <a:p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 &lt;statement3&gt;;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 &lt;statement4&gt;;</a:t>
            </a:r>
          </a:p>
          <a:p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14893563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pPr eaLnBrk="1" hangingPunct="1"/>
            <a:r>
              <a:rPr lang="en-US" altLang="en-US" dirty="0"/>
              <a:t>Workshop #3 Cheat Sheet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8650" y="1429698"/>
            <a:ext cx="7886700" cy="4926653"/>
          </a:xfrm>
        </p:spPr>
        <p:txBody>
          <a:bodyPr>
            <a:normAutofit fontScale="92500"/>
          </a:bodyPr>
          <a:lstStyle/>
          <a:p>
            <a:pPr>
              <a:lnSpc>
                <a:spcPct val="80000"/>
              </a:lnSpc>
            </a:pPr>
            <a:r>
              <a:rPr lang="en-US" altLang="en-US" sz="2800" dirty="0"/>
              <a:t>case statement:</a:t>
            </a:r>
          </a:p>
          <a:p>
            <a:pPr>
              <a:lnSpc>
                <a:spcPct val="80000"/>
              </a:lnSpc>
            </a:pPr>
            <a:endParaRPr lang="en-US" altLang="en-US" dirty="0"/>
          </a:p>
          <a:p>
            <a:pPr>
              <a:lnSpc>
                <a:spcPct val="80000"/>
              </a:lnSpc>
            </a:pPr>
            <a:endParaRPr lang="en-US" altLang="en-US" sz="2800" dirty="0"/>
          </a:p>
          <a:p>
            <a:pPr>
              <a:lnSpc>
                <a:spcPct val="80000"/>
              </a:lnSpc>
            </a:pPr>
            <a:endParaRPr lang="en-US" altLang="en-US" dirty="0"/>
          </a:p>
          <a:p>
            <a:pPr>
              <a:lnSpc>
                <a:spcPct val="80000"/>
              </a:lnSpc>
            </a:pPr>
            <a:endParaRPr lang="en-US" altLang="en-US" sz="2800" dirty="0"/>
          </a:p>
          <a:p>
            <a:pPr>
              <a:lnSpc>
                <a:spcPct val="80000"/>
              </a:lnSpc>
            </a:pPr>
            <a:endParaRPr lang="en-US" altLang="en-US" dirty="0"/>
          </a:p>
          <a:p>
            <a:pPr>
              <a:lnSpc>
                <a:spcPct val="80000"/>
              </a:lnSpc>
            </a:pPr>
            <a:endParaRPr lang="en-US" altLang="en-US" sz="2800" dirty="0"/>
          </a:p>
          <a:p>
            <a:pPr>
              <a:lnSpc>
                <a:spcPct val="80000"/>
              </a:lnSpc>
            </a:pPr>
            <a:endParaRPr lang="en-US" altLang="en-US" dirty="0"/>
          </a:p>
          <a:p>
            <a:pPr>
              <a:lnSpc>
                <a:spcPct val="80000"/>
              </a:lnSpc>
            </a:pPr>
            <a:endParaRPr lang="en-US" altLang="en-US" dirty="0"/>
          </a:p>
          <a:p>
            <a:pPr>
              <a:lnSpc>
                <a:spcPct val="80000"/>
              </a:lnSpc>
            </a:pPr>
            <a:r>
              <a:rPr lang="en-US" altLang="en-US" dirty="0" err="1"/>
              <a:t>casez</a:t>
            </a:r>
            <a:r>
              <a:rPr lang="en-US" altLang="en-US" dirty="0"/>
              <a:t>: ? and z are considered as don’t cares [0,1,z]</a:t>
            </a:r>
          </a:p>
          <a:p>
            <a:pPr>
              <a:lnSpc>
                <a:spcPct val="80000"/>
              </a:lnSpc>
            </a:pPr>
            <a:r>
              <a:rPr lang="en-US" altLang="en-US" dirty="0" err="1"/>
              <a:t>casex</a:t>
            </a:r>
            <a:r>
              <a:rPr lang="en-US" altLang="en-US" dirty="0"/>
              <a:t>: ?, z and x are considered as don’t cares [0,1,z,x]</a:t>
            </a:r>
          </a:p>
          <a:p>
            <a:pPr>
              <a:lnSpc>
                <a:spcPct val="80000"/>
              </a:lnSpc>
            </a:pPr>
            <a:endParaRPr lang="en-US" altLang="en-US" sz="28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71F9015D-2E86-4A98-A269-2CCB378563ED}" type="slidenum">
              <a:rPr lang="en-US" smtClean="0"/>
              <a:t>54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0327E6-51F5-4A6E-A9BC-CBFDB2A10379}"/>
              </a:ext>
            </a:extLst>
          </p:cNvPr>
          <p:cNvSpPr txBox="1"/>
          <p:nvPr/>
        </p:nvSpPr>
        <p:spPr>
          <a:xfrm>
            <a:off x="949162" y="1818658"/>
            <a:ext cx="6271770" cy="3416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&lt;signal/expression&gt;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&lt;value1&gt;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 </a:t>
            </a:r>
          </a:p>
          <a:p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&lt;statement1&gt;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&lt;value2&gt;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 </a:t>
            </a:r>
          </a:p>
          <a:p>
            <a:pPr lvl="1"/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&lt;statement2&gt;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1"/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&lt;statement3&gt;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1"/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default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 </a:t>
            </a:r>
          </a:p>
          <a:p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&lt;statement4&gt;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endcase</a:t>
            </a:r>
            <a:endParaRPr lang="he-I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840696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pPr eaLnBrk="1" hangingPunct="1"/>
            <a:r>
              <a:rPr lang="en-US" altLang="en-US" dirty="0"/>
              <a:t>Workshop #3 Cheat Sheet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8650" y="1429698"/>
            <a:ext cx="7886700" cy="4926653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altLang="en-US" dirty="0" err="1"/>
              <a:t>always_ff</a:t>
            </a:r>
            <a:r>
              <a:rPr lang="en-US" altLang="en-US" dirty="0"/>
              <a:t> statement:</a:t>
            </a:r>
          </a:p>
          <a:p>
            <a:pPr>
              <a:lnSpc>
                <a:spcPct val="80000"/>
              </a:lnSpc>
            </a:pPr>
            <a:endParaRPr lang="en-US" altLang="en-US" dirty="0"/>
          </a:p>
          <a:p>
            <a:pPr>
              <a:lnSpc>
                <a:spcPct val="80000"/>
              </a:lnSpc>
            </a:pPr>
            <a:endParaRPr lang="en-US" altLang="en-US" dirty="0"/>
          </a:p>
          <a:p>
            <a:pPr>
              <a:lnSpc>
                <a:spcPct val="80000"/>
              </a:lnSpc>
            </a:pPr>
            <a:endParaRPr lang="en-US" altLang="en-US" dirty="0"/>
          </a:p>
          <a:p>
            <a:pPr>
              <a:lnSpc>
                <a:spcPct val="80000"/>
              </a:lnSpc>
            </a:pPr>
            <a:r>
              <a:rPr lang="en-US" altLang="en-US" dirty="0" err="1"/>
              <a:t>always_ff</a:t>
            </a:r>
            <a:r>
              <a:rPr lang="en-US" altLang="en-US" dirty="0"/>
              <a:t> with reset: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en-US" dirty="0"/>
              <a:t>Async. Reset:                                   Sync. Reset:</a:t>
            </a:r>
            <a:endParaRPr lang="en-US" altLang="en-US" sz="28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71F9015D-2E86-4A98-A269-2CCB378563ED}" type="slidenum">
              <a:rPr lang="en-US" smtClean="0"/>
              <a:t>55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C4D55C-39A6-4C27-99CB-331228F6B016}"/>
              </a:ext>
            </a:extLst>
          </p:cNvPr>
          <p:cNvSpPr txBox="1"/>
          <p:nvPr/>
        </p:nvSpPr>
        <p:spPr>
          <a:xfrm>
            <a:off x="901732" y="1916604"/>
            <a:ext cx="3487917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en-US" sz="14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always_ff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@(</a:t>
            </a:r>
            <a:r>
              <a:rPr lang="en-US" sz="14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posedge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clk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 &lt;sync statement1&gt;;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 &lt;sync statement2&gt;;</a:t>
            </a:r>
            <a:r>
              <a:rPr lang="he-IL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he-I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373A52-4F40-48A7-B147-B69EB07C46A1}"/>
              </a:ext>
            </a:extLst>
          </p:cNvPr>
          <p:cNvSpPr txBox="1"/>
          <p:nvPr/>
        </p:nvSpPr>
        <p:spPr>
          <a:xfrm>
            <a:off x="5169134" y="4207319"/>
            <a:ext cx="3615092" cy="18158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en-US" sz="14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always_ff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@(</a:t>
            </a:r>
            <a:r>
              <a:rPr lang="en-US" sz="14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posedge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clk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if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rst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1'b1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	 &lt;reset statement1&gt;;</a:t>
            </a:r>
          </a:p>
          <a:p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 end</a:t>
            </a:r>
          </a:p>
          <a:p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 else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	 &lt;sync statement2&gt;;</a:t>
            </a:r>
          </a:p>
          <a:p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 end</a:t>
            </a:r>
            <a:r>
              <a:rPr lang="he-IL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he-I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A7BDB6-3CE9-454B-8C7E-653F90FA5E6C}"/>
              </a:ext>
            </a:extLst>
          </p:cNvPr>
          <p:cNvSpPr txBox="1"/>
          <p:nvPr/>
        </p:nvSpPr>
        <p:spPr>
          <a:xfrm>
            <a:off x="154070" y="4207319"/>
            <a:ext cx="4831388" cy="18158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en-US" sz="14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always_ff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@(</a:t>
            </a:r>
            <a:r>
              <a:rPr lang="en-US" sz="14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posedge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clk, </a:t>
            </a:r>
            <a:r>
              <a:rPr lang="en-US" sz="14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posedge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rst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if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rst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1'b1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	 &lt;reset statement1&gt;;</a:t>
            </a:r>
          </a:p>
          <a:p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 end</a:t>
            </a:r>
          </a:p>
          <a:p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 else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	 &lt;sync statement2&gt;;</a:t>
            </a:r>
          </a:p>
          <a:p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 end</a:t>
            </a:r>
            <a:r>
              <a:rPr lang="he-IL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he-I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2923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pPr eaLnBrk="1" hangingPunct="1"/>
            <a:r>
              <a:rPr lang="en-US" altLang="en-US" dirty="0"/>
              <a:t>Workshop #3 Cheat Sheet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8650" y="1429698"/>
            <a:ext cx="7886700" cy="4926653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altLang="en-US" dirty="0"/>
              <a:t>Generating a clock signal:</a:t>
            </a:r>
          </a:p>
          <a:p>
            <a:pPr>
              <a:lnSpc>
                <a:spcPct val="80000"/>
              </a:lnSpc>
            </a:pPr>
            <a:endParaRPr lang="en-US" altLang="en-US" dirty="0"/>
          </a:p>
          <a:p>
            <a:pPr>
              <a:lnSpc>
                <a:spcPct val="80000"/>
              </a:lnSpc>
            </a:pPr>
            <a:endParaRPr lang="en-US" altLang="en-US" dirty="0"/>
          </a:p>
          <a:p>
            <a:pPr>
              <a:lnSpc>
                <a:spcPct val="80000"/>
              </a:lnSpc>
            </a:pPr>
            <a:endParaRPr lang="en-US" altLang="en-US" dirty="0"/>
          </a:p>
          <a:p>
            <a:pPr>
              <a:lnSpc>
                <a:spcPct val="80000"/>
              </a:lnSpc>
            </a:pPr>
            <a:endParaRPr lang="en-US" altLang="en-US" dirty="0"/>
          </a:p>
          <a:p>
            <a:pPr>
              <a:lnSpc>
                <a:spcPct val="80000"/>
              </a:lnSpc>
            </a:pPr>
            <a:endParaRPr lang="en-US" altLang="en-US" dirty="0"/>
          </a:p>
          <a:p>
            <a:pPr>
              <a:lnSpc>
                <a:spcPct val="80000"/>
              </a:lnSpc>
            </a:pPr>
            <a:endParaRPr lang="en-US" altLang="en-US" dirty="0"/>
          </a:p>
          <a:p>
            <a:pPr>
              <a:lnSpc>
                <a:spcPct val="80000"/>
              </a:lnSpc>
            </a:pPr>
            <a:r>
              <a:rPr lang="en-US" altLang="en-US" dirty="0"/>
              <a:t>r</a:t>
            </a:r>
            <a:r>
              <a:rPr lang="en-US" altLang="en-US" sz="2800" dirty="0"/>
              <a:t>epeat loop: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71F9015D-2E86-4A98-A269-2CCB378563ED}" type="slidenum">
              <a:rPr lang="en-US" smtClean="0"/>
              <a:t>56</a:t>
            </a:fld>
            <a:endParaRPr lang="en-US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E98B78B1-D68E-47C8-9DF3-6E916ADE970D}"/>
              </a:ext>
            </a:extLst>
          </p:cNvPr>
          <p:cNvSpPr txBox="1">
            <a:spLocks noChangeArrowheads="1"/>
          </p:cNvSpPr>
          <p:nvPr/>
        </p:nvSpPr>
        <p:spPr>
          <a:xfrm>
            <a:off x="930307" y="5071353"/>
            <a:ext cx="6373993" cy="132270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7000"/>
              </a:lnSpc>
              <a:buNone/>
            </a:pPr>
            <a:r>
              <a:rPr lang="en-US" sz="20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repeat</a:t>
            </a:r>
            <a:r>
              <a:rPr lang="en-US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</a:t>
            </a:r>
            <a:r>
              <a:rPr lang="en-US" sz="2000" dirty="0" err="1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num_of_times</a:t>
            </a:r>
            <a:r>
              <a:rPr lang="en-US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) </a:t>
            </a:r>
            <a:r>
              <a:rPr lang="en-US" sz="20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begin</a:t>
            </a:r>
            <a:endParaRPr lang="en-US" sz="2000" dirty="0">
              <a:highlight>
                <a:srgbClr val="FFFFFF"/>
              </a:highlight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	</a:t>
            </a:r>
            <a:r>
              <a:rPr lang="en-US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&lt;statement1&gt;;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en-US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	&lt;statement2&gt;;</a:t>
            </a:r>
            <a:endParaRPr lang="en-US" sz="2000" dirty="0">
              <a:highlight>
                <a:srgbClr val="FFFFFF"/>
              </a:highlight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en-US" sz="20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end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lang="en-US" sz="2000" dirty="0">
              <a:highlight>
                <a:srgbClr val="FFFFFF"/>
              </a:highlight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79F4CB7F-B71D-4460-920E-E8C7464DB049}"/>
              </a:ext>
            </a:extLst>
          </p:cNvPr>
          <p:cNvSpPr txBox="1">
            <a:spLocks noChangeArrowheads="1"/>
          </p:cNvSpPr>
          <p:nvPr/>
        </p:nvSpPr>
        <p:spPr>
          <a:xfrm>
            <a:off x="930307" y="1852134"/>
            <a:ext cx="3943350" cy="290844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9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initial</a:t>
            </a:r>
            <a:r>
              <a:rPr lang="en-US" sz="19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9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19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9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Clock </a:t>
            </a:r>
            <a:r>
              <a:rPr lang="en-US" sz="19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9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9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19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9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9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sz="19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he-IL" sz="19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  <a:endParaRPr lang="he-IL" sz="19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9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always</a:t>
            </a:r>
            <a:r>
              <a:rPr lang="en-US" sz="19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9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19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9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9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sz="19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-US" sz="19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Clock </a:t>
            </a:r>
            <a:r>
              <a:rPr lang="en-US" sz="19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9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9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~</a:t>
            </a:r>
            <a:r>
              <a:rPr lang="en-US" sz="19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Clock</a:t>
            </a:r>
            <a:r>
              <a:rPr lang="en-US" sz="19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9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9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altLang="en-US" sz="1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82764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32986</TotalTime>
  <Words>4085</Words>
  <Application>Microsoft Macintosh PowerPoint</Application>
  <PresentationFormat>On-screen Show (4:3)</PresentationFormat>
  <Paragraphs>904</Paragraphs>
  <Slides>56</Slides>
  <Notes>28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8" baseType="lpstr">
      <vt:lpstr>新細明體</vt:lpstr>
      <vt:lpstr>宋体</vt:lpstr>
      <vt:lpstr>Arial</vt:lpstr>
      <vt:lpstr>Calibri</vt:lpstr>
      <vt:lpstr>Calibri Light</vt:lpstr>
      <vt:lpstr>Cambria Math</vt:lpstr>
      <vt:lpstr>Courier</vt:lpstr>
      <vt:lpstr>Courier New</vt:lpstr>
      <vt:lpstr>Symbol</vt:lpstr>
      <vt:lpstr>Wingdings</vt:lpstr>
      <vt:lpstr>Office Theme</vt:lpstr>
      <vt:lpstr>Image</vt:lpstr>
      <vt:lpstr>SystemVerilog HDL Workshop #3</vt:lpstr>
      <vt:lpstr>Topics Covered Last Time</vt:lpstr>
      <vt:lpstr>Topics Covered Last Time</vt:lpstr>
      <vt:lpstr>Module Instantiation - Recap</vt:lpstr>
      <vt:lpstr>Concurrent Assignments - Recap</vt:lpstr>
      <vt:lpstr>Procedural Blocks - Recap</vt:lpstr>
      <vt:lpstr>Agenda</vt:lpstr>
      <vt:lpstr>Agenda</vt:lpstr>
      <vt:lpstr>Relational Operators</vt:lpstr>
      <vt:lpstr>Logical Operators</vt:lpstr>
      <vt:lpstr>Logical Operators</vt:lpstr>
      <vt:lpstr>SystemVerilog Operator Precedence</vt:lpstr>
      <vt:lpstr>Agenda</vt:lpstr>
      <vt:lpstr>Conditional Statements: The if Statement</vt:lpstr>
      <vt:lpstr>Reminder: Mux Implementation</vt:lpstr>
      <vt:lpstr>The if Statement - Example</vt:lpstr>
      <vt:lpstr>Conditional Statements: The case Statement</vt:lpstr>
      <vt:lpstr>The case Statement - Example</vt:lpstr>
      <vt:lpstr>Conditional Statements:  casex, casez</vt:lpstr>
      <vt:lpstr> A Not-To-Do Example</vt:lpstr>
      <vt:lpstr> Complete Assignments</vt:lpstr>
      <vt:lpstr> Complete Assignments: Guidelines</vt:lpstr>
      <vt:lpstr>Agenda</vt:lpstr>
      <vt:lpstr>Flip Flop: Reminder</vt:lpstr>
      <vt:lpstr>The always_ff Statement</vt:lpstr>
      <vt:lpstr>The always_ff Statement (without Reset)</vt:lpstr>
      <vt:lpstr>always_ff Example: Implementing a Flip-Flop</vt:lpstr>
      <vt:lpstr>The always_ff Statement with Reset</vt:lpstr>
      <vt:lpstr>always_ff Example: Implementing a Flip-Flop with Reset</vt:lpstr>
      <vt:lpstr>Assignment in an always_ff Block</vt:lpstr>
      <vt:lpstr>Procedural Assignments</vt:lpstr>
      <vt:lpstr>Example – Non blocking</vt:lpstr>
      <vt:lpstr>Example – Blocking</vt:lpstr>
      <vt:lpstr>Assignment Summary</vt:lpstr>
      <vt:lpstr>Assignment: A Question From an Exam (Winter '18-'19)</vt:lpstr>
      <vt:lpstr>Example: Synchronous and Asynchronous Logic</vt:lpstr>
      <vt:lpstr>Example: Sync. and Async. Logic</vt:lpstr>
      <vt:lpstr>Example: Sync. and Async. Logic: Another Implementation</vt:lpstr>
      <vt:lpstr>Example: Sync. and Async. Logic: Synthesis error</vt:lpstr>
      <vt:lpstr>Example: Sync. and Async. Logic: Synthesis error</vt:lpstr>
      <vt:lpstr>Agenda</vt:lpstr>
      <vt:lpstr>Test Bench: Generating a Clock Signal</vt:lpstr>
      <vt:lpstr>Test Bench: The Repeat Loop</vt:lpstr>
      <vt:lpstr>Example: Sync. and Async. Logic: Another Implementation</vt:lpstr>
      <vt:lpstr>Test Bench: Full Example</vt:lpstr>
      <vt:lpstr>Test Bench: Full Example</vt:lpstr>
      <vt:lpstr>Another Example: Simple Counter</vt:lpstr>
      <vt:lpstr>Another Example: Simple Counter</vt:lpstr>
      <vt:lpstr>Another Example: Simple Counter</vt:lpstr>
      <vt:lpstr>A Question From an Exam (Spring '19)</vt:lpstr>
      <vt:lpstr>PowerPoint Presentation</vt:lpstr>
      <vt:lpstr>Questions?</vt:lpstr>
      <vt:lpstr>Workshop #3 Cheat Sheet</vt:lpstr>
      <vt:lpstr>Workshop #3 Cheat Sheet</vt:lpstr>
      <vt:lpstr>Workshop #3 Cheat Sheet</vt:lpstr>
      <vt:lpstr>Workshop #3 Cheat Sheet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Verilog HDL</dc:title>
  <dc:creator>Nimrod Wald</dc:creator>
  <cp:lastModifiedBy>Dor Malka</cp:lastModifiedBy>
  <cp:revision>526</cp:revision>
  <dcterms:created xsi:type="dcterms:W3CDTF">2017-12-31T12:50:52Z</dcterms:created>
  <dcterms:modified xsi:type="dcterms:W3CDTF">2025-12-16T08:07:08Z</dcterms:modified>
</cp:coreProperties>
</file>