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2" r:id="rId1"/>
  </p:sldMasterIdLst>
  <p:notesMasterIdLst>
    <p:notesMasterId r:id="rId69"/>
  </p:notesMasterIdLst>
  <p:sldIdLst>
    <p:sldId id="256" r:id="rId2"/>
    <p:sldId id="380" r:id="rId3"/>
    <p:sldId id="381" r:id="rId4"/>
    <p:sldId id="322" r:id="rId5"/>
    <p:sldId id="257" r:id="rId6"/>
    <p:sldId id="258" r:id="rId7"/>
    <p:sldId id="259" r:id="rId8"/>
    <p:sldId id="344" r:id="rId9"/>
    <p:sldId id="260" r:id="rId10"/>
    <p:sldId id="261" r:id="rId11"/>
    <p:sldId id="270" r:id="rId12"/>
    <p:sldId id="345" r:id="rId13"/>
    <p:sldId id="367" r:id="rId14"/>
    <p:sldId id="271" r:id="rId15"/>
    <p:sldId id="286" r:id="rId16"/>
    <p:sldId id="287" r:id="rId17"/>
    <p:sldId id="342" r:id="rId18"/>
    <p:sldId id="382" r:id="rId19"/>
    <p:sldId id="368" r:id="rId20"/>
    <p:sldId id="288" r:id="rId21"/>
    <p:sldId id="346" r:id="rId22"/>
    <p:sldId id="293" r:id="rId23"/>
    <p:sldId id="347" r:id="rId24"/>
    <p:sldId id="352" r:id="rId25"/>
    <p:sldId id="353" r:id="rId26"/>
    <p:sldId id="355" r:id="rId27"/>
    <p:sldId id="389" r:id="rId28"/>
    <p:sldId id="356" r:id="rId29"/>
    <p:sldId id="357" r:id="rId30"/>
    <p:sldId id="358" r:id="rId31"/>
    <p:sldId id="302" r:id="rId32"/>
    <p:sldId id="359" r:id="rId33"/>
    <p:sldId id="304" r:id="rId34"/>
    <p:sldId id="366" r:id="rId35"/>
    <p:sldId id="305" r:id="rId36"/>
    <p:sldId id="360" r:id="rId37"/>
    <p:sldId id="361" r:id="rId38"/>
    <p:sldId id="362" r:id="rId39"/>
    <p:sldId id="363" r:id="rId40"/>
    <p:sldId id="310" r:id="rId41"/>
    <p:sldId id="364" r:id="rId42"/>
    <p:sldId id="365" r:id="rId43"/>
    <p:sldId id="312" r:id="rId44"/>
    <p:sldId id="369" r:id="rId45"/>
    <p:sldId id="370" r:id="rId46"/>
    <p:sldId id="371" r:id="rId47"/>
    <p:sldId id="313" r:id="rId48"/>
    <p:sldId id="314" r:id="rId49"/>
    <p:sldId id="315" r:id="rId50"/>
    <p:sldId id="316" r:id="rId51"/>
    <p:sldId id="317" r:id="rId52"/>
    <p:sldId id="318" r:id="rId53"/>
    <p:sldId id="323" r:id="rId54"/>
    <p:sldId id="383" r:id="rId55"/>
    <p:sldId id="372" r:id="rId56"/>
    <p:sldId id="324" r:id="rId57"/>
    <p:sldId id="384" r:id="rId58"/>
    <p:sldId id="373" r:id="rId59"/>
    <p:sldId id="341" r:id="rId60"/>
    <p:sldId id="385" r:id="rId61"/>
    <p:sldId id="374" r:id="rId62"/>
    <p:sldId id="375" r:id="rId63"/>
    <p:sldId id="376" r:id="rId64"/>
    <p:sldId id="386" r:id="rId65"/>
    <p:sldId id="378" r:id="rId66"/>
    <p:sldId id="388" r:id="rId67"/>
    <p:sldId id="387" r:id="rId68"/>
  </p:sldIdLst>
  <p:sldSz cx="9144000" cy="6858000" type="screen4x3"/>
  <p:notesSz cx="6797675" cy="99282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30"/>
    <p:restoredTop sz="85959" autoAdjust="0"/>
  </p:normalViewPr>
  <p:slideViewPr>
    <p:cSldViewPr>
      <p:cViewPr varScale="1">
        <p:scale>
          <a:sx n="104" d="100"/>
          <a:sy n="104" d="100"/>
        </p:scale>
        <p:origin x="2448" y="19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Hanuka" userId="8fcfd652-4ae7-4605-9bfd-5ff0d9da73a0" providerId="ADAL" clId="{E64352B5-F0D7-55D7-BDA8-47CEA1D5C864}"/>
    <pc:docChg chg="custSel modSld">
      <pc:chgData name="Ben Hanuka" userId="8fcfd652-4ae7-4605-9bfd-5ff0d9da73a0" providerId="ADAL" clId="{E64352B5-F0D7-55D7-BDA8-47CEA1D5C864}" dt="2025-12-23T07:09:52.390" v="2107" actId="20577"/>
      <pc:docMkLst>
        <pc:docMk/>
      </pc:docMkLst>
      <pc:sldChg chg="modNotesTx">
        <pc:chgData name="Ben Hanuka" userId="8fcfd652-4ae7-4605-9bfd-5ff0d9da73a0" providerId="ADAL" clId="{E64352B5-F0D7-55D7-BDA8-47CEA1D5C864}" dt="2025-12-23T07:06:35.077" v="2081" actId="20577"/>
        <pc:sldMkLst>
          <pc:docMk/>
          <pc:sldMk cId="0" sldId="257"/>
        </pc:sldMkLst>
      </pc:sldChg>
      <pc:sldChg chg="modNotesTx">
        <pc:chgData name="Ben Hanuka" userId="8fcfd652-4ae7-4605-9bfd-5ff0d9da73a0" providerId="ADAL" clId="{E64352B5-F0D7-55D7-BDA8-47CEA1D5C864}" dt="2025-12-23T07:06:39.029" v="2082" actId="20577"/>
        <pc:sldMkLst>
          <pc:docMk/>
          <pc:sldMk cId="0" sldId="258"/>
        </pc:sldMkLst>
      </pc:sldChg>
      <pc:sldChg chg="modNotesTx">
        <pc:chgData name="Ben Hanuka" userId="8fcfd652-4ae7-4605-9bfd-5ff0d9da73a0" providerId="ADAL" clId="{E64352B5-F0D7-55D7-BDA8-47CEA1D5C864}" dt="2025-12-23T07:06:46.508" v="2083" actId="20577"/>
        <pc:sldMkLst>
          <pc:docMk/>
          <pc:sldMk cId="0" sldId="259"/>
        </pc:sldMkLst>
      </pc:sldChg>
      <pc:sldChg chg="modNotesTx">
        <pc:chgData name="Ben Hanuka" userId="8fcfd652-4ae7-4605-9bfd-5ff0d9da73a0" providerId="ADAL" clId="{E64352B5-F0D7-55D7-BDA8-47CEA1D5C864}" dt="2025-12-23T07:07:07.654" v="2085" actId="20577"/>
        <pc:sldMkLst>
          <pc:docMk/>
          <pc:sldMk cId="0" sldId="260"/>
        </pc:sldMkLst>
      </pc:sldChg>
      <pc:sldChg chg="modNotesTx">
        <pc:chgData name="Ben Hanuka" userId="8fcfd652-4ae7-4605-9bfd-5ff0d9da73a0" providerId="ADAL" clId="{E64352B5-F0D7-55D7-BDA8-47CEA1D5C864}" dt="2025-12-23T07:07:15.458" v="2086" actId="20577"/>
        <pc:sldMkLst>
          <pc:docMk/>
          <pc:sldMk cId="0" sldId="261"/>
        </pc:sldMkLst>
      </pc:sldChg>
      <pc:sldChg chg="modNotesTx">
        <pc:chgData name="Ben Hanuka" userId="8fcfd652-4ae7-4605-9bfd-5ff0d9da73a0" providerId="ADAL" clId="{E64352B5-F0D7-55D7-BDA8-47CEA1D5C864}" dt="2025-12-23T07:07:20.883" v="2087" actId="20577"/>
        <pc:sldMkLst>
          <pc:docMk/>
          <pc:sldMk cId="0" sldId="270"/>
        </pc:sldMkLst>
      </pc:sldChg>
      <pc:sldChg chg="modNotesTx">
        <pc:chgData name="Ben Hanuka" userId="8fcfd652-4ae7-4605-9bfd-5ff0d9da73a0" providerId="ADAL" clId="{E64352B5-F0D7-55D7-BDA8-47CEA1D5C864}" dt="2025-12-23T07:07:29.463" v="2088" actId="20577"/>
        <pc:sldMkLst>
          <pc:docMk/>
          <pc:sldMk cId="0" sldId="271"/>
        </pc:sldMkLst>
      </pc:sldChg>
      <pc:sldChg chg="modNotesTx">
        <pc:chgData name="Ben Hanuka" userId="8fcfd652-4ae7-4605-9bfd-5ff0d9da73a0" providerId="ADAL" clId="{E64352B5-F0D7-55D7-BDA8-47CEA1D5C864}" dt="2025-12-23T07:07:35.480" v="2089" actId="20577"/>
        <pc:sldMkLst>
          <pc:docMk/>
          <pc:sldMk cId="0" sldId="287"/>
        </pc:sldMkLst>
      </pc:sldChg>
      <pc:sldChg chg="modNotesTx">
        <pc:chgData name="Ben Hanuka" userId="8fcfd652-4ae7-4605-9bfd-5ff0d9da73a0" providerId="ADAL" clId="{E64352B5-F0D7-55D7-BDA8-47CEA1D5C864}" dt="2025-12-23T07:07:47.649" v="2091" actId="20577"/>
        <pc:sldMkLst>
          <pc:docMk/>
          <pc:sldMk cId="0" sldId="288"/>
        </pc:sldMkLst>
      </pc:sldChg>
      <pc:sldChg chg="modNotesTx">
        <pc:chgData name="Ben Hanuka" userId="8fcfd652-4ae7-4605-9bfd-5ff0d9da73a0" providerId="ADAL" clId="{E64352B5-F0D7-55D7-BDA8-47CEA1D5C864}" dt="2025-12-23T07:07:55.604" v="2093" actId="20577"/>
        <pc:sldMkLst>
          <pc:docMk/>
          <pc:sldMk cId="0" sldId="293"/>
        </pc:sldMkLst>
      </pc:sldChg>
      <pc:sldChg chg="modNotesTx">
        <pc:chgData name="Ben Hanuka" userId="8fcfd652-4ae7-4605-9bfd-5ff0d9da73a0" providerId="ADAL" clId="{E64352B5-F0D7-55D7-BDA8-47CEA1D5C864}" dt="2025-12-23T07:08:15.956" v="2095" actId="20577"/>
        <pc:sldMkLst>
          <pc:docMk/>
          <pc:sldMk cId="0" sldId="304"/>
        </pc:sldMkLst>
      </pc:sldChg>
      <pc:sldChg chg="modNotesTx">
        <pc:chgData name="Ben Hanuka" userId="8fcfd652-4ae7-4605-9bfd-5ff0d9da73a0" providerId="ADAL" clId="{E64352B5-F0D7-55D7-BDA8-47CEA1D5C864}" dt="2025-12-23T07:08:45.465" v="2099" actId="20577"/>
        <pc:sldMkLst>
          <pc:docMk/>
          <pc:sldMk cId="0" sldId="312"/>
        </pc:sldMkLst>
      </pc:sldChg>
      <pc:sldChg chg="modNotesTx">
        <pc:chgData name="Ben Hanuka" userId="8fcfd652-4ae7-4605-9bfd-5ff0d9da73a0" providerId="ADAL" clId="{E64352B5-F0D7-55D7-BDA8-47CEA1D5C864}" dt="2025-12-23T07:08:55.188" v="2100" actId="20577"/>
        <pc:sldMkLst>
          <pc:docMk/>
          <pc:sldMk cId="0" sldId="313"/>
        </pc:sldMkLst>
      </pc:sldChg>
      <pc:sldChg chg="modAnim modNotesTx">
        <pc:chgData name="Ben Hanuka" userId="8fcfd652-4ae7-4605-9bfd-5ff0d9da73a0" providerId="ADAL" clId="{E64352B5-F0D7-55D7-BDA8-47CEA1D5C864}" dt="2025-12-23T07:09:00.502" v="2101" actId="20577"/>
        <pc:sldMkLst>
          <pc:docMk/>
          <pc:sldMk cId="0" sldId="314"/>
        </pc:sldMkLst>
      </pc:sldChg>
      <pc:sldChg chg="modNotesTx">
        <pc:chgData name="Ben Hanuka" userId="8fcfd652-4ae7-4605-9bfd-5ff0d9da73a0" providerId="ADAL" clId="{E64352B5-F0D7-55D7-BDA8-47CEA1D5C864}" dt="2025-12-23T07:09:05.731" v="2102" actId="20577"/>
        <pc:sldMkLst>
          <pc:docMk/>
          <pc:sldMk cId="0" sldId="315"/>
        </pc:sldMkLst>
      </pc:sldChg>
      <pc:sldChg chg="modNotesTx">
        <pc:chgData name="Ben Hanuka" userId="8fcfd652-4ae7-4605-9bfd-5ff0d9da73a0" providerId="ADAL" clId="{E64352B5-F0D7-55D7-BDA8-47CEA1D5C864}" dt="2025-12-23T07:09:11.222" v="2103" actId="20577"/>
        <pc:sldMkLst>
          <pc:docMk/>
          <pc:sldMk cId="0" sldId="316"/>
        </pc:sldMkLst>
      </pc:sldChg>
      <pc:sldChg chg="modNotesTx">
        <pc:chgData name="Ben Hanuka" userId="8fcfd652-4ae7-4605-9bfd-5ff0d9da73a0" providerId="ADAL" clId="{E64352B5-F0D7-55D7-BDA8-47CEA1D5C864}" dt="2025-12-23T07:09:17.717" v="2104" actId="20577"/>
        <pc:sldMkLst>
          <pc:docMk/>
          <pc:sldMk cId="0" sldId="317"/>
        </pc:sldMkLst>
      </pc:sldChg>
      <pc:sldChg chg="modNotesTx">
        <pc:chgData name="Ben Hanuka" userId="8fcfd652-4ae7-4605-9bfd-5ff0d9da73a0" providerId="ADAL" clId="{E64352B5-F0D7-55D7-BDA8-47CEA1D5C864}" dt="2025-12-23T07:09:22.070" v="2105" actId="20577"/>
        <pc:sldMkLst>
          <pc:docMk/>
          <pc:sldMk cId="0" sldId="318"/>
        </pc:sldMkLst>
      </pc:sldChg>
      <pc:sldChg chg="modNotesTx">
        <pc:chgData name="Ben Hanuka" userId="8fcfd652-4ae7-4605-9bfd-5ff0d9da73a0" providerId="ADAL" clId="{E64352B5-F0D7-55D7-BDA8-47CEA1D5C864}" dt="2025-12-23T07:07:40.293" v="2090" actId="20577"/>
        <pc:sldMkLst>
          <pc:docMk/>
          <pc:sldMk cId="0" sldId="342"/>
        </pc:sldMkLst>
      </pc:sldChg>
      <pc:sldChg chg="modNotesTx">
        <pc:chgData name="Ben Hanuka" userId="8fcfd652-4ae7-4605-9bfd-5ff0d9da73a0" providerId="ADAL" clId="{E64352B5-F0D7-55D7-BDA8-47CEA1D5C864}" dt="2025-12-23T07:07:04.117" v="2084" actId="20577"/>
        <pc:sldMkLst>
          <pc:docMk/>
          <pc:sldMk cId="2130952898" sldId="344"/>
        </pc:sldMkLst>
      </pc:sldChg>
      <pc:sldChg chg="modNotesTx">
        <pc:chgData name="Ben Hanuka" userId="8fcfd652-4ae7-4605-9bfd-5ff0d9da73a0" providerId="ADAL" clId="{E64352B5-F0D7-55D7-BDA8-47CEA1D5C864}" dt="2025-12-23T07:07:52.117" v="2092" actId="20577"/>
        <pc:sldMkLst>
          <pc:docMk/>
          <pc:sldMk cId="2960648736" sldId="346"/>
        </pc:sldMkLst>
      </pc:sldChg>
      <pc:sldChg chg="modNotesTx">
        <pc:chgData name="Ben Hanuka" userId="8fcfd652-4ae7-4605-9bfd-5ff0d9da73a0" providerId="ADAL" clId="{E64352B5-F0D7-55D7-BDA8-47CEA1D5C864}" dt="2025-12-23T07:08:07.685" v="2094" actId="20577"/>
        <pc:sldMkLst>
          <pc:docMk/>
          <pc:sldMk cId="278851821" sldId="358"/>
        </pc:sldMkLst>
      </pc:sldChg>
      <pc:sldChg chg="modNotesTx">
        <pc:chgData name="Ben Hanuka" userId="8fcfd652-4ae7-4605-9bfd-5ff0d9da73a0" providerId="ADAL" clId="{E64352B5-F0D7-55D7-BDA8-47CEA1D5C864}" dt="2025-12-23T07:08:29.556" v="2097" actId="20577"/>
        <pc:sldMkLst>
          <pc:docMk/>
          <pc:sldMk cId="1762052591" sldId="363"/>
        </pc:sldMkLst>
      </pc:sldChg>
      <pc:sldChg chg="modNotesTx">
        <pc:chgData name="Ben Hanuka" userId="8fcfd652-4ae7-4605-9bfd-5ff0d9da73a0" providerId="ADAL" clId="{E64352B5-F0D7-55D7-BDA8-47CEA1D5C864}" dt="2025-12-23T07:08:40.133" v="2098" actId="20577"/>
        <pc:sldMkLst>
          <pc:docMk/>
          <pc:sldMk cId="3374653319" sldId="365"/>
        </pc:sldMkLst>
      </pc:sldChg>
      <pc:sldChg chg="modNotesTx">
        <pc:chgData name="Ben Hanuka" userId="8fcfd652-4ae7-4605-9bfd-5ff0d9da73a0" providerId="ADAL" clId="{E64352B5-F0D7-55D7-BDA8-47CEA1D5C864}" dt="2025-12-23T07:08:20.838" v="2096" actId="20577"/>
        <pc:sldMkLst>
          <pc:docMk/>
          <pc:sldMk cId="3390071349" sldId="366"/>
        </pc:sldMkLst>
      </pc:sldChg>
      <pc:sldChg chg="modNotesTx">
        <pc:chgData name="Ben Hanuka" userId="8fcfd652-4ae7-4605-9bfd-5ff0d9da73a0" providerId="ADAL" clId="{E64352B5-F0D7-55D7-BDA8-47CEA1D5C864}" dt="2025-12-23T07:09:30.831" v="2106" actId="20577"/>
        <pc:sldMkLst>
          <pc:docMk/>
          <pc:sldMk cId="749914655" sldId="372"/>
        </pc:sldMkLst>
      </pc:sldChg>
      <pc:sldChg chg="modNotesTx">
        <pc:chgData name="Ben Hanuka" userId="8fcfd652-4ae7-4605-9bfd-5ff0d9da73a0" providerId="ADAL" clId="{E64352B5-F0D7-55D7-BDA8-47CEA1D5C864}" dt="2025-12-23T07:06:29.620" v="2080" actId="20577"/>
        <pc:sldMkLst>
          <pc:docMk/>
          <pc:sldMk cId="1170634204" sldId="381"/>
        </pc:sldMkLst>
      </pc:sldChg>
      <pc:sldChg chg="modNotesTx">
        <pc:chgData name="Ben Hanuka" userId="8fcfd652-4ae7-4605-9bfd-5ff0d9da73a0" providerId="ADAL" clId="{E64352B5-F0D7-55D7-BDA8-47CEA1D5C864}" dt="2025-12-23T07:09:52.390" v="2107" actId="20577"/>
        <pc:sldMkLst>
          <pc:docMk/>
          <pc:sldMk cId="2192102253" sldId="3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52016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74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eaLnBrk="1" hangingPunct="1">
              <a:defRPr sz="1200"/>
            </a:lvl1pPr>
          </a:lstStyle>
          <a:p>
            <a:pPr>
              <a:defRPr/>
            </a:pPr>
            <a:fld id="{5F432BF0-438C-4689-B00F-237A3F100227}" type="datetimeFigureOut">
              <a:rPr lang="he-IL"/>
              <a:pPr>
                <a:defRPr/>
              </a:pPr>
              <a:t>ג'.טבת.תשפ"ו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lvl="0"/>
            <a:endParaRPr lang="he-IL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he-IL" noProof="0"/>
              <a:t>Click to edit Master text styles</a:t>
            </a:r>
          </a:p>
          <a:p>
            <a:pPr lvl="1"/>
            <a:r>
              <a:rPr lang="en-US" altLang="he-IL" noProof="0"/>
              <a:t>Second level</a:t>
            </a:r>
          </a:p>
          <a:p>
            <a:pPr lvl="2"/>
            <a:r>
              <a:rPr lang="en-US" altLang="he-IL" noProof="0"/>
              <a:t>Third level</a:t>
            </a:r>
          </a:p>
          <a:p>
            <a:pPr lvl="3"/>
            <a:r>
              <a:rPr lang="en-US" altLang="he-IL" noProof="0"/>
              <a:t>Fourth level</a:t>
            </a:r>
          </a:p>
          <a:p>
            <a:pPr lvl="4"/>
            <a:r>
              <a:rPr lang="en-US" altLang="he-IL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52016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74" y="9430091"/>
            <a:ext cx="2945659" cy="496411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fld id="{EC72F734-5A5A-48B6-9ADD-AC44F1F7EAE9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5692301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1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112023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3B33A-3083-4869-B19E-D402D5247EB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917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195B6-2F8D-B70E-E699-BEFC4F3A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371D31-45CC-47DA-4735-3BD4FEB22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7EE64-2B72-A594-6FD6-265F02B98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fontAlgn="base" latinLnBrk="0" hangingPunct="1">
              <a:spcBef>
                <a:spcPct val="30000"/>
              </a:spcBef>
              <a:spcAft>
                <a:spcPct val="0"/>
              </a:spcAft>
            </a:pP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7F82F-E6A5-2DBB-F016-6C503DA92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3B33A-3083-4869-B19E-D402D5247EB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901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3B33A-3083-4869-B19E-D402D5247EB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89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5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49860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6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866492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0" fontAlgn="base" hangingPunct="0">
              <a:spcBef>
                <a:spcPct val="30000"/>
              </a:spcBef>
              <a:spcAft>
                <a:spcPct val="0"/>
              </a:spcAft>
            </a:pP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7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3386867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 eaLnBrk="0" fontAlgn="base" hangingPunct="0">
              <a:spcBef>
                <a:spcPct val="30000"/>
              </a:spcBef>
              <a:spcAft>
                <a:spcPct val="0"/>
              </a:spcAft>
            </a:pP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8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7957687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9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338073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he-I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dirty="0"/>
                  <a:t>כיצד הגענו למימוש הזה?</a:t>
                </a:r>
                <a:r>
                  <a:rPr lang="en-US" dirty="0"/>
                  <a:t> </a:t>
                </a:r>
                <a:endParaRPr lang="he-IL" dirty="0"/>
              </a:p>
              <a:p>
                <a:r>
                  <a:rPr lang="he-IL" dirty="0"/>
                  <a:t>נבדוק בטבלת האמת מה נותר כדי לענות על </a:t>
                </a:r>
                <a:r>
                  <a:rPr lang="en-US" dirty="0"/>
                  <a:t>Cout</a:t>
                </a:r>
                <a:endParaRPr lang="he-IL" dirty="0"/>
              </a:p>
              <a:p>
                <a:endParaRPr lang="he-IL" dirty="0"/>
              </a:p>
              <a:p>
                <a:r>
                  <a:rPr lang="en-US" b="0" i="0">
                    <a:latin typeface="Cambria Math" panose="02040503050406030204" pitchFamily="18" charset="0"/>
                  </a:rPr>
                  <a:t>𝐶_𝑜𝑢𝑡=𝑎𝑏+𝑎𝐶_𝑖𝑛+𝑏𝐶_𝑖𝑛=𝑎𝑏+𝐶_𝑖𝑛 (𝑎+𝑏)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i="0">
                    <a:latin typeface="Cambria Math" panose="02040503050406030204" pitchFamily="18" charset="0"/>
                  </a:rPr>
                  <a:t>=𝑎𝑏+𝐶_𝑖𝑛 (𝑎+𝑏)(𝑎+𝑎 ̅ )(𝑏+𝑏 ̅ )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i="0">
                    <a:latin typeface="Cambria Math" panose="02040503050406030204" pitchFamily="18" charset="0"/>
                  </a:rPr>
                  <a:t>=𝑎𝑏+𝐶_𝑖𝑛 (𝑎+𝑏)(𝑎𝑏+𝑎𝑏 ̅+𝑎 ̅𝑏+𝑎 ̅𝑏 ̅ )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i="0">
                    <a:latin typeface="Cambria Math" panose="02040503050406030204" pitchFamily="18" charset="0"/>
                  </a:rPr>
                  <a:t>=𝑎𝑏+𝐶_𝑖𝑛 (𝑎𝑎𝑏+𝑎𝑎𝑏 ̅+𝑎𝑎 ̅𝑏+𝑎𝑎 ̅𝑏 ̅+𝑏𝑎𝑏+𝑏𝑎𝑏 ̅+𝑏𝑎 ̅𝑏+𝑏𝑎 ̅𝑏 ̅ )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i="0">
                    <a:latin typeface="Cambria Math" panose="02040503050406030204" pitchFamily="18" charset="0"/>
                  </a:rPr>
                  <a:t>=𝑎𝑏+𝐶_𝑖𝑛 (𝑎𝑏+𝑎𝑏 ̅+𝑎𝑏+𝑎 ̅𝑏)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i="0">
                    <a:latin typeface="Cambria Math" panose="02040503050406030204" pitchFamily="18" charset="0"/>
                  </a:rPr>
                  <a:t>=𝑎𝑏+𝐶_𝑖𝑛 𝑎𝑏+𝐶_𝑖𝑛 (𝑎𝑏 ̅+𝑎 ̅𝑏)=𝑎𝑏(𝐶_𝑖𝑛+1)+𝐶_𝑖𝑛 (𝑎⊕𝑏)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i="0">
                    <a:latin typeface="Cambria Math" panose="02040503050406030204" pitchFamily="18" charset="0"/>
                  </a:rPr>
                  <a:t>=𝑎𝑏+𝐶_𝑖𝑛 (𝑎⊕𝑏)</a:t>
                </a:r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he-I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10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8621327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11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068550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12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9125118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FC40E-2FAD-EC54-350F-0C31B8D03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416BF-84D1-E7F0-8C73-76B9BA9C9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12547C-935C-0B80-E534-842F9961F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00892-DC31-8D28-DEA1-3BC8FB2811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13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2007964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14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3645331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0" fontAlgn="base" hangingPunct="0">
              <a:spcBef>
                <a:spcPct val="30000"/>
              </a:spcBef>
              <a:spcAft>
                <a:spcPct val="0"/>
              </a:spcAft>
            </a:pP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15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932645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16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0433818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17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2839266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C08B7-A791-C946-3109-40E23A446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78865D-3BF5-1D56-88CD-3A347EA21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E8CC26-0F74-5481-02CA-C88B8322C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9709B-069D-E520-C12B-B2F817F2BF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18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4203818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5DEDD-3F7E-B623-59FA-3C4A4E68B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3169A2-A017-D7CB-6D1B-6FF248FDA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8FE83E-7E5A-CB76-5040-94DE92FDB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32802-F430-3536-A5ED-9474DC0054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19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6400907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20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4948394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 eaLnBrk="0" fontAlgn="base" hangingPunct="0">
              <a:spcBef>
                <a:spcPct val="30000"/>
              </a:spcBef>
              <a:spcAft>
                <a:spcPct val="0"/>
              </a:spcAft>
            </a:pP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21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8638616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22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5875877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23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9456975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24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0297399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25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9391513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26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6135105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377B0-F990-BA00-D816-09602DC0A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C5EFF5-8131-A7DC-02FA-56B651F9D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E8C218-B16B-FBA6-E6E3-451E7145D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9E693-6659-BA7E-6CBE-6A12FFA68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27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1594131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28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0117539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29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4102029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30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3412740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31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2741952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32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0523332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33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081041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 eaLnBrk="0" fontAlgn="base" hangingPunct="0">
              <a:spcBef>
                <a:spcPct val="30000"/>
              </a:spcBef>
              <a:spcAft>
                <a:spcPct val="0"/>
              </a:spcAft>
            </a:pP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34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335620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35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2639001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36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07009850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37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1409059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38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08070374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39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5325875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40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1882405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41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3149079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42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46364113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43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380524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47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95412231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48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43902297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49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46087646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50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99718644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51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55884249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52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84506818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0" fontAlgn="base" hangingPunct="0">
              <a:spcBef>
                <a:spcPct val="30000"/>
              </a:spcBef>
              <a:spcAft>
                <a:spcPct val="0"/>
              </a:spcAft>
            </a:pP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53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63138031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D5C82-DDC5-0CE5-02D4-EED1DF7FA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44935-5857-45EE-60B8-7299C1885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DB503F-E35E-C01E-6682-A612892B6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0" fontAlgn="base" hangingPunct="0">
              <a:spcBef>
                <a:spcPct val="30000"/>
              </a:spcBef>
              <a:spcAft>
                <a:spcPct val="0"/>
              </a:spcAft>
            </a:pPr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468ED-6FD9-96F1-D776-5D09F5609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54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16314491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55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74288777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56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55579767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E92E6-9019-EB2B-E638-25F96210B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DE19B-B0DD-FA36-07EA-C41C6C4C78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CE5517-49E1-C9D3-E01C-59F8DB09D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3DDE4-8B9B-E492-C022-473963230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57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18656331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59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11392225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FA5D6-EE68-D695-FC19-06F6FC056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42F68-7806-A644-4D11-17C816004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CC0245-263D-1843-5231-EA53B3AD3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B272A-B969-632A-B6EB-CFA195D62D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72F734-5A5A-48B6-9ADD-AC44F1F7EAE9}" type="slidenum">
              <a:rPr lang="he-IL" altLang="he-IL" smtClean="0"/>
              <a:pPr>
                <a:defRPr/>
              </a:pPr>
              <a:t>60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12109173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D4BCF-F96B-1CCC-A419-71DAAFE34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F7DE28-7EAC-98FE-FA57-F886A4486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25C6E-8790-A1FA-6BC0-20DE4000E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C81E3-7CD7-4674-40DC-1662914F60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3B33A-3083-4869-B19E-D402D5247EB1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68659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3B33A-3083-4869-B19E-D402D5247EB1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615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/>
          <p:cNvCxnSpPr/>
          <p:nvPr/>
        </p:nvCxnSpPr>
        <p:spPr>
          <a:xfrm>
            <a:off x="906463" y="4343400"/>
            <a:ext cx="740568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/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9160C-27F6-4EBB-BE55-138B1F91AAC7}" type="datetime1">
              <a:rPr lang="en-US"/>
              <a:pPr>
                <a:defRPr/>
              </a:pPr>
              <a:t>12/23/25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DD96B2-6270-4E0B-A183-FF880D608528}" type="slidenum">
              <a:rPr lang="en-US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464079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4FC8CD-BA25-4747-BCA2-DECD3120E613}" type="datetime1">
              <a:rPr lang="en-US"/>
              <a:pPr>
                <a:defRPr/>
              </a:pPr>
              <a:t>12/23/25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2A3356-D8E6-4574-BA3B-4924C966D0A1}" type="slidenum">
              <a:rPr lang="en-US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343509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/>
          <p:cNvCxnSpPr/>
          <p:nvPr/>
        </p:nvCxnSpPr>
        <p:spPr>
          <a:xfrm>
            <a:off x="906463" y="4343400"/>
            <a:ext cx="740568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Ctr="0"/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65568D-CA0B-4F45-9862-8DFE1CBD85EB}" type="datetime1">
              <a:rPr lang="en-US"/>
              <a:pPr>
                <a:defRPr/>
              </a:pPr>
              <a:t>12/23/25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8DB9FF-3E0E-4045-8FF7-B7B190225444}" type="slidenum">
              <a:rPr lang="en-US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703252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F71B21-B9B0-481F-91FE-6B0559C55E44}" type="datetime1">
              <a:rPr lang="en-US"/>
              <a:pPr>
                <a:defRPr/>
              </a:pPr>
              <a:t>12/23/25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179F42-C57C-4019-83FD-9EA845D1A15F}" type="slidenum">
              <a:rPr lang="en-US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694501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863D3-3C1F-49B0-80CC-F1D65C80F850}" type="datetime1">
              <a:rPr lang="en-US"/>
              <a:pPr>
                <a:defRPr/>
              </a:pPr>
              <a:t>12/23/25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FFEF90-A8EE-4D30-8A7F-9163CDB15729}" type="slidenum">
              <a:rPr lang="en-US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518666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8F1D4F-727A-49D4-8798-41C257CB7624}" type="datetime1">
              <a:rPr lang="en-US"/>
              <a:pPr>
                <a:defRPr/>
              </a:pPr>
              <a:t>12/23/25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581A07-CC00-4980-A801-08DA362C95FF}" type="slidenum">
              <a:rPr lang="en-US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160566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3" name="Rectangle 2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D8416-892D-4B25-8007-8C4DC4B524F0}" type="datetime1">
              <a:rPr lang="en-US"/>
              <a:pPr>
                <a:defRPr/>
              </a:pPr>
              <a:t>12/23/25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1CFE4-12F2-4AE4-B857-A6FE449BFC7A}" type="slidenum">
              <a:rPr lang="en-US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906157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30384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3030538" y="0"/>
            <a:ext cx="476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/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349250" y="6459538"/>
            <a:ext cx="1963738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CEEEAF51-BF12-4CA5-8816-953E07FBFF8D}" type="datetime1">
              <a:rPr lang="en-US"/>
              <a:pPr>
                <a:defRPr/>
              </a:pPr>
              <a:t>12/23/25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538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8C3600BD-1F76-42A4-BF17-05EF09AE1FF7}" type="slidenum">
              <a:rPr lang="en-US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751632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953000"/>
            <a:ext cx="9142413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0" y="4914900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15CC06-097E-4DA3-9763-D280A9785397}" type="datetime1">
              <a:rPr lang="en-US"/>
              <a:pPr>
                <a:defRPr/>
              </a:pPr>
              <a:t>12/23/25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F3A009-9C96-4B7D-8788-B64B2C48647D}" type="slidenum">
              <a:rPr lang="en-US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987262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26DAD-5A8E-490D-AF72-22EA2E5B9B2D}" type="datetime1">
              <a:rPr lang="en-US"/>
              <a:pPr>
                <a:defRPr/>
              </a:pPr>
              <a:t>12/23/25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AF6BDC-5E52-41A3-A7B7-68F88FB1DEE3}" type="slidenum">
              <a:rPr lang="en-US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981109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B2AAC3-1FD7-4AE4-A7FD-9F5A589EF36C}" type="datetime1">
              <a:rPr lang="en-US"/>
              <a:pPr>
                <a:defRPr/>
              </a:pPr>
              <a:t>12/23/25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132BA3-0FC9-4E4A-86DF-DE8710A74542}" type="slidenum">
              <a:rPr lang="en-US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62979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9" name="Rectangle 8"/>
          <p:cNvSpPr/>
          <p:nvPr/>
        </p:nvSpPr>
        <p:spPr>
          <a:xfrm>
            <a:off x="0" y="6334125"/>
            <a:ext cx="9144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325" y="287338"/>
            <a:ext cx="75438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22325" y="1846263"/>
            <a:ext cx="75438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he-IL"/>
              <a:t>Click to edit Master text styles</a:t>
            </a:r>
          </a:p>
          <a:p>
            <a:pPr lvl="1"/>
            <a:r>
              <a:rPr lang="en-US" altLang="he-IL"/>
              <a:t>Second level</a:t>
            </a:r>
          </a:p>
          <a:p>
            <a:pPr lvl="2"/>
            <a:r>
              <a:rPr lang="en-US" altLang="he-IL"/>
              <a:t>Third level</a:t>
            </a:r>
          </a:p>
          <a:p>
            <a:pPr lvl="3"/>
            <a:r>
              <a:rPr lang="en-US" altLang="he-IL"/>
              <a:t>Fourth level</a:t>
            </a:r>
          </a:p>
          <a:p>
            <a:pPr lvl="4"/>
            <a:r>
              <a:rPr lang="en-US" altLang="he-IL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325" y="6459538"/>
            <a:ext cx="185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8E18C32-5223-48D2-85A6-F32556723AE0}" type="datetime1">
              <a:rPr lang="en-US"/>
              <a:pPr>
                <a:defRPr/>
              </a:pPr>
              <a:t>12/23/25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4738" y="6459538"/>
            <a:ext cx="984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555DFE3-6EEB-4ABB-86D8-5875648F9202}" type="slidenum">
              <a:rPr lang="en-US" altLang="he-IL"/>
              <a:pPr>
                <a:defRPr/>
              </a:pPr>
              <a:t>‹#›</a:t>
            </a:fld>
            <a:endParaRPr lang="en-US" altLang="he-IL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350" y="1738313"/>
            <a:ext cx="747553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65" r:id="rId2"/>
    <p:sldLayoutId id="2147483971" r:id="rId3"/>
    <p:sldLayoutId id="2147483966" r:id="rId4"/>
    <p:sldLayoutId id="2147483967" r:id="rId5"/>
    <p:sldLayoutId id="2147483968" r:id="rId6"/>
    <p:sldLayoutId id="2147483972" r:id="rId7"/>
    <p:sldLayoutId id="2147483973" r:id="rId8"/>
    <p:sldLayoutId id="2147483974" r:id="rId9"/>
    <p:sldLayoutId id="2147483969" r:id="rId10"/>
    <p:sldLayoutId id="2147483975" r:id="rId11"/>
  </p:sldLayoutIdLst>
  <p:hf hdr="0" ftr="0" dt="0"/>
  <p:txStyles>
    <p:titleStyle>
      <a:lvl1pPr algn="l" rtl="1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 kern="1200" spc="-50">
          <a:solidFill>
            <a:srgbClr val="404040"/>
          </a:solidFill>
          <a:latin typeface="+mj-lt"/>
          <a:ea typeface="+mj-ea"/>
          <a:cs typeface="+mj-cs"/>
        </a:defRPr>
      </a:lvl1pPr>
      <a:lvl2pPr algn="l" rtl="1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2pPr>
      <a:lvl3pPr algn="l" rtl="1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3pPr>
      <a:lvl4pPr algn="l" rtl="1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4pPr>
      <a:lvl5pPr algn="l" rtl="1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5pPr>
      <a:lvl6pPr marL="457200" algn="l" rtl="1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6pPr>
      <a:lvl7pPr marL="914400" algn="l" rtl="1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7pPr>
      <a:lvl8pPr marL="1371600" algn="l" rtl="1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8pPr>
      <a:lvl9pPr marL="1828800" algn="l" rtl="1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9pPr>
    </p:titleStyle>
    <p:bodyStyle>
      <a:lvl1pPr marL="90488" indent="-90488" algn="r" rtl="1" eaLnBrk="0" fontAlgn="base" hangingPunct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588" indent="-182563" algn="r" rtl="1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566738" indent="-182563" algn="r" rtl="1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563" algn="r" rtl="1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1863" indent="-182563" algn="r" rtl="1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1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Visio_Drawing.vsdx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package" Target="../embeddings/Microsoft_Visio_Drawing1.vsdx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package" Target="../embeddings/Microsoft_Visio_Drawing2.vsdx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3.vsdx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4.vsdx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7" Type="http://schemas.openxmlformats.org/officeDocument/2006/relationships/package" Target="../embeddings/Microsoft_Visio_Drawing2.vsdx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1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1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1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310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0.png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0.png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6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6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6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30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1.png"/><Relationship Id="rId10" Type="http://schemas.openxmlformats.org/officeDocument/2006/relationships/image" Target="../media/image50.png"/><Relationship Id="rId4" Type="http://schemas.openxmlformats.org/officeDocument/2006/relationships/image" Target="../media/image440.png"/><Relationship Id="rId9" Type="http://schemas.openxmlformats.org/officeDocument/2006/relationships/image" Target="../media/image49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53.png"/><Relationship Id="rId3" Type="http://schemas.openxmlformats.org/officeDocument/2006/relationships/image" Target="../media/image430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54.png"/><Relationship Id="rId10" Type="http://schemas.openxmlformats.org/officeDocument/2006/relationships/image" Target="../media/image50.png"/><Relationship Id="rId4" Type="http://schemas.openxmlformats.org/officeDocument/2006/relationships/image" Target="../media/image440.png"/><Relationship Id="rId9" Type="http://schemas.openxmlformats.org/officeDocument/2006/relationships/image" Target="../media/image56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7.png"/><Relationship Id="rId3" Type="http://schemas.openxmlformats.org/officeDocument/2006/relationships/image" Target="../media/image551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1.png"/><Relationship Id="rId10" Type="http://schemas.openxmlformats.org/officeDocument/2006/relationships/image" Target="../media/image50.png"/><Relationship Id="rId4" Type="http://schemas.openxmlformats.org/officeDocument/2006/relationships/image" Target="../media/image440.png"/><Relationship Id="rId9" Type="http://schemas.openxmlformats.org/officeDocument/2006/relationships/image" Target="../media/image56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470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50.png"/><Relationship Id="rId5" Type="http://schemas.openxmlformats.org/officeDocument/2006/relationships/image" Target="../media/image44.png"/><Relationship Id="rId10" Type="http://schemas.openxmlformats.org/officeDocument/2006/relationships/image" Target="../media/image61.png"/><Relationship Id="rId4" Type="http://schemas.openxmlformats.org/officeDocument/2006/relationships/image" Target="../media/image42.png"/><Relationship Id="rId9" Type="http://schemas.openxmlformats.org/officeDocument/2006/relationships/image" Target="../media/image6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wmf"/><Relationship Id="rId9" Type="http://schemas.openxmlformats.org/officeDocument/2006/relationships/image" Target="../media/image47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0.png"/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6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7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550.png"/><Relationship Id="rId4" Type="http://schemas.openxmlformats.org/officeDocument/2006/relationships/image" Target="../media/image44.png"/><Relationship Id="rId9" Type="http://schemas.openxmlformats.org/officeDocument/2006/relationships/image" Target="../media/image47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72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3" Type="http://schemas.openxmlformats.org/officeDocument/2006/relationships/image" Target="../media/image74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" Type="http://schemas.openxmlformats.org/officeDocument/2006/relationships/notesSlide" Target="../notesSlides/notesSlide52.xml"/><Relationship Id="rId16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75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12" Type="http://schemas.openxmlformats.org/officeDocument/2006/relationships/image" Target="../media/image80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0" Type="http://schemas.openxmlformats.org/officeDocument/2006/relationships/image" Target="../media/image10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E635982-14BC-44B5-88F6-455B4C31B088}" type="slidenum">
              <a:rPr lang="en-US" altLang="he-IL" sz="1200" smtClean="0">
                <a:solidFill>
                  <a:srgbClr val="D38E27"/>
                </a:solidFill>
                <a:latin typeface="Franklin Gothic Book" panose="020B0503020102020204" pitchFamily="34" charset="0"/>
              </a:rPr>
              <a:pPr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</a:t>
            </a:fld>
            <a:endParaRPr lang="en-US" altLang="he-IL" sz="1200">
              <a:solidFill>
                <a:srgbClr val="D38E27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822325" y="76200"/>
            <a:ext cx="7499350" cy="4727575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e-IL" sz="8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תרגול </a:t>
            </a:r>
            <a:r>
              <a:rPr lang="en-US" sz="880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br>
              <a:rPr lang="he-IL" sz="8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br>
              <a:rPr lang="he-IL" sz="8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he-IL" sz="8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תכן לוגי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136525" y="6357938"/>
            <a:ext cx="296247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he-IL" sz="1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Ben Hanuka, 2025, based on Maroun Tork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FC9DAF3-3365-7C17-4A3B-7CB1ECC56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68580" tIns="34290" rIns="68580" bIns="34290" rtlCol="0" anchor="b">
            <a:normAutofit/>
          </a:bodyPr>
          <a:lstStyle/>
          <a:p>
            <a:pPr algn="r"/>
            <a:r>
              <a:rPr lang="he-IL" dirty="0"/>
              <a:t>שבוע שעבר (תזכורת)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8620D5D-90E1-2E47-B11A-90CC23FE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905001"/>
            <a:ext cx="7543800" cy="4343400"/>
          </a:xfrm>
        </p:spPr>
        <p:txBody>
          <a:bodyPr>
            <a:normAutofit/>
          </a:bodyPr>
          <a:lstStyle/>
          <a:p>
            <a:pPr algn="r">
              <a:buFont typeface="Wingdings" panose="05000000000000000000" pitchFamily="2" charset="2"/>
              <a:buChar char="§"/>
            </a:pPr>
            <a:r>
              <a:rPr lang="he-IL" sz="2400" dirty="0"/>
              <a:t> </a:t>
            </a:r>
            <a:r>
              <a:rPr lang="en-US" sz="2400" dirty="0"/>
              <a:t> </a:t>
            </a:r>
            <a:r>
              <a:rPr lang="he-IL" sz="2400" dirty="0"/>
              <a:t>מפת קרנו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e-IL" sz="2200" dirty="0"/>
              <a:t>צמצום פונקציות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e-IL" sz="2200" dirty="0"/>
              <a:t>גורר ראשוני + גורר ראשוני הכרחי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e-IL" sz="2200" dirty="0"/>
              <a:t>צירופי ברירה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e-IL" sz="2400" dirty="0"/>
              <a:t> חישובי השהייה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 err="1"/>
              <a:t>t</a:t>
            </a:r>
            <a:r>
              <a:rPr lang="en-US" sz="2200" baseline="-25000" dirty="0" err="1"/>
              <a:t>pd</a:t>
            </a:r>
            <a:endParaRPr lang="en-US" sz="2200" baseline="-25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 err="1"/>
              <a:t>t</a:t>
            </a:r>
            <a:r>
              <a:rPr lang="en-US" sz="2200" baseline="-25000" dirty="0" err="1"/>
              <a:t>cd</a:t>
            </a:r>
            <a:endParaRPr lang="en-US" sz="2200" dirty="0"/>
          </a:p>
          <a:p>
            <a:pPr algn="l" rtl="0">
              <a:buFont typeface="Wingdings" panose="05000000000000000000" pitchFamily="2" charset="2"/>
              <a:buChar char="§"/>
            </a:pPr>
            <a:endParaRPr lang="en-US" sz="2400" dirty="0"/>
          </a:p>
          <a:p>
            <a:pPr algn="l" rtl="0">
              <a:buFont typeface="Wingdings" panose="05000000000000000000" pitchFamily="2" charset="2"/>
              <a:buChar char="§"/>
            </a:pPr>
            <a:endParaRPr lang="en-US" sz="2400" dirty="0"/>
          </a:p>
          <a:p>
            <a:pPr algn="l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0028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0D603-764D-8FDB-8512-6F7D1124F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FB26202-32F1-1A48-8BD0-5F8AC5F38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68580" tIns="34290" rIns="68580" bIns="34290" rtlCol="0" anchor="b">
            <a:normAutofit/>
          </a:bodyPr>
          <a:lstStyle/>
          <a:p>
            <a:pPr algn="r"/>
            <a:r>
              <a:rPr lang="he-IL" dirty="0"/>
              <a:t>נושאים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A220C11-8F71-D3A0-321F-26CB3FAA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905001"/>
            <a:ext cx="7543800" cy="4343400"/>
          </a:xfrm>
        </p:spPr>
        <p:txBody>
          <a:bodyPr>
            <a:normAutofit/>
          </a:bodyPr>
          <a:lstStyle/>
          <a:p>
            <a:pPr algn="r">
              <a:buFont typeface="Wingdings" panose="05000000000000000000" pitchFamily="2" charset="2"/>
              <a:buChar char="§"/>
            </a:pPr>
            <a:r>
              <a:rPr lang="he-IL" sz="2400" dirty="0"/>
              <a:t> </a:t>
            </a:r>
            <a:r>
              <a:rPr lang="en-US" sz="2400" dirty="0"/>
              <a:t>Half/Full Adder</a:t>
            </a:r>
          </a:p>
          <a:p>
            <a:pPr algn="r">
              <a:buFont typeface="Wingdings" panose="05000000000000000000" pitchFamily="2" charset="2"/>
              <a:buChar char="§"/>
            </a:pPr>
            <a:r>
              <a:rPr lang="en-US" sz="2400" dirty="0"/>
              <a:t> </a:t>
            </a:r>
            <a:r>
              <a:rPr lang="he-IL" sz="2400" dirty="0"/>
              <a:t> בורר –</a:t>
            </a:r>
            <a:r>
              <a:rPr lang="en-US" sz="2400" dirty="0"/>
              <a:t> MUX – Multiplexer </a:t>
            </a:r>
          </a:p>
          <a:p>
            <a:pPr algn="r">
              <a:buFont typeface="Wingdings" panose="05000000000000000000" pitchFamily="2" charset="2"/>
              <a:buChar char="§"/>
            </a:pPr>
            <a:r>
              <a:rPr lang="he-IL" sz="2400" dirty="0"/>
              <a:t> מפענח - </a:t>
            </a:r>
            <a:r>
              <a:rPr lang="en-US" sz="2400" dirty="0"/>
              <a:t>Decoder</a:t>
            </a:r>
          </a:p>
          <a:p>
            <a:pPr algn="r">
              <a:buFont typeface="Wingdings" panose="05000000000000000000" pitchFamily="2" charset="2"/>
              <a:buChar char="§"/>
            </a:pPr>
            <a:endParaRPr lang="en-US" sz="2400" dirty="0"/>
          </a:p>
          <a:p>
            <a:pPr algn="l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170634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7E8BC76-1265-4F8D-9E39-EF7D1F981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en-US" dirty="0"/>
              <a:t>מוטיבציה</a:t>
            </a:r>
            <a:endParaRPr lang="en-US" altLang="en-US" dirty="0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625941B-41EF-427F-A5A2-86275674F8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e-IL" altLang="en-US" sz="2100" dirty="0">
                <a:solidFill>
                  <a:schemeClr val="tx1"/>
                </a:solidFill>
              </a:rPr>
              <a:t>אנחנו רוצים לבנות מחשב, האם זה אומר שכל פונקציה צריך לממש במיוחד? איך אפשר ליעל את התהליך ולהקל על התכנון?</a:t>
            </a:r>
            <a:endParaRPr lang="en-US" altLang="en-US" sz="2100" dirty="0">
              <a:solidFill>
                <a:schemeClr val="tx1"/>
              </a:solidFill>
            </a:endParaRPr>
          </a:p>
          <a:p>
            <a:endParaRPr lang="en-US" altLang="en-US" sz="2100" dirty="0">
              <a:solidFill>
                <a:schemeClr val="tx1"/>
              </a:solidFill>
            </a:endParaRPr>
          </a:p>
          <a:p>
            <a:endParaRPr lang="en-US" altLang="en-US" sz="2100" dirty="0">
              <a:solidFill>
                <a:schemeClr val="tx1"/>
              </a:solidFill>
            </a:endParaRPr>
          </a:p>
          <a:p>
            <a:endParaRPr lang="en-US" altLang="en-US" sz="2100" dirty="0">
              <a:solidFill>
                <a:schemeClr val="tx1"/>
              </a:solidFill>
            </a:endParaRPr>
          </a:p>
          <a:p>
            <a:endParaRPr lang="en-US" altLang="en-US" sz="2100" dirty="0">
              <a:solidFill>
                <a:schemeClr val="tx1"/>
              </a:solidFill>
            </a:endParaRPr>
          </a:p>
          <a:p>
            <a:endParaRPr lang="en-US" altLang="en-US" sz="2100" dirty="0">
              <a:solidFill>
                <a:schemeClr val="tx1"/>
              </a:solidFill>
            </a:endParaRPr>
          </a:p>
          <a:p>
            <a:endParaRPr lang="en-US" altLang="en-US" sz="2100" dirty="0">
              <a:solidFill>
                <a:schemeClr val="tx1"/>
              </a:solidFill>
            </a:endParaRPr>
          </a:p>
          <a:p>
            <a:endParaRPr lang="en-US" altLang="en-US" sz="2100" dirty="0">
              <a:solidFill>
                <a:schemeClr val="tx1"/>
              </a:solidFill>
            </a:endParaRPr>
          </a:p>
          <a:p>
            <a:r>
              <a:rPr lang="he-IL" altLang="en-US" sz="2100" dirty="0">
                <a:solidFill>
                  <a:schemeClr val="tx1"/>
                </a:solidFill>
              </a:rPr>
              <a:t>מסתבר שכמו בקוד, גם בחומרה בעיות חוזרות על עצמן</a:t>
            </a:r>
            <a:endParaRPr lang="en-US" altLang="en-US" sz="2100" dirty="0">
              <a:solidFill>
                <a:schemeClr val="tx1"/>
              </a:solidFill>
            </a:endParaRPr>
          </a:p>
        </p:txBody>
      </p:sp>
      <p:sp>
        <p:nvSpPr>
          <p:cNvPr id="32772" name="Slide Number Placeholder 1">
            <a:extLst>
              <a:ext uri="{FF2B5EF4-FFF2-40B4-BE49-F238E27FC236}">
                <a16:creationId xmlns:a16="http://schemas.microsoft.com/office/drawing/2014/main" id="{1D5ECE81-4C6F-489A-AF08-721C28C06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7D973A-81BB-4F55-9590-2E72D8CEA77D}" type="slidenum">
              <a:rPr lang="en-US" altLang="en-US" sz="105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050">
              <a:solidFill>
                <a:srgbClr val="000000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5B68409-3023-C853-6AB8-0C872F52219C}"/>
              </a:ext>
            </a:extLst>
          </p:cNvPr>
          <p:cNvGrpSpPr/>
          <p:nvPr/>
        </p:nvGrpSpPr>
        <p:grpSpPr>
          <a:xfrm>
            <a:off x="2794000" y="2495447"/>
            <a:ext cx="3556000" cy="2724355"/>
            <a:chOff x="2565400" y="2209800"/>
            <a:chExt cx="3556000" cy="272435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17D8974-FBBD-9FA1-4327-3F5B4CEE2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65400" y="2209800"/>
              <a:ext cx="3556000" cy="272435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A7E6AD77-5D8B-ADB4-37FD-516AAAB20D8B}"/>
                    </a:ext>
                  </a:extLst>
                </p:cNvPr>
                <p:cNvSpPr txBox="1"/>
                <p:nvPr/>
              </p:nvSpPr>
              <p:spPr>
                <a:xfrm>
                  <a:off x="4038600" y="2819400"/>
                  <a:ext cx="1905000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IL" sz="14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A7E6AD77-5D8B-ADB4-37FD-516AAAB20D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2819400"/>
                  <a:ext cx="1905000" cy="215444"/>
                </a:xfrm>
                <a:prstGeom prst="rect">
                  <a:avLst/>
                </a:prstGeom>
                <a:blipFill>
                  <a:blip r:embed="rId4"/>
                  <a:stretch>
                    <a:fillRect l="-662" b="-38889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5F69E3B-E7C7-9A2A-6734-CD039ABE3CAE}"/>
                    </a:ext>
                  </a:extLst>
                </p:cNvPr>
                <p:cNvSpPr txBox="1"/>
                <p:nvPr/>
              </p:nvSpPr>
              <p:spPr>
                <a:xfrm>
                  <a:off x="4038600" y="4114800"/>
                  <a:ext cx="1905000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𝑀𝑈𝑋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L" sz="14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5F69E3B-E7C7-9A2A-6734-CD039ABE3C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4114800"/>
                  <a:ext cx="1905000" cy="215444"/>
                </a:xfrm>
                <a:prstGeom prst="rect">
                  <a:avLst/>
                </a:prstGeom>
                <a:blipFill>
                  <a:blip r:embed="rId5"/>
                  <a:stretch>
                    <a:fillRect b="-38889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16620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Half  Adder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997074"/>
                <a:ext cx="7696200" cy="2574925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altLang="he-IL" sz="2400" dirty="0"/>
                  <a:t> </a:t>
                </a:r>
                <a:r>
                  <a:rPr lang="he-IL" altLang="he-IL" sz="2400" dirty="0"/>
                  <a:t>אפיון</a:t>
                </a:r>
                <a:r>
                  <a:rPr lang="en-US" altLang="he-IL" sz="2400" dirty="0"/>
                  <a:t>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he-IL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he-I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he-IL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he-IL" b="0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altLang="he-IL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he-IL" altLang="he-IL" dirty="0"/>
              </a:p>
              <a:p>
                <a:pPr marL="274638" lvl="2" indent="-90488">
                  <a:spcBef>
                    <a:spcPts val="1200"/>
                  </a:spcBef>
                  <a:spcAft>
                    <a:spcPts val="200"/>
                  </a:spcAft>
                  <a:buSzPct val="100000"/>
                  <a:buFont typeface="Wingdings" panose="05000000000000000000" pitchFamily="2" charset="2"/>
                  <a:buChar char="§"/>
                </a:pPr>
                <a:r>
                  <a:rPr lang="he-IL" altLang="he-IL" sz="2000" dirty="0"/>
                  <a:t> </a:t>
                </a:r>
                <a:r>
                  <a:rPr lang="en-US" altLang="he-IL" sz="2000" dirty="0"/>
                  <a:t>C</a:t>
                </a:r>
                <a:r>
                  <a:rPr lang="en-US" altLang="he-IL" sz="2000" baseline="-25000" dirty="0"/>
                  <a:t>out</a:t>
                </a:r>
                <a:r>
                  <a:rPr lang="en-US" altLang="he-IL" sz="2000" dirty="0"/>
                  <a:t> </a:t>
                </a:r>
                <a:r>
                  <a:rPr lang="he-IL" altLang="he-IL" sz="2000" dirty="0"/>
                  <a:t> - האם יש נשא (</a:t>
                </a:r>
                <a:r>
                  <a:rPr lang="en-US" altLang="he-IL" sz="2000" dirty="0"/>
                  <a:t>Carry</a:t>
                </a:r>
                <a:r>
                  <a:rPr lang="he-IL" altLang="he-IL" sz="2000" dirty="0"/>
                  <a:t>)</a:t>
                </a:r>
              </a:p>
              <a:p>
                <a:pPr marL="90488" lvl="1" indent="-90488">
                  <a:spcBef>
                    <a:spcPts val="1200"/>
                  </a:spcBef>
                  <a:spcAft>
                    <a:spcPts val="200"/>
                  </a:spcAft>
                  <a:buSzPct val="100000"/>
                  <a:buFont typeface="Wingdings" panose="05000000000000000000" pitchFamily="2" charset="2"/>
                  <a:buChar char="§"/>
                </a:pPr>
                <a:endParaRPr lang="he-IL" altLang="he-IL" sz="24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he-IL" altLang="he-IL" sz="2400" dirty="0"/>
                  <a:t> טבלת אמת:</a:t>
                </a:r>
              </a:p>
              <a:p>
                <a:pPr eaLnBrk="1" hangingPunct="1">
                  <a:spcAft>
                    <a:spcPct val="0"/>
                  </a:spcAft>
                  <a:buFont typeface="Wingdings 2" panose="05020102010507070707" pitchFamily="18" charset="2"/>
                  <a:buChar char=""/>
                </a:pPr>
                <a:endParaRPr lang="en-US" altLang="he-IL" sz="3200" dirty="0"/>
              </a:p>
            </p:txBody>
          </p:sp>
        </mc:Choice>
        <mc:Fallback xmlns="">
          <p:sp>
            <p:nvSpPr>
              <p:cNvPr id="1024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997074"/>
                <a:ext cx="7696200" cy="2574925"/>
              </a:xfrm>
              <a:blipFill>
                <a:blip r:embed="rId3"/>
                <a:stretch>
                  <a:fillRect t="-3448" r="-214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D332916-BD88-4A68-A0EC-02A5366CCAF5}" type="slidenum">
              <a:rPr lang="en-US" altLang="he-IL" sz="1200" smtClean="0">
                <a:solidFill>
                  <a:srgbClr val="D38E27"/>
                </a:solidFill>
                <a:latin typeface="Franklin Gothic Book" panose="020B0503020102020204" pitchFamily="34" charset="0"/>
              </a:rPr>
              <a:pPr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lang="en-US" altLang="he-IL" sz="1200">
              <a:solidFill>
                <a:srgbClr val="D38E27"/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550960"/>
              </p:ext>
            </p:extLst>
          </p:nvPr>
        </p:nvGraphicFramePr>
        <p:xfrm>
          <a:off x="904876" y="3829050"/>
          <a:ext cx="2486024" cy="2400300"/>
        </p:xfrm>
        <a:graphic>
          <a:graphicData uri="http://schemas.openxmlformats.org/drawingml/2006/table">
            <a:tbl>
              <a:tblPr rtl="1"/>
              <a:tblGrid>
                <a:gridCol w="621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5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5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latin typeface="+mn-lt"/>
                          <a:ea typeface="Times New Roman"/>
                          <a:cs typeface="Times New Roman"/>
                        </a:rPr>
                        <a:t>s</a:t>
                      </a:r>
                      <a:endParaRPr lang="en-US" sz="21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latin typeface="+mn-lt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2100" baseline="-25000">
                          <a:latin typeface="+mn-lt"/>
                          <a:ea typeface="Times New Roman"/>
                          <a:cs typeface="Times New Roman"/>
                        </a:rPr>
                        <a:t>out</a:t>
                      </a:r>
                      <a:endParaRPr lang="en-US" sz="21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latin typeface="+mn-lt"/>
                          <a:ea typeface="Times New Roman"/>
                          <a:cs typeface="Times New Roman"/>
                        </a:rPr>
                        <a:t>b</a:t>
                      </a:r>
                      <a:endParaRPr lang="en-US" sz="21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latin typeface="+mn-lt"/>
                          <a:ea typeface="Times New Roman"/>
                          <a:cs typeface="Times New Roman"/>
                        </a:rPr>
                        <a:t>a</a:t>
                      </a:r>
                      <a:endParaRPr lang="en-US" sz="21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21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21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21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21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21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21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21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21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27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he-IL" altLang="he-IL" sz="1800">
              <a:solidFill>
                <a:schemeClr val="tx1"/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1028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1222947"/>
              </p:ext>
            </p:extLst>
          </p:nvPr>
        </p:nvGraphicFramePr>
        <p:xfrm>
          <a:off x="4800600" y="4724400"/>
          <a:ext cx="16621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4725" imgH="406224" progId="Equation.DSMT4">
                  <p:embed/>
                </p:oleObj>
              </mc:Choice>
              <mc:Fallback>
                <p:oleObj name="Equation" r:id="rId4" imgW="634725" imgH="406224" progId="Equation.DSMT4">
                  <p:embed/>
                  <p:pic>
                    <p:nvPicPr>
                      <p:cNvPr id="1028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724400"/>
                        <a:ext cx="1662113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ight Arrow 18"/>
          <p:cNvSpPr/>
          <p:nvPr/>
        </p:nvSpPr>
        <p:spPr>
          <a:xfrm>
            <a:off x="3505200" y="5029200"/>
            <a:ext cx="10668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938803"/>
              </p:ext>
            </p:extLst>
          </p:nvPr>
        </p:nvGraphicFramePr>
        <p:xfrm>
          <a:off x="2147890" y="3829052"/>
          <a:ext cx="1243012" cy="2400300"/>
        </p:xfrm>
        <a:graphic>
          <a:graphicData uri="http://schemas.openxmlformats.org/drawingml/2006/table">
            <a:tbl>
              <a:tblPr rtl="1"/>
              <a:tblGrid>
                <a:gridCol w="621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latin typeface="+mn-lt"/>
                          <a:ea typeface="Times New Roman"/>
                          <a:cs typeface="Times New Roman"/>
                        </a:rPr>
                        <a:t>s</a:t>
                      </a:r>
                      <a:endParaRPr lang="en-US" sz="21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latin typeface="+mn-lt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2100" baseline="-25000">
                          <a:latin typeface="+mn-lt"/>
                          <a:ea typeface="Times New Roman"/>
                          <a:cs typeface="Times New Roman"/>
                        </a:rPr>
                        <a:t>out</a:t>
                      </a:r>
                      <a:endParaRPr lang="en-US" sz="21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21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21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21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21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21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21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21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21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118382" marR="11838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e-IL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7994710"/>
              </p:ext>
            </p:extLst>
          </p:nvPr>
        </p:nvGraphicFramePr>
        <p:xfrm>
          <a:off x="1219200" y="2139791"/>
          <a:ext cx="29718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3495790" imgH="1514430" progId="Visio.Drawing.15">
                  <p:embed/>
                </p:oleObj>
              </mc:Choice>
              <mc:Fallback>
                <p:oleObj name="Visio" r:id="rId6" imgW="3495790" imgH="1514430" progId="Visio.Drawing.15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139791"/>
                        <a:ext cx="2971800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Half  Adder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381000" y="1973263"/>
            <a:ext cx="8229600" cy="685800"/>
          </a:xfrm>
        </p:spPr>
        <p:txBody>
          <a:bodyPr/>
          <a:lstStyle/>
          <a:p>
            <a:pPr eaLnBrk="1" hangingPunct="1"/>
            <a:r>
              <a:rPr lang="he-IL" altLang="he-IL" sz="3200" dirty="0"/>
              <a:t>מימוש אפשרי:</a:t>
            </a:r>
            <a:endParaRPr lang="en-US" altLang="he-IL" sz="3200" dirty="0"/>
          </a:p>
        </p:txBody>
      </p:sp>
      <p:sp>
        <p:nvSpPr>
          <p:cNvPr id="1126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6311C59-D190-4D95-AD73-B8250E118ED5}" type="slidenum">
              <a:rPr lang="en-US" altLang="he-IL" sz="1200" smtClean="0">
                <a:solidFill>
                  <a:srgbClr val="D38E27"/>
                </a:solidFill>
                <a:latin typeface="Franklin Gothic Book" panose="020B0503020102020204" pitchFamily="34" charset="0"/>
              </a:rPr>
              <a:pPr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</a:t>
            </a:fld>
            <a:endParaRPr lang="en-US" altLang="he-IL" sz="1200">
              <a:solidFill>
                <a:srgbClr val="D38E27"/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1127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403955"/>
              </p:ext>
            </p:extLst>
          </p:nvPr>
        </p:nvGraphicFramePr>
        <p:xfrm>
          <a:off x="6477000" y="3409950"/>
          <a:ext cx="16621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34725" imgH="406224" progId="Equation.DSMT4">
                  <p:embed/>
                </p:oleObj>
              </mc:Choice>
              <mc:Fallback>
                <p:oleObj name="Equation" r:id="rId3" imgW="634725" imgH="406224" progId="Equation.DSMT4">
                  <p:embed/>
                  <p:pic>
                    <p:nvPicPr>
                      <p:cNvPr id="1127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3409950"/>
                        <a:ext cx="1662113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8910309"/>
              </p:ext>
            </p:extLst>
          </p:nvPr>
        </p:nvGraphicFramePr>
        <p:xfrm>
          <a:off x="396240" y="2743200"/>
          <a:ext cx="5227320" cy="240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3733777" imgH="1705050" progId="Visio.Drawing.15">
                  <p:embed/>
                </p:oleObj>
              </mc:Choice>
              <mc:Fallback>
                <p:oleObj name="Visio" r:id="rId5" imgW="3733777" imgH="1705050" progId="Visio.Drawing.15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" y="2743200"/>
                        <a:ext cx="5227320" cy="24003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  Adder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1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788216" y="1898173"/>
                <a:ext cx="5105400" cy="4922838"/>
              </a:xfr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45720" rIns="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he-IL" altLang="he-IL" sz="2400" dirty="0"/>
                  <a:t>אפיון: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he-IL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he-IL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he-IL" i="1" dirty="0">
                        <a:latin typeface="Cambria Math" panose="02040503050406030204" pitchFamily="18" charset="0"/>
                      </a:rPr>
                      <m:t>𝑋𝑂𝑅</m:t>
                    </m:r>
                    <m:r>
                      <a:rPr lang="en-US" altLang="he-IL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he-IL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he-IL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he-IL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he-IL" i="1" dirty="0" err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he-IL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he-IL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he-IL" i="1" dirty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altLang="he-IL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he-IL" i="1" dirty="0">
                  <a:latin typeface="Cambria Math" panose="02040503050406030204" pitchFamily="18" charset="0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altLang="he-IL" dirty="0">
                    <a:latin typeface="Cambria Math" panose="02040503050406030204" pitchFamily="18" charset="0"/>
                  </a:rPr>
                  <a:t>C</a:t>
                </a:r>
                <a:r>
                  <a:rPr lang="en-US" altLang="he-IL" baseline="-25000" dirty="0">
                    <a:latin typeface="Cambria Math" panose="02040503050406030204" pitchFamily="18" charset="0"/>
                  </a:rPr>
                  <a:t>out</a:t>
                </a:r>
                <a:r>
                  <a:rPr lang="he-IL" altLang="he-IL" dirty="0">
                    <a:latin typeface="Cambria Math" panose="02040503050406030204" pitchFamily="18" charset="0"/>
                  </a:rPr>
                  <a:t> – האם יש נשא.</a:t>
                </a:r>
              </a:p>
            </p:txBody>
          </p:sp>
        </mc:Choice>
        <mc:Fallback xmlns="">
          <p:sp>
            <p:nvSpPr>
              <p:cNvPr id="12291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88216" y="1898173"/>
                <a:ext cx="5105400" cy="4922838"/>
              </a:xfrm>
              <a:blipFill>
                <a:blip r:embed="rId3"/>
                <a:stretch>
                  <a:fillRect t="-1799" r="-347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2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26F9CC0-A6EC-4455-B31A-7F1A5630CEE1}" type="slidenum">
              <a:rPr lang="en-US" altLang="he-IL" sz="1200" smtClean="0">
                <a:solidFill>
                  <a:srgbClr val="D38E27"/>
                </a:solidFill>
                <a:latin typeface="Franklin Gothic Book" panose="020B0503020102020204" pitchFamily="34" charset="0"/>
              </a:rPr>
              <a:pPr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</a:t>
            </a:fld>
            <a:endParaRPr lang="en-US" altLang="he-IL" sz="1200">
              <a:solidFill>
                <a:srgbClr val="D38E27"/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006206"/>
              </p:ext>
            </p:extLst>
          </p:nvPr>
        </p:nvGraphicFramePr>
        <p:xfrm>
          <a:off x="1412874" y="2699385"/>
          <a:ext cx="2625726" cy="3320415"/>
        </p:xfrm>
        <a:graphic>
          <a:graphicData uri="http://schemas.openxmlformats.org/drawingml/2006/table">
            <a:tbl>
              <a:tblPr rtl="1"/>
              <a:tblGrid>
                <a:gridCol w="532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9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+mn-lt"/>
                          <a:ea typeface="Times New Roman"/>
                          <a:cs typeface="Times New Roman"/>
                        </a:rPr>
                        <a:t>S</a:t>
                      </a:r>
                      <a:endParaRPr lang="en-US" sz="1800" b="1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+mn-lt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1800" b="1" baseline="-25000" dirty="0" err="1">
                          <a:latin typeface="+mn-lt"/>
                          <a:ea typeface="Times New Roman"/>
                          <a:cs typeface="Times New Roman"/>
                        </a:rPr>
                        <a:t>out</a:t>
                      </a:r>
                      <a:endParaRPr lang="en-US" sz="1800" b="1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+mn-lt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1800" b="1" baseline="-25000" dirty="0" err="1">
                          <a:latin typeface="+mn-lt"/>
                          <a:ea typeface="Times New Roman"/>
                          <a:cs typeface="Times New Roman"/>
                        </a:rPr>
                        <a:t>in</a:t>
                      </a:r>
                      <a:endParaRPr lang="en-US" sz="1800" b="1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+mn-lt"/>
                          <a:ea typeface="Times New Roman"/>
                          <a:cs typeface="Times New Roman"/>
                        </a:rPr>
                        <a:t>b</a:t>
                      </a:r>
                      <a:endParaRPr lang="en-US" sz="1800" b="1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+mn-lt"/>
                          <a:ea typeface="Times New Roman"/>
                          <a:cs typeface="Times New Roman"/>
                        </a:rPr>
                        <a:t>a</a:t>
                      </a:r>
                      <a:endParaRPr lang="en-US" sz="1800" b="1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35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he-IL" altLang="he-IL" sz="1800">
              <a:solidFill>
                <a:schemeClr val="tx1"/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9820232"/>
              </p:ext>
            </p:extLst>
          </p:nvPr>
        </p:nvGraphicFramePr>
        <p:xfrm>
          <a:off x="4921249" y="3277590"/>
          <a:ext cx="2698751" cy="2370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781321" imgH="3324240" progId="Visio.Drawing.15">
                  <p:embed/>
                </p:oleObj>
              </mc:Choice>
              <mc:Fallback>
                <p:oleObj name="Visio" r:id="rId4" imgW="3781321" imgH="3324240" progId="Visio.Drawing.15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249" y="3277590"/>
                        <a:ext cx="2698751" cy="23703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/>
          <p:cNvSpPr/>
          <p:nvPr/>
        </p:nvSpPr>
        <p:spPr>
          <a:xfrm>
            <a:off x="1688433" y="2024062"/>
            <a:ext cx="20746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he-IL" altLang="he-IL" sz="3200" dirty="0">
                <a:solidFill>
                  <a:srgbClr val="404040"/>
                </a:solidFill>
                <a:latin typeface="+mn-lt"/>
                <a:cs typeface="+mn-cs"/>
              </a:rPr>
              <a:t>טבלת אמת:</a:t>
            </a:r>
            <a:endParaRPr lang="en-US" altLang="he-IL" sz="3200" dirty="0">
              <a:solidFill>
                <a:srgbClr val="404040"/>
              </a:solidFill>
              <a:latin typeface="+mn-lt"/>
              <a:cs typeface="+mn-cs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361844"/>
              </p:ext>
            </p:extLst>
          </p:nvPr>
        </p:nvGraphicFramePr>
        <p:xfrm>
          <a:off x="1412874" y="2699385"/>
          <a:ext cx="2625726" cy="3320415"/>
        </p:xfrm>
        <a:graphic>
          <a:graphicData uri="http://schemas.openxmlformats.org/drawingml/2006/table">
            <a:tbl>
              <a:tblPr rtl="1"/>
              <a:tblGrid>
                <a:gridCol w="532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9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+mn-lt"/>
                          <a:ea typeface="Times New Roman"/>
                          <a:cs typeface="Times New Roman"/>
                        </a:rPr>
                        <a:t>S</a:t>
                      </a:r>
                      <a:endParaRPr lang="en-US" sz="1800" b="1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+mn-lt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1800" b="1" baseline="-25000" dirty="0" err="1">
                          <a:latin typeface="+mn-lt"/>
                          <a:ea typeface="Times New Roman"/>
                          <a:cs typeface="Times New Roman"/>
                        </a:rPr>
                        <a:t>out</a:t>
                      </a:r>
                      <a:endParaRPr lang="en-US" sz="1800" b="1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+mn-lt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1800" b="1" baseline="-25000" dirty="0" err="1">
                          <a:latin typeface="+mn-lt"/>
                          <a:ea typeface="Times New Roman"/>
                          <a:cs typeface="Times New Roman"/>
                        </a:rPr>
                        <a:t>in</a:t>
                      </a:r>
                      <a:endParaRPr lang="en-US" sz="1800" b="1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+mn-lt"/>
                          <a:ea typeface="Times New Roman"/>
                          <a:cs typeface="Times New Roman"/>
                        </a:rPr>
                        <a:t>b</a:t>
                      </a:r>
                      <a:endParaRPr lang="en-US" sz="1800" b="1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+mn-lt"/>
                          <a:ea typeface="Times New Roman"/>
                          <a:cs typeface="Times New Roman"/>
                        </a:rPr>
                        <a:t>a</a:t>
                      </a:r>
                      <a:endParaRPr lang="en-US" sz="1800" b="1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  Adder</a:t>
            </a:r>
          </a:p>
        </p:txBody>
      </p:sp>
      <p:sp>
        <p:nvSpPr>
          <p:cNvPr id="12292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26F9CC0-A6EC-4455-B31A-7F1A5630CEE1}" type="slidenum">
              <a:rPr lang="en-US" altLang="he-IL" sz="1200" smtClean="0">
                <a:solidFill>
                  <a:srgbClr val="D38E27"/>
                </a:solidFill>
                <a:latin typeface="Franklin Gothic Book" panose="020B0503020102020204" pitchFamily="34" charset="0"/>
              </a:rPr>
              <a:pPr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8</a:t>
            </a:fld>
            <a:endParaRPr lang="en-US" altLang="he-IL" sz="1200">
              <a:solidFill>
                <a:srgbClr val="D38E27"/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6200" y="2133600"/>
          <a:ext cx="2625726" cy="3320415"/>
        </p:xfrm>
        <a:graphic>
          <a:graphicData uri="http://schemas.openxmlformats.org/drawingml/2006/table">
            <a:tbl>
              <a:tblPr rtl="1"/>
              <a:tblGrid>
                <a:gridCol w="532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9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+mn-lt"/>
                          <a:ea typeface="Times New Roman"/>
                          <a:cs typeface="Times New Roman"/>
                        </a:rPr>
                        <a:t>S</a:t>
                      </a:r>
                      <a:endParaRPr lang="en-US" sz="1800" b="1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+mn-lt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1800" b="1" baseline="-25000" dirty="0" err="1">
                          <a:latin typeface="+mn-lt"/>
                          <a:ea typeface="Times New Roman"/>
                          <a:cs typeface="Times New Roman"/>
                        </a:rPr>
                        <a:t>out</a:t>
                      </a:r>
                      <a:endParaRPr lang="en-US" sz="1800" b="1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+mn-lt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1800" b="1" baseline="-25000" dirty="0" err="1">
                          <a:latin typeface="+mn-lt"/>
                          <a:ea typeface="Times New Roman"/>
                          <a:cs typeface="Times New Roman"/>
                        </a:rPr>
                        <a:t>in</a:t>
                      </a:r>
                      <a:endParaRPr lang="en-US" sz="1800" b="1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+mn-lt"/>
                          <a:ea typeface="Times New Roman"/>
                          <a:cs typeface="Times New Roman"/>
                        </a:rPr>
                        <a:t>b</a:t>
                      </a:r>
                      <a:endParaRPr lang="en-US" sz="1800" b="1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+mn-lt"/>
                          <a:ea typeface="Times New Roman"/>
                          <a:cs typeface="Times New Roman"/>
                        </a:rPr>
                        <a:t>a</a:t>
                      </a:r>
                      <a:endParaRPr lang="en-US" sz="1800" b="1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" name="Right Arrow 22"/>
          <p:cNvSpPr/>
          <p:nvPr/>
        </p:nvSpPr>
        <p:spPr>
          <a:xfrm rot="5400000">
            <a:off x="4128176" y="3704626"/>
            <a:ext cx="399949" cy="2743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35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he-IL" altLang="he-IL" sz="1800">
              <a:solidFill>
                <a:schemeClr val="tx1"/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6200" y="2133600"/>
          <a:ext cx="2625726" cy="3320415"/>
        </p:xfrm>
        <a:graphic>
          <a:graphicData uri="http://schemas.openxmlformats.org/drawingml/2006/table">
            <a:tbl>
              <a:tblPr rtl="1"/>
              <a:tblGrid>
                <a:gridCol w="532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9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+mn-lt"/>
                          <a:ea typeface="Times New Roman"/>
                          <a:cs typeface="Times New Roman"/>
                        </a:rPr>
                        <a:t>S</a:t>
                      </a:r>
                      <a:endParaRPr lang="en-US" sz="1800" b="1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+mn-lt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1800" b="1" baseline="-25000" dirty="0" err="1">
                          <a:latin typeface="+mn-lt"/>
                          <a:ea typeface="Times New Roman"/>
                          <a:cs typeface="Times New Roman"/>
                        </a:rPr>
                        <a:t>out</a:t>
                      </a:r>
                      <a:endParaRPr lang="en-US" sz="1800" b="1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+mn-lt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1800" b="1" baseline="-25000" dirty="0" err="1">
                          <a:latin typeface="+mn-lt"/>
                          <a:ea typeface="Times New Roman"/>
                          <a:cs typeface="Times New Roman"/>
                        </a:rPr>
                        <a:t>in</a:t>
                      </a:r>
                      <a:endParaRPr lang="en-US" sz="1800" b="1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+mn-lt"/>
                          <a:ea typeface="Times New Roman"/>
                          <a:cs typeface="Times New Roman"/>
                        </a:rPr>
                        <a:t>b</a:t>
                      </a:r>
                      <a:endParaRPr lang="en-US" sz="1800" b="1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+mn-lt"/>
                          <a:ea typeface="Times New Roman"/>
                          <a:cs typeface="Times New Roman"/>
                        </a:rPr>
                        <a:t>a</a:t>
                      </a:r>
                      <a:endParaRPr lang="en-US" sz="1800" b="1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722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David"/>
                      </a:endParaRPr>
                    </a:p>
                  </a:txBody>
                  <a:tcPr marL="91823" marR="9182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004893"/>
              </p:ext>
            </p:extLst>
          </p:nvPr>
        </p:nvGraphicFramePr>
        <p:xfrm>
          <a:off x="3235881" y="2475285"/>
          <a:ext cx="1791970" cy="11061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8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3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3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70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61439" marR="61439" marT="30726" marB="3072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marL="61439" marR="61439" marT="30726" marB="3072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marL="61439" marR="61439" marT="30726" marB="3072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61439" marR="61439" marT="30726" marB="3072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61439" marR="61439" marT="30726" marB="3072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7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1439" marR="61439" marT="30726" marB="30726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L="61439" marR="61439" marT="30726" marB="30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marL="61439" marR="61439" marT="30726" marB="30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L="61439" marR="61439" marT="30726" marB="30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marL="61439" marR="61439" marT="30726" marB="30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7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61439" marR="61439" marT="30726" marB="30726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marL="61439" marR="61439" marT="30726" marB="30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L="61439" marR="61439" marT="30726" marB="30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marL="61439" marR="61439" marT="30726" marB="30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base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L="61439" marR="61439" marT="30726" marB="30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A84C7F54-CDAB-42DC-4276-708B43BB48DF}"/>
              </a:ext>
            </a:extLst>
          </p:cNvPr>
          <p:cNvGrpSpPr/>
          <p:nvPr/>
        </p:nvGrpSpPr>
        <p:grpSpPr>
          <a:xfrm>
            <a:off x="3187516" y="2514600"/>
            <a:ext cx="546284" cy="434225"/>
            <a:chOff x="3172394" y="2491160"/>
            <a:chExt cx="804348" cy="703449"/>
          </a:xfrm>
        </p:grpSpPr>
        <p:cxnSp>
          <p:nvCxnSpPr>
            <p:cNvPr id="36" name="Straight Connector 35"/>
            <p:cNvCxnSpPr/>
            <p:nvPr/>
          </p:nvCxnSpPr>
          <p:spPr bwMode="auto">
            <a:xfrm rot="10800000">
              <a:off x="3235881" y="2592073"/>
              <a:ext cx="541337" cy="4318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65"/>
                <p:cNvSpPr txBox="1">
                  <a:spLocks noChangeArrowheads="1"/>
                </p:cNvSpPr>
                <p:nvPr/>
              </p:nvSpPr>
              <p:spPr bwMode="auto">
                <a:xfrm>
                  <a:off x="3388282" y="2491160"/>
                  <a:ext cx="588460" cy="44874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he-IL" sz="1200" i="1" dirty="0" smtClean="0">
                            <a:latin typeface="Cambria Math" panose="02040503050406030204" pitchFamily="18" charset="0"/>
                          </a:rPr>
                          <m:t>𝑎𝑏</m:t>
                        </m:r>
                      </m:oMath>
                    </m:oMathPara>
                  </a14:m>
                  <a:endParaRPr lang="en-US" altLang="he-IL" dirty="0"/>
                </a:p>
              </p:txBody>
            </p:sp>
          </mc:Choice>
          <mc:Fallback xmlns="">
            <p:sp>
              <p:nvSpPr>
                <p:cNvPr id="37" name="Text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88282" y="2491160"/>
                  <a:ext cx="588460" cy="44874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66"/>
                <p:cNvSpPr txBox="1">
                  <a:spLocks noChangeArrowheads="1"/>
                </p:cNvSpPr>
                <p:nvPr/>
              </p:nvSpPr>
              <p:spPr bwMode="auto">
                <a:xfrm>
                  <a:off x="3172394" y="2745868"/>
                  <a:ext cx="608569" cy="44874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he-IL" sz="12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he-IL" sz="1200" i="1" baseline="-25000" dirty="0" err="1" smtClean="0">
                            <a:latin typeface="Cambria Math" panose="02040503050406030204" pitchFamily="18" charset="0"/>
                          </a:rPr>
                          <m:t>𝑖𝑛</m:t>
                        </m:r>
                      </m:oMath>
                    </m:oMathPara>
                  </a14:m>
                  <a:endParaRPr lang="en-US" altLang="he-IL" sz="1200" dirty="0"/>
                </a:p>
              </p:txBody>
            </p:sp>
          </mc:Choice>
          <mc:Fallback xmlns="">
            <p:sp>
              <p:nvSpPr>
                <p:cNvPr id="38" name="TextBox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72394" y="2745868"/>
                  <a:ext cx="608569" cy="44874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958863"/>
              </p:ext>
            </p:extLst>
          </p:nvPr>
        </p:nvGraphicFramePr>
        <p:xfrm>
          <a:off x="6358109" y="2491160"/>
          <a:ext cx="1791970" cy="11061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8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3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3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70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61439" marR="61439" marT="30726" marB="3072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marL="61439" marR="61439" marT="30726" marB="3072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marL="61439" marR="61439" marT="30726" marB="3072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61439" marR="61439" marT="30726" marB="3072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61439" marR="61439" marT="30726" marB="3072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7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1439" marR="61439" marT="30726" marB="30726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L="61439" marR="61439" marT="30726" marB="30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L="61439" marR="61439" marT="30726" marB="30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marL="61439" marR="61439" marT="30726" marB="30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L="61439" marR="61439" marT="30726" marB="30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7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61439" marR="61439" marT="30726" marB="30726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L="61439" marR="61439" marT="30726" marB="30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marL="61439" marR="61439" marT="30726" marB="30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marL="61439" marR="61439" marT="30726" marB="30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marL="61439" marR="61439" marT="30726" marB="30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9" name="Group 11"/>
          <p:cNvGrpSpPr>
            <a:grpSpLocks/>
          </p:cNvGrpSpPr>
          <p:nvPr/>
        </p:nvGrpSpPr>
        <p:grpSpPr bwMode="auto">
          <a:xfrm>
            <a:off x="6324600" y="2514600"/>
            <a:ext cx="399150" cy="345436"/>
            <a:chOff x="698513" y="3276600"/>
            <a:chExt cx="615548" cy="532714"/>
          </a:xfrm>
        </p:grpSpPr>
        <p:cxnSp>
          <p:nvCxnSpPr>
            <p:cNvPr id="20" name="Straight Connector 19"/>
            <p:cNvCxnSpPr/>
            <p:nvPr/>
          </p:nvCxnSpPr>
          <p:spPr>
            <a:xfrm rot="10800000">
              <a:off x="762000" y="3377513"/>
              <a:ext cx="541337" cy="43180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65"/>
                <p:cNvSpPr txBox="1">
                  <a:spLocks noChangeArrowheads="1"/>
                </p:cNvSpPr>
                <p:nvPr/>
              </p:nvSpPr>
              <p:spPr bwMode="auto">
                <a:xfrm>
                  <a:off x="914400" y="3276600"/>
                  <a:ext cx="399661" cy="277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he-IL" sz="1200" i="1" dirty="0" smtClean="0">
                            <a:latin typeface="Cambria Math" panose="02040503050406030204" pitchFamily="18" charset="0"/>
                          </a:rPr>
                          <m:t>𝑎𝑏</m:t>
                        </m:r>
                      </m:oMath>
                    </m:oMathPara>
                  </a14:m>
                  <a:endParaRPr lang="en-US" altLang="he-IL" dirty="0"/>
                </a:p>
              </p:txBody>
            </p:sp>
          </mc:Choice>
          <mc:Fallback xmlns="">
            <p:sp>
              <p:nvSpPr>
                <p:cNvPr id="21" name="Text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14400" y="3276600"/>
                  <a:ext cx="399661" cy="277000"/>
                </a:xfrm>
                <a:prstGeom prst="rect">
                  <a:avLst/>
                </a:prstGeom>
                <a:blipFill>
                  <a:blip r:embed="rId5"/>
                  <a:stretch>
                    <a:fillRect r="-18182" b="-3333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66"/>
                <p:cNvSpPr txBox="1">
                  <a:spLocks noChangeArrowheads="1"/>
                </p:cNvSpPr>
                <p:nvPr/>
              </p:nvSpPr>
              <p:spPr bwMode="auto">
                <a:xfrm>
                  <a:off x="698513" y="3531307"/>
                  <a:ext cx="413318" cy="277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he-IL" sz="12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he-IL" sz="1200" i="1" baseline="-25000" dirty="0" err="1" smtClean="0">
                            <a:latin typeface="Cambria Math" panose="02040503050406030204" pitchFamily="18" charset="0"/>
                          </a:rPr>
                          <m:t>𝑖𝑛</m:t>
                        </m:r>
                      </m:oMath>
                    </m:oMathPara>
                  </a14:m>
                  <a:endParaRPr lang="en-US" altLang="he-IL" dirty="0"/>
                </a:p>
              </p:txBody>
            </p:sp>
          </mc:Choice>
          <mc:Fallback xmlns="">
            <p:sp>
              <p:nvSpPr>
                <p:cNvPr id="24" name="TextBox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8513" y="3531307"/>
                  <a:ext cx="413318" cy="277000"/>
                </a:xfrm>
                <a:prstGeom prst="rect">
                  <a:avLst/>
                </a:prstGeom>
                <a:blipFill>
                  <a:blip r:embed="rId6"/>
                  <a:stretch>
                    <a:fillRect r="-19048" b="-400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968641" y="2067580"/>
                <a:ext cx="95615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28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he-IL" sz="2800" b="1" i="1">
                              <a:latin typeface="Cambria Math" panose="02040503050406030204" pitchFamily="18" charset="0"/>
                            </a:rPr>
                            <m:t>𝒐𝒖𝒕</m:t>
                          </m:r>
                        </m:sub>
                      </m:sSub>
                    </m:oMath>
                  </m:oMathPara>
                </a14:m>
                <a:endParaRPr lang="he-IL" sz="28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641" y="2067580"/>
                <a:ext cx="956159" cy="523220"/>
              </a:xfrm>
              <a:prstGeom prst="rect">
                <a:avLst/>
              </a:prstGeom>
              <a:blipFill>
                <a:blip r:embed="rId7"/>
                <a:stretch>
                  <a:fillRect t="-11628" r="-18421" b="-2790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3028890" y="4102153"/>
                <a:ext cx="3235758" cy="23740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𝒊𝒏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</m:t>
                      </m:r>
                      <m:acc>
                        <m:accPr>
                          <m:chr m:val="̅"/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𝒊𝒏</m:t>
                              </m:r>
                            </m:sub>
                          </m:sSub>
                        </m:e>
                      </m:acc>
                      <m:r>
                        <a:rPr lang="en-US" sz="12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𝒂𝒃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𝒊𝒏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𝒂</m:t>
                      </m:r>
                      <m:acc>
                        <m:accPr>
                          <m:chr m:val="̅"/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𝒊𝒏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pPr/>
                <a:r>
                  <a:rPr lang="en-US" sz="1200" b="1" dirty="0"/>
                  <a:t>  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𝒊𝒏</m:t>
                        </m:r>
                      </m:sub>
                    </m:sSub>
                    <m:d>
                      <m:d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acc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𝒂𝒃</m:t>
                        </m:r>
                      </m:e>
                    </m:d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𝒊𝒏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acc>
                          <m:accPr>
                            <m:chr m:val="̅"/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acc>
                      </m:e>
                    </m:d>
                  </m:oMath>
                </a14:m>
                <a:br>
                  <a:rPr lang="en-US" sz="1200" b="1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    =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𝒊𝒏</m:t>
                          </m:r>
                        </m:sub>
                      </m:sSub>
                      <m:d>
                        <m:d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̅"/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2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</m:acc>
                                  <m:acc>
                                    <m:accPr>
                                      <m:chr m:val="̅"/>
                                      <m:ctrlPr>
                                        <a:rPr lang="en-US" sz="12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e>
                                  </m:acc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𝒂𝒃</m:t>
                                  </m:r>
                                </m:e>
                              </m:acc>
                            </m:e>
                          </m:acc>
                        </m:e>
                      </m:d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𝒊𝒏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acc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acc>
                            <m:accPr>
                              <m:chr m:val="̅"/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200" b="1" dirty="0"/>
                  <a:t>  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𝒊𝒏</m:t>
                        </m:r>
                      </m:sub>
                    </m:sSub>
                    <m:d>
                      <m:d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acc>
                              <m:accPr>
                                <m:chr m:val="̅"/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acc>
                                <m:acc>
                                  <m:accPr>
                                    <m:chr m:val="̅"/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</m:acc>
                              </m:e>
                            </m:acc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̅"/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𝒂𝒃</m:t>
                                </m:r>
                              </m:e>
                            </m:acc>
                          </m:e>
                        </m:acc>
                      </m:e>
                    </m:d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𝒊𝒏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acc>
                          <m:accPr>
                            <m:chr m:val="̅"/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acc>
                      </m:e>
                    </m:d>
                  </m:oMath>
                </a14:m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200" b="1" dirty="0"/>
                  <a:t>  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𝒊𝒏</m:t>
                        </m:r>
                      </m:sub>
                    </m:sSub>
                    <m:d>
                      <m:d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d>
                              <m:d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d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d>
                              <m:d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acc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</m:acc>
                              </m:e>
                            </m:d>
                          </m:e>
                        </m:acc>
                      </m:e>
                    </m:d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𝒊𝒏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acc>
                          <m:accPr>
                            <m:chr m:val="̅"/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acc>
                      </m:e>
                    </m:d>
                  </m:oMath>
                </a14:m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200" b="1" dirty="0"/>
                  <a:t>  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𝒊𝒏</m:t>
                        </m:r>
                      </m:sub>
                    </m:sSub>
                    <m:d>
                      <m:d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acc>
                              <m:accPr>
                                <m:chr m:val="̅"/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acc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̅"/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acc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acc>
                              <m:accPr>
                                <m:chr m:val="̅"/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acc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  <m:acc>
                              <m:accPr>
                                <m:chr m:val="̅"/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acc>
                          </m:e>
                        </m:acc>
                      </m:e>
                    </m:d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𝒊𝒏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acc>
                          <m:accPr>
                            <m:chr m:val="̅"/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acc>
                      </m:e>
                    </m:d>
                  </m:oMath>
                </a14:m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200" b="1" dirty="0"/>
                  <a:t>  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𝒊𝒏</m:t>
                        </m:r>
                      </m:sub>
                    </m:sSub>
                    <m:d>
                      <m:d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acc>
                              <m:accPr>
                                <m:chr m:val="̅"/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acc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acc>
                              <m:accPr>
                                <m:chr m:val="̅"/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acc>
                          </m:e>
                        </m:acc>
                      </m:e>
                    </m:d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𝒊𝒏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acc>
                          <m:accPr>
                            <m:chr m:val="̅"/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acc>
                      </m:e>
                    </m:d>
                  </m:oMath>
                </a14:m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200" b="1" dirty="0"/>
                  <a:t>  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𝒊𝒏</m:t>
                        </m:r>
                      </m:sub>
                    </m:sSub>
                    <m:d>
                      <m:d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⊕</m:t>
                            </m:r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acc>
                      </m:e>
                    </m:d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𝒊𝒏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200" b="1" dirty="0"/>
                  <a:t>  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𝒊𝒏</m:t>
                        </m:r>
                      </m:sub>
                    </m:sSub>
                  </m:oMath>
                </a14:m>
                <a:endParaRPr lang="en-US" sz="1200" b="1" i="1" dirty="0"/>
              </a:p>
              <a:p>
                <a:endParaRPr lang="he-IL" sz="12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8890" y="4102153"/>
                <a:ext cx="3235758" cy="2374048"/>
              </a:xfrm>
              <a:prstGeom prst="rect">
                <a:avLst/>
              </a:prstGeom>
              <a:blipFill>
                <a:blip r:embed="rId8"/>
                <a:stretch>
                  <a:fillRect b="-107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4084366" y="2106439"/>
                <a:ext cx="48763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he-IL" sz="2800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366" y="2106439"/>
                <a:ext cx="487634" cy="523220"/>
              </a:xfrm>
              <a:prstGeom prst="rect">
                <a:avLst/>
              </a:prstGeom>
              <a:blipFill>
                <a:blip r:embed="rId9"/>
                <a:stretch>
                  <a:fillRect t="-14634" r="-35897" b="-3170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Arrow 2">
            <a:extLst>
              <a:ext uri="{FF2B5EF4-FFF2-40B4-BE49-F238E27FC236}">
                <a16:creationId xmlns:a16="http://schemas.microsoft.com/office/drawing/2014/main" id="{65B9ECF1-F980-D226-7972-872A2C8095E7}"/>
              </a:ext>
            </a:extLst>
          </p:cNvPr>
          <p:cNvSpPr/>
          <p:nvPr/>
        </p:nvSpPr>
        <p:spPr>
          <a:xfrm>
            <a:off x="2756459" y="3288268"/>
            <a:ext cx="491045" cy="3367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C1475967-2842-74F0-3314-9A7CEF5A4A73}"/>
              </a:ext>
            </a:extLst>
          </p:cNvPr>
          <p:cNvSpPr/>
          <p:nvPr/>
        </p:nvSpPr>
        <p:spPr>
          <a:xfrm rot="5400000">
            <a:off x="7237765" y="3751613"/>
            <a:ext cx="399949" cy="2743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A0EDCE7-8A28-9318-C840-90A1633DF06A}"/>
              </a:ext>
            </a:extLst>
          </p:cNvPr>
          <p:cNvSpPr/>
          <p:nvPr/>
        </p:nvSpPr>
        <p:spPr>
          <a:xfrm>
            <a:off x="3983203" y="2886181"/>
            <a:ext cx="297325" cy="276999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AA29290-C37B-D02F-0F14-D7266E70D10D}"/>
              </a:ext>
            </a:extLst>
          </p:cNvPr>
          <p:cNvSpPr/>
          <p:nvPr/>
        </p:nvSpPr>
        <p:spPr>
          <a:xfrm>
            <a:off x="3628519" y="3255834"/>
            <a:ext cx="297325" cy="276999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921DEEF-695D-3C06-D1B2-FF49B4CD90E8}"/>
              </a:ext>
            </a:extLst>
          </p:cNvPr>
          <p:cNvSpPr/>
          <p:nvPr/>
        </p:nvSpPr>
        <p:spPr>
          <a:xfrm>
            <a:off x="4703932" y="2896441"/>
            <a:ext cx="297325" cy="276999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F0CCB05-6D58-662C-3163-4AADD9124D73}"/>
              </a:ext>
            </a:extLst>
          </p:cNvPr>
          <p:cNvSpPr/>
          <p:nvPr/>
        </p:nvSpPr>
        <p:spPr>
          <a:xfrm>
            <a:off x="4334863" y="3255833"/>
            <a:ext cx="297325" cy="276999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1978650-E3F5-E017-9E4F-9A73AAD37D81}"/>
              </a:ext>
            </a:extLst>
          </p:cNvPr>
          <p:cNvSpPr/>
          <p:nvPr/>
        </p:nvSpPr>
        <p:spPr>
          <a:xfrm>
            <a:off x="7105431" y="3263775"/>
            <a:ext cx="637362" cy="276999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0E3CAE0-FAEA-F280-4CD4-41EECCA8F7A3}"/>
              </a:ext>
            </a:extLst>
          </p:cNvPr>
          <p:cNvSpPr/>
          <p:nvPr/>
        </p:nvSpPr>
        <p:spPr>
          <a:xfrm>
            <a:off x="7457621" y="3263774"/>
            <a:ext cx="637362" cy="276999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5D87B41-8350-B763-8A5E-2F5E34894FD9}"/>
              </a:ext>
            </a:extLst>
          </p:cNvPr>
          <p:cNvSpPr/>
          <p:nvPr/>
        </p:nvSpPr>
        <p:spPr>
          <a:xfrm rot="5400000">
            <a:off x="7287419" y="3075782"/>
            <a:ext cx="637362" cy="276999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80E261-B2AF-EBE1-B57C-B4FFD52A8D25}"/>
                  </a:ext>
                </a:extLst>
              </p:cNvPr>
              <p:cNvSpPr txBox="1"/>
              <p:nvPr/>
            </p:nvSpPr>
            <p:spPr>
              <a:xfrm>
                <a:off x="5296544" y="4098079"/>
                <a:ext cx="407605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rtl="0" eaLnBrk="0" fontAlgn="base" hangingPunct="0">
                  <a:spcBef>
                    <a:spcPct val="3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𝒐𝒖𝒕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𝒊𝒏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𝒊𝒏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he-IL" sz="1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80E261-B2AF-EBE1-B57C-B4FFD52A8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544" y="4098079"/>
                <a:ext cx="4076056" cy="276999"/>
              </a:xfrm>
              <a:prstGeom prst="rect">
                <a:avLst/>
              </a:prstGeom>
              <a:blipFill>
                <a:blip r:embed="rId10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0952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4" grpId="0"/>
      <p:bldP spid="26" grpId="0"/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  Adder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3429000" y="1903413"/>
            <a:ext cx="5105400" cy="4922837"/>
          </a:xfrm>
        </p:spPr>
        <p:txBody>
          <a:bodyPr/>
          <a:lstStyle/>
          <a:p>
            <a:pPr eaLnBrk="1" hangingPunct="1"/>
            <a:r>
              <a:rPr lang="he-IL" altLang="he-IL" sz="2800" dirty="0"/>
              <a:t>מימוש 1:</a:t>
            </a:r>
            <a:br>
              <a:rPr lang="en-US" altLang="he-IL" sz="2800" dirty="0"/>
            </a:br>
            <a:r>
              <a:rPr lang="he-IL" altLang="he-IL" sz="2800" dirty="0"/>
              <a:t>(ראינו בתרגול הקודם)</a:t>
            </a:r>
            <a:endParaRPr lang="en-US" altLang="he-IL" sz="2800" baseline="-25000" dirty="0"/>
          </a:p>
        </p:txBody>
      </p:sp>
      <p:sp>
        <p:nvSpPr>
          <p:cNvPr id="1331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08D0247-7AFF-426D-A1DF-44F8963068FF}" type="slidenum">
              <a:rPr lang="en-US" altLang="he-IL" sz="1200" smtClean="0">
                <a:solidFill>
                  <a:srgbClr val="D38E27"/>
                </a:solidFill>
                <a:latin typeface="Franklin Gothic Book" panose="020B0503020102020204" pitchFamily="34" charset="0"/>
              </a:rPr>
              <a:pPr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9</a:t>
            </a:fld>
            <a:endParaRPr lang="en-US" altLang="he-IL" sz="1200">
              <a:solidFill>
                <a:srgbClr val="D38E27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331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he-IL" altLang="he-IL" sz="1800">
              <a:solidFill>
                <a:schemeClr val="tx1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85800" y="2285999"/>
            <a:ext cx="1040075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e-IL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011840"/>
              </p:ext>
            </p:extLst>
          </p:nvPr>
        </p:nvGraphicFramePr>
        <p:xfrm>
          <a:off x="685799" y="2017674"/>
          <a:ext cx="4953001" cy="3849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5068556" imgH="11687220" progId="Visio.Drawing.15">
                  <p:embed/>
                </p:oleObj>
              </mc:Choice>
              <mc:Fallback>
                <p:oleObj name="Visio" r:id="rId3" imgW="15068556" imgH="11687220" progId="Visio.Drawing.15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799" y="2017674"/>
                        <a:ext cx="4953001" cy="38497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0388" y="285017"/>
            <a:ext cx="7543800" cy="1449387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  Adder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3260725" y="1935163"/>
            <a:ext cx="5105400" cy="1341437"/>
          </a:xfrm>
        </p:spPr>
        <p:txBody>
          <a:bodyPr/>
          <a:lstStyle/>
          <a:p>
            <a:pPr eaLnBrk="1" hangingPunct="1"/>
            <a:r>
              <a:rPr lang="he-IL" altLang="he-IL" sz="2800" dirty="0"/>
              <a:t>מימוש 2:</a:t>
            </a:r>
            <a:br>
              <a:rPr lang="en-US" altLang="he-IL" sz="2800" dirty="0"/>
            </a:br>
            <a:r>
              <a:rPr lang="he-IL" altLang="he-IL" sz="2800" dirty="0"/>
              <a:t>(בעזרת </a:t>
            </a:r>
            <a:r>
              <a:rPr lang="en-US" altLang="he-IL" sz="2800" dirty="0"/>
              <a:t>H.A.</a:t>
            </a:r>
            <a:r>
              <a:rPr lang="he-IL" altLang="he-IL" sz="2800" dirty="0"/>
              <a:t>)</a:t>
            </a:r>
            <a:endParaRPr lang="en-US" altLang="he-IL" sz="2800" baseline="-25000" dirty="0"/>
          </a:p>
        </p:txBody>
      </p:sp>
      <p:sp>
        <p:nvSpPr>
          <p:cNvPr id="1434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DCA91B7-4763-4E33-A90E-A9D8BBB30644}" type="slidenum">
              <a:rPr lang="en-US" altLang="he-IL" sz="1200" smtClean="0">
                <a:solidFill>
                  <a:srgbClr val="D38E27"/>
                </a:solidFill>
                <a:latin typeface="Franklin Gothic Book" panose="020B0503020102020204" pitchFamily="34" charset="0"/>
              </a:rPr>
              <a:pPr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10</a:t>
            </a:fld>
            <a:endParaRPr lang="en-US" altLang="he-IL" sz="1200">
              <a:solidFill>
                <a:srgbClr val="D38E27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434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he-IL" altLang="he-IL" sz="1800">
              <a:solidFill>
                <a:schemeClr val="tx1"/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362707"/>
              </p:ext>
            </p:extLst>
          </p:nvPr>
        </p:nvGraphicFramePr>
        <p:xfrm>
          <a:off x="220579" y="3276600"/>
          <a:ext cx="8923421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8001068" imgH="1714500" progId="Visio.Drawing.15">
                  <p:embed/>
                </p:oleObj>
              </mc:Choice>
              <mc:Fallback>
                <p:oleObj name="Visio" r:id="rId3" imgW="8001068" imgH="1714500" progId="Visio.Drawing.15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79" y="3276600"/>
                        <a:ext cx="8923421" cy="1905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7171926"/>
              </p:ext>
            </p:extLst>
          </p:nvPr>
        </p:nvGraphicFramePr>
        <p:xfrm>
          <a:off x="3851232" y="5257800"/>
          <a:ext cx="16621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34725" imgH="406224" progId="Equation.DSMT4">
                  <p:embed/>
                </p:oleObj>
              </mc:Choice>
              <mc:Fallback>
                <p:oleObj name="Equation" r:id="rId5" imgW="634725" imgH="406224" progId="Equation.DSMT4">
                  <p:embed/>
                  <p:pic>
                    <p:nvPicPr>
                      <p:cNvPr id="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32" y="5257800"/>
                        <a:ext cx="1662113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1B02F732-7C8D-485B-A893-60E361908FD4}"/>
              </a:ext>
            </a:extLst>
          </p:cNvPr>
          <p:cNvGrpSpPr/>
          <p:nvPr/>
        </p:nvGrpSpPr>
        <p:grpSpPr>
          <a:xfrm>
            <a:off x="3013032" y="5257800"/>
            <a:ext cx="854978" cy="1019969"/>
            <a:chOff x="3013032" y="5257800"/>
            <a:chExt cx="854978" cy="1019969"/>
          </a:xfrm>
        </p:grpSpPr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9C7DB1D0-CACD-4922-B16E-4309B012E0B7}"/>
                </a:ext>
              </a:extLst>
            </p:cNvPr>
            <p:cNvSpPr/>
            <p:nvPr/>
          </p:nvSpPr>
          <p:spPr>
            <a:xfrm>
              <a:off x="3563210" y="5257800"/>
              <a:ext cx="304800" cy="1019969"/>
            </a:xfrm>
            <a:prstGeom prst="leftBrac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DA8DE1B-AB3A-439C-BC88-692E5E264045}"/>
                </a:ext>
              </a:extLst>
            </p:cNvPr>
            <p:cNvSpPr txBox="1"/>
            <p:nvPr/>
          </p:nvSpPr>
          <p:spPr>
            <a:xfrm>
              <a:off x="3013032" y="5583118"/>
              <a:ext cx="83820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dirty="0"/>
                <a:t>H.A</a:t>
              </a:r>
              <a:endParaRPr lang="he-IL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Full-Adder</a:t>
            </a:r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כמערכת פעולות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846263"/>
                <a:ext cx="8610600" cy="4022725"/>
              </a:xfrm>
            </p:spPr>
            <p:txBody>
              <a:bodyPr/>
              <a:lstStyle/>
              <a:p>
                <a:pPr eaLnBrk="1" hangingPunct="1"/>
                <a:r>
                  <a:rPr lang="he-IL" altLang="he-IL" sz="2400" dirty="0"/>
                  <a:t>הוכיחו ש- </a:t>
                </a:r>
                <a:r>
                  <a:rPr lang="en-US" altLang="he-IL" sz="2400" dirty="0"/>
                  <a:t>FA</a:t>
                </a:r>
                <a:r>
                  <a:rPr lang="he-IL" altLang="he-IL" sz="2400" dirty="0"/>
                  <a:t> מהווה מערכת פעולות חצי-שלמה</a:t>
                </a:r>
              </a:p>
              <a:p>
                <a:pPr eaLnBrk="1" hangingPunct="1"/>
                <a:endParaRPr lang="he-IL" altLang="he-IL" sz="2400" dirty="0"/>
              </a:p>
              <a:p>
                <a:pPr eaLnBrk="1" hangingPunct="1"/>
                <a:endParaRPr lang="he-IL" altLang="he-IL" sz="2400" dirty="0"/>
              </a:p>
              <a:p>
                <a:pPr eaLnBrk="1" hangingPunct="1"/>
                <a:endParaRPr lang="he-IL" altLang="he-IL" sz="400" dirty="0"/>
              </a:p>
              <a:p>
                <a:pPr eaLnBrk="1" hangingPunct="1"/>
                <a:r>
                  <a:rPr lang="he-IL" altLang="he-IL" sz="2400" dirty="0"/>
                  <a:t>לדוגמא, ממשו את הפונקציה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he-IL" altLang="he-IL" sz="2400" dirty="0"/>
                  <a:t> בעזרת </a:t>
                </a:r>
                <a:r>
                  <a:rPr lang="en-US" altLang="he-IL" sz="2400" dirty="0"/>
                  <a:t>FA</a:t>
                </a:r>
                <a:r>
                  <a:rPr lang="he-IL" altLang="he-IL" sz="2400" dirty="0"/>
                  <a:t> וקבועים</a:t>
                </a:r>
                <a:r>
                  <a:rPr lang="en-US" altLang="he-IL" sz="2400" dirty="0"/>
                  <a:t> </a:t>
                </a:r>
                <a:endParaRPr lang="he-IL" altLang="he-IL" sz="2400" dirty="0"/>
              </a:p>
            </p:txBody>
          </p:sp>
        </mc:Choice>
        <mc:Fallback xmlns="">
          <p:sp>
            <p:nvSpPr>
              <p:cNvPr id="1843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846263"/>
                <a:ext cx="8610600" cy="4022725"/>
              </a:xfrm>
              <a:blipFill rotWithShape="0">
                <a:blip r:embed="rId4"/>
                <a:stretch>
                  <a:fillRect t="-2273" r="-212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F82E433-7785-4FBE-B27D-C17B79B03079}" type="slidenum">
              <a:rPr lang="en-US" altLang="he-IL" sz="1200" smtClean="0">
                <a:solidFill>
                  <a:srgbClr val="D38E27"/>
                </a:solidFill>
                <a:latin typeface="Franklin Gothic Book" panose="020B0503020102020204" pitchFamily="34" charset="0"/>
              </a:rPr>
              <a:pPr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11</a:t>
            </a:fld>
            <a:endParaRPr lang="en-US" altLang="he-IL" sz="1200">
              <a:solidFill>
                <a:srgbClr val="D38E27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843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he-IL" altLang="he-IL" sz="1800">
              <a:solidFill>
                <a:schemeClr val="tx1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843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he-IL" altLang="he-IL" sz="1800">
              <a:solidFill>
                <a:schemeClr val="tx1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8441" name="Rectangle 5"/>
          <p:cNvSpPr>
            <a:spLocks noChangeArrowheads="1"/>
          </p:cNvSpPr>
          <p:nvPr/>
        </p:nvSpPr>
        <p:spPr bwMode="auto">
          <a:xfrm>
            <a:off x="0" y="2571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he-IL" altLang="he-IL" sz="1800">
              <a:solidFill>
                <a:schemeClr val="tx1"/>
              </a:solidFill>
              <a:latin typeface="Franklin Gothic Book" panose="020B0503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85787" y="2435859"/>
                <a:ext cx="8016875" cy="10878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𝑺</m:t>
                      </m:r>
                      <m:d>
                        <m:d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𝒃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𝒊𝒏</m:t>
                              </m:r>
                            </m:sub>
                          </m:sSub>
                        </m:e>
                      </m:d>
                      <m:r>
                        <a:rPr lang="en-US" sz="2000" b="1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𝒂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⊕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𝒃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𝒊𝒏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⇒ 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𝑺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sz="2400" b="1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</m:acc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marL="4572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𝒐𝒖𝒕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𝒃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𝒊𝒏</m:t>
                              </m:r>
                            </m:sub>
                          </m:sSub>
                        </m:e>
                      </m:d>
                      <m:r>
                        <a:rPr lang="en-US" sz="2400" b="1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𝒂𝒃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𝒂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𝒊𝒏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𝒊𝒏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𝒃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⇒ 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𝒐𝒖𝒕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𝒃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sz="2400" b="1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𝒂𝒃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87" y="2435859"/>
                <a:ext cx="8016875" cy="10878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21285" y="4113317"/>
                <a:ext cx="8229600" cy="22722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𝒘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sz="20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sz="20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𝒚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</m:acc>
                      <m:r>
                        <a:rPr lang="en-US" sz="20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𝒙</m:t>
                      </m:r>
                      <m:acc>
                        <m:accPr>
                          <m:chr m:val="̅"/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en-US" sz="2000" b="1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e-IL" sz="2000" b="1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he-IL" sz="2000" b="1" i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</m:acc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</m:acc>
                        <m: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acc>
                          <m:accPr>
                            <m:chr m:val="̅"/>
                            <m:ctrlPr>
                              <a:rPr lang="en-US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</m:acc>
                      </m:e>
                    </m:d>
                  </m:oMath>
                </a14:m>
                <a:endParaRPr lang="he-IL" sz="2000" b="1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e-IL" sz="2000" b="1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</m:acc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⊕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</m:d>
                  </m:oMath>
                </a14:m>
                <a:endParaRPr lang="he-IL" sz="2000" b="1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e-IL" sz="2000" b="1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𝑺</m:t>
                    </m:r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𝒘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</m:d>
                    <m:r>
                      <a:rPr lang="en-US" sz="20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𝑺</m:t>
                    </m:r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</m:d>
                  </m:oMath>
                </a14:m>
                <a:endParaRPr lang="en-US" sz="2000" b="1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e-IL" sz="2000" b="1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borderBox>
                      <m:borderBoxPr>
                        <m:ctrlP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𝒐𝒖𝒕</m:t>
                            </m:r>
                          </m:sub>
                        </m:sSub>
                        <m: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  <m:d>
                          <m:dPr>
                            <m:ctrlPr>
                              <a:rPr lang="en-US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𝒘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e>
                        </m:d>
                        <m: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𝑺</m:t>
                        </m:r>
                        <m:d>
                          <m:dPr>
                            <m:ctrlPr>
                              <a:rPr lang="en-US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e>
                        </m:d>
                        <m: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borderBox>
                  </m:oMath>
                </a14:m>
                <a:endParaRPr lang="en-US" sz="2400" b="1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85" y="4113317"/>
                <a:ext cx="8229600" cy="2272225"/>
              </a:xfrm>
              <a:prstGeom prst="rect">
                <a:avLst/>
              </a:prstGeom>
              <a:blipFill>
                <a:blip r:embed="rId6"/>
                <a:stretch>
                  <a:fillRect b="-111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4988188"/>
              </p:ext>
            </p:extLst>
          </p:nvPr>
        </p:nvGraphicFramePr>
        <p:xfrm>
          <a:off x="6324600" y="3962400"/>
          <a:ext cx="2698751" cy="2370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3781321" imgH="3324240" progId="Visio.Drawing.15">
                  <p:embed/>
                </p:oleObj>
              </mc:Choice>
              <mc:Fallback>
                <p:oleObj name="Visio" r:id="rId7" imgW="3781321" imgH="3324240" progId="Visio.Drawing.15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3962400"/>
                        <a:ext cx="2698751" cy="23703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2A3356-D8E6-4574-BA3B-4924C966D0A1}" type="slidenum">
              <a:rPr lang="en-US" altLang="he-IL" smtClean="0"/>
              <a:pPr>
                <a:defRPr/>
              </a:pPr>
              <a:t>12</a:t>
            </a:fld>
            <a:endParaRPr lang="en-US" altLang="he-IL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88921" y="1846263"/>
            <a:ext cx="6010608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423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07894-37F0-6865-8034-E4EE601E9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06923-4C59-89AE-5205-8C1676AD2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תרגיל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100DABFC-583C-E9DF-21FB-FF9154C1F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he-IL" altLang="he-IL" sz="3200" dirty="0"/>
              <a:t>ממשו מכפל 2 סיביות על 2 סיביות באמצעות שימוש בשערים לוגים וברכיבי </a:t>
            </a:r>
            <a:r>
              <a:rPr lang="en-US" altLang="he-IL" sz="3200" dirty="0"/>
              <a:t>HA</a:t>
            </a:r>
            <a:r>
              <a:rPr lang="he-IL" altLang="he-IL" sz="3200" dirty="0"/>
              <a:t> בלבד.</a:t>
            </a:r>
            <a:endParaRPr lang="en-US" altLang="he-IL" sz="3200" dirty="0"/>
          </a:p>
        </p:txBody>
      </p:sp>
      <p:sp>
        <p:nvSpPr>
          <p:cNvPr id="19460" name="Slide Number Placeholder 2">
            <a:extLst>
              <a:ext uri="{FF2B5EF4-FFF2-40B4-BE49-F238E27FC236}">
                <a16:creationId xmlns:a16="http://schemas.microsoft.com/office/drawing/2014/main" id="{4AA4EDAB-C2C4-8A90-C18A-926793798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D498703-4BDC-4132-9D37-616C9B4F8E78}" type="slidenum">
              <a:rPr lang="en-US" altLang="he-IL" sz="1200" smtClean="0">
                <a:solidFill>
                  <a:srgbClr val="D38E27"/>
                </a:solidFill>
                <a:latin typeface="Franklin Gothic Book" panose="020B0503020102020204" pitchFamily="34" charset="0"/>
              </a:rPr>
              <a:pPr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13</a:t>
            </a:fld>
            <a:endParaRPr lang="en-US" altLang="he-IL" sz="1200">
              <a:solidFill>
                <a:srgbClr val="D38E27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9461" name="Rectangle 2">
            <a:extLst>
              <a:ext uri="{FF2B5EF4-FFF2-40B4-BE49-F238E27FC236}">
                <a16:creationId xmlns:a16="http://schemas.microsoft.com/office/drawing/2014/main" id="{15A61F2E-C5BD-C5D4-C0A3-92DF30489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he-IL" altLang="he-IL" sz="1800">
              <a:solidFill>
                <a:schemeClr val="tx1"/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349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תרגיל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he-IL" altLang="he-IL" sz="3200" dirty="0"/>
              <a:t>מימוש מכפל:</a:t>
            </a:r>
            <a:endParaRPr lang="en-US" altLang="he-IL" sz="3200" dirty="0"/>
          </a:p>
        </p:txBody>
      </p:sp>
      <p:sp>
        <p:nvSpPr>
          <p:cNvPr id="1946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D498703-4BDC-4132-9D37-616C9B4F8E78}" type="slidenum">
              <a:rPr lang="en-US" altLang="he-IL" sz="1200" smtClean="0">
                <a:solidFill>
                  <a:srgbClr val="D38E27"/>
                </a:solidFill>
                <a:latin typeface="Franklin Gothic Book" panose="020B0503020102020204" pitchFamily="34" charset="0"/>
              </a:rPr>
              <a:pPr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14</a:t>
            </a:fld>
            <a:endParaRPr lang="en-US" altLang="he-IL" sz="1200">
              <a:solidFill>
                <a:srgbClr val="D38E27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946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he-IL" altLang="he-IL" sz="1800">
              <a:solidFill>
                <a:schemeClr val="tx1"/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1946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253609"/>
              </p:ext>
            </p:extLst>
          </p:nvPr>
        </p:nvGraphicFramePr>
        <p:xfrm>
          <a:off x="5943600" y="2667000"/>
          <a:ext cx="2667000" cy="260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12900" imgH="1574800" progId="Equation.DSMT4">
                  <p:embed/>
                </p:oleObj>
              </mc:Choice>
              <mc:Fallback>
                <p:oleObj name="Equation" r:id="rId3" imgW="1612900" imgH="1574800" progId="Equation.DSMT4">
                  <p:embed/>
                  <p:pic>
                    <p:nvPicPr>
                      <p:cNvPr id="1946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667000"/>
                        <a:ext cx="2667000" cy="260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3" descr="New-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667000"/>
            <a:ext cx="5257800" cy="25828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57200" y="2667000"/>
            <a:ext cx="4343400" cy="25828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  <p:sp>
        <p:nvSpPr>
          <p:cNvPr id="4" name="Rectangle 3"/>
          <p:cNvSpPr/>
          <p:nvPr/>
        </p:nvSpPr>
        <p:spPr>
          <a:xfrm>
            <a:off x="8092440" y="3810000"/>
            <a:ext cx="518160" cy="15011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עוד שימושים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he-IL" altLang="he-IL" sz="3200" dirty="0"/>
              <a:t>מימוש מכפל:</a:t>
            </a:r>
            <a:endParaRPr lang="en-US" altLang="he-IL" sz="3200" dirty="0"/>
          </a:p>
        </p:txBody>
      </p:sp>
      <p:sp>
        <p:nvSpPr>
          <p:cNvPr id="20484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C2FDD3C-C9DE-40D8-A779-5356BFF368D2}" type="slidenum">
              <a:rPr lang="en-US" altLang="he-IL" sz="1200" smtClean="0">
                <a:solidFill>
                  <a:srgbClr val="D38E27"/>
                </a:solidFill>
                <a:latin typeface="Franklin Gothic Book" panose="020B0503020102020204" pitchFamily="34" charset="0"/>
              </a:rPr>
              <a:pPr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15</a:t>
            </a:fld>
            <a:endParaRPr lang="en-US" altLang="he-IL" sz="1200">
              <a:solidFill>
                <a:srgbClr val="D38E27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048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he-IL" altLang="he-IL" sz="1800">
              <a:solidFill>
                <a:schemeClr val="tx1"/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20486" name="Object 1"/>
          <p:cNvGraphicFramePr>
            <a:graphicFrameLocks noChangeAspect="1"/>
          </p:cNvGraphicFramePr>
          <p:nvPr/>
        </p:nvGraphicFramePr>
        <p:xfrm>
          <a:off x="5943600" y="2667000"/>
          <a:ext cx="2667000" cy="260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12900" imgH="1574800" progId="Equation.DSMT4">
                  <p:embed/>
                </p:oleObj>
              </mc:Choice>
              <mc:Fallback>
                <p:oleObj name="Equation" r:id="rId3" imgW="1612900" imgH="1574800" progId="Equation.DSMT4">
                  <p:embed/>
                  <p:pic>
                    <p:nvPicPr>
                      <p:cNvPr id="20486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667000"/>
                        <a:ext cx="2667000" cy="260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7" name="Picture 3" descr="New-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667000"/>
            <a:ext cx="5257800" cy="25828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57200" y="2667000"/>
            <a:ext cx="2438400" cy="25828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  <p:sp>
        <p:nvSpPr>
          <p:cNvPr id="9" name="Rectangle 8"/>
          <p:cNvSpPr/>
          <p:nvPr/>
        </p:nvSpPr>
        <p:spPr>
          <a:xfrm>
            <a:off x="7444740" y="3819525"/>
            <a:ext cx="518160" cy="15011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עוד שימושים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he-IL" altLang="he-IL" sz="3200" dirty="0"/>
              <a:t>מימוש מכפל:</a:t>
            </a:r>
            <a:endParaRPr lang="en-US" altLang="he-IL" sz="3200" dirty="0"/>
          </a:p>
        </p:txBody>
      </p:sp>
      <p:sp>
        <p:nvSpPr>
          <p:cNvPr id="2150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205875F8-9231-4A1F-87B4-26CBD3E61995}" type="slidenum">
              <a:rPr lang="en-US" altLang="he-IL" sz="1200" smtClean="0">
                <a:solidFill>
                  <a:srgbClr val="D38E27"/>
                </a:solidFill>
                <a:latin typeface="Franklin Gothic Book" panose="020B0503020102020204" pitchFamily="34" charset="0"/>
              </a:rPr>
              <a:pPr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16</a:t>
            </a:fld>
            <a:endParaRPr lang="en-US" altLang="he-IL" sz="1200">
              <a:solidFill>
                <a:srgbClr val="D38E27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150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 algn="r" rtl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l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he-IL" altLang="he-IL" sz="1800">
              <a:solidFill>
                <a:schemeClr val="tx1"/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21510" name="Object 1"/>
          <p:cNvGraphicFramePr>
            <a:graphicFrameLocks noChangeAspect="1"/>
          </p:cNvGraphicFramePr>
          <p:nvPr/>
        </p:nvGraphicFramePr>
        <p:xfrm>
          <a:off x="5943600" y="2667000"/>
          <a:ext cx="2667000" cy="260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12900" imgH="1574800" progId="Equation.DSMT4">
                  <p:embed/>
                </p:oleObj>
              </mc:Choice>
              <mc:Fallback>
                <p:oleObj name="Equation" r:id="rId3" imgW="1612900" imgH="1574800" progId="Equation.DSMT4">
                  <p:embed/>
                  <p:pic>
                    <p:nvPicPr>
                      <p:cNvPr id="2151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667000"/>
                        <a:ext cx="2667000" cy="260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11" name="Picture 3" descr="New-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667000"/>
            <a:ext cx="5257800" cy="25828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6248400" y="3834765"/>
            <a:ext cx="1089660" cy="15011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CDF59A-DAB3-4906-91E1-B0589BE7999F}" type="slidenum">
              <a:rPr lang="en-US" altLang="he-IL" smtClean="0"/>
              <a:pPr>
                <a:defRPr/>
              </a:pPr>
              <a:t>17</a:t>
            </a:fld>
            <a:endParaRPr lang="en-US" altLang="he-IL"/>
          </a:p>
        </p:txBody>
      </p:sp>
      <p:pic>
        <p:nvPicPr>
          <p:cNvPr id="2355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219200"/>
            <a:ext cx="7516813" cy="488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TextBox 6"/>
          <p:cNvSpPr txBox="1">
            <a:spLocks noChangeArrowheads="1"/>
          </p:cNvSpPr>
          <p:nvPr/>
        </p:nvSpPr>
        <p:spPr bwMode="auto">
          <a:xfrm>
            <a:off x="2667000" y="295275"/>
            <a:ext cx="6172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/>
            <a:r>
              <a:rPr lang="he-IL" altLang="he-IL" sz="4000" dirty="0"/>
              <a:t>שאלה ממבחן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99A10-C1DF-46D0-6C0E-ACF98F994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798B5-5F39-0CF7-2A10-D9A39F20C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CDF59A-DAB3-4906-91E1-B0589BE7999F}" type="slidenum">
              <a:rPr lang="en-US" altLang="he-IL" smtClean="0"/>
              <a:pPr>
                <a:defRPr/>
              </a:pPr>
              <a:t>18</a:t>
            </a:fld>
            <a:endParaRPr lang="en-US" altLang="he-IL"/>
          </a:p>
        </p:txBody>
      </p:sp>
      <p:pic>
        <p:nvPicPr>
          <p:cNvPr id="23555" name="Picture 5">
            <a:extLst>
              <a:ext uri="{FF2B5EF4-FFF2-40B4-BE49-F238E27FC236}">
                <a16:creationId xmlns:a16="http://schemas.microsoft.com/office/drawing/2014/main" id="{B62218AA-FACB-D30C-29EF-5BFF94A64C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219200"/>
            <a:ext cx="7516813" cy="488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TextBox 6">
            <a:extLst>
              <a:ext uri="{FF2B5EF4-FFF2-40B4-BE49-F238E27FC236}">
                <a16:creationId xmlns:a16="http://schemas.microsoft.com/office/drawing/2014/main" id="{DCFD1090-CD97-1FAA-B7D9-5027199E7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295275"/>
            <a:ext cx="6172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/>
            <a:r>
              <a:rPr lang="he-IL" altLang="he-IL" sz="4000" dirty="0"/>
              <a:t>שאלה ממבחן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602866-9630-A9B5-E584-D2A776F0872D}"/>
              </a:ext>
            </a:extLst>
          </p:cNvPr>
          <p:cNvSpPr/>
          <p:nvPr/>
        </p:nvSpPr>
        <p:spPr>
          <a:xfrm>
            <a:off x="5105399" y="4191000"/>
            <a:ext cx="3352801" cy="3810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7287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408B7-86D1-0E9A-9948-DEEB386FD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32CC9-3654-4720-2347-DF6557208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CDF59A-DAB3-4906-91E1-B0589BE7999F}" type="slidenum">
              <a:rPr lang="en-US" altLang="he-IL" smtClean="0"/>
              <a:pPr>
                <a:defRPr/>
              </a:pPr>
              <a:t>19</a:t>
            </a:fld>
            <a:endParaRPr lang="en-US" altLang="he-IL"/>
          </a:p>
        </p:txBody>
      </p:sp>
      <p:sp>
        <p:nvSpPr>
          <p:cNvPr id="23556" name="TextBox 6">
            <a:extLst>
              <a:ext uri="{FF2B5EF4-FFF2-40B4-BE49-F238E27FC236}">
                <a16:creationId xmlns:a16="http://schemas.microsoft.com/office/drawing/2014/main" id="{A0505CCF-7134-68AC-24D1-B3D6EAE0B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295275"/>
            <a:ext cx="6172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/>
            <a:r>
              <a:rPr lang="he-IL" altLang="he-IL" sz="4000" dirty="0"/>
              <a:t>פתרון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7EC72FDB-44F4-98E3-40F9-72B82429A0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8645" y="1269675"/>
                <a:ext cx="4267200" cy="923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he-IL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he-IL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he-IL" b="0" i="1" smtClean="0">
                          <a:latin typeface="Cambria Math" panose="02040503050406030204" pitchFamily="18" charset="0"/>
                        </a:rPr>
                        <m:t>𝑦𝑧</m:t>
                      </m:r>
                      <m:r>
                        <a:rPr lang="en-US" altLang="he-I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he-IL" b="0" i="1" smtClean="0">
                          <a:latin typeface="Cambria Math" panose="02040503050406030204" pitchFamily="18" charset="0"/>
                        </a:rPr>
                        <m:t>𝑥</m:t>
                      </m:r>
                      <m:acc>
                        <m:accPr>
                          <m:chr m:val="̅"/>
                          <m:ctrlP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he-IL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he-I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he-IL" b="0" i="1" smtClean="0">
                          <a:latin typeface="Cambria Math" panose="02040503050406030204" pitchFamily="18" charset="0"/>
                        </a:rPr>
                        <m:t>𝑥𝑦</m:t>
                      </m:r>
                      <m:acc>
                        <m:accPr>
                          <m:chr m:val="̅"/>
                          <m:ctrlP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altLang="he-I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he-IL" b="0" i="1" smtClean="0">
                          <a:latin typeface="Cambria Math" panose="02040503050406030204" pitchFamily="18" charset="0"/>
                        </a:rPr>
                        <m:t>𝑥𝑦𝑧</m:t>
                      </m:r>
                    </m:oMath>
                  </m:oMathPara>
                </a14:m>
                <a:endParaRPr lang="en-US" altLang="he-IL" b="0" dirty="0"/>
              </a:p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he-IL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he-I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he-I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he-IL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he-IL" altLang="he-IL" b="0" dirty="0"/>
              </a:p>
              <a:p>
                <a:pPr algn="r" rtl="1"/>
                <a:r>
                  <a:rPr lang="he-IL" altLang="he-IL" dirty="0"/>
                  <a:t>הרכיב </a:t>
                </a:r>
                <a:r>
                  <a:rPr lang="en-US" altLang="he-IL" dirty="0"/>
                  <a:t>MAX</a:t>
                </a:r>
                <a:r>
                  <a:rPr lang="he-IL" altLang="he-IL" dirty="0"/>
                  <a:t> איננו מערכת פעולות שלמה</a:t>
                </a:r>
                <a:endParaRPr lang="en-US" altLang="he-IL" b="0" dirty="0"/>
              </a:p>
            </p:txBody>
          </p:sp>
        </mc:Choice>
        <mc:Fallback xmlns=""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7EC72FDB-44F4-98E3-40F9-72B82429A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58645" y="1269675"/>
                <a:ext cx="4267200" cy="923330"/>
              </a:xfrm>
              <a:prstGeom prst="rect">
                <a:avLst/>
              </a:prstGeom>
              <a:blipFill>
                <a:blip r:embed="rId3"/>
                <a:stretch>
                  <a:fillRect r="-1143" b="-92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טבלה 6">
            <a:extLst>
              <a:ext uri="{FF2B5EF4-FFF2-40B4-BE49-F238E27FC236}">
                <a16:creationId xmlns:a16="http://schemas.microsoft.com/office/drawing/2014/main" id="{7F7FBDC4-D27C-2FA3-99F8-D17EBF31B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346243"/>
              </p:ext>
            </p:extLst>
          </p:nvPr>
        </p:nvGraphicFramePr>
        <p:xfrm>
          <a:off x="76200" y="200840"/>
          <a:ext cx="4800603" cy="3606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299885">
                  <a:extLst>
                    <a:ext uri="{9D8B030D-6E8A-4147-A177-3AD203B41FA5}">
                      <a16:colId xmlns:a16="http://schemas.microsoft.com/office/drawing/2014/main" val="3306224007"/>
                    </a:ext>
                  </a:extLst>
                </a:gridCol>
                <a:gridCol w="1389530">
                  <a:extLst>
                    <a:ext uri="{9D8B030D-6E8A-4147-A177-3AD203B41FA5}">
                      <a16:colId xmlns:a16="http://schemas.microsoft.com/office/drawing/2014/main" val="4242955452"/>
                    </a:ext>
                  </a:extLst>
                </a:gridCol>
                <a:gridCol w="936812">
                  <a:extLst>
                    <a:ext uri="{9D8B030D-6E8A-4147-A177-3AD203B41FA5}">
                      <a16:colId xmlns:a16="http://schemas.microsoft.com/office/drawing/2014/main" val="709419064"/>
                    </a:ext>
                  </a:extLst>
                </a:gridCol>
                <a:gridCol w="349624">
                  <a:extLst>
                    <a:ext uri="{9D8B030D-6E8A-4147-A177-3AD203B41FA5}">
                      <a16:colId xmlns:a16="http://schemas.microsoft.com/office/drawing/2014/main" val="2889349511"/>
                    </a:ext>
                  </a:extLst>
                </a:gridCol>
                <a:gridCol w="425822">
                  <a:extLst>
                    <a:ext uri="{9D8B030D-6E8A-4147-A177-3AD203B41FA5}">
                      <a16:colId xmlns:a16="http://schemas.microsoft.com/office/drawing/2014/main" val="2209640478"/>
                    </a:ext>
                  </a:extLst>
                </a:gridCol>
                <a:gridCol w="398930">
                  <a:extLst>
                    <a:ext uri="{9D8B030D-6E8A-4147-A177-3AD203B41FA5}">
                      <a16:colId xmlns:a16="http://schemas.microsoft.com/office/drawing/2014/main" val="27819786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dirty="0"/>
                        <a:t>Out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dirty="0"/>
                        <a:t>OR(Y,Z)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Out OR(</a:t>
                      </a:r>
                      <a:r>
                        <a:rPr lang="en-US" dirty="0" err="1"/>
                        <a:t>x,y,z</a:t>
                      </a:r>
                      <a:r>
                        <a:rPr lang="en-US" dirty="0"/>
                        <a:t>)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Out Max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z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y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x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496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640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048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31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081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537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478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025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859908"/>
                  </a:ext>
                </a:extLst>
              </a:tr>
            </a:tbl>
          </a:graphicData>
        </a:graphic>
      </p:graphicFrame>
      <p:sp>
        <p:nvSpPr>
          <p:cNvPr id="8" name="TextBox 6">
            <a:extLst>
              <a:ext uri="{FF2B5EF4-FFF2-40B4-BE49-F238E27FC236}">
                <a16:creationId xmlns:a16="http://schemas.microsoft.com/office/drawing/2014/main" id="{8E5C3B39-976C-36DE-D20C-B2A99A4DC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52910"/>
            <a:ext cx="861060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/>
            <a:r>
              <a:rPr lang="he-IL" altLang="he-IL" sz="2000" dirty="0"/>
              <a:t>בשער </a:t>
            </a:r>
            <a:r>
              <a:rPr lang="en-US" altLang="he-IL" sz="2000" dirty="0"/>
              <a:t>OR</a:t>
            </a:r>
            <a:r>
              <a:rPr lang="he-IL" altLang="he-IL" sz="2000" dirty="0"/>
              <a:t> של 2 כניסות, מספיק שאחת הכניסות היא 1 כדי שהמוצא יהיה 1. ברכיב </a:t>
            </a:r>
            <a:r>
              <a:rPr lang="en-US" altLang="he-IL" sz="2000" dirty="0"/>
              <a:t>MAX</a:t>
            </a:r>
            <a:r>
              <a:rPr lang="he-IL" altLang="he-IL" sz="2000" dirty="0"/>
              <a:t> של 3 כניסות, עלינו להבטיח ש2 כניסות יהיו שוות ל1. לכן, נבחר את אחת הכניסות להיות 1 ואת היתר להיות שני </a:t>
            </a:r>
            <a:r>
              <a:rPr lang="he-IL" altLang="he-IL" sz="2000" dirty="0" err="1"/>
              <a:t>הליטרלים</a:t>
            </a:r>
            <a:r>
              <a:rPr lang="he-IL" altLang="he-IL" sz="2000" dirty="0"/>
              <a:t> שהם הכניסה לשער ה</a:t>
            </a:r>
            <a:r>
              <a:rPr lang="en-US" altLang="he-IL" sz="2000" dirty="0"/>
              <a:t>OR</a:t>
            </a:r>
            <a:r>
              <a:rPr lang="he-IL" altLang="he-IL" sz="2000" dirty="0"/>
              <a:t>. כאשר נקבל שלפחות אחת הכניסות שווה ל1, זה יבטיח ש2 כניסות לפחות לרכיב ה</a:t>
            </a:r>
            <a:r>
              <a:rPr lang="en-US" altLang="he-IL" sz="2000" dirty="0"/>
              <a:t>MAX</a:t>
            </a:r>
            <a:r>
              <a:rPr lang="he-IL" altLang="he-IL" sz="2000" dirty="0"/>
              <a:t> יהיו שוות ל1. 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F04E211D-6B6D-9CF9-2886-9EA9FB50C478}"/>
              </a:ext>
            </a:extLst>
          </p:cNvPr>
          <p:cNvSpPr/>
          <p:nvPr/>
        </p:nvSpPr>
        <p:spPr>
          <a:xfrm>
            <a:off x="2131636" y="5176349"/>
            <a:ext cx="1221164" cy="1072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MAX</a:t>
            </a:r>
            <a:endParaRPr lang="he-IL" dirty="0"/>
          </a:p>
        </p:txBody>
      </p:sp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23CFC39D-4991-16A6-CF78-347A9A0E2B08}"/>
              </a:ext>
            </a:extLst>
          </p:cNvPr>
          <p:cNvCxnSpPr/>
          <p:nvPr/>
        </p:nvCxnSpPr>
        <p:spPr>
          <a:xfrm>
            <a:off x="1524000" y="5334000"/>
            <a:ext cx="6076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F0FD3030-226E-D8B7-5D16-55A2EB6F3F04}"/>
              </a:ext>
            </a:extLst>
          </p:cNvPr>
          <p:cNvCxnSpPr/>
          <p:nvPr/>
        </p:nvCxnSpPr>
        <p:spPr>
          <a:xfrm>
            <a:off x="1524000" y="5712374"/>
            <a:ext cx="6076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מחבר חץ ישר 12">
            <a:extLst>
              <a:ext uri="{FF2B5EF4-FFF2-40B4-BE49-F238E27FC236}">
                <a16:creationId xmlns:a16="http://schemas.microsoft.com/office/drawing/2014/main" id="{8B031A48-356D-24D2-EA89-00EE01EAFCE2}"/>
              </a:ext>
            </a:extLst>
          </p:cNvPr>
          <p:cNvCxnSpPr/>
          <p:nvPr/>
        </p:nvCxnSpPr>
        <p:spPr>
          <a:xfrm>
            <a:off x="1524000" y="6096000"/>
            <a:ext cx="6076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644A6A9C-4A1D-E0EF-D400-BBBFB4B50526}"/>
              </a:ext>
            </a:extLst>
          </p:cNvPr>
          <p:cNvSpPr txBox="1"/>
          <p:nvPr/>
        </p:nvSpPr>
        <p:spPr>
          <a:xfrm>
            <a:off x="1180733" y="5131221"/>
            <a:ext cx="31290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1</a:t>
            </a:r>
            <a:endParaRPr lang="he-IL" dirty="0"/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3557C619-19D6-A57F-6E3B-6F81A4401D14}"/>
              </a:ext>
            </a:extLst>
          </p:cNvPr>
          <p:cNvSpPr txBox="1"/>
          <p:nvPr/>
        </p:nvSpPr>
        <p:spPr>
          <a:xfrm>
            <a:off x="1180733" y="5512220"/>
            <a:ext cx="33855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Y</a:t>
            </a:r>
            <a:endParaRPr lang="he-IL" dirty="0"/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4C5175D7-0615-CD9B-466C-192783653A08}"/>
              </a:ext>
            </a:extLst>
          </p:cNvPr>
          <p:cNvSpPr txBox="1"/>
          <p:nvPr/>
        </p:nvSpPr>
        <p:spPr>
          <a:xfrm>
            <a:off x="1176020" y="5893219"/>
            <a:ext cx="33855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Z</a:t>
            </a:r>
            <a:endParaRPr lang="he-IL" dirty="0"/>
          </a:p>
        </p:txBody>
      </p:sp>
      <p:cxnSp>
        <p:nvCxnSpPr>
          <p:cNvPr id="17" name="מחבר חץ ישר 16">
            <a:extLst>
              <a:ext uri="{FF2B5EF4-FFF2-40B4-BE49-F238E27FC236}">
                <a16:creationId xmlns:a16="http://schemas.microsoft.com/office/drawing/2014/main" id="{440E48A2-8CE4-938B-A641-BBEA6547B982}"/>
              </a:ext>
            </a:extLst>
          </p:cNvPr>
          <p:cNvCxnSpPr/>
          <p:nvPr/>
        </p:nvCxnSpPr>
        <p:spPr>
          <a:xfrm>
            <a:off x="3352800" y="5721532"/>
            <a:ext cx="6076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B1B93408-A3C6-93A1-0453-D6BB286DB132}"/>
              </a:ext>
            </a:extLst>
          </p:cNvPr>
          <p:cNvSpPr txBox="1"/>
          <p:nvPr/>
        </p:nvSpPr>
        <p:spPr>
          <a:xfrm>
            <a:off x="3960436" y="5521427"/>
            <a:ext cx="55656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Out</a:t>
            </a:r>
            <a:endParaRPr lang="he-IL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D7B0CD0-6F4A-AB0B-E552-60BD5DDBB5CF}"/>
              </a:ext>
            </a:extLst>
          </p:cNvPr>
          <p:cNvSpPr/>
          <p:nvPr/>
        </p:nvSpPr>
        <p:spPr>
          <a:xfrm>
            <a:off x="76200" y="2362200"/>
            <a:ext cx="4724400" cy="1371600"/>
          </a:xfrm>
          <a:prstGeom prst="round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12893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בורר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874520"/>
            <a:ext cx="563245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CE2FF67-24E3-4426-B8E0-3981391908AE}" type="slidenum">
              <a:rPr lang="en-US" altLang="he-IL" sz="1000" smtClean="0">
                <a:latin typeface="Lucida Sans Unicode" panose="020B0602030504020204" pitchFamily="34" charset="0"/>
              </a:rPr>
              <a:pPr/>
              <a:t>20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  <p:pic>
        <p:nvPicPr>
          <p:cNvPr id="5" name="Picture 4"/>
          <p:cNvPicPr/>
          <p:nvPr/>
        </p:nvPicPr>
        <p:blipFill rotWithShape="1">
          <a:blip r:embed="rId4"/>
          <a:srcRect l="60994" t="10083" b="50000"/>
          <a:stretch/>
        </p:blipFill>
        <p:spPr>
          <a:xfrm>
            <a:off x="381000" y="4379911"/>
            <a:ext cx="2362200" cy="1676401"/>
          </a:xfrm>
          <a:prstGeom prst="rect">
            <a:avLst/>
          </a:prstGeom>
          <a:ln>
            <a:noFill/>
          </a:ln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33400" y="3741420"/>
            <a:ext cx="2286000" cy="287337"/>
          </a:xfrm>
        </p:spPr>
        <p:txBody>
          <a:bodyPr/>
          <a:lstStyle/>
          <a:p>
            <a:pPr eaLnBrk="1" hangingPunct="1"/>
            <a:r>
              <a:rPr lang="he-IL" altLang="he-IL" sz="2800" b="1" dirty="0"/>
              <a:t>דוגמה עם </a:t>
            </a:r>
            <a:r>
              <a:rPr lang="en-US" altLang="he-IL" sz="2800" b="1" dirty="0"/>
              <a:t>n=2</a:t>
            </a:r>
            <a:r>
              <a:rPr lang="he-IL" altLang="he-IL" sz="2800" b="1" dirty="0"/>
              <a:t>:</a:t>
            </a:r>
            <a:endParaRPr lang="en-US" altLang="he-IL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BD7C804-363F-4309-A89E-09130FA3CDA6}" type="slidenum">
              <a:rPr lang="en-US" altLang="he-IL" sz="1000" smtClean="0">
                <a:latin typeface="Lucida Sans Unicode" panose="020B0602030504020204" pitchFamily="34" charset="0"/>
              </a:rPr>
              <a:pPr/>
              <a:t>21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447800" y="304800"/>
            <a:ext cx="7543800" cy="746125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מימוש פונקציות ע"י בוררים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60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>
              <a:latin typeface="Lucida Sans Unicode" panose="020B060203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76200" y="1143000"/>
                <a:ext cx="8839200" cy="4022725"/>
              </a:xfrm>
              <a:prstGeom prst="rect">
                <a:avLst/>
              </a:prstGeom>
            </p:spPr>
            <p:txBody>
              <a:bodyPr/>
              <a:lstStyle>
                <a:lvl1pPr marL="90488" indent="-90488" algn="r" rtl="1" eaLnBrk="0" fontAlgn="base" hangingPunct="0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1pPr>
                <a:lvl2pPr marL="382588" indent="-182563" algn="r" rtl="1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kern="120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2pPr>
                <a:lvl3pPr marL="566738" indent="-182563" algn="r" rtl="1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 kern="120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3pPr>
                <a:lvl4pPr marL="749300" indent="-182563" algn="r" rtl="1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 kern="120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4pPr>
                <a:lvl5pPr marL="931863" indent="-182563" algn="r" rtl="1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 kern="120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r" defTabSz="914400" rtl="1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/>
                <a:r>
                  <a:rPr lang="he-IL" altLang="he-IL" sz="2400" dirty="0"/>
                  <a:t>נתונה הפונקציה: 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 b="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(0,1,5,7,13,14)</m:t>
                        </m:r>
                      </m:e>
                    </m:nary>
                  </m:oMath>
                </a14:m>
                <a:r>
                  <a:rPr lang="he-IL" altLang="he-IL" sz="2400" dirty="0"/>
                  <a:t>. ממשו אותה</a:t>
                </a:r>
              </a:p>
              <a:p>
                <a:pPr eaLnBrk="1" hangingPunct="1"/>
                <a:r>
                  <a:rPr lang="he-IL" altLang="he-IL" sz="2400" dirty="0"/>
                  <a:t>א. בעזרת בורר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𝟏𝟔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altLang="he-IL" sz="2400" dirty="0"/>
                  <a:t>:</a:t>
                </a:r>
                <a:endParaRPr lang="en-US" altLang="he-IL" sz="2400" dirty="0"/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1143000"/>
                <a:ext cx="8839200" cy="4022725"/>
              </a:xfrm>
              <a:prstGeom prst="rect">
                <a:avLst/>
              </a:prstGeom>
              <a:blipFill rotWithShape="0">
                <a:blip r:embed="rId3"/>
                <a:stretch>
                  <a:fillRect t="-15630" r="-110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/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1676400" y="1752600"/>
            <a:ext cx="2104391" cy="434340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 rotWithShape="1"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22"/>
          <a:stretch/>
        </p:blipFill>
        <p:spPr>
          <a:xfrm>
            <a:off x="4648200" y="3276600"/>
            <a:ext cx="3497263" cy="2209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11140" y="2968823"/>
            <a:ext cx="2746265" cy="3262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520" dirty="0"/>
              <a:t>0 1 1 0 0 0 0 0 1 0 1 0 0 0 1 1</a:t>
            </a:r>
            <a:endParaRPr lang="he-IL" sz="1520" dirty="0"/>
          </a:p>
        </p:txBody>
      </p:sp>
    </p:spTree>
    <p:extLst>
      <p:ext uri="{BB962C8B-B14F-4D97-AF65-F5344CB8AC3E}">
        <p14:creationId xmlns:p14="http://schemas.microsoft.com/office/powerpoint/2010/main" val="2960648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>
              <a:latin typeface="Lucida Sans Unicode" panose="020B0602030504020204" pitchFamily="34" charset="0"/>
            </a:endParaRPr>
          </a:p>
        </p:txBody>
      </p:sp>
      <p:pic>
        <p:nvPicPr>
          <p:cNvPr id="2970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08" y="1100455"/>
            <a:ext cx="2228850" cy="5505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32"/>
          <a:stretch/>
        </p:blipFill>
        <p:spPr bwMode="auto">
          <a:xfrm>
            <a:off x="3610733" y="1095108"/>
            <a:ext cx="2223913" cy="5505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ight Arrow 9"/>
          <p:cNvSpPr/>
          <p:nvPr/>
        </p:nvSpPr>
        <p:spPr>
          <a:xfrm>
            <a:off x="5970695" y="3528482"/>
            <a:ext cx="514350" cy="2524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2960334" y="3528483"/>
            <a:ext cx="514350" cy="2524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le 1"/>
              <p:cNvSpPr txBox="1">
                <a:spLocks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2500"/>
              </a:bodyPr>
              <a:lstStyle>
                <a:lvl1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 kern="1200" spc="-5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2pPr>
                <a:lvl3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3pPr>
                <a:lvl4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4pPr>
                <a:lvl5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5pPr>
                <a:lvl6pPr marL="4572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6pPr>
                <a:lvl7pPr marL="9144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7pPr>
                <a:lvl8pPr marL="13716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8pPr>
                <a:lvl9pPr marL="18288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9pPr>
              </a:lstStyle>
              <a:p>
                <a:pPr algn="r" eaLnBrk="1" hangingPunct="1"/>
                <a:r>
                  <a:rPr lang="he-IL" altLang="he-IL" dirty="0"/>
                  <a:t>ב. בעזרת בורר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altLang="he-IL" dirty="0"/>
                  <a:t> ושערים לוגיים:</a:t>
                </a:r>
                <a:endParaRPr lang="en-US" altLang="he-IL" dirty="0"/>
              </a:p>
            </p:txBody>
          </p:sp>
        </mc:Choice>
        <mc:Fallback xmlns="">
          <p:sp>
            <p:nvSpPr>
              <p:cNvPr id="1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  <a:blipFill rotWithShape="0">
                <a:blip r:embed="rId5"/>
                <a:stretch>
                  <a:fillRect t="-20492" r="-3077" b="-3852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033588"/>
            <a:ext cx="2254250" cy="32877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200" y="2489200"/>
            <a:ext cx="1965325" cy="283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>
              <a:latin typeface="Lucida Sans Unicode" panose="020B0602030504020204" pitchFamily="34" charset="0"/>
            </a:endParaRPr>
          </a:p>
        </p:txBody>
      </p:sp>
      <p:pic>
        <p:nvPicPr>
          <p:cNvPr id="2970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08" y="1100455"/>
            <a:ext cx="2228850" cy="5505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32"/>
          <a:stretch/>
        </p:blipFill>
        <p:spPr bwMode="auto">
          <a:xfrm>
            <a:off x="3610733" y="1095108"/>
            <a:ext cx="2223913" cy="5505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ight Arrow 9"/>
          <p:cNvSpPr/>
          <p:nvPr/>
        </p:nvSpPr>
        <p:spPr>
          <a:xfrm>
            <a:off x="5970695" y="3528482"/>
            <a:ext cx="514350" cy="2524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2960334" y="3528483"/>
            <a:ext cx="514350" cy="2524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1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033588"/>
            <a:ext cx="2254250" cy="32877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200" y="2819400"/>
            <a:ext cx="1965325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le 1"/>
              <p:cNvSpPr txBox="1">
                <a:spLocks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2500"/>
              </a:bodyPr>
              <a:lstStyle>
                <a:lvl1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 kern="1200" spc="-5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2pPr>
                <a:lvl3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3pPr>
                <a:lvl4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4pPr>
                <a:lvl5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5pPr>
                <a:lvl6pPr marL="4572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6pPr>
                <a:lvl7pPr marL="9144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7pPr>
                <a:lvl8pPr marL="13716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8pPr>
                <a:lvl9pPr marL="18288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9pPr>
              </a:lstStyle>
              <a:p>
                <a:pPr algn="r" eaLnBrk="1" hangingPunct="1"/>
                <a:r>
                  <a:rPr lang="he-IL" altLang="he-IL" dirty="0"/>
                  <a:t>ב. בעזרת בורר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altLang="he-IL" dirty="0"/>
                  <a:t> ושערים לוגיים:</a:t>
                </a:r>
                <a:endParaRPr lang="en-US" altLang="he-IL" dirty="0"/>
              </a:p>
            </p:txBody>
          </p:sp>
        </mc:Choice>
        <mc:Fallback xmlns="">
          <p:sp>
            <p:nvSpPr>
              <p:cNvPr id="11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  <a:blipFill rotWithShape="0">
                <a:blip r:embed="rId7"/>
                <a:stretch>
                  <a:fillRect t="-20492" r="-3077" b="-3852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8E8C84A-51D4-6A88-1504-D99250A63123}"/>
              </a:ext>
            </a:extLst>
          </p:cNvPr>
          <p:cNvSpPr/>
          <p:nvPr/>
        </p:nvSpPr>
        <p:spPr>
          <a:xfrm>
            <a:off x="3733800" y="1600200"/>
            <a:ext cx="1981200" cy="533400"/>
          </a:xfrm>
          <a:prstGeom prst="round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36941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>
              <a:latin typeface="Lucida Sans Unicode" panose="020B0602030504020204" pitchFamily="34" charset="0"/>
            </a:endParaRPr>
          </a:p>
        </p:txBody>
      </p:sp>
      <p:pic>
        <p:nvPicPr>
          <p:cNvPr id="2970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08" y="1100455"/>
            <a:ext cx="2228850" cy="5505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32"/>
          <a:stretch/>
        </p:blipFill>
        <p:spPr bwMode="auto">
          <a:xfrm>
            <a:off x="3610733" y="1095108"/>
            <a:ext cx="2223913" cy="5505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ight Arrow 9"/>
          <p:cNvSpPr/>
          <p:nvPr/>
        </p:nvSpPr>
        <p:spPr>
          <a:xfrm>
            <a:off x="5970695" y="3528482"/>
            <a:ext cx="514350" cy="2524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2960334" y="3528483"/>
            <a:ext cx="514350" cy="2524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1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033588"/>
            <a:ext cx="2254250" cy="32877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200" y="3276600"/>
            <a:ext cx="1965325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le 1"/>
              <p:cNvSpPr txBox="1">
                <a:spLocks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2500"/>
              </a:bodyPr>
              <a:lstStyle>
                <a:lvl1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 kern="1200" spc="-5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2pPr>
                <a:lvl3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3pPr>
                <a:lvl4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4pPr>
                <a:lvl5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5pPr>
                <a:lvl6pPr marL="4572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6pPr>
                <a:lvl7pPr marL="9144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7pPr>
                <a:lvl8pPr marL="13716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8pPr>
                <a:lvl9pPr marL="18288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9pPr>
              </a:lstStyle>
              <a:p>
                <a:pPr algn="r" eaLnBrk="1" hangingPunct="1"/>
                <a:r>
                  <a:rPr lang="he-IL" altLang="he-IL" dirty="0"/>
                  <a:t>ב. בעזרת בורר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altLang="he-IL" dirty="0"/>
                  <a:t> ושערים לוגיים:</a:t>
                </a:r>
                <a:endParaRPr lang="en-US" altLang="he-IL" dirty="0"/>
              </a:p>
            </p:txBody>
          </p:sp>
        </mc:Choice>
        <mc:Fallback xmlns="">
          <p:sp>
            <p:nvSpPr>
              <p:cNvPr id="11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  <a:blipFill rotWithShape="0">
                <a:blip r:embed="rId7"/>
                <a:stretch>
                  <a:fillRect t="-20492" r="-3077" b="-3852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10B012-1E7B-0659-47E7-BEC5F0935898}"/>
              </a:ext>
            </a:extLst>
          </p:cNvPr>
          <p:cNvSpPr/>
          <p:nvPr/>
        </p:nvSpPr>
        <p:spPr>
          <a:xfrm>
            <a:off x="3657600" y="2209800"/>
            <a:ext cx="1981200" cy="533400"/>
          </a:xfrm>
          <a:prstGeom prst="round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001724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>
              <a:latin typeface="Lucida Sans Unicode" panose="020B0602030504020204" pitchFamily="34" charset="0"/>
            </a:endParaRPr>
          </a:p>
        </p:txBody>
      </p:sp>
      <p:pic>
        <p:nvPicPr>
          <p:cNvPr id="2970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08" y="1100455"/>
            <a:ext cx="2228850" cy="5505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32"/>
          <a:stretch/>
        </p:blipFill>
        <p:spPr bwMode="auto">
          <a:xfrm>
            <a:off x="3610733" y="1095108"/>
            <a:ext cx="2223913" cy="5505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ight Arrow 9"/>
          <p:cNvSpPr/>
          <p:nvPr/>
        </p:nvSpPr>
        <p:spPr>
          <a:xfrm>
            <a:off x="5970695" y="3528482"/>
            <a:ext cx="514350" cy="2524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2960334" y="3528483"/>
            <a:ext cx="514350" cy="2524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1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033588"/>
            <a:ext cx="2254250" cy="32877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200" y="3581400"/>
            <a:ext cx="1965325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le 1"/>
              <p:cNvSpPr txBox="1">
                <a:spLocks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2500"/>
              </a:bodyPr>
              <a:lstStyle>
                <a:lvl1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 kern="1200" spc="-5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2pPr>
                <a:lvl3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3pPr>
                <a:lvl4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4pPr>
                <a:lvl5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5pPr>
                <a:lvl6pPr marL="4572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6pPr>
                <a:lvl7pPr marL="9144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7pPr>
                <a:lvl8pPr marL="13716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8pPr>
                <a:lvl9pPr marL="18288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9pPr>
              </a:lstStyle>
              <a:p>
                <a:pPr algn="r" eaLnBrk="1" hangingPunct="1"/>
                <a:r>
                  <a:rPr lang="he-IL" altLang="he-IL" dirty="0"/>
                  <a:t>ב. בעזרת בורר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altLang="he-IL" dirty="0"/>
                  <a:t> ושערים לוגיים:</a:t>
                </a:r>
                <a:endParaRPr lang="en-US" altLang="he-IL" dirty="0"/>
              </a:p>
            </p:txBody>
          </p:sp>
        </mc:Choice>
        <mc:Fallback xmlns="">
          <p:sp>
            <p:nvSpPr>
              <p:cNvPr id="11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  <a:blipFill rotWithShape="0">
                <a:blip r:embed="rId7"/>
                <a:stretch>
                  <a:fillRect t="-20492" r="-3077" b="-3852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0DF2A05-039F-0965-D38B-6713D869EBE6}"/>
              </a:ext>
            </a:extLst>
          </p:cNvPr>
          <p:cNvSpPr/>
          <p:nvPr/>
        </p:nvSpPr>
        <p:spPr>
          <a:xfrm>
            <a:off x="3733800" y="2855259"/>
            <a:ext cx="1981200" cy="533400"/>
          </a:xfrm>
          <a:prstGeom prst="round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987480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>
              <a:latin typeface="Lucida Sans Unicode" panose="020B0602030504020204" pitchFamily="34" charset="0"/>
            </a:endParaRPr>
          </a:p>
        </p:txBody>
      </p:sp>
      <p:pic>
        <p:nvPicPr>
          <p:cNvPr id="2970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08" y="1100455"/>
            <a:ext cx="2228850" cy="5505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32"/>
          <a:stretch/>
        </p:blipFill>
        <p:spPr bwMode="auto">
          <a:xfrm>
            <a:off x="3610733" y="1095108"/>
            <a:ext cx="2223913" cy="5505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ight Arrow 9"/>
          <p:cNvSpPr/>
          <p:nvPr/>
        </p:nvSpPr>
        <p:spPr>
          <a:xfrm>
            <a:off x="5970695" y="3528482"/>
            <a:ext cx="514350" cy="2524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2960334" y="3528483"/>
            <a:ext cx="514350" cy="2524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1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033588"/>
            <a:ext cx="2254250" cy="32877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200" y="3886200"/>
            <a:ext cx="1965325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le 1"/>
              <p:cNvSpPr txBox="1">
                <a:spLocks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2500"/>
              </a:bodyPr>
              <a:lstStyle>
                <a:lvl1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 kern="1200" spc="-5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2pPr>
                <a:lvl3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3pPr>
                <a:lvl4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4pPr>
                <a:lvl5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5pPr>
                <a:lvl6pPr marL="4572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6pPr>
                <a:lvl7pPr marL="9144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7pPr>
                <a:lvl8pPr marL="13716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8pPr>
                <a:lvl9pPr marL="18288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9pPr>
              </a:lstStyle>
              <a:p>
                <a:pPr algn="r" eaLnBrk="1" hangingPunct="1"/>
                <a:r>
                  <a:rPr lang="he-IL" altLang="he-IL" dirty="0"/>
                  <a:t>ב. בעזרת בורר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altLang="he-IL" dirty="0"/>
                  <a:t> ושערים לוגיים:</a:t>
                </a:r>
                <a:endParaRPr lang="en-US" altLang="he-IL" dirty="0"/>
              </a:p>
            </p:txBody>
          </p:sp>
        </mc:Choice>
        <mc:Fallback xmlns="">
          <p:sp>
            <p:nvSpPr>
              <p:cNvPr id="11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  <a:blipFill rotWithShape="0">
                <a:blip r:embed="rId7"/>
                <a:stretch>
                  <a:fillRect t="-20492" r="-3077" b="-3852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5BAF8CF-D007-4053-0676-70EE4E50C972}"/>
              </a:ext>
            </a:extLst>
          </p:cNvPr>
          <p:cNvSpPr/>
          <p:nvPr/>
        </p:nvSpPr>
        <p:spPr>
          <a:xfrm>
            <a:off x="3671048" y="3505200"/>
            <a:ext cx="1981200" cy="533400"/>
          </a:xfrm>
          <a:prstGeom prst="round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812224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B66DF-3372-9A20-87F1-5DC3F2B94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>
            <a:extLst>
              <a:ext uri="{FF2B5EF4-FFF2-40B4-BE49-F238E27FC236}">
                <a16:creationId xmlns:a16="http://schemas.microsoft.com/office/drawing/2014/main" id="{4D8FB9D7-F68C-91D5-AE27-26D9F12B7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>
              <a:latin typeface="Lucida Sans Unicode" panose="020B0602030504020204" pitchFamily="34" charset="0"/>
            </a:endParaRPr>
          </a:p>
        </p:txBody>
      </p:sp>
      <p:pic>
        <p:nvPicPr>
          <p:cNvPr id="29700" name="Picture 3">
            <a:extLst>
              <a:ext uri="{FF2B5EF4-FFF2-40B4-BE49-F238E27FC236}">
                <a16:creationId xmlns:a16="http://schemas.microsoft.com/office/drawing/2014/main" id="{5F059F10-CB5F-BEE8-4404-9C6245256D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08" y="1100455"/>
            <a:ext cx="2228850" cy="5505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186D6D-152A-03DC-ABF5-626D061FC2D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32"/>
          <a:stretch/>
        </p:blipFill>
        <p:spPr bwMode="auto">
          <a:xfrm>
            <a:off x="3610733" y="1095108"/>
            <a:ext cx="2223913" cy="5505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01EFFC5C-E678-D471-0822-B7F4DE3F73CA}"/>
              </a:ext>
            </a:extLst>
          </p:cNvPr>
          <p:cNvSpPr/>
          <p:nvPr/>
        </p:nvSpPr>
        <p:spPr>
          <a:xfrm>
            <a:off x="5970695" y="3528482"/>
            <a:ext cx="514350" cy="2524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056E560F-A780-3243-A947-137D71C25EEB}"/>
              </a:ext>
            </a:extLst>
          </p:cNvPr>
          <p:cNvSpPr/>
          <p:nvPr/>
        </p:nvSpPr>
        <p:spPr>
          <a:xfrm>
            <a:off x="2960334" y="3528483"/>
            <a:ext cx="514350" cy="2524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088B8A82-DC83-843C-1C4F-8387CAF1FF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033588"/>
            <a:ext cx="2254250" cy="32877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323020E-B402-26D5-7A00-2101F8BFAB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200" y="4267200"/>
            <a:ext cx="1965325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le 1">
                <a:extLst>
                  <a:ext uri="{FF2B5EF4-FFF2-40B4-BE49-F238E27FC236}">
                    <a16:creationId xmlns:a16="http://schemas.microsoft.com/office/drawing/2014/main" id="{FB1E162F-1F67-B2DE-5B1C-4D23B4B388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2500"/>
              </a:bodyPr>
              <a:lstStyle>
                <a:lvl1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 kern="1200" spc="-5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2pPr>
                <a:lvl3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3pPr>
                <a:lvl4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4pPr>
                <a:lvl5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5pPr>
                <a:lvl6pPr marL="4572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6pPr>
                <a:lvl7pPr marL="9144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7pPr>
                <a:lvl8pPr marL="13716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8pPr>
                <a:lvl9pPr marL="18288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9pPr>
              </a:lstStyle>
              <a:p>
                <a:pPr algn="r" eaLnBrk="1" hangingPunct="1"/>
                <a:r>
                  <a:rPr lang="he-IL" altLang="he-IL" dirty="0"/>
                  <a:t>ב. בעזרת בורר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altLang="he-IL" dirty="0"/>
                  <a:t> ושערים לוגיים:</a:t>
                </a:r>
                <a:endParaRPr lang="en-US" altLang="he-IL" dirty="0"/>
              </a:p>
            </p:txBody>
          </p:sp>
        </mc:Choice>
        <mc:Fallback xmlns="">
          <p:sp>
            <p:nvSpPr>
              <p:cNvPr id="11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  <a:blipFill rotWithShape="0">
                <a:blip r:embed="rId7"/>
                <a:stretch>
                  <a:fillRect t="-20492" r="-3077" b="-3852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A00E190-82C5-57D9-DF3F-461872AC0582}"/>
              </a:ext>
            </a:extLst>
          </p:cNvPr>
          <p:cNvSpPr/>
          <p:nvPr/>
        </p:nvSpPr>
        <p:spPr>
          <a:xfrm>
            <a:off x="3671048" y="4114800"/>
            <a:ext cx="1981200" cy="533400"/>
          </a:xfrm>
          <a:prstGeom prst="round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814671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>
              <a:latin typeface="Lucida Sans Unicode" panose="020B0602030504020204" pitchFamily="34" charset="0"/>
            </a:endParaRPr>
          </a:p>
        </p:txBody>
      </p:sp>
      <p:pic>
        <p:nvPicPr>
          <p:cNvPr id="2970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08" y="1100455"/>
            <a:ext cx="2228850" cy="5505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32"/>
          <a:stretch/>
        </p:blipFill>
        <p:spPr bwMode="auto">
          <a:xfrm>
            <a:off x="3610733" y="1095108"/>
            <a:ext cx="2223913" cy="5505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ight Arrow 9"/>
          <p:cNvSpPr/>
          <p:nvPr/>
        </p:nvSpPr>
        <p:spPr>
          <a:xfrm>
            <a:off x="5970695" y="3528482"/>
            <a:ext cx="514350" cy="2524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2960334" y="3528483"/>
            <a:ext cx="514350" cy="2524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1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033588"/>
            <a:ext cx="2254250" cy="32877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200" y="4648200"/>
            <a:ext cx="1965325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le 1"/>
              <p:cNvSpPr txBox="1">
                <a:spLocks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2500"/>
              </a:bodyPr>
              <a:lstStyle>
                <a:lvl1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 kern="1200" spc="-5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2pPr>
                <a:lvl3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3pPr>
                <a:lvl4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4pPr>
                <a:lvl5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5pPr>
                <a:lvl6pPr marL="4572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6pPr>
                <a:lvl7pPr marL="9144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7pPr>
                <a:lvl8pPr marL="13716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8pPr>
                <a:lvl9pPr marL="18288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9pPr>
              </a:lstStyle>
              <a:p>
                <a:pPr algn="r" eaLnBrk="1" hangingPunct="1"/>
                <a:r>
                  <a:rPr lang="he-IL" altLang="he-IL" dirty="0"/>
                  <a:t>ב. בעזרת בורר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altLang="he-IL" dirty="0"/>
                  <a:t> ושערים לוגיים:</a:t>
                </a:r>
                <a:endParaRPr lang="en-US" altLang="he-IL" dirty="0"/>
              </a:p>
            </p:txBody>
          </p:sp>
        </mc:Choice>
        <mc:Fallback xmlns="">
          <p:sp>
            <p:nvSpPr>
              <p:cNvPr id="11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  <a:blipFill rotWithShape="0">
                <a:blip r:embed="rId7"/>
                <a:stretch>
                  <a:fillRect t="-20492" r="-3077" b="-3852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9DC1855-ADBA-29CE-F8F1-F8C063899298}"/>
              </a:ext>
            </a:extLst>
          </p:cNvPr>
          <p:cNvSpPr/>
          <p:nvPr/>
        </p:nvSpPr>
        <p:spPr>
          <a:xfrm>
            <a:off x="3671048" y="4724400"/>
            <a:ext cx="1981200" cy="533400"/>
          </a:xfrm>
          <a:prstGeom prst="round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159619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>
              <a:latin typeface="Lucida Sans Unicode" panose="020B0602030504020204" pitchFamily="34" charset="0"/>
            </a:endParaRPr>
          </a:p>
        </p:txBody>
      </p:sp>
      <p:pic>
        <p:nvPicPr>
          <p:cNvPr id="2970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08" y="1100455"/>
            <a:ext cx="2228850" cy="5505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32"/>
          <a:stretch/>
        </p:blipFill>
        <p:spPr bwMode="auto">
          <a:xfrm>
            <a:off x="3610733" y="1095108"/>
            <a:ext cx="2223913" cy="5505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ight Arrow 9"/>
          <p:cNvSpPr/>
          <p:nvPr/>
        </p:nvSpPr>
        <p:spPr>
          <a:xfrm>
            <a:off x="5970695" y="3528482"/>
            <a:ext cx="514350" cy="2524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2960334" y="3528483"/>
            <a:ext cx="514350" cy="2524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1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033588"/>
            <a:ext cx="2254250" cy="32877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200" y="4953000"/>
            <a:ext cx="1965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le 1"/>
              <p:cNvSpPr txBox="1">
                <a:spLocks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2500"/>
              </a:bodyPr>
              <a:lstStyle>
                <a:lvl1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 kern="1200" spc="-5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2pPr>
                <a:lvl3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3pPr>
                <a:lvl4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4pPr>
                <a:lvl5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5pPr>
                <a:lvl6pPr marL="4572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6pPr>
                <a:lvl7pPr marL="9144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7pPr>
                <a:lvl8pPr marL="13716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8pPr>
                <a:lvl9pPr marL="18288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9pPr>
              </a:lstStyle>
              <a:p>
                <a:pPr algn="r" eaLnBrk="1" hangingPunct="1"/>
                <a:r>
                  <a:rPr lang="he-IL" altLang="he-IL" dirty="0"/>
                  <a:t>ב. בעזרת בורר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altLang="he-IL" dirty="0"/>
                  <a:t> ושערים לוגיים:</a:t>
                </a:r>
                <a:endParaRPr lang="en-US" altLang="he-IL" dirty="0"/>
              </a:p>
            </p:txBody>
          </p:sp>
        </mc:Choice>
        <mc:Fallback xmlns="">
          <p:sp>
            <p:nvSpPr>
              <p:cNvPr id="11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  <a:blipFill rotWithShape="0">
                <a:blip r:embed="rId7"/>
                <a:stretch>
                  <a:fillRect t="-20492" r="-3077" b="-3852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9AB2F14-A2AA-A654-3D2F-07C550527AD5}"/>
              </a:ext>
            </a:extLst>
          </p:cNvPr>
          <p:cNvSpPr/>
          <p:nvPr/>
        </p:nvSpPr>
        <p:spPr>
          <a:xfrm>
            <a:off x="3671048" y="5360894"/>
            <a:ext cx="1981200" cy="533400"/>
          </a:xfrm>
          <a:prstGeom prst="round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799430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</a:pPr>
            <a:endParaRPr lang="he-IL" altLang="he-IL">
              <a:latin typeface="Lucida Sans Unicode" panose="020B0602030504020204" pitchFamily="34" charset="0"/>
            </a:endParaRPr>
          </a:p>
        </p:txBody>
      </p:sp>
      <p:pic>
        <p:nvPicPr>
          <p:cNvPr id="2970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08" y="1100455"/>
            <a:ext cx="2228850" cy="5505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32"/>
          <a:stretch/>
        </p:blipFill>
        <p:spPr bwMode="auto">
          <a:xfrm>
            <a:off x="3610733" y="1095108"/>
            <a:ext cx="2223913" cy="5505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ight Arrow 9"/>
          <p:cNvSpPr/>
          <p:nvPr/>
        </p:nvSpPr>
        <p:spPr>
          <a:xfrm>
            <a:off x="5970695" y="3528482"/>
            <a:ext cx="514350" cy="2524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2960334" y="3528483"/>
            <a:ext cx="514350" cy="2524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1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033588"/>
            <a:ext cx="2254250" cy="32877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le 1"/>
              <p:cNvSpPr txBox="1">
                <a:spLocks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2500"/>
              </a:bodyPr>
              <a:lstStyle>
                <a:lvl1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 kern="1200" spc="-5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2pPr>
                <a:lvl3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3pPr>
                <a:lvl4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4pPr>
                <a:lvl5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5pPr>
                <a:lvl6pPr marL="4572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6pPr>
                <a:lvl7pPr marL="9144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7pPr>
                <a:lvl8pPr marL="13716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8pPr>
                <a:lvl9pPr marL="18288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9pPr>
              </a:lstStyle>
              <a:p>
                <a:pPr algn="r" eaLnBrk="1" hangingPunct="1"/>
                <a:r>
                  <a:rPr lang="he-IL" altLang="he-IL" dirty="0"/>
                  <a:t>ב. בעזרת בורר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altLang="he-IL" dirty="0"/>
                  <a:t> ושערים לוגיים:</a:t>
                </a:r>
                <a:endParaRPr lang="en-US" altLang="he-IL" dirty="0"/>
              </a:p>
            </p:txBody>
          </p:sp>
        </mc:Choice>
        <mc:Fallback xmlns="">
          <p:sp>
            <p:nvSpPr>
              <p:cNvPr id="11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  <a:blipFill rotWithShape="0">
                <a:blip r:embed="rId6"/>
                <a:stretch>
                  <a:fillRect t="-20492" r="-3077" b="-3852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C2B75CC-3810-400B-0271-0F4A88744F22}"/>
              </a:ext>
            </a:extLst>
          </p:cNvPr>
          <p:cNvSpPr/>
          <p:nvPr/>
        </p:nvSpPr>
        <p:spPr>
          <a:xfrm>
            <a:off x="3671048" y="5992906"/>
            <a:ext cx="1981200" cy="533400"/>
          </a:xfrm>
          <a:prstGeom prst="round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8851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724ABB5-0F3D-4F2A-A6BA-461566BE5C40}" type="slidenum">
              <a:rPr lang="en-US" altLang="he-IL" sz="1000" smtClean="0">
                <a:latin typeface="Lucida Sans Unicode" panose="020B0602030504020204" pitchFamily="34" charset="0"/>
              </a:rPr>
              <a:pPr/>
              <a:t>31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  <p:pic>
        <p:nvPicPr>
          <p:cNvPr id="3891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61" y="1295400"/>
            <a:ext cx="3200400" cy="46672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17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4"/>
          <a:stretch/>
        </p:blipFill>
        <p:spPr bwMode="auto">
          <a:xfrm>
            <a:off x="3886199" y="1709738"/>
            <a:ext cx="4945063" cy="454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4114800" y="1272540"/>
            <a:ext cx="4876800" cy="243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/>
              <p:cNvSpPr txBox="1">
                <a:spLocks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2500"/>
              </a:bodyPr>
              <a:lstStyle>
                <a:lvl1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 kern="1200" spc="-5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2pPr>
                <a:lvl3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3pPr>
                <a:lvl4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4pPr>
                <a:lvl5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5pPr>
                <a:lvl6pPr marL="4572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6pPr>
                <a:lvl7pPr marL="9144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7pPr>
                <a:lvl8pPr marL="13716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8pPr>
                <a:lvl9pPr marL="18288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9pPr>
              </a:lstStyle>
              <a:p>
                <a:pPr algn="r" eaLnBrk="1" hangingPunct="1"/>
                <a:r>
                  <a:rPr lang="he-IL" altLang="he-IL" dirty="0"/>
                  <a:t>ב. בעזרת בורר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altLang="he-IL" dirty="0"/>
                  <a:t> ושערים לוגיים:</a:t>
                </a:r>
                <a:endParaRPr lang="en-US" altLang="he-IL" dirty="0"/>
              </a:p>
            </p:txBody>
          </p:sp>
        </mc:Choice>
        <mc:Fallback xmlns="">
          <p:sp>
            <p:nvSpPr>
              <p:cNvPr id="9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  <a:blipFill rotWithShape="0">
                <a:blip r:embed="rId5"/>
                <a:stretch>
                  <a:fillRect t="-20492" r="-3077" b="-3852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724ABB5-0F3D-4F2A-A6BA-461566BE5C40}" type="slidenum">
              <a:rPr lang="en-US" altLang="he-IL" sz="1000" smtClean="0">
                <a:latin typeface="Lucida Sans Unicode" panose="020B0602030504020204" pitchFamily="34" charset="0"/>
              </a:rPr>
              <a:pPr/>
              <a:t>32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  <p:pic>
        <p:nvPicPr>
          <p:cNvPr id="3891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61" y="1295400"/>
            <a:ext cx="3200400" cy="46672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17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4"/>
          <a:stretch/>
        </p:blipFill>
        <p:spPr bwMode="auto">
          <a:xfrm>
            <a:off x="3886199" y="1709738"/>
            <a:ext cx="4945063" cy="454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/>
              <p:cNvSpPr txBox="1">
                <a:spLocks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2500"/>
              </a:bodyPr>
              <a:lstStyle>
                <a:lvl1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 kern="1200" spc="-5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2pPr>
                <a:lvl3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3pPr>
                <a:lvl4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4pPr>
                <a:lvl5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5pPr>
                <a:lvl6pPr marL="4572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6pPr>
                <a:lvl7pPr marL="9144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7pPr>
                <a:lvl8pPr marL="13716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8pPr>
                <a:lvl9pPr marL="18288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9pPr>
              </a:lstStyle>
              <a:p>
                <a:pPr algn="r" eaLnBrk="1" hangingPunct="1"/>
                <a:r>
                  <a:rPr lang="he-IL" altLang="he-IL" dirty="0"/>
                  <a:t>ב. בעזרת בורר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altLang="he-IL" dirty="0"/>
                  <a:t> ושערים לוגיים:</a:t>
                </a:r>
                <a:endParaRPr lang="en-US" altLang="he-IL" dirty="0"/>
              </a:p>
            </p:txBody>
          </p:sp>
        </mc:Choice>
        <mc:Fallback xmlns="">
          <p:sp>
            <p:nvSpPr>
              <p:cNvPr id="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  <a:blipFill rotWithShape="0">
                <a:blip r:embed="rId5"/>
                <a:stretch>
                  <a:fillRect t="-20492" r="-3077" b="-3852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67614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533400"/>
          </a:xfrm>
        </p:spPr>
        <p:txBody>
          <a:bodyPr/>
          <a:lstStyle/>
          <a:p>
            <a:pPr eaLnBrk="1" hangingPunct="1"/>
            <a:r>
              <a:rPr lang="he-IL" altLang="he-IL" sz="3200" dirty="0"/>
              <a:t>מבנה כללי :</a:t>
            </a:r>
            <a:endParaRPr lang="en-US" altLang="he-IL" sz="3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מימוש פונק' של 4 משתנים ע"י </a:t>
            </a:r>
            <a:b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בוררים 1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Symbol"/>
              </a:rPr>
              <a:t></a:t>
            </a:r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4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096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57" y="2696369"/>
            <a:ext cx="8361363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2656561-0011-4C38-84C7-12264682A6B9}" type="slidenum">
              <a:rPr lang="en-US" altLang="he-IL" sz="1000" smtClean="0">
                <a:latin typeface="Lucida Sans Unicode" panose="020B0602030504020204" pitchFamily="34" charset="0"/>
              </a:rPr>
              <a:pPr/>
              <a:t>33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2656561-0011-4C38-84C7-12264682A6B9}" type="slidenum">
              <a:rPr lang="en-US" altLang="he-IL" sz="1000" smtClean="0">
                <a:latin typeface="Lucida Sans Unicode" panose="020B0602030504020204" pitchFamily="34" charset="0"/>
              </a:rPr>
              <a:pPr/>
              <a:t>34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12EEE552-C87E-424D-AF5A-98A376209E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43000"/>
            <a:ext cx="2228850" cy="5076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B59BAC05-DDE2-4AB2-9C4D-0CBFF3483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993" y="2717930"/>
            <a:ext cx="5999002" cy="2514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35E8A87-764E-4F42-AD50-7721ABBF033C}"/>
              </a:ext>
            </a:extLst>
          </p:cNvPr>
          <p:cNvSpPr/>
          <p:nvPr/>
        </p:nvSpPr>
        <p:spPr>
          <a:xfrm>
            <a:off x="2438400" y="1600200"/>
            <a:ext cx="304800" cy="457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A764B6-9C18-4AFD-B6A8-E9520963811F}"/>
              </a:ext>
            </a:extLst>
          </p:cNvPr>
          <p:cNvSpPr/>
          <p:nvPr/>
        </p:nvSpPr>
        <p:spPr>
          <a:xfrm>
            <a:off x="981868" y="1601598"/>
            <a:ext cx="627063" cy="1116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0CA920-1786-462E-8865-BDD8578F0658}"/>
              </a:ext>
            </a:extLst>
          </p:cNvPr>
          <p:cNvSpPr/>
          <p:nvPr/>
        </p:nvSpPr>
        <p:spPr>
          <a:xfrm>
            <a:off x="981867" y="2757626"/>
            <a:ext cx="627063" cy="1116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F304C8-24AC-42AB-98EE-C452BAE0B28A}"/>
              </a:ext>
            </a:extLst>
          </p:cNvPr>
          <p:cNvSpPr/>
          <p:nvPr/>
        </p:nvSpPr>
        <p:spPr>
          <a:xfrm>
            <a:off x="981867" y="3900873"/>
            <a:ext cx="627063" cy="11163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5EC6AD-5391-4380-BB2E-2CCE175CB222}"/>
              </a:ext>
            </a:extLst>
          </p:cNvPr>
          <p:cNvSpPr/>
          <p:nvPr/>
        </p:nvSpPr>
        <p:spPr>
          <a:xfrm>
            <a:off x="981866" y="5060349"/>
            <a:ext cx="627063" cy="111633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898306-9764-484F-A643-C0A4DFF584FC}"/>
              </a:ext>
            </a:extLst>
          </p:cNvPr>
          <p:cNvSpPr/>
          <p:nvPr/>
        </p:nvSpPr>
        <p:spPr>
          <a:xfrm>
            <a:off x="6459537" y="4267200"/>
            <a:ext cx="169863" cy="19015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67D29D-4DBB-4163-BE84-8DEA020DBCDE}"/>
              </a:ext>
            </a:extLst>
          </p:cNvPr>
          <p:cNvSpPr/>
          <p:nvPr/>
        </p:nvSpPr>
        <p:spPr>
          <a:xfrm>
            <a:off x="6209902" y="4267200"/>
            <a:ext cx="169863" cy="1901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e-I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545C76-4370-4D9E-A681-73AA9D7287E4}"/>
              </a:ext>
            </a:extLst>
          </p:cNvPr>
          <p:cNvSpPr/>
          <p:nvPr/>
        </p:nvSpPr>
        <p:spPr>
          <a:xfrm>
            <a:off x="5933079" y="4259787"/>
            <a:ext cx="169863" cy="19015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e-I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01217E-F91A-40E2-9510-2DE2381521B2}"/>
              </a:ext>
            </a:extLst>
          </p:cNvPr>
          <p:cNvSpPr/>
          <p:nvPr/>
        </p:nvSpPr>
        <p:spPr>
          <a:xfrm>
            <a:off x="5674043" y="4259787"/>
            <a:ext cx="169863" cy="19015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e-IL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52AAD4F-90E6-ABAA-F930-5E9FFFC0A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287338"/>
            <a:ext cx="7543800" cy="1449387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מימוש פונק' של 4 משתנים ע"י </a:t>
            </a:r>
            <a:b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בוררים 1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Symbol"/>
              </a:rPr>
              <a:t></a:t>
            </a:r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4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071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9796586-D97C-438A-ABD1-4672561B06BE}" type="slidenum">
              <a:rPr lang="en-US" altLang="he-IL" sz="1000" smtClean="0">
                <a:latin typeface="Lucida Sans Unicode" panose="020B0602030504020204" pitchFamily="34" charset="0"/>
              </a:rPr>
              <a:pPr/>
              <a:t>35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>
              <a:latin typeface="Lucida Sans Unicode" panose="020B0602030504020204" pitchFamily="34" charset="0"/>
            </a:endParaRPr>
          </a:p>
        </p:txBody>
      </p:sp>
      <p:pic>
        <p:nvPicPr>
          <p:cNvPr id="4198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" y="1365725"/>
            <a:ext cx="2228850" cy="5076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548" y="1390333"/>
            <a:ext cx="2228850" cy="5076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ight Arrow 10"/>
          <p:cNvSpPr/>
          <p:nvPr/>
        </p:nvSpPr>
        <p:spPr>
          <a:xfrm>
            <a:off x="2931795" y="3651407"/>
            <a:ext cx="514350" cy="2524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6057424" y="3651408"/>
            <a:ext cx="514350" cy="2524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1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028950"/>
            <a:ext cx="1838325" cy="15430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838" y="3461068"/>
            <a:ext cx="1674812" cy="1103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le 1"/>
              <p:cNvSpPr txBox="1">
                <a:spLocks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62500" lnSpcReduction="20000"/>
              </a:bodyPr>
              <a:lstStyle>
                <a:lvl1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 kern="1200" spc="-5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2pPr>
                <a:lvl3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3pPr>
                <a:lvl4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4pPr>
                <a:lvl5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5pPr>
                <a:lvl6pPr marL="4572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6pPr>
                <a:lvl7pPr marL="9144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7pPr>
                <a:lvl8pPr marL="13716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8pPr>
                <a:lvl9pPr marL="18288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9pPr>
              </a:lstStyle>
              <a:p>
                <a:pPr algn="r" eaLnBrk="1" hangingPunct="1"/>
                <a:r>
                  <a:rPr lang="he-IL" altLang="he-IL" dirty="0"/>
                  <a:t>ג. מימוש הפונקציה בעזרת בורר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altLang="he-IL" dirty="0"/>
                  <a:t> ושערים לוגיים:</a:t>
                </a:r>
                <a:endParaRPr lang="en-US" altLang="he-IL" dirty="0"/>
              </a:p>
            </p:txBody>
          </p:sp>
        </mc:Choice>
        <mc:Fallback xmlns="">
          <p:sp>
            <p:nvSpPr>
              <p:cNvPr id="13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  <a:blipFill>
                <a:blip r:embed="rId7"/>
                <a:stretch>
                  <a:fillRect r="-1769" b="-2541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9796586-D97C-438A-ABD1-4672561B06BE}" type="slidenum">
              <a:rPr lang="en-US" altLang="he-IL" sz="1000" smtClean="0">
                <a:latin typeface="Lucida Sans Unicode" panose="020B0602030504020204" pitchFamily="34" charset="0"/>
              </a:rPr>
              <a:pPr/>
              <a:t>36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>
              <a:latin typeface="Lucida Sans Unicode" panose="020B0602030504020204" pitchFamily="34" charset="0"/>
            </a:endParaRPr>
          </a:p>
        </p:txBody>
      </p:sp>
      <p:pic>
        <p:nvPicPr>
          <p:cNvPr id="4198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" y="1365725"/>
            <a:ext cx="2228850" cy="5076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548" y="1390333"/>
            <a:ext cx="2228850" cy="5076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ight Arrow 10"/>
          <p:cNvSpPr/>
          <p:nvPr/>
        </p:nvSpPr>
        <p:spPr>
          <a:xfrm>
            <a:off x="2931795" y="3651407"/>
            <a:ext cx="514350" cy="2524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6057424" y="3651408"/>
            <a:ext cx="514350" cy="2524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1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028950"/>
            <a:ext cx="1838325" cy="15430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838" y="3733800"/>
            <a:ext cx="1674812" cy="830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D28C200-318C-6C12-57C5-942026016D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62500" lnSpcReduction="20000"/>
              </a:bodyPr>
              <a:lstStyle>
                <a:lvl1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 kern="1200" spc="-5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2pPr>
                <a:lvl3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3pPr>
                <a:lvl4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4pPr>
                <a:lvl5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5pPr>
                <a:lvl6pPr marL="4572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6pPr>
                <a:lvl7pPr marL="9144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7pPr>
                <a:lvl8pPr marL="13716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8pPr>
                <a:lvl9pPr marL="18288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9pPr>
              </a:lstStyle>
              <a:p>
                <a:pPr algn="r" eaLnBrk="1" hangingPunct="1"/>
                <a:r>
                  <a:rPr lang="he-IL" altLang="he-IL" dirty="0"/>
                  <a:t>ג. מימוש הפונקציה בעזרת בורר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altLang="he-IL" dirty="0"/>
                  <a:t> ושערים לוגיים:</a:t>
                </a:r>
                <a:endParaRPr lang="en-US" altLang="he-I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D28C200-318C-6C12-57C5-942026016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  <a:blipFill>
                <a:blip r:embed="rId7"/>
                <a:stretch>
                  <a:fillRect r="-1769" b="-2541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E9BB5F0-6405-A126-257F-82E8F62CBE5B}"/>
              </a:ext>
            </a:extLst>
          </p:cNvPr>
          <p:cNvSpPr/>
          <p:nvPr/>
        </p:nvSpPr>
        <p:spPr>
          <a:xfrm>
            <a:off x="3684494" y="1864658"/>
            <a:ext cx="2052918" cy="1066801"/>
          </a:xfrm>
          <a:prstGeom prst="round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729829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9796586-D97C-438A-ABD1-4672561B06BE}" type="slidenum">
              <a:rPr lang="en-US" altLang="he-IL" sz="1000" smtClean="0">
                <a:latin typeface="Lucida Sans Unicode" panose="020B0602030504020204" pitchFamily="34" charset="0"/>
              </a:rPr>
              <a:pPr/>
              <a:t>37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>
              <a:latin typeface="Lucida Sans Unicode" panose="020B0602030504020204" pitchFamily="34" charset="0"/>
            </a:endParaRPr>
          </a:p>
        </p:txBody>
      </p:sp>
      <p:pic>
        <p:nvPicPr>
          <p:cNvPr id="4198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" y="1365725"/>
            <a:ext cx="2228850" cy="5076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548" y="1390333"/>
            <a:ext cx="2228850" cy="5076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ight Arrow 10"/>
          <p:cNvSpPr/>
          <p:nvPr/>
        </p:nvSpPr>
        <p:spPr>
          <a:xfrm>
            <a:off x="2931795" y="3651407"/>
            <a:ext cx="514350" cy="2524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6057424" y="3651408"/>
            <a:ext cx="514350" cy="2524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1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028950"/>
            <a:ext cx="1838325" cy="15430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838" y="4038600"/>
            <a:ext cx="1674812" cy="52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22BB3E7-63D8-F189-F93D-4B0B2EB55E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62500" lnSpcReduction="20000"/>
              </a:bodyPr>
              <a:lstStyle>
                <a:lvl1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 kern="1200" spc="-5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2pPr>
                <a:lvl3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3pPr>
                <a:lvl4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4pPr>
                <a:lvl5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5pPr>
                <a:lvl6pPr marL="4572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6pPr>
                <a:lvl7pPr marL="9144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7pPr>
                <a:lvl8pPr marL="13716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8pPr>
                <a:lvl9pPr marL="18288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9pPr>
              </a:lstStyle>
              <a:p>
                <a:pPr algn="r" eaLnBrk="1" hangingPunct="1"/>
                <a:r>
                  <a:rPr lang="he-IL" altLang="he-IL" dirty="0"/>
                  <a:t>ג. מימוש הפונקציה בעזרת בורר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altLang="he-IL" dirty="0"/>
                  <a:t> ושערים לוגיים:</a:t>
                </a:r>
                <a:endParaRPr lang="en-US" altLang="he-I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22BB3E7-63D8-F189-F93D-4B0B2EB55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  <a:blipFill>
                <a:blip r:embed="rId7"/>
                <a:stretch>
                  <a:fillRect r="-1769" b="-2541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44334D9-1859-EFDC-38B4-74EEFA982EB9}"/>
              </a:ext>
            </a:extLst>
          </p:cNvPr>
          <p:cNvSpPr/>
          <p:nvPr/>
        </p:nvSpPr>
        <p:spPr>
          <a:xfrm>
            <a:off x="3679404" y="3015502"/>
            <a:ext cx="2052918" cy="1066801"/>
          </a:xfrm>
          <a:prstGeom prst="round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176664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9796586-D97C-438A-ABD1-4672561B06BE}" type="slidenum">
              <a:rPr lang="en-US" altLang="he-IL" sz="1000" smtClean="0">
                <a:latin typeface="Lucida Sans Unicode" panose="020B0602030504020204" pitchFamily="34" charset="0"/>
              </a:rPr>
              <a:pPr/>
              <a:t>38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>
              <a:latin typeface="Lucida Sans Unicode" panose="020B0602030504020204" pitchFamily="34" charset="0"/>
            </a:endParaRPr>
          </a:p>
        </p:txBody>
      </p:sp>
      <p:pic>
        <p:nvPicPr>
          <p:cNvPr id="4198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" y="1365725"/>
            <a:ext cx="2228850" cy="5076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548" y="1390333"/>
            <a:ext cx="2228850" cy="5076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ight Arrow 10"/>
          <p:cNvSpPr/>
          <p:nvPr/>
        </p:nvSpPr>
        <p:spPr>
          <a:xfrm>
            <a:off x="2931795" y="3651407"/>
            <a:ext cx="514350" cy="2524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6057424" y="3651408"/>
            <a:ext cx="514350" cy="2524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1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028950"/>
            <a:ext cx="1838325" cy="15430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838" y="4267200"/>
            <a:ext cx="1674812" cy="297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le 1"/>
              <p:cNvSpPr txBox="1">
                <a:spLocks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62500" lnSpcReduction="20000"/>
              </a:bodyPr>
              <a:lstStyle>
                <a:lvl1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 kern="1200" spc="-5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2pPr>
                <a:lvl3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3pPr>
                <a:lvl4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4pPr>
                <a:lvl5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5pPr>
                <a:lvl6pPr marL="4572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6pPr>
                <a:lvl7pPr marL="9144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7pPr>
                <a:lvl8pPr marL="13716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8pPr>
                <a:lvl9pPr marL="18288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9pPr>
              </a:lstStyle>
              <a:p>
                <a:pPr algn="r" eaLnBrk="1" hangingPunct="1"/>
                <a:r>
                  <a:rPr lang="he-IL" altLang="he-IL" dirty="0"/>
                  <a:t>ג. מימוש הפונקציה בעזרת בורר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altLang="he-IL" dirty="0"/>
                  <a:t> ושערים לוגיים:</a:t>
                </a:r>
                <a:endParaRPr lang="en-US" altLang="he-IL" dirty="0"/>
              </a:p>
            </p:txBody>
          </p:sp>
        </mc:Choice>
        <mc:Fallback xmlns="">
          <p:sp>
            <p:nvSpPr>
              <p:cNvPr id="13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  <a:blipFill>
                <a:blip r:embed="rId7"/>
                <a:stretch>
                  <a:fillRect r="-1763" b="-2372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4582A74-3455-1F1D-9771-1E8E41E48C86}"/>
              </a:ext>
            </a:extLst>
          </p:cNvPr>
          <p:cNvSpPr/>
          <p:nvPr/>
        </p:nvSpPr>
        <p:spPr>
          <a:xfrm>
            <a:off x="3679404" y="4190999"/>
            <a:ext cx="2052918" cy="1066801"/>
          </a:xfrm>
          <a:prstGeom prst="round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291744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9796586-D97C-438A-ABD1-4672561B06BE}" type="slidenum">
              <a:rPr lang="en-US" altLang="he-IL" sz="1000" smtClean="0">
                <a:latin typeface="Lucida Sans Unicode" panose="020B0602030504020204" pitchFamily="34" charset="0"/>
              </a:rPr>
              <a:pPr/>
              <a:t>39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>
              <a:latin typeface="Lucida Sans Unicode" panose="020B0602030504020204" pitchFamily="34" charset="0"/>
            </a:endParaRPr>
          </a:p>
        </p:txBody>
      </p:sp>
      <p:pic>
        <p:nvPicPr>
          <p:cNvPr id="4198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" y="1365725"/>
            <a:ext cx="2228850" cy="5076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548" y="1390333"/>
            <a:ext cx="2228850" cy="5076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ight Arrow 10"/>
          <p:cNvSpPr/>
          <p:nvPr/>
        </p:nvSpPr>
        <p:spPr>
          <a:xfrm>
            <a:off x="2931795" y="3651407"/>
            <a:ext cx="514350" cy="2524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6057424" y="3651408"/>
            <a:ext cx="514350" cy="2524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1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028950"/>
            <a:ext cx="1838325" cy="15430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le 1"/>
              <p:cNvSpPr txBox="1">
                <a:spLocks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62500" lnSpcReduction="20000"/>
              </a:bodyPr>
              <a:lstStyle>
                <a:lvl1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 kern="1200" spc="-5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2pPr>
                <a:lvl3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3pPr>
                <a:lvl4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4pPr>
                <a:lvl5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5pPr>
                <a:lvl6pPr marL="4572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6pPr>
                <a:lvl7pPr marL="9144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7pPr>
                <a:lvl8pPr marL="13716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8pPr>
                <a:lvl9pPr marL="18288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9pPr>
              </a:lstStyle>
              <a:p>
                <a:pPr algn="r" eaLnBrk="1" hangingPunct="1"/>
                <a:r>
                  <a:rPr lang="he-IL" altLang="he-IL" dirty="0"/>
                  <a:t>ג. מימוש הפונקציה בעזרת בורר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altLang="he-IL" dirty="0"/>
                  <a:t> ושערים לוגיים:</a:t>
                </a:r>
                <a:endParaRPr lang="en-US" altLang="he-IL" dirty="0"/>
              </a:p>
            </p:txBody>
          </p:sp>
        </mc:Choice>
        <mc:Fallback xmlns="">
          <p:sp>
            <p:nvSpPr>
              <p:cNvPr id="13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  <a:blipFill>
                <a:blip r:embed="rId6"/>
                <a:stretch>
                  <a:fillRect r="-1763" b="-2372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58E2BB2-8F99-0371-CADE-5AD2A49C4F31}"/>
              </a:ext>
            </a:extLst>
          </p:cNvPr>
          <p:cNvSpPr/>
          <p:nvPr/>
        </p:nvSpPr>
        <p:spPr>
          <a:xfrm>
            <a:off x="3679404" y="5333999"/>
            <a:ext cx="2052918" cy="1066801"/>
          </a:xfrm>
          <a:prstGeom prst="round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620525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9C78E26-66F0-4302-A3FB-85F636BB854F}" type="slidenum">
              <a:rPr lang="en-US" altLang="he-IL" sz="1000" smtClean="0">
                <a:latin typeface="Lucida Sans Unicode" panose="020B0602030504020204" pitchFamily="34" charset="0"/>
              </a:rPr>
              <a:pPr/>
              <a:t>40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  <p:pic>
        <p:nvPicPr>
          <p:cNvPr id="4711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574358"/>
            <a:ext cx="2943225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/>
              <p:cNvSpPr txBox="1">
                <a:spLocks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62500" lnSpcReduction="20000"/>
              </a:bodyPr>
              <a:lstStyle>
                <a:lvl1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 kern="1200" spc="-5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2pPr>
                <a:lvl3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3pPr>
                <a:lvl4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4pPr>
                <a:lvl5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5pPr>
                <a:lvl6pPr marL="4572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6pPr>
                <a:lvl7pPr marL="9144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7pPr>
                <a:lvl8pPr marL="13716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8pPr>
                <a:lvl9pPr marL="18288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9pPr>
              </a:lstStyle>
              <a:p>
                <a:pPr algn="r" eaLnBrk="1" hangingPunct="1"/>
                <a:r>
                  <a:rPr lang="he-IL" altLang="he-IL" dirty="0"/>
                  <a:t>ג. מימוש הפונקציה בעזרת בורר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altLang="he-IL" dirty="0"/>
                  <a:t> ושערים לוגיים:</a:t>
                </a:r>
                <a:endParaRPr lang="en-US" altLang="he-IL" dirty="0"/>
              </a:p>
            </p:txBody>
          </p:sp>
        </mc:Choice>
        <mc:Fallback xmlns="">
          <p:sp>
            <p:nvSpPr>
              <p:cNvPr id="8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  <a:blipFill>
                <a:blip r:embed="rId4"/>
                <a:stretch>
                  <a:fillRect r="-1763" b="-2372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743200"/>
            <a:ext cx="2514600" cy="21107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ight Arrow 10"/>
          <p:cNvSpPr/>
          <p:nvPr/>
        </p:nvSpPr>
        <p:spPr>
          <a:xfrm>
            <a:off x="4572000" y="3672341"/>
            <a:ext cx="685800" cy="3662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9C78E26-66F0-4302-A3FB-85F636BB854F}" type="slidenum">
              <a:rPr lang="en-US" altLang="he-IL" sz="1000" smtClean="0">
                <a:latin typeface="Lucida Sans Unicode" panose="020B0602030504020204" pitchFamily="34" charset="0"/>
              </a:rPr>
              <a:pPr/>
              <a:t>41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/>
              <p:cNvSpPr txBox="1">
                <a:spLocks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62500" lnSpcReduction="20000"/>
              </a:bodyPr>
              <a:lstStyle>
                <a:lvl1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 kern="1200" spc="-5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2pPr>
                <a:lvl3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3pPr>
                <a:lvl4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4pPr>
                <a:lvl5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5pPr>
                <a:lvl6pPr marL="4572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6pPr>
                <a:lvl7pPr marL="9144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7pPr>
                <a:lvl8pPr marL="13716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8pPr>
                <a:lvl9pPr marL="18288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9pPr>
              </a:lstStyle>
              <a:p>
                <a:pPr algn="r" eaLnBrk="1" hangingPunct="1"/>
                <a:r>
                  <a:rPr lang="he-IL" altLang="he-IL" dirty="0"/>
                  <a:t>ג. מימוש הפונקציה בעזרת בורר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altLang="he-IL" dirty="0"/>
                  <a:t> ושערים לוגיים:</a:t>
                </a:r>
                <a:endParaRPr lang="en-US" altLang="he-IL" dirty="0"/>
              </a:p>
            </p:txBody>
          </p:sp>
        </mc:Choice>
        <mc:Fallback xmlns="">
          <p:sp>
            <p:nvSpPr>
              <p:cNvPr id="8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  <a:blipFill>
                <a:blip r:embed="rId3"/>
                <a:stretch>
                  <a:fillRect r="-1763" b="-2372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Arrow 10"/>
          <p:cNvSpPr/>
          <p:nvPr/>
        </p:nvSpPr>
        <p:spPr>
          <a:xfrm rot="10800000">
            <a:off x="5029201" y="3778091"/>
            <a:ext cx="685800" cy="3662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12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574358"/>
            <a:ext cx="2943225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838200" y="2232001"/>
            <a:ext cx="3810000" cy="380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49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9C78E26-66F0-4302-A3FB-85F636BB854F}" type="slidenum">
              <a:rPr lang="en-US" altLang="he-IL" sz="1000" smtClean="0">
                <a:latin typeface="Lucida Sans Unicode" panose="020B0602030504020204" pitchFamily="34" charset="0"/>
              </a:rPr>
              <a:pPr/>
              <a:t>42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/>
              <p:cNvSpPr txBox="1">
                <a:spLocks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62500" lnSpcReduction="20000"/>
              </a:bodyPr>
              <a:lstStyle>
                <a:lvl1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 kern="1200" spc="-50">
                    <a:solidFill>
                      <a:srgbClr val="404040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2pPr>
                <a:lvl3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3pPr>
                <a:lvl4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4pPr>
                <a:lvl5pPr algn="l" rtl="1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5pPr>
                <a:lvl6pPr marL="4572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6pPr>
                <a:lvl7pPr marL="9144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7pPr>
                <a:lvl8pPr marL="13716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8pPr>
                <a:lvl9pPr marL="1828800" algn="l" rtl="1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rgbClr val="404040"/>
                    </a:solidFill>
                    <a:latin typeface="Calibri Light" panose="020F0302020204030204" pitchFamily="34" charset="0"/>
                  </a:defRPr>
                </a:lvl9pPr>
              </a:lstStyle>
              <a:p>
                <a:pPr algn="r" eaLnBrk="1" hangingPunct="1"/>
                <a:r>
                  <a:rPr lang="he-IL" altLang="he-IL" dirty="0"/>
                  <a:t>ד. מימוש הפונקציה בעזרת בורר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altLang="he-IL" dirty="0"/>
                  <a:t> ללא שערים לוגיים:</a:t>
                </a:r>
                <a:endParaRPr lang="en-US" altLang="he-IL" dirty="0"/>
              </a:p>
            </p:txBody>
          </p:sp>
        </mc:Choice>
        <mc:Fallback xmlns="">
          <p:sp>
            <p:nvSpPr>
              <p:cNvPr id="8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04800"/>
                <a:ext cx="7924800" cy="746125"/>
              </a:xfrm>
              <a:prstGeom prst="rect">
                <a:avLst/>
              </a:prstGeom>
              <a:blipFill>
                <a:blip r:embed="rId3"/>
                <a:stretch>
                  <a:fillRect r="-1763" b="-2372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Arrow 10"/>
          <p:cNvSpPr/>
          <p:nvPr/>
        </p:nvSpPr>
        <p:spPr>
          <a:xfrm rot="10800000">
            <a:off x="5029201" y="3778091"/>
            <a:ext cx="685800" cy="3662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590800"/>
            <a:ext cx="4695824" cy="334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574358"/>
            <a:ext cx="2943225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4653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דקודר (מפענח)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895600"/>
            <a:ext cx="7889875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6" name="TextBox 4"/>
          <p:cNvSpPr txBox="1">
            <a:spLocks noChangeArrowheads="1"/>
          </p:cNvSpPr>
          <p:nvPr/>
        </p:nvSpPr>
        <p:spPr bwMode="auto">
          <a:xfrm>
            <a:off x="297473" y="1895475"/>
            <a:ext cx="81115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/>
            <a:r>
              <a:rPr lang="he-IL" altLang="he-IL" sz="2400" dirty="0">
                <a:solidFill>
                  <a:srgbClr val="404040"/>
                </a:solidFill>
                <a:latin typeface="+mn-lt"/>
                <a:cs typeface="+mn-cs"/>
              </a:rPr>
              <a:t>היציאה שמספרה שווה לערך שבסיביות הבקרה, תקבל את הערך 1.</a:t>
            </a:r>
            <a:endParaRPr lang="en-US" altLang="he-IL" sz="2400" dirty="0">
              <a:solidFill>
                <a:srgbClr val="404040"/>
              </a:solidFill>
              <a:latin typeface="+mn-lt"/>
              <a:cs typeface="+mn-cs"/>
            </a:endParaRPr>
          </a:p>
        </p:txBody>
      </p:sp>
      <p:sp>
        <p:nvSpPr>
          <p:cNvPr id="49157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D52F5FE-C0A3-411D-B515-04F4C9D90F7F}" type="slidenum">
              <a:rPr lang="en-US" altLang="he-IL" sz="1000" smtClean="0">
                <a:latin typeface="Lucida Sans Unicode" panose="020B0602030504020204" pitchFamily="34" charset="0"/>
              </a:rPr>
              <a:pPr/>
              <a:t>43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0F4DA17-F139-EDE2-5C82-7E5383EBC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מפענח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F5675BD5-FEAE-4D6B-AA8F-4FBE60647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2A3356-D8E6-4574-BA3B-4924C966D0A1}" type="slidenum">
              <a:rPr lang="en-US" altLang="he-IL" smtClean="0"/>
              <a:pPr>
                <a:defRPr/>
              </a:pPr>
              <a:t>44</a:t>
            </a:fld>
            <a:endParaRPr lang="en-US" alt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מלבן 4">
                <a:extLst>
                  <a:ext uri="{FF2B5EF4-FFF2-40B4-BE49-F238E27FC236}">
                    <a16:creationId xmlns:a16="http://schemas.microsoft.com/office/drawing/2014/main" id="{71E43EFE-F0AA-24BA-0CCF-156A610A26EA}"/>
                  </a:ext>
                </a:extLst>
              </p:cNvPr>
              <p:cNvSpPr/>
              <p:nvPr/>
            </p:nvSpPr>
            <p:spPr>
              <a:xfrm>
                <a:off x="2438400" y="2899968"/>
                <a:ext cx="4572000" cy="144938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en-US" dirty="0"/>
                  <a:t>Decoder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3→8</m:t>
                    </m:r>
                  </m:oMath>
                </a14:m>
                <a:endParaRPr lang="he-IL" dirty="0"/>
              </a:p>
            </p:txBody>
          </p:sp>
        </mc:Choice>
        <mc:Fallback xmlns="">
          <p:sp>
            <p:nvSpPr>
              <p:cNvPr id="5" name="מלבן 4">
                <a:extLst>
                  <a:ext uri="{FF2B5EF4-FFF2-40B4-BE49-F238E27FC236}">
                    <a16:creationId xmlns:a16="http://schemas.microsoft.com/office/drawing/2014/main" id="{71E43EFE-F0AA-24BA-0CCF-156A610A26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2899968"/>
                <a:ext cx="4572000" cy="14493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מחבר חץ ישר 6">
            <a:extLst>
              <a:ext uri="{FF2B5EF4-FFF2-40B4-BE49-F238E27FC236}">
                <a16:creationId xmlns:a16="http://schemas.microsoft.com/office/drawing/2014/main" id="{ACBA4D4A-283B-E481-9E9E-63380435DF53}"/>
              </a:ext>
            </a:extLst>
          </p:cNvPr>
          <p:cNvCxnSpPr/>
          <p:nvPr/>
        </p:nvCxnSpPr>
        <p:spPr>
          <a:xfrm>
            <a:off x="1676400" y="3128568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מחבר חץ ישר 7">
            <a:extLst>
              <a:ext uri="{FF2B5EF4-FFF2-40B4-BE49-F238E27FC236}">
                <a16:creationId xmlns:a16="http://schemas.microsoft.com/office/drawing/2014/main" id="{EAF04F77-247F-5420-828D-E590E260A9FD}"/>
              </a:ext>
            </a:extLst>
          </p:cNvPr>
          <p:cNvCxnSpPr/>
          <p:nvPr/>
        </p:nvCxnSpPr>
        <p:spPr>
          <a:xfrm>
            <a:off x="1676400" y="3509568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F4A865CF-C1FE-E145-A073-66348CD39C69}"/>
              </a:ext>
            </a:extLst>
          </p:cNvPr>
          <p:cNvCxnSpPr/>
          <p:nvPr/>
        </p:nvCxnSpPr>
        <p:spPr>
          <a:xfrm>
            <a:off x="1676400" y="3874857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מחבר חץ ישר 14">
            <a:extLst>
              <a:ext uri="{FF2B5EF4-FFF2-40B4-BE49-F238E27FC236}">
                <a16:creationId xmlns:a16="http://schemas.microsoft.com/office/drawing/2014/main" id="{0F551D53-1AA0-FA3A-F49C-C4F46272AA0D}"/>
              </a:ext>
            </a:extLst>
          </p:cNvPr>
          <p:cNvCxnSpPr>
            <a:cxnSpLocks/>
          </p:cNvCxnSpPr>
          <p:nvPr/>
        </p:nvCxnSpPr>
        <p:spPr>
          <a:xfrm>
            <a:off x="4419600" y="4349355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מחבר חץ ישר 15">
            <a:extLst>
              <a:ext uri="{FF2B5EF4-FFF2-40B4-BE49-F238E27FC236}">
                <a16:creationId xmlns:a16="http://schemas.microsoft.com/office/drawing/2014/main" id="{3FA6F3AC-7EC1-730B-94DF-269F5A368FB9}"/>
              </a:ext>
            </a:extLst>
          </p:cNvPr>
          <p:cNvCxnSpPr>
            <a:cxnSpLocks/>
          </p:cNvCxnSpPr>
          <p:nvPr/>
        </p:nvCxnSpPr>
        <p:spPr>
          <a:xfrm>
            <a:off x="3886200" y="4349355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מחבר חץ ישר 16">
            <a:extLst>
              <a:ext uri="{FF2B5EF4-FFF2-40B4-BE49-F238E27FC236}">
                <a16:creationId xmlns:a16="http://schemas.microsoft.com/office/drawing/2014/main" id="{9207ECDC-D46B-D792-6CC4-AC9BDEEC91A7}"/>
              </a:ext>
            </a:extLst>
          </p:cNvPr>
          <p:cNvCxnSpPr>
            <a:cxnSpLocks/>
          </p:cNvCxnSpPr>
          <p:nvPr/>
        </p:nvCxnSpPr>
        <p:spPr>
          <a:xfrm>
            <a:off x="3352800" y="4349355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מחבר חץ ישר 17">
            <a:extLst>
              <a:ext uri="{FF2B5EF4-FFF2-40B4-BE49-F238E27FC236}">
                <a16:creationId xmlns:a16="http://schemas.microsoft.com/office/drawing/2014/main" id="{2D3C669F-B4D7-035E-D33D-4B0CB708DA62}"/>
              </a:ext>
            </a:extLst>
          </p:cNvPr>
          <p:cNvCxnSpPr>
            <a:cxnSpLocks/>
          </p:cNvCxnSpPr>
          <p:nvPr/>
        </p:nvCxnSpPr>
        <p:spPr>
          <a:xfrm>
            <a:off x="2819400" y="4349355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תיבת טקסט 18">
                <a:extLst>
                  <a:ext uri="{FF2B5EF4-FFF2-40B4-BE49-F238E27FC236}">
                    <a16:creationId xmlns:a16="http://schemas.microsoft.com/office/drawing/2014/main" id="{D31522BE-A8C7-750C-73E3-C3AB42C0EE2B}"/>
                  </a:ext>
                </a:extLst>
              </p:cNvPr>
              <p:cNvSpPr txBox="1"/>
              <p:nvPr/>
            </p:nvSpPr>
            <p:spPr>
              <a:xfrm>
                <a:off x="1295997" y="2880113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9" name="תיבת טקסט 18">
                <a:extLst>
                  <a:ext uri="{FF2B5EF4-FFF2-40B4-BE49-F238E27FC236}">
                    <a16:creationId xmlns:a16="http://schemas.microsoft.com/office/drawing/2014/main" id="{D31522BE-A8C7-750C-73E3-C3AB42C0E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997" y="2880113"/>
                <a:ext cx="37702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תיבת טקסט 19">
                <a:extLst>
                  <a:ext uri="{FF2B5EF4-FFF2-40B4-BE49-F238E27FC236}">
                    <a16:creationId xmlns:a16="http://schemas.microsoft.com/office/drawing/2014/main" id="{57A63876-1F00-9415-6F23-ABDB3ACC58B0}"/>
                  </a:ext>
                </a:extLst>
              </p:cNvPr>
              <p:cNvSpPr txBox="1"/>
              <p:nvPr/>
            </p:nvSpPr>
            <p:spPr>
              <a:xfrm>
                <a:off x="1295400" y="3260488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0" name="תיבת טקסט 19">
                <a:extLst>
                  <a:ext uri="{FF2B5EF4-FFF2-40B4-BE49-F238E27FC236}">
                    <a16:creationId xmlns:a16="http://schemas.microsoft.com/office/drawing/2014/main" id="{57A63876-1F00-9415-6F23-ABDB3ACC5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3260488"/>
                <a:ext cx="37702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תיבת טקסט 20">
                <a:extLst>
                  <a:ext uri="{FF2B5EF4-FFF2-40B4-BE49-F238E27FC236}">
                    <a16:creationId xmlns:a16="http://schemas.microsoft.com/office/drawing/2014/main" id="{CD3186F7-177D-FA1F-DF2A-E54441B39A6A}"/>
                  </a:ext>
                </a:extLst>
              </p:cNvPr>
              <p:cNvSpPr txBox="1"/>
              <p:nvPr/>
            </p:nvSpPr>
            <p:spPr>
              <a:xfrm>
                <a:off x="1295400" y="3690191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1" name="תיבת טקסט 20">
                <a:extLst>
                  <a:ext uri="{FF2B5EF4-FFF2-40B4-BE49-F238E27FC236}">
                    <a16:creationId xmlns:a16="http://schemas.microsoft.com/office/drawing/2014/main" id="{CD3186F7-177D-FA1F-DF2A-E54441B39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3690191"/>
                <a:ext cx="37702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מחבר חץ ישר 21">
            <a:extLst>
              <a:ext uri="{FF2B5EF4-FFF2-40B4-BE49-F238E27FC236}">
                <a16:creationId xmlns:a16="http://schemas.microsoft.com/office/drawing/2014/main" id="{71B64181-5625-FE9C-D1D1-D7BE72F83A39}"/>
              </a:ext>
            </a:extLst>
          </p:cNvPr>
          <p:cNvCxnSpPr>
            <a:cxnSpLocks/>
          </p:cNvCxnSpPr>
          <p:nvPr/>
        </p:nvCxnSpPr>
        <p:spPr>
          <a:xfrm>
            <a:off x="6629400" y="4349355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מחבר חץ ישר 22">
            <a:extLst>
              <a:ext uri="{FF2B5EF4-FFF2-40B4-BE49-F238E27FC236}">
                <a16:creationId xmlns:a16="http://schemas.microsoft.com/office/drawing/2014/main" id="{C1381D6E-D17D-5F52-AC12-0A3985295E74}"/>
              </a:ext>
            </a:extLst>
          </p:cNvPr>
          <p:cNvCxnSpPr>
            <a:cxnSpLocks/>
          </p:cNvCxnSpPr>
          <p:nvPr/>
        </p:nvCxnSpPr>
        <p:spPr>
          <a:xfrm>
            <a:off x="6096000" y="4349355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מחבר חץ ישר 23">
            <a:extLst>
              <a:ext uri="{FF2B5EF4-FFF2-40B4-BE49-F238E27FC236}">
                <a16:creationId xmlns:a16="http://schemas.microsoft.com/office/drawing/2014/main" id="{251999CC-A0A2-C29A-BE00-E57FEBACFA59}"/>
              </a:ext>
            </a:extLst>
          </p:cNvPr>
          <p:cNvCxnSpPr>
            <a:cxnSpLocks/>
          </p:cNvCxnSpPr>
          <p:nvPr/>
        </p:nvCxnSpPr>
        <p:spPr>
          <a:xfrm>
            <a:off x="5562600" y="4349355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מחבר חץ ישר 24">
            <a:extLst>
              <a:ext uri="{FF2B5EF4-FFF2-40B4-BE49-F238E27FC236}">
                <a16:creationId xmlns:a16="http://schemas.microsoft.com/office/drawing/2014/main" id="{D198815A-27AE-EC87-4491-5E773A1992B5}"/>
              </a:ext>
            </a:extLst>
          </p:cNvPr>
          <p:cNvCxnSpPr>
            <a:cxnSpLocks/>
          </p:cNvCxnSpPr>
          <p:nvPr/>
        </p:nvCxnSpPr>
        <p:spPr>
          <a:xfrm>
            <a:off x="5029200" y="4349355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תיבת טקסט 33">
                <a:extLst>
                  <a:ext uri="{FF2B5EF4-FFF2-40B4-BE49-F238E27FC236}">
                    <a16:creationId xmlns:a16="http://schemas.microsoft.com/office/drawing/2014/main" id="{0CB34EA9-549B-D460-2952-40AE9F0ADC77}"/>
                  </a:ext>
                </a:extLst>
              </p:cNvPr>
              <p:cNvSpPr txBox="1"/>
              <p:nvPr/>
            </p:nvSpPr>
            <p:spPr>
              <a:xfrm>
                <a:off x="2630887" y="4882755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4" name="תיבת טקסט 33">
                <a:extLst>
                  <a:ext uri="{FF2B5EF4-FFF2-40B4-BE49-F238E27FC236}">
                    <a16:creationId xmlns:a16="http://schemas.microsoft.com/office/drawing/2014/main" id="{0CB34EA9-549B-D460-2952-40AE9F0AD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887" y="4882755"/>
                <a:ext cx="37702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תיבת טקסט 34">
                <a:extLst>
                  <a:ext uri="{FF2B5EF4-FFF2-40B4-BE49-F238E27FC236}">
                    <a16:creationId xmlns:a16="http://schemas.microsoft.com/office/drawing/2014/main" id="{688DC8D4-7EDB-736B-D282-52EE2A04D7CA}"/>
                  </a:ext>
                </a:extLst>
              </p:cNvPr>
              <p:cNvSpPr txBox="1"/>
              <p:nvPr/>
            </p:nvSpPr>
            <p:spPr>
              <a:xfrm>
                <a:off x="3185473" y="4882755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5" name="תיבת טקסט 34">
                <a:extLst>
                  <a:ext uri="{FF2B5EF4-FFF2-40B4-BE49-F238E27FC236}">
                    <a16:creationId xmlns:a16="http://schemas.microsoft.com/office/drawing/2014/main" id="{688DC8D4-7EDB-736B-D282-52EE2A04D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473" y="4882755"/>
                <a:ext cx="37702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תיבת טקסט 35">
                <a:extLst>
                  <a:ext uri="{FF2B5EF4-FFF2-40B4-BE49-F238E27FC236}">
                    <a16:creationId xmlns:a16="http://schemas.microsoft.com/office/drawing/2014/main" id="{42579380-FAB2-5E3A-F5F8-FBD8063A808D}"/>
                  </a:ext>
                </a:extLst>
              </p:cNvPr>
              <p:cNvSpPr txBox="1"/>
              <p:nvPr/>
            </p:nvSpPr>
            <p:spPr>
              <a:xfrm>
                <a:off x="3678784" y="4889825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6" name="תיבת טקסט 35">
                <a:extLst>
                  <a:ext uri="{FF2B5EF4-FFF2-40B4-BE49-F238E27FC236}">
                    <a16:creationId xmlns:a16="http://schemas.microsoft.com/office/drawing/2014/main" id="{42579380-FAB2-5E3A-F5F8-FBD8063A8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8784" y="4889825"/>
                <a:ext cx="37702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תיבת טקסט 36">
                <a:extLst>
                  <a:ext uri="{FF2B5EF4-FFF2-40B4-BE49-F238E27FC236}">
                    <a16:creationId xmlns:a16="http://schemas.microsoft.com/office/drawing/2014/main" id="{2689E4DA-9D30-3F3A-FFAB-BC1151FD9436}"/>
                  </a:ext>
                </a:extLst>
              </p:cNvPr>
              <p:cNvSpPr txBox="1"/>
              <p:nvPr/>
            </p:nvSpPr>
            <p:spPr>
              <a:xfrm>
                <a:off x="4245642" y="4889825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7" name="תיבת טקסט 36">
                <a:extLst>
                  <a:ext uri="{FF2B5EF4-FFF2-40B4-BE49-F238E27FC236}">
                    <a16:creationId xmlns:a16="http://schemas.microsoft.com/office/drawing/2014/main" id="{2689E4DA-9D30-3F3A-FFAB-BC1151FD9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642" y="4889825"/>
                <a:ext cx="37702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תיבת טקסט 37">
                <a:extLst>
                  <a:ext uri="{FF2B5EF4-FFF2-40B4-BE49-F238E27FC236}">
                    <a16:creationId xmlns:a16="http://schemas.microsoft.com/office/drawing/2014/main" id="{EF44CE82-1871-E41D-2F98-1FF04BEE61A1}"/>
                  </a:ext>
                </a:extLst>
              </p:cNvPr>
              <p:cNvSpPr txBox="1"/>
              <p:nvPr/>
            </p:nvSpPr>
            <p:spPr>
              <a:xfrm>
                <a:off x="4840687" y="4889825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8" name="תיבת טקסט 37">
                <a:extLst>
                  <a:ext uri="{FF2B5EF4-FFF2-40B4-BE49-F238E27FC236}">
                    <a16:creationId xmlns:a16="http://schemas.microsoft.com/office/drawing/2014/main" id="{EF44CE82-1871-E41D-2F98-1FF04BEE6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0687" y="4889825"/>
                <a:ext cx="37702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תיבת טקסט 38">
                <a:extLst>
                  <a:ext uri="{FF2B5EF4-FFF2-40B4-BE49-F238E27FC236}">
                    <a16:creationId xmlns:a16="http://schemas.microsoft.com/office/drawing/2014/main" id="{E044D7C8-8E5D-DCC7-84B2-E52172AB3A7E}"/>
                  </a:ext>
                </a:extLst>
              </p:cNvPr>
              <p:cNvSpPr txBox="1"/>
              <p:nvPr/>
            </p:nvSpPr>
            <p:spPr>
              <a:xfrm>
                <a:off x="5374087" y="4889825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9" name="תיבת טקסט 38">
                <a:extLst>
                  <a:ext uri="{FF2B5EF4-FFF2-40B4-BE49-F238E27FC236}">
                    <a16:creationId xmlns:a16="http://schemas.microsoft.com/office/drawing/2014/main" id="{E044D7C8-8E5D-DCC7-84B2-E52172AB3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4087" y="4889825"/>
                <a:ext cx="37702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תיבת טקסט 39">
                <a:extLst>
                  <a:ext uri="{FF2B5EF4-FFF2-40B4-BE49-F238E27FC236}">
                    <a16:creationId xmlns:a16="http://schemas.microsoft.com/office/drawing/2014/main" id="{8C422378-755F-4D36-CD56-F690D6CEAA71}"/>
                  </a:ext>
                </a:extLst>
              </p:cNvPr>
              <p:cNvSpPr txBox="1"/>
              <p:nvPr/>
            </p:nvSpPr>
            <p:spPr>
              <a:xfrm>
                <a:off x="5907487" y="4907107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0" name="תיבת טקסט 39">
                <a:extLst>
                  <a:ext uri="{FF2B5EF4-FFF2-40B4-BE49-F238E27FC236}">
                    <a16:creationId xmlns:a16="http://schemas.microsoft.com/office/drawing/2014/main" id="{8C422378-755F-4D36-CD56-F690D6CEA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487" y="4907107"/>
                <a:ext cx="37702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תיבת טקסט 40">
                <a:extLst>
                  <a:ext uri="{FF2B5EF4-FFF2-40B4-BE49-F238E27FC236}">
                    <a16:creationId xmlns:a16="http://schemas.microsoft.com/office/drawing/2014/main" id="{9DB03440-A511-AAC5-A608-17485524595B}"/>
                  </a:ext>
                </a:extLst>
              </p:cNvPr>
              <p:cNvSpPr txBox="1"/>
              <p:nvPr/>
            </p:nvSpPr>
            <p:spPr>
              <a:xfrm>
                <a:off x="6440887" y="4907107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1" name="תיבת טקסט 40">
                <a:extLst>
                  <a:ext uri="{FF2B5EF4-FFF2-40B4-BE49-F238E27FC236}">
                    <a16:creationId xmlns:a16="http://schemas.microsoft.com/office/drawing/2014/main" id="{9DB03440-A511-AAC5-A608-174855245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0887" y="4907107"/>
                <a:ext cx="37702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19830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3CC64-803F-F989-18F2-9F27CD944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3DF2D7F-B18A-F60E-D8F5-E8EDEA3E3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מפענח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EDF99D2B-47E4-30E5-CC8D-1F47FDDF2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2A3356-D8E6-4574-BA3B-4924C966D0A1}" type="slidenum">
              <a:rPr lang="en-US" altLang="he-IL" smtClean="0"/>
              <a:pPr>
                <a:defRPr/>
              </a:pPr>
              <a:t>45</a:t>
            </a:fld>
            <a:endParaRPr lang="en-US" alt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מלבן 4">
                <a:extLst>
                  <a:ext uri="{FF2B5EF4-FFF2-40B4-BE49-F238E27FC236}">
                    <a16:creationId xmlns:a16="http://schemas.microsoft.com/office/drawing/2014/main" id="{745320D9-FB4D-FC7E-ADA8-0E0695B674EF}"/>
                  </a:ext>
                </a:extLst>
              </p:cNvPr>
              <p:cNvSpPr/>
              <p:nvPr/>
            </p:nvSpPr>
            <p:spPr>
              <a:xfrm>
                <a:off x="2438400" y="2899968"/>
                <a:ext cx="4572000" cy="144938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en-US" dirty="0"/>
                  <a:t>Decoder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3→8</m:t>
                    </m:r>
                  </m:oMath>
                </a14:m>
                <a:endParaRPr lang="he-IL" dirty="0"/>
              </a:p>
            </p:txBody>
          </p:sp>
        </mc:Choice>
        <mc:Fallback xmlns="">
          <p:sp>
            <p:nvSpPr>
              <p:cNvPr id="5" name="מלבן 4">
                <a:extLst>
                  <a:ext uri="{FF2B5EF4-FFF2-40B4-BE49-F238E27FC236}">
                    <a16:creationId xmlns:a16="http://schemas.microsoft.com/office/drawing/2014/main" id="{745320D9-FB4D-FC7E-ADA8-0E0695B674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2899968"/>
                <a:ext cx="4572000" cy="14493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מחבר חץ ישר 6">
            <a:extLst>
              <a:ext uri="{FF2B5EF4-FFF2-40B4-BE49-F238E27FC236}">
                <a16:creationId xmlns:a16="http://schemas.microsoft.com/office/drawing/2014/main" id="{7C5197C2-0168-5F62-C9A2-5635B06BEC5F}"/>
              </a:ext>
            </a:extLst>
          </p:cNvPr>
          <p:cNvCxnSpPr/>
          <p:nvPr/>
        </p:nvCxnSpPr>
        <p:spPr>
          <a:xfrm>
            <a:off x="1676400" y="3128568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מחבר חץ ישר 7">
            <a:extLst>
              <a:ext uri="{FF2B5EF4-FFF2-40B4-BE49-F238E27FC236}">
                <a16:creationId xmlns:a16="http://schemas.microsoft.com/office/drawing/2014/main" id="{D070BDED-C663-F640-0BFB-E1E2FC7F7DC3}"/>
              </a:ext>
            </a:extLst>
          </p:cNvPr>
          <p:cNvCxnSpPr/>
          <p:nvPr/>
        </p:nvCxnSpPr>
        <p:spPr>
          <a:xfrm>
            <a:off x="1676400" y="3509568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A4AAF934-DD88-84C5-5598-880BC9BF88E8}"/>
              </a:ext>
            </a:extLst>
          </p:cNvPr>
          <p:cNvCxnSpPr/>
          <p:nvPr/>
        </p:nvCxnSpPr>
        <p:spPr>
          <a:xfrm>
            <a:off x="1676400" y="3874857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מחבר חץ ישר 14">
            <a:extLst>
              <a:ext uri="{FF2B5EF4-FFF2-40B4-BE49-F238E27FC236}">
                <a16:creationId xmlns:a16="http://schemas.microsoft.com/office/drawing/2014/main" id="{5B766AAD-EDE7-1E2B-0B38-F47D027CAE75}"/>
              </a:ext>
            </a:extLst>
          </p:cNvPr>
          <p:cNvCxnSpPr>
            <a:cxnSpLocks/>
          </p:cNvCxnSpPr>
          <p:nvPr/>
        </p:nvCxnSpPr>
        <p:spPr>
          <a:xfrm>
            <a:off x="4419600" y="4349355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מחבר חץ ישר 15">
            <a:extLst>
              <a:ext uri="{FF2B5EF4-FFF2-40B4-BE49-F238E27FC236}">
                <a16:creationId xmlns:a16="http://schemas.microsoft.com/office/drawing/2014/main" id="{FCA66B6E-D42B-F992-13E7-0368FC0F7AC4}"/>
              </a:ext>
            </a:extLst>
          </p:cNvPr>
          <p:cNvCxnSpPr>
            <a:cxnSpLocks/>
          </p:cNvCxnSpPr>
          <p:nvPr/>
        </p:nvCxnSpPr>
        <p:spPr>
          <a:xfrm>
            <a:off x="3886200" y="4349355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מחבר חץ ישר 16">
            <a:extLst>
              <a:ext uri="{FF2B5EF4-FFF2-40B4-BE49-F238E27FC236}">
                <a16:creationId xmlns:a16="http://schemas.microsoft.com/office/drawing/2014/main" id="{874CCF51-09C2-D79D-7D27-75283A4AF679}"/>
              </a:ext>
            </a:extLst>
          </p:cNvPr>
          <p:cNvCxnSpPr>
            <a:cxnSpLocks/>
          </p:cNvCxnSpPr>
          <p:nvPr/>
        </p:nvCxnSpPr>
        <p:spPr>
          <a:xfrm>
            <a:off x="3352800" y="4349355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מחבר חץ ישר 17">
            <a:extLst>
              <a:ext uri="{FF2B5EF4-FFF2-40B4-BE49-F238E27FC236}">
                <a16:creationId xmlns:a16="http://schemas.microsoft.com/office/drawing/2014/main" id="{906CE642-DDB0-C6F5-4EAA-41BCECF2A8D3}"/>
              </a:ext>
            </a:extLst>
          </p:cNvPr>
          <p:cNvCxnSpPr>
            <a:cxnSpLocks/>
          </p:cNvCxnSpPr>
          <p:nvPr/>
        </p:nvCxnSpPr>
        <p:spPr>
          <a:xfrm>
            <a:off x="2819400" y="4349355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תיבת טקסט 18">
                <a:extLst>
                  <a:ext uri="{FF2B5EF4-FFF2-40B4-BE49-F238E27FC236}">
                    <a16:creationId xmlns:a16="http://schemas.microsoft.com/office/drawing/2014/main" id="{77081CCC-8A21-A6AD-8A15-776029C7F6A1}"/>
                  </a:ext>
                </a:extLst>
              </p:cNvPr>
              <p:cNvSpPr txBox="1"/>
              <p:nvPr/>
            </p:nvSpPr>
            <p:spPr>
              <a:xfrm>
                <a:off x="1295997" y="2880113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9" name="תיבת טקסט 18">
                <a:extLst>
                  <a:ext uri="{FF2B5EF4-FFF2-40B4-BE49-F238E27FC236}">
                    <a16:creationId xmlns:a16="http://schemas.microsoft.com/office/drawing/2014/main" id="{77081CCC-8A21-A6AD-8A15-776029C7F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997" y="2880113"/>
                <a:ext cx="37702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תיבת טקסט 19">
                <a:extLst>
                  <a:ext uri="{FF2B5EF4-FFF2-40B4-BE49-F238E27FC236}">
                    <a16:creationId xmlns:a16="http://schemas.microsoft.com/office/drawing/2014/main" id="{64355963-3FB0-F917-F933-C5318636ADE2}"/>
                  </a:ext>
                </a:extLst>
              </p:cNvPr>
              <p:cNvSpPr txBox="1"/>
              <p:nvPr/>
            </p:nvSpPr>
            <p:spPr>
              <a:xfrm>
                <a:off x="1295400" y="3260488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0" name="תיבת טקסט 19">
                <a:extLst>
                  <a:ext uri="{FF2B5EF4-FFF2-40B4-BE49-F238E27FC236}">
                    <a16:creationId xmlns:a16="http://schemas.microsoft.com/office/drawing/2014/main" id="{64355963-3FB0-F917-F933-C5318636A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3260488"/>
                <a:ext cx="37702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תיבת טקסט 20">
                <a:extLst>
                  <a:ext uri="{FF2B5EF4-FFF2-40B4-BE49-F238E27FC236}">
                    <a16:creationId xmlns:a16="http://schemas.microsoft.com/office/drawing/2014/main" id="{DCCF7BF8-D9D5-1A87-8713-49947391E4BB}"/>
                  </a:ext>
                </a:extLst>
              </p:cNvPr>
              <p:cNvSpPr txBox="1"/>
              <p:nvPr/>
            </p:nvSpPr>
            <p:spPr>
              <a:xfrm>
                <a:off x="1295400" y="3690191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1" name="תיבת טקסט 20">
                <a:extLst>
                  <a:ext uri="{FF2B5EF4-FFF2-40B4-BE49-F238E27FC236}">
                    <a16:creationId xmlns:a16="http://schemas.microsoft.com/office/drawing/2014/main" id="{DCCF7BF8-D9D5-1A87-8713-49947391E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3690191"/>
                <a:ext cx="37702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מחבר חץ ישר 21">
            <a:extLst>
              <a:ext uri="{FF2B5EF4-FFF2-40B4-BE49-F238E27FC236}">
                <a16:creationId xmlns:a16="http://schemas.microsoft.com/office/drawing/2014/main" id="{7B592CFD-78D1-5137-519F-81D988AB83F2}"/>
              </a:ext>
            </a:extLst>
          </p:cNvPr>
          <p:cNvCxnSpPr>
            <a:cxnSpLocks/>
          </p:cNvCxnSpPr>
          <p:nvPr/>
        </p:nvCxnSpPr>
        <p:spPr>
          <a:xfrm>
            <a:off x="6629400" y="4349355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מחבר חץ ישר 22">
            <a:extLst>
              <a:ext uri="{FF2B5EF4-FFF2-40B4-BE49-F238E27FC236}">
                <a16:creationId xmlns:a16="http://schemas.microsoft.com/office/drawing/2014/main" id="{F89A4602-3DBF-6277-C6B5-9A8213D4272A}"/>
              </a:ext>
            </a:extLst>
          </p:cNvPr>
          <p:cNvCxnSpPr>
            <a:cxnSpLocks/>
          </p:cNvCxnSpPr>
          <p:nvPr/>
        </p:nvCxnSpPr>
        <p:spPr>
          <a:xfrm>
            <a:off x="6096000" y="4349355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מחבר חץ ישר 23">
            <a:extLst>
              <a:ext uri="{FF2B5EF4-FFF2-40B4-BE49-F238E27FC236}">
                <a16:creationId xmlns:a16="http://schemas.microsoft.com/office/drawing/2014/main" id="{D668AB7E-B1F4-432C-4A3E-F0463DF8691D}"/>
              </a:ext>
            </a:extLst>
          </p:cNvPr>
          <p:cNvCxnSpPr>
            <a:cxnSpLocks/>
          </p:cNvCxnSpPr>
          <p:nvPr/>
        </p:nvCxnSpPr>
        <p:spPr>
          <a:xfrm>
            <a:off x="5562600" y="4349355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מחבר חץ ישר 24">
            <a:extLst>
              <a:ext uri="{FF2B5EF4-FFF2-40B4-BE49-F238E27FC236}">
                <a16:creationId xmlns:a16="http://schemas.microsoft.com/office/drawing/2014/main" id="{CAF82268-2D47-16AA-BFE5-15B506B0A4A1}"/>
              </a:ext>
            </a:extLst>
          </p:cNvPr>
          <p:cNvCxnSpPr>
            <a:cxnSpLocks/>
          </p:cNvCxnSpPr>
          <p:nvPr/>
        </p:nvCxnSpPr>
        <p:spPr>
          <a:xfrm>
            <a:off x="5029200" y="4349355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תיבת טקסט 33">
                <a:extLst>
                  <a:ext uri="{FF2B5EF4-FFF2-40B4-BE49-F238E27FC236}">
                    <a16:creationId xmlns:a16="http://schemas.microsoft.com/office/drawing/2014/main" id="{2D476B21-ABC9-D231-1AF5-69D6E5F81D5B}"/>
                  </a:ext>
                </a:extLst>
              </p:cNvPr>
              <p:cNvSpPr txBox="1"/>
              <p:nvPr/>
            </p:nvSpPr>
            <p:spPr>
              <a:xfrm>
                <a:off x="2630887" y="4882755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4" name="תיבת טקסט 33">
                <a:extLst>
                  <a:ext uri="{FF2B5EF4-FFF2-40B4-BE49-F238E27FC236}">
                    <a16:creationId xmlns:a16="http://schemas.microsoft.com/office/drawing/2014/main" id="{2D476B21-ABC9-D231-1AF5-69D6E5F81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887" y="4882755"/>
                <a:ext cx="37702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תיבת טקסט 34">
                <a:extLst>
                  <a:ext uri="{FF2B5EF4-FFF2-40B4-BE49-F238E27FC236}">
                    <a16:creationId xmlns:a16="http://schemas.microsoft.com/office/drawing/2014/main" id="{02D790DF-4FB2-B1D8-B8D3-EB68D2522C58}"/>
                  </a:ext>
                </a:extLst>
              </p:cNvPr>
              <p:cNvSpPr txBox="1"/>
              <p:nvPr/>
            </p:nvSpPr>
            <p:spPr>
              <a:xfrm>
                <a:off x="3185473" y="4882755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5" name="תיבת טקסט 34">
                <a:extLst>
                  <a:ext uri="{FF2B5EF4-FFF2-40B4-BE49-F238E27FC236}">
                    <a16:creationId xmlns:a16="http://schemas.microsoft.com/office/drawing/2014/main" id="{02D790DF-4FB2-B1D8-B8D3-EB68D2522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473" y="4882755"/>
                <a:ext cx="37702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תיבת טקסט 35">
                <a:extLst>
                  <a:ext uri="{FF2B5EF4-FFF2-40B4-BE49-F238E27FC236}">
                    <a16:creationId xmlns:a16="http://schemas.microsoft.com/office/drawing/2014/main" id="{19519905-282B-A421-7E94-F9CF4DF8708C}"/>
                  </a:ext>
                </a:extLst>
              </p:cNvPr>
              <p:cNvSpPr txBox="1"/>
              <p:nvPr/>
            </p:nvSpPr>
            <p:spPr>
              <a:xfrm>
                <a:off x="3678784" y="4889825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6" name="תיבת טקסט 35">
                <a:extLst>
                  <a:ext uri="{FF2B5EF4-FFF2-40B4-BE49-F238E27FC236}">
                    <a16:creationId xmlns:a16="http://schemas.microsoft.com/office/drawing/2014/main" id="{19519905-282B-A421-7E94-F9CF4DF87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8784" y="4889825"/>
                <a:ext cx="37702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תיבת טקסט 36">
                <a:extLst>
                  <a:ext uri="{FF2B5EF4-FFF2-40B4-BE49-F238E27FC236}">
                    <a16:creationId xmlns:a16="http://schemas.microsoft.com/office/drawing/2014/main" id="{7AD5A888-996A-A545-BE77-B136C2BD6C17}"/>
                  </a:ext>
                </a:extLst>
              </p:cNvPr>
              <p:cNvSpPr txBox="1"/>
              <p:nvPr/>
            </p:nvSpPr>
            <p:spPr>
              <a:xfrm>
                <a:off x="4245642" y="4889825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7" name="תיבת טקסט 36">
                <a:extLst>
                  <a:ext uri="{FF2B5EF4-FFF2-40B4-BE49-F238E27FC236}">
                    <a16:creationId xmlns:a16="http://schemas.microsoft.com/office/drawing/2014/main" id="{7AD5A888-996A-A545-BE77-B136C2BD6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642" y="4889825"/>
                <a:ext cx="37702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תיבת טקסט 37">
                <a:extLst>
                  <a:ext uri="{FF2B5EF4-FFF2-40B4-BE49-F238E27FC236}">
                    <a16:creationId xmlns:a16="http://schemas.microsoft.com/office/drawing/2014/main" id="{841297D4-FE12-8A73-8693-744EF75F279E}"/>
                  </a:ext>
                </a:extLst>
              </p:cNvPr>
              <p:cNvSpPr txBox="1"/>
              <p:nvPr/>
            </p:nvSpPr>
            <p:spPr>
              <a:xfrm>
                <a:off x="4840687" y="4889825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8" name="תיבת טקסט 37">
                <a:extLst>
                  <a:ext uri="{FF2B5EF4-FFF2-40B4-BE49-F238E27FC236}">
                    <a16:creationId xmlns:a16="http://schemas.microsoft.com/office/drawing/2014/main" id="{841297D4-FE12-8A73-8693-744EF75F2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0687" y="4889825"/>
                <a:ext cx="37702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תיבת טקסט 38">
                <a:extLst>
                  <a:ext uri="{FF2B5EF4-FFF2-40B4-BE49-F238E27FC236}">
                    <a16:creationId xmlns:a16="http://schemas.microsoft.com/office/drawing/2014/main" id="{887B2ED2-9FBD-1537-A57C-39BF1AF3C31A}"/>
                  </a:ext>
                </a:extLst>
              </p:cNvPr>
              <p:cNvSpPr txBox="1"/>
              <p:nvPr/>
            </p:nvSpPr>
            <p:spPr>
              <a:xfrm>
                <a:off x="5374087" y="4889825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9" name="תיבת טקסט 38">
                <a:extLst>
                  <a:ext uri="{FF2B5EF4-FFF2-40B4-BE49-F238E27FC236}">
                    <a16:creationId xmlns:a16="http://schemas.microsoft.com/office/drawing/2014/main" id="{887B2ED2-9FBD-1537-A57C-39BF1AF3C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4087" y="4889825"/>
                <a:ext cx="37702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תיבת טקסט 39">
                <a:extLst>
                  <a:ext uri="{FF2B5EF4-FFF2-40B4-BE49-F238E27FC236}">
                    <a16:creationId xmlns:a16="http://schemas.microsoft.com/office/drawing/2014/main" id="{ACA98133-F3D5-20F3-4123-6E36CAAD836B}"/>
                  </a:ext>
                </a:extLst>
              </p:cNvPr>
              <p:cNvSpPr txBox="1"/>
              <p:nvPr/>
            </p:nvSpPr>
            <p:spPr>
              <a:xfrm>
                <a:off x="5907487" y="4907107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0" name="תיבת טקסט 39">
                <a:extLst>
                  <a:ext uri="{FF2B5EF4-FFF2-40B4-BE49-F238E27FC236}">
                    <a16:creationId xmlns:a16="http://schemas.microsoft.com/office/drawing/2014/main" id="{ACA98133-F3D5-20F3-4123-6E36CAAD8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487" y="4907107"/>
                <a:ext cx="37702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תיבת טקסט 40">
                <a:extLst>
                  <a:ext uri="{FF2B5EF4-FFF2-40B4-BE49-F238E27FC236}">
                    <a16:creationId xmlns:a16="http://schemas.microsoft.com/office/drawing/2014/main" id="{1ABD3B6F-13BF-61A2-B29A-1F1E3B8C3D92}"/>
                  </a:ext>
                </a:extLst>
              </p:cNvPr>
              <p:cNvSpPr txBox="1"/>
              <p:nvPr/>
            </p:nvSpPr>
            <p:spPr>
              <a:xfrm>
                <a:off x="6440887" y="4907107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1" name="תיבת טקסט 40">
                <a:extLst>
                  <a:ext uri="{FF2B5EF4-FFF2-40B4-BE49-F238E27FC236}">
                    <a16:creationId xmlns:a16="http://schemas.microsoft.com/office/drawing/2014/main" id="{1ABD3B6F-13BF-61A2-B29A-1F1E3B8C3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0887" y="4907107"/>
                <a:ext cx="37702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9246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78823-2F67-46A3-0391-69E095BE6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A2A55AC-FC3E-F3F9-CFC7-226BA51D8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מפענח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471D498-D1CE-9CC4-EA39-37AC6D52A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2A3356-D8E6-4574-BA3B-4924C966D0A1}" type="slidenum">
              <a:rPr lang="en-US" altLang="he-IL" smtClean="0"/>
              <a:pPr>
                <a:defRPr/>
              </a:pPr>
              <a:t>46</a:t>
            </a:fld>
            <a:endParaRPr lang="en-US" alt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מלבן 4">
                <a:extLst>
                  <a:ext uri="{FF2B5EF4-FFF2-40B4-BE49-F238E27FC236}">
                    <a16:creationId xmlns:a16="http://schemas.microsoft.com/office/drawing/2014/main" id="{902FFFDB-5D10-E27B-0B2C-4C2684AC6FC3}"/>
                  </a:ext>
                </a:extLst>
              </p:cNvPr>
              <p:cNvSpPr/>
              <p:nvPr/>
            </p:nvSpPr>
            <p:spPr>
              <a:xfrm>
                <a:off x="2438400" y="2899968"/>
                <a:ext cx="4572000" cy="144938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en-US" dirty="0"/>
                  <a:t>Decoder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3→8</m:t>
                    </m:r>
                  </m:oMath>
                </a14:m>
                <a:endParaRPr lang="he-IL" dirty="0"/>
              </a:p>
            </p:txBody>
          </p:sp>
        </mc:Choice>
        <mc:Fallback xmlns="">
          <p:sp>
            <p:nvSpPr>
              <p:cNvPr id="5" name="מלבן 4">
                <a:extLst>
                  <a:ext uri="{FF2B5EF4-FFF2-40B4-BE49-F238E27FC236}">
                    <a16:creationId xmlns:a16="http://schemas.microsoft.com/office/drawing/2014/main" id="{902FFFDB-5D10-E27B-0B2C-4C2684AC6F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2899968"/>
                <a:ext cx="4572000" cy="14493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מחבר חץ ישר 6">
            <a:extLst>
              <a:ext uri="{FF2B5EF4-FFF2-40B4-BE49-F238E27FC236}">
                <a16:creationId xmlns:a16="http://schemas.microsoft.com/office/drawing/2014/main" id="{6C191A53-E670-7EE7-46DB-482DA2EE277B}"/>
              </a:ext>
            </a:extLst>
          </p:cNvPr>
          <p:cNvCxnSpPr/>
          <p:nvPr/>
        </p:nvCxnSpPr>
        <p:spPr>
          <a:xfrm>
            <a:off x="1676400" y="3128568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מחבר חץ ישר 7">
            <a:extLst>
              <a:ext uri="{FF2B5EF4-FFF2-40B4-BE49-F238E27FC236}">
                <a16:creationId xmlns:a16="http://schemas.microsoft.com/office/drawing/2014/main" id="{6ED701A2-6883-C6E2-08AE-965F15224F0B}"/>
              </a:ext>
            </a:extLst>
          </p:cNvPr>
          <p:cNvCxnSpPr/>
          <p:nvPr/>
        </p:nvCxnSpPr>
        <p:spPr>
          <a:xfrm>
            <a:off x="1676400" y="3509568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766A261E-7FEB-09FC-6131-3DE2C4193B7B}"/>
              </a:ext>
            </a:extLst>
          </p:cNvPr>
          <p:cNvCxnSpPr/>
          <p:nvPr/>
        </p:nvCxnSpPr>
        <p:spPr>
          <a:xfrm>
            <a:off x="1676400" y="3874857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מחבר חץ ישר 14">
            <a:extLst>
              <a:ext uri="{FF2B5EF4-FFF2-40B4-BE49-F238E27FC236}">
                <a16:creationId xmlns:a16="http://schemas.microsoft.com/office/drawing/2014/main" id="{2DE50AAF-1551-A0DA-5355-57333AB3BBF4}"/>
              </a:ext>
            </a:extLst>
          </p:cNvPr>
          <p:cNvCxnSpPr>
            <a:cxnSpLocks/>
          </p:cNvCxnSpPr>
          <p:nvPr/>
        </p:nvCxnSpPr>
        <p:spPr>
          <a:xfrm>
            <a:off x="4419600" y="4349355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מחבר חץ ישר 15">
            <a:extLst>
              <a:ext uri="{FF2B5EF4-FFF2-40B4-BE49-F238E27FC236}">
                <a16:creationId xmlns:a16="http://schemas.microsoft.com/office/drawing/2014/main" id="{F5BAF8F6-C0C2-5938-80A4-6B1F0DFBC683}"/>
              </a:ext>
            </a:extLst>
          </p:cNvPr>
          <p:cNvCxnSpPr>
            <a:cxnSpLocks/>
          </p:cNvCxnSpPr>
          <p:nvPr/>
        </p:nvCxnSpPr>
        <p:spPr>
          <a:xfrm>
            <a:off x="3886200" y="4349355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מחבר חץ ישר 16">
            <a:extLst>
              <a:ext uri="{FF2B5EF4-FFF2-40B4-BE49-F238E27FC236}">
                <a16:creationId xmlns:a16="http://schemas.microsoft.com/office/drawing/2014/main" id="{97E4EEED-D546-3A15-A444-048B9A61F668}"/>
              </a:ext>
            </a:extLst>
          </p:cNvPr>
          <p:cNvCxnSpPr>
            <a:cxnSpLocks/>
          </p:cNvCxnSpPr>
          <p:nvPr/>
        </p:nvCxnSpPr>
        <p:spPr>
          <a:xfrm>
            <a:off x="3352800" y="4349355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מחבר חץ ישר 17">
            <a:extLst>
              <a:ext uri="{FF2B5EF4-FFF2-40B4-BE49-F238E27FC236}">
                <a16:creationId xmlns:a16="http://schemas.microsoft.com/office/drawing/2014/main" id="{27EF6DBB-225B-B150-5F2D-A59214412BD7}"/>
              </a:ext>
            </a:extLst>
          </p:cNvPr>
          <p:cNvCxnSpPr>
            <a:cxnSpLocks/>
          </p:cNvCxnSpPr>
          <p:nvPr/>
        </p:nvCxnSpPr>
        <p:spPr>
          <a:xfrm>
            <a:off x="2819400" y="4349355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תיבת טקסט 18">
                <a:extLst>
                  <a:ext uri="{FF2B5EF4-FFF2-40B4-BE49-F238E27FC236}">
                    <a16:creationId xmlns:a16="http://schemas.microsoft.com/office/drawing/2014/main" id="{2B728DBD-B272-7B93-DEA1-CA34E2DF1D87}"/>
                  </a:ext>
                </a:extLst>
              </p:cNvPr>
              <p:cNvSpPr txBox="1"/>
              <p:nvPr/>
            </p:nvSpPr>
            <p:spPr>
              <a:xfrm>
                <a:off x="1295997" y="2880113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9" name="תיבת טקסט 18">
                <a:extLst>
                  <a:ext uri="{FF2B5EF4-FFF2-40B4-BE49-F238E27FC236}">
                    <a16:creationId xmlns:a16="http://schemas.microsoft.com/office/drawing/2014/main" id="{2B728DBD-B272-7B93-DEA1-CA34E2DF1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997" y="2880113"/>
                <a:ext cx="37702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תיבת טקסט 19">
                <a:extLst>
                  <a:ext uri="{FF2B5EF4-FFF2-40B4-BE49-F238E27FC236}">
                    <a16:creationId xmlns:a16="http://schemas.microsoft.com/office/drawing/2014/main" id="{C4F27047-9A3A-D807-36B3-7261234C9053}"/>
                  </a:ext>
                </a:extLst>
              </p:cNvPr>
              <p:cNvSpPr txBox="1"/>
              <p:nvPr/>
            </p:nvSpPr>
            <p:spPr>
              <a:xfrm>
                <a:off x="1295400" y="3260488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0" name="תיבת טקסט 19">
                <a:extLst>
                  <a:ext uri="{FF2B5EF4-FFF2-40B4-BE49-F238E27FC236}">
                    <a16:creationId xmlns:a16="http://schemas.microsoft.com/office/drawing/2014/main" id="{C4F27047-9A3A-D807-36B3-7261234C9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3260488"/>
                <a:ext cx="37702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תיבת טקסט 20">
                <a:extLst>
                  <a:ext uri="{FF2B5EF4-FFF2-40B4-BE49-F238E27FC236}">
                    <a16:creationId xmlns:a16="http://schemas.microsoft.com/office/drawing/2014/main" id="{6036E33F-8AC3-3557-95E6-B96AD71D7A40}"/>
                  </a:ext>
                </a:extLst>
              </p:cNvPr>
              <p:cNvSpPr txBox="1"/>
              <p:nvPr/>
            </p:nvSpPr>
            <p:spPr>
              <a:xfrm>
                <a:off x="1295400" y="3690191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1" name="תיבת טקסט 20">
                <a:extLst>
                  <a:ext uri="{FF2B5EF4-FFF2-40B4-BE49-F238E27FC236}">
                    <a16:creationId xmlns:a16="http://schemas.microsoft.com/office/drawing/2014/main" id="{6036E33F-8AC3-3557-95E6-B96AD71D7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3690191"/>
                <a:ext cx="37702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מחבר חץ ישר 21">
            <a:extLst>
              <a:ext uri="{FF2B5EF4-FFF2-40B4-BE49-F238E27FC236}">
                <a16:creationId xmlns:a16="http://schemas.microsoft.com/office/drawing/2014/main" id="{10CC98C3-9B3A-61EA-576E-14976C5D530F}"/>
              </a:ext>
            </a:extLst>
          </p:cNvPr>
          <p:cNvCxnSpPr>
            <a:cxnSpLocks/>
          </p:cNvCxnSpPr>
          <p:nvPr/>
        </p:nvCxnSpPr>
        <p:spPr>
          <a:xfrm>
            <a:off x="6629400" y="4349355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מחבר חץ ישר 22">
            <a:extLst>
              <a:ext uri="{FF2B5EF4-FFF2-40B4-BE49-F238E27FC236}">
                <a16:creationId xmlns:a16="http://schemas.microsoft.com/office/drawing/2014/main" id="{DB7D5966-2418-3EBD-406F-2BB63B9866DF}"/>
              </a:ext>
            </a:extLst>
          </p:cNvPr>
          <p:cNvCxnSpPr>
            <a:cxnSpLocks/>
          </p:cNvCxnSpPr>
          <p:nvPr/>
        </p:nvCxnSpPr>
        <p:spPr>
          <a:xfrm>
            <a:off x="6096000" y="4349355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מחבר חץ ישר 23">
            <a:extLst>
              <a:ext uri="{FF2B5EF4-FFF2-40B4-BE49-F238E27FC236}">
                <a16:creationId xmlns:a16="http://schemas.microsoft.com/office/drawing/2014/main" id="{E0CC9E08-8AC1-A140-3591-E7F31EF589E3}"/>
              </a:ext>
            </a:extLst>
          </p:cNvPr>
          <p:cNvCxnSpPr>
            <a:cxnSpLocks/>
          </p:cNvCxnSpPr>
          <p:nvPr/>
        </p:nvCxnSpPr>
        <p:spPr>
          <a:xfrm>
            <a:off x="5562600" y="4349355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מחבר חץ ישר 24">
            <a:extLst>
              <a:ext uri="{FF2B5EF4-FFF2-40B4-BE49-F238E27FC236}">
                <a16:creationId xmlns:a16="http://schemas.microsoft.com/office/drawing/2014/main" id="{9B5D9E96-6133-C5CB-1546-A96BE37B441F}"/>
              </a:ext>
            </a:extLst>
          </p:cNvPr>
          <p:cNvCxnSpPr>
            <a:cxnSpLocks/>
          </p:cNvCxnSpPr>
          <p:nvPr/>
        </p:nvCxnSpPr>
        <p:spPr>
          <a:xfrm>
            <a:off x="5029200" y="4349355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תיבת טקסט 33">
                <a:extLst>
                  <a:ext uri="{FF2B5EF4-FFF2-40B4-BE49-F238E27FC236}">
                    <a16:creationId xmlns:a16="http://schemas.microsoft.com/office/drawing/2014/main" id="{63E41CB7-267F-08A7-4815-4DA65CBB5D8C}"/>
                  </a:ext>
                </a:extLst>
              </p:cNvPr>
              <p:cNvSpPr txBox="1"/>
              <p:nvPr/>
            </p:nvSpPr>
            <p:spPr>
              <a:xfrm>
                <a:off x="2630887" y="4882755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4" name="תיבת טקסט 33">
                <a:extLst>
                  <a:ext uri="{FF2B5EF4-FFF2-40B4-BE49-F238E27FC236}">
                    <a16:creationId xmlns:a16="http://schemas.microsoft.com/office/drawing/2014/main" id="{63E41CB7-267F-08A7-4815-4DA65CBB5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887" y="4882755"/>
                <a:ext cx="37702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תיבת טקסט 34">
                <a:extLst>
                  <a:ext uri="{FF2B5EF4-FFF2-40B4-BE49-F238E27FC236}">
                    <a16:creationId xmlns:a16="http://schemas.microsoft.com/office/drawing/2014/main" id="{CC6B59C1-4406-C46E-4ABB-583A063BA938}"/>
                  </a:ext>
                </a:extLst>
              </p:cNvPr>
              <p:cNvSpPr txBox="1"/>
              <p:nvPr/>
            </p:nvSpPr>
            <p:spPr>
              <a:xfrm>
                <a:off x="3185473" y="4882755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5" name="תיבת טקסט 34">
                <a:extLst>
                  <a:ext uri="{FF2B5EF4-FFF2-40B4-BE49-F238E27FC236}">
                    <a16:creationId xmlns:a16="http://schemas.microsoft.com/office/drawing/2014/main" id="{CC6B59C1-4406-C46E-4ABB-583A063BA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473" y="4882755"/>
                <a:ext cx="37702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תיבת טקסט 35">
                <a:extLst>
                  <a:ext uri="{FF2B5EF4-FFF2-40B4-BE49-F238E27FC236}">
                    <a16:creationId xmlns:a16="http://schemas.microsoft.com/office/drawing/2014/main" id="{C5ADC13D-9B68-2C30-FFF4-F9FB65109951}"/>
                  </a:ext>
                </a:extLst>
              </p:cNvPr>
              <p:cNvSpPr txBox="1"/>
              <p:nvPr/>
            </p:nvSpPr>
            <p:spPr>
              <a:xfrm>
                <a:off x="3678784" y="4889825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6" name="תיבת טקסט 35">
                <a:extLst>
                  <a:ext uri="{FF2B5EF4-FFF2-40B4-BE49-F238E27FC236}">
                    <a16:creationId xmlns:a16="http://schemas.microsoft.com/office/drawing/2014/main" id="{C5ADC13D-9B68-2C30-FFF4-F9FB65109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8784" y="4889825"/>
                <a:ext cx="37702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תיבת טקסט 36">
                <a:extLst>
                  <a:ext uri="{FF2B5EF4-FFF2-40B4-BE49-F238E27FC236}">
                    <a16:creationId xmlns:a16="http://schemas.microsoft.com/office/drawing/2014/main" id="{5BC48346-482E-4297-E449-8B1077C829D9}"/>
                  </a:ext>
                </a:extLst>
              </p:cNvPr>
              <p:cNvSpPr txBox="1"/>
              <p:nvPr/>
            </p:nvSpPr>
            <p:spPr>
              <a:xfrm>
                <a:off x="4245642" y="4889825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7" name="תיבת טקסט 36">
                <a:extLst>
                  <a:ext uri="{FF2B5EF4-FFF2-40B4-BE49-F238E27FC236}">
                    <a16:creationId xmlns:a16="http://schemas.microsoft.com/office/drawing/2014/main" id="{5BC48346-482E-4297-E449-8B1077C82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642" y="4889825"/>
                <a:ext cx="37702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תיבת טקסט 37">
                <a:extLst>
                  <a:ext uri="{FF2B5EF4-FFF2-40B4-BE49-F238E27FC236}">
                    <a16:creationId xmlns:a16="http://schemas.microsoft.com/office/drawing/2014/main" id="{3923472F-E983-E553-66E9-389A4C5826A1}"/>
                  </a:ext>
                </a:extLst>
              </p:cNvPr>
              <p:cNvSpPr txBox="1"/>
              <p:nvPr/>
            </p:nvSpPr>
            <p:spPr>
              <a:xfrm>
                <a:off x="4840687" y="4889825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8" name="תיבת טקסט 37">
                <a:extLst>
                  <a:ext uri="{FF2B5EF4-FFF2-40B4-BE49-F238E27FC236}">
                    <a16:creationId xmlns:a16="http://schemas.microsoft.com/office/drawing/2014/main" id="{3923472F-E983-E553-66E9-389A4C582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0687" y="4889825"/>
                <a:ext cx="37702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תיבת טקסט 38">
                <a:extLst>
                  <a:ext uri="{FF2B5EF4-FFF2-40B4-BE49-F238E27FC236}">
                    <a16:creationId xmlns:a16="http://schemas.microsoft.com/office/drawing/2014/main" id="{43AB7789-172F-BF41-7032-671B1FA13443}"/>
                  </a:ext>
                </a:extLst>
              </p:cNvPr>
              <p:cNvSpPr txBox="1"/>
              <p:nvPr/>
            </p:nvSpPr>
            <p:spPr>
              <a:xfrm>
                <a:off x="5374087" y="4889825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9" name="תיבת טקסט 38">
                <a:extLst>
                  <a:ext uri="{FF2B5EF4-FFF2-40B4-BE49-F238E27FC236}">
                    <a16:creationId xmlns:a16="http://schemas.microsoft.com/office/drawing/2014/main" id="{43AB7789-172F-BF41-7032-671B1FA13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4087" y="4889825"/>
                <a:ext cx="37702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תיבת טקסט 39">
                <a:extLst>
                  <a:ext uri="{FF2B5EF4-FFF2-40B4-BE49-F238E27FC236}">
                    <a16:creationId xmlns:a16="http://schemas.microsoft.com/office/drawing/2014/main" id="{244D8285-4AAE-DA22-6385-4377B50C8AD0}"/>
                  </a:ext>
                </a:extLst>
              </p:cNvPr>
              <p:cNvSpPr txBox="1"/>
              <p:nvPr/>
            </p:nvSpPr>
            <p:spPr>
              <a:xfrm>
                <a:off x="5907487" y="4907107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0" name="תיבת טקסט 39">
                <a:extLst>
                  <a:ext uri="{FF2B5EF4-FFF2-40B4-BE49-F238E27FC236}">
                    <a16:creationId xmlns:a16="http://schemas.microsoft.com/office/drawing/2014/main" id="{244D8285-4AAE-DA22-6385-4377B50C8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487" y="4907107"/>
                <a:ext cx="37702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תיבת טקסט 40">
                <a:extLst>
                  <a:ext uri="{FF2B5EF4-FFF2-40B4-BE49-F238E27FC236}">
                    <a16:creationId xmlns:a16="http://schemas.microsoft.com/office/drawing/2014/main" id="{3397AD87-E3DD-04DA-2C08-69F9E412567C}"/>
                  </a:ext>
                </a:extLst>
              </p:cNvPr>
              <p:cNvSpPr txBox="1"/>
              <p:nvPr/>
            </p:nvSpPr>
            <p:spPr>
              <a:xfrm>
                <a:off x="6440887" y="4907107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1" name="תיבת טקסט 40">
                <a:extLst>
                  <a:ext uri="{FF2B5EF4-FFF2-40B4-BE49-F238E27FC236}">
                    <a16:creationId xmlns:a16="http://schemas.microsoft.com/office/drawing/2014/main" id="{3397AD87-E3DD-04DA-2C08-69F9E4125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0887" y="4907107"/>
                <a:ext cx="37702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27358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0178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1846263"/>
                <a:ext cx="8686800" cy="4022725"/>
              </a:xfrm>
            </p:spPr>
            <p:txBody>
              <a:bodyPr/>
              <a:lstStyle/>
              <a:p>
                <a:pPr eaLnBrk="1" hangingPunct="1"/>
                <a:r>
                  <a:rPr lang="he-IL" altLang="he-IL" sz="2400" dirty="0"/>
                  <a:t>נתונה הפונקציה הבאה: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𝑫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𝟏𝟏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𝟏𝟑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𝟐𝟕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𝟑𝟏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he-IL" altLang="he-IL" sz="2400" dirty="0"/>
              </a:p>
              <a:p>
                <a:pPr eaLnBrk="1" hangingPunct="1"/>
                <a:r>
                  <a:rPr lang="he-IL" altLang="he-IL" sz="2400" dirty="0"/>
                  <a:t>א. ממשו אותה בעזרת מפענח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𝟑𝟐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altLang="he-IL" sz="2400" dirty="0"/>
                  <a:t>:</a:t>
                </a:r>
                <a:endParaRPr lang="en-US" altLang="he-IL" sz="2400" dirty="0"/>
              </a:p>
            </p:txBody>
          </p:sp>
        </mc:Choice>
        <mc:Fallback xmlns="">
          <p:sp>
            <p:nvSpPr>
              <p:cNvPr id="50178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1846263"/>
                <a:ext cx="8686800" cy="4022725"/>
              </a:xfrm>
              <a:blipFill rotWithShape="0">
                <a:blip r:embed="rId3"/>
                <a:stretch>
                  <a:fillRect t="-15606" r="-217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מימוש פונקציות ע"י מפענחים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018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>
              <a:latin typeface="Lucida Sans Unicode" panose="020B0602030504020204" pitchFamily="34" charset="0"/>
            </a:endParaRPr>
          </a:p>
        </p:txBody>
      </p:sp>
      <p:pic>
        <p:nvPicPr>
          <p:cNvPr id="5018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006726"/>
            <a:ext cx="64897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3BAE309-06DB-42C0-AB5D-6055ED600619}" type="slidenum">
              <a:rPr lang="en-US" altLang="he-IL" sz="1000" smtClean="0">
                <a:latin typeface="Lucida Sans Unicode" panose="020B0602030504020204" pitchFamily="34" charset="0"/>
              </a:rPr>
              <a:pPr/>
              <a:t>47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Content Placeholder 2"/>
          <p:cNvSpPr>
            <a:spLocks noGrp="1"/>
          </p:cNvSpPr>
          <p:nvPr>
            <p:ph idx="1"/>
          </p:nvPr>
        </p:nvSpPr>
        <p:spPr>
          <a:xfrm>
            <a:off x="1295400" y="1789648"/>
            <a:ext cx="7543800" cy="4024313"/>
          </a:xfrm>
        </p:spPr>
        <p:txBody>
          <a:bodyPr/>
          <a:lstStyle/>
          <a:p>
            <a:pPr eaLnBrk="1" hangingPunct="1"/>
            <a:endParaRPr lang="he-IL" altLang="he-IL" sz="2400" dirty="0"/>
          </a:p>
          <a:p>
            <a:pPr eaLnBrk="1" hangingPunct="1"/>
            <a:r>
              <a:rPr lang="he-IL" altLang="he-IL" sz="2400" dirty="0"/>
              <a:t>פיצול ע"י משתנה </a:t>
            </a:r>
            <a:r>
              <a:rPr lang="en-US" altLang="he-IL" sz="2400" dirty="0"/>
              <a:t>A</a:t>
            </a:r>
            <a:r>
              <a:rPr lang="he-IL" altLang="he-IL" sz="2400" dirty="0"/>
              <a:t>:</a:t>
            </a:r>
            <a:endParaRPr lang="en-US" altLang="he-IL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546100" y="287338"/>
                <a:ext cx="8140699" cy="1449387"/>
              </a:xfrm>
            </p:spPr>
            <p:txBody>
              <a:bodyPr>
                <a:normAutofit/>
              </a:bodyPr>
              <a:lstStyle/>
              <a:p>
                <a:pPr algn="r" eaLnBrk="1" hangingPunct="1"/>
                <a:r>
                  <a:rPr lang="he-IL" altLang="he-IL" sz="4400" dirty="0"/>
                  <a:t>ב. בעזרת מפענח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4400" b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𝟏𝟔</m:t>
                    </m:r>
                  </m:oMath>
                </a14:m>
                <a:r>
                  <a:rPr lang="he-IL" altLang="he-IL" sz="4400" dirty="0"/>
                  <a:t> ושערים לוגיים:</a:t>
                </a:r>
                <a:endParaRPr lang="en-US" altLang="he-IL" sz="44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46100" y="287338"/>
                <a:ext cx="8140699" cy="1449387"/>
              </a:xfrm>
              <a:blipFill rotWithShape="0">
                <a:blip r:embed="rId3"/>
                <a:stretch>
                  <a:fillRect l="-1948" r="-2996" b="-1932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0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>
              <a:latin typeface="Lucida Sans Unicode" panose="020B0602030504020204" pitchFamily="34" charset="0"/>
            </a:endParaRPr>
          </a:p>
        </p:txBody>
      </p:sp>
      <p:sp>
        <p:nvSpPr>
          <p:cNvPr id="5120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>
              <a:latin typeface="Lucida Sans Unicode" panose="020B0602030504020204" pitchFamily="34" charset="0"/>
            </a:endParaRPr>
          </a:p>
        </p:txBody>
      </p:sp>
      <p:sp>
        <p:nvSpPr>
          <p:cNvPr id="5120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9D19F9A-B5A1-4079-9E78-C1FCA89735D3}" type="slidenum">
              <a:rPr lang="en-US" altLang="he-IL" sz="1000" smtClean="0">
                <a:latin typeface="Lucida Sans Unicode" panose="020B0602030504020204" pitchFamily="34" charset="0"/>
              </a:rPr>
              <a:pPr/>
              <a:t>48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  <p:pic>
        <p:nvPicPr>
          <p:cNvPr id="51207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784475"/>
            <a:ext cx="66770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" y="3419475"/>
            <a:ext cx="1581150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138" y="3419475"/>
            <a:ext cx="1581150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1038" y="5476875"/>
            <a:ext cx="12763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225" y="4370388"/>
            <a:ext cx="13239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5410200"/>
            <a:ext cx="15144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4233863"/>
            <a:ext cx="22860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ight Arrow 19"/>
          <p:cNvSpPr/>
          <p:nvPr/>
        </p:nvSpPr>
        <p:spPr>
          <a:xfrm>
            <a:off x="2173288" y="4564063"/>
            <a:ext cx="514350" cy="2524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28600" y="1789648"/>
                <a:ext cx="5638800" cy="837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</m:d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𝟗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𝟏𝟏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𝟏𝟑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𝟐𝟕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𝟑𝟏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he-IL" sz="20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789648"/>
                <a:ext cx="5638800" cy="83766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 build="p"/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Content Placeholder 2"/>
          <p:cNvSpPr>
            <a:spLocks noGrp="1"/>
          </p:cNvSpPr>
          <p:nvPr>
            <p:ph idx="1"/>
          </p:nvPr>
        </p:nvSpPr>
        <p:spPr>
          <a:xfrm>
            <a:off x="544513" y="1830388"/>
            <a:ext cx="8229600" cy="533400"/>
          </a:xfrm>
        </p:spPr>
        <p:txBody>
          <a:bodyPr/>
          <a:lstStyle/>
          <a:p>
            <a:pPr eaLnBrk="1" hangingPunct="1"/>
            <a:r>
              <a:rPr lang="he-IL" altLang="he-IL" sz="2400" dirty="0"/>
              <a:t>פיצול ע"י משתנה </a:t>
            </a:r>
            <a:r>
              <a:rPr lang="en-US" altLang="he-IL" sz="2400" dirty="0"/>
              <a:t>A</a:t>
            </a:r>
            <a:r>
              <a:rPr lang="he-IL" altLang="he-IL" sz="2400" dirty="0"/>
              <a:t>:</a:t>
            </a:r>
            <a:endParaRPr lang="en-US" altLang="he-IL" sz="2400" dirty="0"/>
          </a:p>
        </p:txBody>
      </p:sp>
      <p:sp>
        <p:nvSpPr>
          <p:cNvPr id="522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>
              <a:latin typeface="Lucida Sans Unicode" panose="020B0602030504020204" pitchFamily="34" charset="0"/>
            </a:endParaRPr>
          </a:p>
        </p:txBody>
      </p:sp>
      <p:graphicFrame>
        <p:nvGraphicFramePr>
          <p:cNvPr id="52231" name="Object 1"/>
          <p:cNvGraphicFramePr>
            <a:graphicFrameLocks noChangeAspect="1"/>
          </p:cNvGraphicFramePr>
          <p:nvPr/>
        </p:nvGraphicFramePr>
        <p:xfrm>
          <a:off x="685800" y="2286000"/>
          <a:ext cx="6675438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78200" imgH="736600" progId="Equation.DSMT4">
                  <p:embed/>
                </p:oleObj>
              </mc:Choice>
              <mc:Fallback>
                <p:oleObj name="Equation" r:id="rId3" imgW="3378200" imgH="736600" progId="Equation.DSMT4">
                  <p:embed/>
                  <p:pic>
                    <p:nvPicPr>
                      <p:cNvPr id="5223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286000"/>
                        <a:ext cx="6675438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>
              <a:latin typeface="Lucida Sans Unicode" panose="020B0602030504020204" pitchFamily="34" charset="0"/>
            </a:endParaRPr>
          </a:p>
        </p:txBody>
      </p:sp>
      <p:sp>
        <p:nvSpPr>
          <p:cNvPr id="5223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F1292EA-8E93-4EDF-B61E-DAF4BB489733}" type="slidenum">
              <a:rPr lang="en-US" altLang="he-IL" sz="1000" smtClean="0">
                <a:latin typeface="Lucida Sans Unicode" panose="020B0602030504020204" pitchFamily="34" charset="0"/>
              </a:rPr>
              <a:pPr/>
              <a:t>49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540" y="3609975"/>
            <a:ext cx="2771775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7377" y="3602038"/>
            <a:ext cx="2743200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8665" y="3594100"/>
            <a:ext cx="5143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546100" y="287338"/>
                <a:ext cx="8140699" cy="1449387"/>
              </a:xfrm>
            </p:spPr>
            <p:txBody>
              <a:bodyPr>
                <a:normAutofit/>
              </a:bodyPr>
              <a:lstStyle/>
              <a:p>
                <a:pPr algn="r" eaLnBrk="1" hangingPunct="1"/>
                <a:r>
                  <a:rPr lang="he-IL" altLang="he-IL" sz="4400" dirty="0"/>
                  <a:t>ב. בעזרת מפענח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4400" b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𝟏𝟔</m:t>
                    </m:r>
                  </m:oMath>
                </a14:m>
                <a:r>
                  <a:rPr lang="he-IL" altLang="he-IL" sz="4400" dirty="0"/>
                  <a:t> ושערים לוגיים:</a:t>
                </a:r>
                <a:endParaRPr lang="en-US" altLang="he-IL" sz="4400" dirty="0"/>
              </a:p>
            </p:txBody>
          </p:sp>
        </mc:Choice>
        <mc:Fallback xmlns="">
          <p:sp>
            <p:nvSpPr>
              <p:cNvPr id="15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46100" y="287338"/>
                <a:ext cx="8140699" cy="1449387"/>
              </a:xfrm>
              <a:blipFill rotWithShape="0">
                <a:blip r:embed="rId9"/>
                <a:stretch>
                  <a:fillRect l="-1948" r="-2996" b="-1932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>
              <a:latin typeface="Lucida Sans Unicode" panose="020B0602030504020204" pitchFamily="34" charset="0"/>
            </a:endParaRPr>
          </a:p>
        </p:txBody>
      </p:sp>
      <p:sp>
        <p:nvSpPr>
          <p:cNvPr id="5325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>
              <a:latin typeface="Lucida Sans Unicode" panose="020B0602030504020204" pitchFamily="34" charset="0"/>
            </a:endParaRPr>
          </a:p>
        </p:txBody>
      </p:sp>
      <p:graphicFrame>
        <p:nvGraphicFramePr>
          <p:cNvPr id="53255" name="Object 3"/>
          <p:cNvGraphicFramePr>
            <a:graphicFrameLocks noChangeAspect="1"/>
          </p:cNvGraphicFramePr>
          <p:nvPr/>
        </p:nvGraphicFramePr>
        <p:xfrm>
          <a:off x="3124200" y="3581400"/>
          <a:ext cx="5857875" cy="264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5858693" imgH="2647619" progId="Paint.Picture">
                  <p:embed/>
                </p:oleObj>
              </mc:Choice>
              <mc:Fallback>
                <p:oleObj name="Bitmap Image" r:id="rId3" imgW="5858693" imgH="2647619" progId="Paint.Picture">
                  <p:embed/>
                  <p:pic>
                    <p:nvPicPr>
                      <p:cNvPr id="532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581400"/>
                        <a:ext cx="5857875" cy="2647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C94E3AF-F698-4A56-B0F5-B84C80977B84}" type="slidenum">
              <a:rPr lang="en-US" altLang="he-IL" sz="1000" smtClean="0">
                <a:latin typeface="Lucida Sans Unicode" panose="020B0602030504020204" pitchFamily="34" charset="0"/>
              </a:rPr>
              <a:pPr/>
              <a:t>50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544513" y="1830388"/>
            <a:ext cx="8229600" cy="533400"/>
          </a:xfrm>
        </p:spPr>
        <p:txBody>
          <a:bodyPr/>
          <a:lstStyle/>
          <a:p>
            <a:pPr eaLnBrk="1" hangingPunct="1"/>
            <a:r>
              <a:rPr lang="he-IL" altLang="he-IL" sz="2400" dirty="0"/>
              <a:t>פיצול ע"י משתנה </a:t>
            </a:r>
            <a:r>
              <a:rPr lang="en-US" altLang="he-IL" sz="2400" dirty="0"/>
              <a:t>A</a:t>
            </a:r>
            <a:r>
              <a:rPr lang="he-IL" altLang="he-IL" sz="2400" dirty="0"/>
              <a:t>:</a:t>
            </a:r>
            <a:endParaRPr lang="en-US" altLang="he-IL" sz="2400" dirty="0"/>
          </a:p>
        </p:txBody>
      </p:sp>
      <p:graphicFrame>
        <p:nvGraphicFramePr>
          <p:cNvPr id="14" name="Object 1"/>
          <p:cNvGraphicFramePr>
            <a:graphicFrameLocks noChangeAspect="1"/>
          </p:cNvGraphicFramePr>
          <p:nvPr/>
        </p:nvGraphicFramePr>
        <p:xfrm>
          <a:off x="685800" y="2286000"/>
          <a:ext cx="6675438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78200" imgH="736600" progId="Equation.DSMT4">
                  <p:embed/>
                </p:oleObj>
              </mc:Choice>
              <mc:Fallback>
                <p:oleObj name="Equation" r:id="rId5" imgW="3378200" imgH="736600" progId="Equation.DSMT4">
                  <p:embed/>
                  <p:pic>
                    <p:nvPicPr>
                      <p:cNvPr id="14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286000"/>
                        <a:ext cx="6675438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546100" y="287338"/>
                <a:ext cx="8140699" cy="1449387"/>
              </a:xfrm>
            </p:spPr>
            <p:txBody>
              <a:bodyPr>
                <a:normAutofit/>
              </a:bodyPr>
              <a:lstStyle/>
              <a:p>
                <a:pPr algn="r" eaLnBrk="1" hangingPunct="1"/>
                <a:r>
                  <a:rPr lang="he-IL" altLang="he-IL" sz="4400" dirty="0"/>
                  <a:t>ב. בעזרת מפענח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4400" b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𝟏𝟔</m:t>
                    </m:r>
                  </m:oMath>
                </a14:m>
                <a:r>
                  <a:rPr lang="he-IL" altLang="he-IL" sz="4400" dirty="0"/>
                  <a:t> ושערים לוגיים:</a:t>
                </a:r>
                <a:endParaRPr lang="en-US" altLang="he-IL" sz="4400" dirty="0"/>
              </a:p>
            </p:txBody>
          </p:sp>
        </mc:Choice>
        <mc:Fallback xmlns="">
          <p:sp>
            <p:nvSpPr>
              <p:cNvPr id="16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46100" y="287338"/>
                <a:ext cx="8140699" cy="1449387"/>
              </a:xfrm>
              <a:blipFill rotWithShape="0">
                <a:blip r:embed="rId8"/>
                <a:stretch>
                  <a:fillRect l="-1948" r="-2996" b="-1932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Content Placeholder 2"/>
          <p:cNvSpPr>
            <a:spLocks noGrp="1"/>
          </p:cNvSpPr>
          <p:nvPr>
            <p:ph idx="1"/>
          </p:nvPr>
        </p:nvSpPr>
        <p:spPr>
          <a:xfrm>
            <a:off x="609600" y="2527836"/>
            <a:ext cx="8229600" cy="762000"/>
          </a:xfrm>
        </p:spPr>
        <p:txBody>
          <a:bodyPr/>
          <a:lstStyle/>
          <a:p>
            <a:pPr eaLnBrk="1" hangingPunct="1"/>
            <a:r>
              <a:rPr lang="he-IL" altLang="he-IL" sz="2400" dirty="0"/>
              <a:t>אפשרות נוספת - פיצול ע"י משתנה </a:t>
            </a:r>
            <a:r>
              <a:rPr lang="en-US" altLang="he-IL" sz="2400" dirty="0"/>
              <a:t>E</a:t>
            </a:r>
            <a:r>
              <a:rPr lang="he-IL" altLang="he-IL" sz="2400" dirty="0"/>
              <a:t>:</a:t>
            </a:r>
            <a:endParaRPr lang="en-US" altLang="he-IL" sz="2400" dirty="0"/>
          </a:p>
        </p:txBody>
      </p:sp>
      <p:sp>
        <p:nvSpPr>
          <p:cNvPr id="5427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>
              <a:latin typeface="Lucida Sans Unicode" panose="020B0602030504020204" pitchFamily="34" charset="0"/>
            </a:endParaRPr>
          </a:p>
        </p:txBody>
      </p:sp>
      <p:sp>
        <p:nvSpPr>
          <p:cNvPr id="54277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8BF88DF-680A-4C97-8A01-0A8BA1681CBC}" type="slidenum">
              <a:rPr lang="en-US" altLang="he-IL" sz="1000" smtClean="0">
                <a:latin typeface="Lucida Sans Unicode" panose="020B0602030504020204" pitchFamily="34" charset="0"/>
              </a:rPr>
              <a:pPr/>
              <a:t>51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  <p:pic>
        <p:nvPicPr>
          <p:cNvPr id="5427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3" y="3182938"/>
            <a:ext cx="74009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9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733800"/>
            <a:ext cx="1581150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ight Arrow 8"/>
          <p:cNvSpPr/>
          <p:nvPr/>
        </p:nvSpPr>
        <p:spPr>
          <a:xfrm>
            <a:off x="2152650" y="4875213"/>
            <a:ext cx="514350" cy="2524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733800"/>
            <a:ext cx="1571625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5703570"/>
            <a:ext cx="105727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913" y="4729163"/>
            <a:ext cx="3810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2538" y="4729163"/>
            <a:ext cx="31051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546100" y="287338"/>
                <a:ext cx="8140699" cy="1449387"/>
              </a:xfrm>
            </p:spPr>
            <p:txBody>
              <a:bodyPr>
                <a:normAutofit/>
              </a:bodyPr>
              <a:lstStyle/>
              <a:p>
                <a:pPr algn="r" eaLnBrk="1" hangingPunct="1"/>
                <a:r>
                  <a:rPr lang="he-IL" altLang="he-IL" sz="4400" dirty="0"/>
                  <a:t>ב. בעזרת מפענח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4400" b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𝟏𝟔</m:t>
                    </m:r>
                  </m:oMath>
                </a14:m>
                <a:r>
                  <a:rPr lang="he-IL" altLang="he-IL" sz="4400" dirty="0"/>
                  <a:t> ושערים לוגיים:</a:t>
                </a:r>
                <a:endParaRPr lang="en-US" altLang="he-IL" sz="4400" dirty="0"/>
              </a:p>
            </p:txBody>
          </p:sp>
        </mc:Choice>
        <mc:Fallback xmlns="">
          <p:sp>
            <p:nvSpPr>
              <p:cNvPr id="14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46100" y="287338"/>
                <a:ext cx="8140699" cy="1449387"/>
              </a:xfrm>
              <a:blipFill rotWithShape="0">
                <a:blip r:embed="rId9"/>
                <a:stretch>
                  <a:fillRect l="-1948" r="-2996" b="-1932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28600" y="1789648"/>
                <a:ext cx="5638800" cy="837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</m:d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𝟗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𝟏𝟏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𝟏𝟑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𝟐𝟕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𝟑𝟏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he-IL" sz="20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789648"/>
                <a:ext cx="5638800" cy="83766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Content Placeholder 2"/>
          <p:cNvSpPr>
            <a:spLocks noGrp="1"/>
          </p:cNvSpPr>
          <p:nvPr>
            <p:ph idx="1"/>
          </p:nvPr>
        </p:nvSpPr>
        <p:spPr>
          <a:xfrm>
            <a:off x="214313" y="1905000"/>
            <a:ext cx="8229600" cy="762000"/>
          </a:xfrm>
        </p:spPr>
        <p:txBody>
          <a:bodyPr/>
          <a:lstStyle/>
          <a:p>
            <a:pPr eaLnBrk="1" hangingPunct="1"/>
            <a:r>
              <a:rPr lang="he-IL" altLang="he-IL" sz="2400" dirty="0"/>
              <a:t>אפשרות נוספת - פיצול ע"י משתנה </a:t>
            </a:r>
            <a:r>
              <a:rPr lang="en-US" altLang="he-IL" sz="2400" dirty="0"/>
              <a:t>E</a:t>
            </a:r>
            <a:r>
              <a:rPr lang="he-IL" altLang="he-IL" sz="2400" dirty="0"/>
              <a:t>:</a:t>
            </a:r>
            <a:endParaRPr lang="en-US" altLang="he-IL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מימוש ע"י דקודרים 16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Symbol"/>
              </a:rPr>
              <a:t>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530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he-IL" altLang="he-IL">
              <a:latin typeface="Lucida Sans Unicode" panose="020B0602030504020204" pitchFamily="34" charset="0"/>
            </a:endParaRPr>
          </a:p>
        </p:txBody>
      </p:sp>
      <p:graphicFrame>
        <p:nvGraphicFramePr>
          <p:cNvPr id="55301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994256"/>
              </p:ext>
            </p:extLst>
          </p:nvPr>
        </p:nvGraphicFramePr>
        <p:xfrm>
          <a:off x="457200" y="2457450"/>
          <a:ext cx="741045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78200" imgH="698500" progId="Equation.DSMT4">
                  <p:embed/>
                </p:oleObj>
              </mc:Choice>
              <mc:Fallback>
                <p:oleObj name="Equation" r:id="rId3" imgW="3378200" imgH="698500" progId="Equation.DSMT4">
                  <p:embed/>
                  <p:pic>
                    <p:nvPicPr>
                      <p:cNvPr id="5530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457450"/>
                        <a:ext cx="741045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2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F12C5CF-DE2D-4AE2-9ED1-072D6507765F}" type="slidenum">
              <a:rPr lang="en-US" altLang="he-IL" sz="1000" smtClean="0">
                <a:latin typeface="Lucida Sans Unicode" panose="020B0602030504020204" pitchFamily="34" charset="0"/>
              </a:rPr>
              <a:pPr/>
              <a:t>52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  <p:graphicFrame>
        <p:nvGraphicFramePr>
          <p:cNvPr id="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9378470"/>
              </p:ext>
            </p:extLst>
          </p:nvPr>
        </p:nvGraphicFramePr>
        <p:xfrm>
          <a:off x="1925638" y="5287963"/>
          <a:ext cx="596106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14600" imgH="254000" progId="Equation.DSMT4">
                  <p:embed/>
                </p:oleObj>
              </mc:Choice>
              <mc:Fallback>
                <p:oleObj name="Equation" r:id="rId5" imgW="2514600" imgH="254000" progId="Equation.DSMT4">
                  <p:embed/>
                  <p:pic>
                    <p:nvPicPr>
                      <p:cNvPr id="7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638" y="5287963"/>
                        <a:ext cx="5961062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79425" y="4773137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0713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8838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28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86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743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200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</a:pPr>
            <a:r>
              <a:rPr lang="he-IL" altLang="he-IL" sz="2700" dirty="0">
                <a:latin typeface="Lucida Sans Unicode" panose="020B0602030504020204" pitchFamily="34" charset="0"/>
              </a:rPr>
              <a:t>תזכורת:</a:t>
            </a:r>
            <a:endParaRPr lang="en-US" altLang="he-IL" sz="2700" dirty="0">
              <a:latin typeface="Lucida Sans Unicode" panose="020B0602030504020204" pitchFamily="34" charset="0"/>
            </a:endParaRPr>
          </a:p>
        </p:txBody>
      </p:sp>
      <p:pic>
        <p:nvPicPr>
          <p:cNvPr id="9" name="Pictur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795" y="4141470"/>
            <a:ext cx="74009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6619875" y="3817938"/>
            <a:ext cx="2600325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6322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846263"/>
                <a:ext cx="8137525" cy="4022725"/>
              </a:xfrm>
            </p:spPr>
            <p:txBody>
              <a:bodyPr/>
              <a:lstStyle/>
              <a:p>
                <a:pPr eaLnBrk="1" hangingPunct="1"/>
                <a:r>
                  <a:rPr lang="he-IL" altLang="he-IL" sz="2400" dirty="0"/>
                  <a:t>האם מפענח 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400" b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he-IL" altLang="he-IL" sz="2400" dirty="0"/>
                  <a:t>  (ללא </a:t>
                </a:r>
                <a:r>
                  <a:rPr lang="en-US" altLang="he-IL" sz="2400" dirty="0"/>
                  <a:t>enable</a:t>
                </a:r>
                <a:r>
                  <a:rPr lang="he-IL" altLang="he-IL" sz="2400" dirty="0"/>
                  <a:t>) מהווה  מערכת פעולות שלמה? </a:t>
                </a:r>
                <a:endParaRPr lang="en-US" altLang="he-IL" sz="2400" dirty="0"/>
              </a:p>
              <a:p>
                <a:pPr lvl="1" eaLnBrk="1" hangingPunct="1"/>
                <a:r>
                  <a:rPr lang="he-IL" altLang="he-IL" sz="2000" dirty="0"/>
                  <a:t>כן, ללא שימוש בשערים נוספים.</a:t>
                </a:r>
                <a:endParaRPr lang="en-US" altLang="he-IL" sz="2000" dirty="0"/>
              </a:p>
              <a:p>
                <a:pPr lvl="1" eaLnBrk="1" hangingPunct="1"/>
                <a:r>
                  <a:rPr lang="he-IL" altLang="he-IL" sz="2000" dirty="0"/>
                  <a:t>כן, בתוספת שער </a:t>
                </a:r>
                <a:r>
                  <a:rPr lang="en-US" altLang="he-IL" sz="2000" dirty="0"/>
                  <a:t>Not</a:t>
                </a:r>
                <a:r>
                  <a:rPr lang="he-IL" altLang="he-IL" sz="2000" dirty="0"/>
                  <a:t>.</a:t>
                </a:r>
                <a:endParaRPr lang="en-US" altLang="he-IL" sz="2000" dirty="0"/>
              </a:p>
              <a:p>
                <a:pPr lvl="1" eaLnBrk="1" hangingPunct="1"/>
                <a:r>
                  <a:rPr lang="he-IL" altLang="he-IL" sz="2000" dirty="0"/>
                  <a:t>כן, בתוספת שער </a:t>
                </a:r>
                <a:r>
                  <a:rPr lang="en-US" altLang="he-IL" sz="2000" dirty="0"/>
                  <a:t>And</a:t>
                </a:r>
                <a:r>
                  <a:rPr lang="he-IL" altLang="he-IL" sz="2000" dirty="0"/>
                  <a:t>.</a:t>
                </a:r>
                <a:endParaRPr lang="en-US" altLang="he-IL" sz="2000" dirty="0"/>
              </a:p>
              <a:p>
                <a:pPr lvl="1" eaLnBrk="1" hangingPunct="1"/>
                <a:r>
                  <a:rPr lang="he-IL" altLang="he-IL" sz="2000" dirty="0"/>
                  <a:t>לא.</a:t>
                </a:r>
                <a:endParaRPr lang="en-US" altLang="he-IL" sz="2000" dirty="0"/>
              </a:p>
              <a:p>
                <a:pPr eaLnBrk="1" hangingPunct="1"/>
                <a:endParaRPr lang="en-US" altLang="he-IL" sz="2400" dirty="0"/>
              </a:p>
            </p:txBody>
          </p:sp>
        </mc:Choice>
        <mc:Fallback xmlns="">
          <p:sp>
            <p:nvSpPr>
              <p:cNvPr id="56322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846263"/>
                <a:ext cx="8137525" cy="4022725"/>
              </a:xfrm>
              <a:blipFill rotWithShape="0">
                <a:blip r:embed="rId3"/>
                <a:stretch>
                  <a:fillRect l="-300" t="-2273" r="-239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תרגיל (ממבחן)</a:t>
            </a:r>
            <a:endParaRPr lang="en-US" baseline="30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324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B2EA053-FA45-46D7-972B-D1F75E74F614}" type="slidenum">
              <a:rPr lang="en-US" altLang="he-IL" sz="1000" smtClean="0">
                <a:latin typeface="Lucida Sans Unicode" panose="020B0602030504020204" pitchFamily="34" charset="0"/>
              </a:rPr>
              <a:pPr/>
              <a:t>53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8E758-960A-E47F-CE23-41C63931C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6322" name="Content Placeholder 2">
                <a:extLst>
                  <a:ext uri="{FF2B5EF4-FFF2-40B4-BE49-F238E27FC236}">
                    <a16:creationId xmlns:a16="http://schemas.microsoft.com/office/drawing/2014/main" id="{0AF7F4C0-527D-F76B-C6B2-9849628195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8600" y="1846263"/>
                <a:ext cx="8137525" cy="4022725"/>
              </a:xfrm>
            </p:spPr>
            <p:txBody>
              <a:bodyPr/>
              <a:lstStyle/>
              <a:p>
                <a:pPr eaLnBrk="1" hangingPunct="1"/>
                <a:r>
                  <a:rPr lang="he-IL" altLang="he-IL" sz="2400" dirty="0"/>
                  <a:t>האם מפענח 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400" b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he-IL" altLang="he-IL" sz="2400" dirty="0"/>
                  <a:t>  (ללא </a:t>
                </a:r>
                <a:r>
                  <a:rPr lang="en-US" altLang="he-IL" sz="2400" dirty="0"/>
                  <a:t>enable</a:t>
                </a:r>
                <a:r>
                  <a:rPr lang="he-IL" altLang="he-IL" sz="2400" dirty="0"/>
                  <a:t>) מהווה  מערכת פעולות שלמה? </a:t>
                </a:r>
                <a:endParaRPr lang="en-US" altLang="he-IL" sz="2400" dirty="0"/>
              </a:p>
              <a:p>
                <a:pPr lvl="1" eaLnBrk="1" hangingPunct="1"/>
                <a:r>
                  <a:rPr lang="he-IL" altLang="he-IL" sz="2000" dirty="0"/>
                  <a:t>כן, ללא שימוש בשערים נוספים.</a:t>
                </a:r>
                <a:endParaRPr lang="en-US" altLang="he-IL" sz="2000" dirty="0"/>
              </a:p>
              <a:p>
                <a:pPr lvl="1" eaLnBrk="1" hangingPunct="1"/>
                <a:r>
                  <a:rPr lang="he-IL" altLang="he-IL" sz="2000" dirty="0"/>
                  <a:t>כן, בתוספת שער </a:t>
                </a:r>
                <a:r>
                  <a:rPr lang="en-US" altLang="he-IL" sz="2000" dirty="0"/>
                  <a:t>Not</a:t>
                </a:r>
                <a:r>
                  <a:rPr lang="he-IL" altLang="he-IL" sz="2000" dirty="0"/>
                  <a:t>.</a:t>
                </a:r>
                <a:endParaRPr lang="en-US" altLang="he-IL" sz="2000" dirty="0"/>
              </a:p>
              <a:p>
                <a:pPr lvl="1" eaLnBrk="1" hangingPunct="1"/>
                <a:r>
                  <a:rPr lang="he-IL" altLang="he-IL" sz="2000" dirty="0"/>
                  <a:t>כן, בתוספת שער </a:t>
                </a:r>
                <a:r>
                  <a:rPr lang="en-US" altLang="he-IL" sz="2000" dirty="0"/>
                  <a:t>And</a:t>
                </a:r>
                <a:r>
                  <a:rPr lang="he-IL" altLang="he-IL" sz="2000" dirty="0"/>
                  <a:t>.</a:t>
                </a:r>
                <a:endParaRPr lang="en-US" altLang="he-IL" sz="2000" dirty="0"/>
              </a:p>
              <a:p>
                <a:pPr lvl="1" eaLnBrk="1" hangingPunct="1"/>
                <a:r>
                  <a:rPr lang="he-IL" altLang="he-IL" sz="2000" dirty="0"/>
                  <a:t>לא.</a:t>
                </a:r>
                <a:endParaRPr lang="en-US" altLang="he-IL" sz="2000" dirty="0"/>
              </a:p>
              <a:p>
                <a:pPr eaLnBrk="1" hangingPunct="1"/>
                <a:endParaRPr lang="en-US" altLang="he-IL" sz="2400" dirty="0"/>
              </a:p>
            </p:txBody>
          </p:sp>
        </mc:Choice>
        <mc:Fallback xmlns="">
          <p:sp>
            <p:nvSpPr>
              <p:cNvPr id="56322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846263"/>
                <a:ext cx="8137525" cy="4022725"/>
              </a:xfrm>
              <a:blipFill rotWithShape="0">
                <a:blip r:embed="rId3"/>
                <a:stretch>
                  <a:fillRect l="-300" t="-2273" r="-239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F7E1A86-8091-E9BD-0DDB-9F82EBDB7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תרגיל (ממבחן)</a:t>
            </a:r>
            <a:endParaRPr lang="en-US" baseline="30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324" name="Slide Number Placeholder 2">
            <a:extLst>
              <a:ext uri="{FF2B5EF4-FFF2-40B4-BE49-F238E27FC236}">
                <a16:creationId xmlns:a16="http://schemas.microsoft.com/office/drawing/2014/main" id="{161E55FB-C37D-1067-CE0F-BC7AEA86B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B2EA053-FA45-46D7-972B-D1F75E74F614}" type="slidenum">
              <a:rPr lang="en-US" altLang="he-IL" sz="1000" smtClean="0">
                <a:latin typeface="Lucida Sans Unicode" panose="020B0602030504020204" pitchFamily="34" charset="0"/>
              </a:rPr>
              <a:pPr/>
              <a:t>54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D1E5B12-BDCF-009B-735F-D05BBE7C2028}"/>
              </a:ext>
            </a:extLst>
          </p:cNvPr>
          <p:cNvSpPr/>
          <p:nvPr/>
        </p:nvSpPr>
        <p:spPr>
          <a:xfrm>
            <a:off x="4724400" y="2209800"/>
            <a:ext cx="3581400" cy="381000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967024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592DDB-BCDA-09D6-F6E3-99B1D79E4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פתרון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09E8826-A094-CFCA-5B09-0B6B7D5D6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2A3356-D8E6-4574-BA3B-4924C966D0A1}" type="slidenum">
              <a:rPr lang="en-US" altLang="he-IL" smtClean="0"/>
              <a:pPr>
                <a:defRPr/>
              </a:pPr>
              <a:t>55</a:t>
            </a:fld>
            <a:endParaRPr lang="en-US" altLang="he-IL"/>
          </a:p>
        </p:txBody>
      </p:sp>
      <p:sp>
        <p:nvSpPr>
          <p:cNvPr id="5" name="Rectangle 2"/>
          <p:cNvSpPr/>
          <p:nvPr/>
        </p:nvSpPr>
        <p:spPr>
          <a:xfrm>
            <a:off x="1817649" y="4225304"/>
            <a:ext cx="684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NOT</a:t>
            </a:r>
            <a:endParaRPr lang="he-IL" dirty="0"/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824404" y="4530715"/>
            <a:ext cx="2247900" cy="157861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4"/>
              <p:cNvSpPr/>
              <p:nvPr/>
            </p:nvSpPr>
            <p:spPr>
              <a:xfrm>
                <a:off x="1704175" y="5927253"/>
                <a:ext cx="8210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he-IL" b="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he-IL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he-IL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7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4175" y="5927253"/>
                <a:ext cx="821058" cy="369332"/>
              </a:xfrm>
              <a:prstGeom prst="rect">
                <a:avLst/>
              </a:prstGeom>
              <a:blipFill>
                <a:blip r:embed="rId4"/>
                <a:stretch>
                  <a:fillRect r="-37313" b="-819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6170160" y="4267503"/>
            <a:ext cx="684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AND</a:t>
            </a:r>
            <a:endParaRPr lang="he-IL" dirty="0"/>
          </a:p>
        </p:txBody>
      </p:sp>
      <p:pic>
        <p:nvPicPr>
          <p:cNvPr id="10" name="Picture 9"/>
          <p:cNvPicPr/>
          <p:nvPr/>
        </p:nvPicPr>
        <p:blipFill>
          <a:blip r:embed="rId5"/>
          <a:stretch>
            <a:fillRect/>
          </a:stretch>
        </p:blipFill>
        <p:spPr>
          <a:xfrm>
            <a:off x="5080553" y="4570805"/>
            <a:ext cx="2286000" cy="1597025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6"/>
              <p:cNvSpPr/>
              <p:nvPr/>
            </p:nvSpPr>
            <p:spPr>
              <a:xfrm>
                <a:off x="5821503" y="5939037"/>
                <a:ext cx="110799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he-IL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he-IL" b="0" i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he-IL" b="1" i="1"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8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1503" y="5939037"/>
                <a:ext cx="1107996" cy="369332"/>
              </a:xfrm>
              <a:prstGeom prst="rect">
                <a:avLst/>
              </a:prstGeom>
              <a:blipFill>
                <a:blip r:embed="rId6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תיבת טקסט 10">
                <a:extLst>
                  <a:ext uri="{FF2B5EF4-FFF2-40B4-BE49-F238E27FC236}">
                    <a16:creationId xmlns:a16="http://schemas.microsoft.com/office/drawing/2014/main" id="{E0608536-FF04-A906-D0A6-C9F277874CF9}"/>
                  </a:ext>
                </a:extLst>
              </p:cNvPr>
              <p:cNvSpPr txBox="1"/>
              <p:nvPr/>
            </p:nvSpPr>
            <p:spPr>
              <a:xfrm>
                <a:off x="1101333" y="2080617"/>
                <a:ext cx="1905000" cy="375424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1" name="תיבת טקסט 10">
                <a:extLst>
                  <a:ext uri="{FF2B5EF4-FFF2-40B4-BE49-F238E27FC236}">
                    <a16:creationId xmlns:a16="http://schemas.microsoft.com/office/drawing/2014/main" id="{E0608536-FF04-A906-D0A6-C9F277874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333" y="2080617"/>
                <a:ext cx="1905000" cy="375424"/>
              </a:xfrm>
              <a:prstGeom prst="rect">
                <a:avLst/>
              </a:prstGeom>
              <a:blipFill>
                <a:blip r:embed="rId7"/>
                <a:stretch>
                  <a:fillRect r="-6090" b="-1451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תיבת טקסט 11">
                <a:extLst>
                  <a:ext uri="{FF2B5EF4-FFF2-40B4-BE49-F238E27FC236}">
                    <a16:creationId xmlns:a16="http://schemas.microsoft.com/office/drawing/2014/main" id="{7D6A0711-FC14-74E6-C434-F07CCE82E6CB}"/>
                  </a:ext>
                </a:extLst>
              </p:cNvPr>
              <p:cNvSpPr txBox="1"/>
              <p:nvPr/>
            </p:nvSpPr>
            <p:spPr>
              <a:xfrm>
                <a:off x="1101333" y="2491314"/>
                <a:ext cx="1905000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2" name="תיבת טקסט 11">
                <a:extLst>
                  <a:ext uri="{FF2B5EF4-FFF2-40B4-BE49-F238E27FC236}">
                    <a16:creationId xmlns:a16="http://schemas.microsoft.com/office/drawing/2014/main" id="{7D6A0711-FC14-74E6-C434-F07CCE82E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333" y="2491314"/>
                <a:ext cx="1905000" cy="369332"/>
              </a:xfrm>
              <a:prstGeom prst="rect">
                <a:avLst/>
              </a:prstGeom>
              <a:blipFill>
                <a:blip r:embed="rId8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מלבן 12">
                <a:extLst>
                  <a:ext uri="{FF2B5EF4-FFF2-40B4-BE49-F238E27FC236}">
                    <a16:creationId xmlns:a16="http://schemas.microsoft.com/office/drawing/2014/main" id="{F968F4D0-8528-199A-C28F-E572B55D28CE}"/>
                  </a:ext>
                </a:extLst>
              </p:cNvPr>
              <p:cNvSpPr/>
              <p:nvPr/>
            </p:nvSpPr>
            <p:spPr>
              <a:xfrm>
                <a:off x="4146248" y="1979613"/>
                <a:ext cx="2286000" cy="144938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en-US" dirty="0"/>
                  <a:t>Decoder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→4</m:t>
                    </m:r>
                  </m:oMath>
                </a14:m>
                <a:endParaRPr lang="he-IL" dirty="0"/>
              </a:p>
            </p:txBody>
          </p:sp>
        </mc:Choice>
        <mc:Fallback xmlns="">
          <p:sp>
            <p:nvSpPr>
              <p:cNvPr id="13" name="מלבן 12">
                <a:extLst>
                  <a:ext uri="{FF2B5EF4-FFF2-40B4-BE49-F238E27FC236}">
                    <a16:creationId xmlns:a16="http://schemas.microsoft.com/office/drawing/2014/main" id="{F968F4D0-8528-199A-C28F-E572B55D28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248" y="1979613"/>
                <a:ext cx="2286000" cy="14493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מחבר חץ ישר 14">
            <a:extLst>
              <a:ext uri="{FF2B5EF4-FFF2-40B4-BE49-F238E27FC236}">
                <a16:creationId xmlns:a16="http://schemas.microsoft.com/office/drawing/2014/main" id="{0658B43A-3C08-3548-4E44-679908858427}"/>
              </a:ext>
            </a:extLst>
          </p:cNvPr>
          <p:cNvCxnSpPr/>
          <p:nvPr/>
        </p:nvCxnSpPr>
        <p:spPr>
          <a:xfrm>
            <a:off x="3384248" y="2402366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מחבר חץ ישר 15">
            <a:extLst>
              <a:ext uri="{FF2B5EF4-FFF2-40B4-BE49-F238E27FC236}">
                <a16:creationId xmlns:a16="http://schemas.microsoft.com/office/drawing/2014/main" id="{CEFE599E-FA9F-F4EB-60B1-DF71424CE1D2}"/>
              </a:ext>
            </a:extLst>
          </p:cNvPr>
          <p:cNvCxnSpPr/>
          <p:nvPr/>
        </p:nvCxnSpPr>
        <p:spPr>
          <a:xfrm>
            <a:off x="3384248" y="2767655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תיבת טקסט 21">
                <a:extLst>
                  <a:ext uri="{FF2B5EF4-FFF2-40B4-BE49-F238E27FC236}">
                    <a16:creationId xmlns:a16="http://schemas.microsoft.com/office/drawing/2014/main" id="{7B02B44B-4D43-0B6A-2783-9A7C342D63B7}"/>
                  </a:ext>
                </a:extLst>
              </p:cNvPr>
              <p:cNvSpPr txBox="1"/>
              <p:nvPr/>
            </p:nvSpPr>
            <p:spPr>
              <a:xfrm>
                <a:off x="3003248" y="2153286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2" name="תיבת טקסט 21">
                <a:extLst>
                  <a:ext uri="{FF2B5EF4-FFF2-40B4-BE49-F238E27FC236}">
                    <a16:creationId xmlns:a16="http://schemas.microsoft.com/office/drawing/2014/main" id="{7B02B44B-4D43-0B6A-2783-9A7C342D6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248" y="2153286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תיבת טקסט 22">
                <a:extLst>
                  <a:ext uri="{FF2B5EF4-FFF2-40B4-BE49-F238E27FC236}">
                    <a16:creationId xmlns:a16="http://schemas.microsoft.com/office/drawing/2014/main" id="{8EAF66E7-50CC-B30D-9091-C42506F5E47B}"/>
                  </a:ext>
                </a:extLst>
              </p:cNvPr>
              <p:cNvSpPr txBox="1"/>
              <p:nvPr/>
            </p:nvSpPr>
            <p:spPr>
              <a:xfrm>
                <a:off x="3003248" y="2582989"/>
                <a:ext cx="37888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3" name="תיבת טקסט 22">
                <a:extLst>
                  <a:ext uri="{FF2B5EF4-FFF2-40B4-BE49-F238E27FC236}">
                    <a16:creationId xmlns:a16="http://schemas.microsoft.com/office/drawing/2014/main" id="{8EAF66E7-50CC-B30D-9091-C42506F5E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248" y="2582989"/>
                <a:ext cx="37888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מחבר חץ ישר 23">
            <a:extLst>
              <a:ext uri="{FF2B5EF4-FFF2-40B4-BE49-F238E27FC236}">
                <a16:creationId xmlns:a16="http://schemas.microsoft.com/office/drawing/2014/main" id="{4EBF7D9D-E2DE-032E-C879-1C57D75554A5}"/>
              </a:ext>
            </a:extLst>
          </p:cNvPr>
          <p:cNvCxnSpPr>
            <a:cxnSpLocks/>
          </p:cNvCxnSpPr>
          <p:nvPr/>
        </p:nvCxnSpPr>
        <p:spPr>
          <a:xfrm>
            <a:off x="6059245" y="3426682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מחבר חץ ישר 24">
            <a:extLst>
              <a:ext uri="{FF2B5EF4-FFF2-40B4-BE49-F238E27FC236}">
                <a16:creationId xmlns:a16="http://schemas.microsoft.com/office/drawing/2014/main" id="{4BD68D69-2EFE-FAE1-C2C1-D03B0642BD89}"/>
              </a:ext>
            </a:extLst>
          </p:cNvPr>
          <p:cNvCxnSpPr>
            <a:cxnSpLocks/>
          </p:cNvCxnSpPr>
          <p:nvPr/>
        </p:nvCxnSpPr>
        <p:spPr>
          <a:xfrm>
            <a:off x="5525845" y="3426682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מחבר חץ ישר 25">
            <a:extLst>
              <a:ext uri="{FF2B5EF4-FFF2-40B4-BE49-F238E27FC236}">
                <a16:creationId xmlns:a16="http://schemas.microsoft.com/office/drawing/2014/main" id="{93C1E4BF-48A6-CA50-CC8D-3EF38A666990}"/>
              </a:ext>
            </a:extLst>
          </p:cNvPr>
          <p:cNvCxnSpPr>
            <a:cxnSpLocks/>
          </p:cNvCxnSpPr>
          <p:nvPr/>
        </p:nvCxnSpPr>
        <p:spPr>
          <a:xfrm>
            <a:off x="4992445" y="3426682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מחבר חץ ישר 26">
            <a:extLst>
              <a:ext uri="{FF2B5EF4-FFF2-40B4-BE49-F238E27FC236}">
                <a16:creationId xmlns:a16="http://schemas.microsoft.com/office/drawing/2014/main" id="{2A2BD396-3163-8FD3-CCB6-D8B24B935853}"/>
              </a:ext>
            </a:extLst>
          </p:cNvPr>
          <p:cNvCxnSpPr>
            <a:cxnSpLocks/>
          </p:cNvCxnSpPr>
          <p:nvPr/>
        </p:nvCxnSpPr>
        <p:spPr>
          <a:xfrm>
            <a:off x="4459045" y="3426682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תיבת טקסט 31">
                <a:extLst>
                  <a:ext uri="{FF2B5EF4-FFF2-40B4-BE49-F238E27FC236}">
                    <a16:creationId xmlns:a16="http://schemas.microsoft.com/office/drawing/2014/main" id="{34839EEB-CDB0-F4CA-F0A5-89BBF26CC9CB}"/>
                  </a:ext>
                </a:extLst>
              </p:cNvPr>
              <p:cNvSpPr txBox="1"/>
              <p:nvPr/>
            </p:nvSpPr>
            <p:spPr>
              <a:xfrm>
                <a:off x="4270532" y="3967152"/>
                <a:ext cx="44672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2" name="תיבת טקסט 31">
                <a:extLst>
                  <a:ext uri="{FF2B5EF4-FFF2-40B4-BE49-F238E27FC236}">
                    <a16:creationId xmlns:a16="http://schemas.microsoft.com/office/drawing/2014/main" id="{34839EEB-CDB0-F4CA-F0A5-89BBF26CC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0532" y="3967152"/>
                <a:ext cx="446725" cy="369332"/>
              </a:xfrm>
              <a:prstGeom prst="rect">
                <a:avLst/>
              </a:prstGeom>
              <a:blipFill>
                <a:blip r:embed="rId12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תיבת טקסט 32">
                <a:extLst>
                  <a:ext uri="{FF2B5EF4-FFF2-40B4-BE49-F238E27FC236}">
                    <a16:creationId xmlns:a16="http://schemas.microsoft.com/office/drawing/2014/main" id="{D342EB3C-3D85-DA9C-C416-1D2F7552DD5E}"/>
                  </a:ext>
                </a:extLst>
              </p:cNvPr>
              <p:cNvSpPr txBox="1"/>
              <p:nvPr/>
            </p:nvSpPr>
            <p:spPr>
              <a:xfrm>
                <a:off x="4803932" y="3967152"/>
                <a:ext cx="44672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3" name="תיבת טקסט 32">
                <a:extLst>
                  <a:ext uri="{FF2B5EF4-FFF2-40B4-BE49-F238E27FC236}">
                    <a16:creationId xmlns:a16="http://schemas.microsoft.com/office/drawing/2014/main" id="{D342EB3C-3D85-DA9C-C416-1D2F7552D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932" y="3967152"/>
                <a:ext cx="446725" cy="369332"/>
              </a:xfrm>
              <a:prstGeom prst="rect">
                <a:avLst/>
              </a:prstGeom>
              <a:blipFill>
                <a:blip r:embed="rId1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תיבת טקסט 33">
                <a:extLst>
                  <a:ext uri="{FF2B5EF4-FFF2-40B4-BE49-F238E27FC236}">
                    <a16:creationId xmlns:a16="http://schemas.microsoft.com/office/drawing/2014/main" id="{34084D25-52B5-D38C-1D7E-1A2D5ED59813}"/>
                  </a:ext>
                </a:extLst>
              </p:cNvPr>
              <p:cNvSpPr txBox="1"/>
              <p:nvPr/>
            </p:nvSpPr>
            <p:spPr>
              <a:xfrm>
                <a:off x="5337332" y="3984434"/>
                <a:ext cx="441403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4" name="תיבת טקסט 33">
                <a:extLst>
                  <a:ext uri="{FF2B5EF4-FFF2-40B4-BE49-F238E27FC236}">
                    <a16:creationId xmlns:a16="http://schemas.microsoft.com/office/drawing/2014/main" id="{34084D25-52B5-D38C-1D7E-1A2D5ED59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332" y="3984434"/>
                <a:ext cx="441403" cy="369332"/>
              </a:xfrm>
              <a:prstGeom prst="rect">
                <a:avLst/>
              </a:prstGeom>
              <a:blipFill>
                <a:blip r:embed="rId1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תיבת טקסט 34">
                <a:extLst>
                  <a:ext uri="{FF2B5EF4-FFF2-40B4-BE49-F238E27FC236}">
                    <a16:creationId xmlns:a16="http://schemas.microsoft.com/office/drawing/2014/main" id="{F7B1C5AD-D03F-ED55-2B0B-8FF997D5524F}"/>
                  </a:ext>
                </a:extLst>
              </p:cNvPr>
              <p:cNvSpPr txBox="1"/>
              <p:nvPr/>
            </p:nvSpPr>
            <p:spPr>
              <a:xfrm>
                <a:off x="5870732" y="3984434"/>
                <a:ext cx="44672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5" name="תיבת טקסט 34">
                <a:extLst>
                  <a:ext uri="{FF2B5EF4-FFF2-40B4-BE49-F238E27FC236}">
                    <a16:creationId xmlns:a16="http://schemas.microsoft.com/office/drawing/2014/main" id="{F7B1C5AD-D03F-ED55-2B0B-8FF997D55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0732" y="3984434"/>
                <a:ext cx="446725" cy="369332"/>
              </a:xfrm>
              <a:prstGeom prst="rect">
                <a:avLst/>
              </a:prstGeom>
              <a:blipFill>
                <a:blip r:embed="rId1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תיבת טקסט 35">
                <a:extLst>
                  <a:ext uri="{FF2B5EF4-FFF2-40B4-BE49-F238E27FC236}">
                    <a16:creationId xmlns:a16="http://schemas.microsoft.com/office/drawing/2014/main" id="{33F2DA5D-A22F-FDAC-2CC7-82D51F3EA7DD}"/>
                  </a:ext>
                </a:extLst>
              </p:cNvPr>
              <p:cNvSpPr txBox="1"/>
              <p:nvPr/>
            </p:nvSpPr>
            <p:spPr>
              <a:xfrm>
                <a:off x="1101333" y="2875906"/>
                <a:ext cx="1905000" cy="375424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6" name="תיבת טקסט 35">
                <a:extLst>
                  <a:ext uri="{FF2B5EF4-FFF2-40B4-BE49-F238E27FC236}">
                    <a16:creationId xmlns:a16="http://schemas.microsoft.com/office/drawing/2014/main" id="{33F2DA5D-A22F-FDAC-2CC7-82D51F3EA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333" y="2875906"/>
                <a:ext cx="1905000" cy="375424"/>
              </a:xfrm>
              <a:prstGeom prst="rect">
                <a:avLst/>
              </a:prstGeom>
              <a:blipFill>
                <a:blip r:embed="rId16"/>
                <a:stretch>
                  <a:fillRect r="-6090" b="-1475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תיבת טקסט 36">
                <a:extLst>
                  <a:ext uri="{FF2B5EF4-FFF2-40B4-BE49-F238E27FC236}">
                    <a16:creationId xmlns:a16="http://schemas.microsoft.com/office/drawing/2014/main" id="{A84F131C-CA2A-B28F-F5D2-0D4953E04B58}"/>
                  </a:ext>
                </a:extLst>
              </p:cNvPr>
              <p:cNvSpPr txBox="1"/>
              <p:nvPr/>
            </p:nvSpPr>
            <p:spPr>
              <a:xfrm>
                <a:off x="1101333" y="3243431"/>
                <a:ext cx="1905000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7" name="תיבת טקסט 36">
                <a:extLst>
                  <a:ext uri="{FF2B5EF4-FFF2-40B4-BE49-F238E27FC236}">
                    <a16:creationId xmlns:a16="http://schemas.microsoft.com/office/drawing/2014/main" id="{A84F131C-CA2A-B28F-F5D2-0D4953E04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333" y="3243431"/>
                <a:ext cx="1905000" cy="369332"/>
              </a:xfrm>
              <a:prstGeom prst="rect">
                <a:avLst/>
              </a:prstGeom>
              <a:blipFill>
                <a:blip r:embed="rId1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9914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32932B8-54F0-4A86-ABA0-9C712C5CF649}" type="slidenum">
              <a:rPr lang="en-US" altLang="he-IL" sz="1000" smtClean="0">
                <a:latin typeface="Lucida Sans Unicode" panose="020B0602030504020204" pitchFamily="34" charset="0"/>
              </a:rPr>
              <a:pPr/>
              <a:t>56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447800" y="228600"/>
            <a:ext cx="7543800" cy="822325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אביב 2017 מועד א'</a:t>
            </a:r>
            <a:endParaRPr lang="en-US" baseline="30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8372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219200"/>
            <a:ext cx="7735888" cy="416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54983-9186-31C8-19C6-C9F0F8D17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2">
            <a:extLst>
              <a:ext uri="{FF2B5EF4-FFF2-40B4-BE49-F238E27FC236}">
                <a16:creationId xmlns:a16="http://schemas.microsoft.com/office/drawing/2014/main" id="{361B064D-9293-B3F7-25C5-18AD8FE03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32932B8-54F0-4A86-ABA0-9C712C5CF649}" type="slidenum">
              <a:rPr lang="en-US" altLang="he-IL" sz="1000" smtClean="0">
                <a:latin typeface="Lucida Sans Unicode" panose="020B0602030504020204" pitchFamily="34" charset="0"/>
              </a:rPr>
              <a:pPr/>
              <a:t>57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FC32E-ACA8-2DCB-4BC8-EC724D63A27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47800" y="228600"/>
            <a:ext cx="7543800" cy="822325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אביב 2017 מועד א'</a:t>
            </a:r>
            <a:endParaRPr lang="en-US" baseline="30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8372" name="Picture 2">
            <a:extLst>
              <a:ext uri="{FF2B5EF4-FFF2-40B4-BE49-F238E27FC236}">
                <a16:creationId xmlns:a16="http://schemas.microsoft.com/office/drawing/2014/main" id="{BBB74EDE-A170-E763-422D-253F475A6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219200"/>
            <a:ext cx="7735888" cy="416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C3CA80C-040F-E236-ED37-317D09E10BE2}"/>
              </a:ext>
            </a:extLst>
          </p:cNvPr>
          <p:cNvSpPr/>
          <p:nvPr/>
        </p:nvSpPr>
        <p:spPr>
          <a:xfrm>
            <a:off x="6781800" y="3352800"/>
            <a:ext cx="1303488" cy="3810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4177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5A2F046D-3095-91FF-CC77-476EBA9ED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C1CFE4-12F2-4AE4-B857-A6FE449BFC7A}" type="slidenum">
              <a:rPr lang="en-US" altLang="he-IL" smtClean="0"/>
              <a:pPr>
                <a:defRPr/>
              </a:pPr>
              <a:t>58</a:t>
            </a:fld>
            <a:endParaRPr lang="en-US" altLang="he-IL"/>
          </a:p>
        </p:txBody>
      </p:sp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8EAC6DDA-34C9-B2FF-B84E-5589C7BDD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69340"/>
              </p:ext>
            </p:extLst>
          </p:nvPr>
        </p:nvGraphicFramePr>
        <p:xfrm>
          <a:off x="2057400" y="1193748"/>
          <a:ext cx="5181600" cy="22250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863600">
                  <a:extLst>
                    <a:ext uri="{9D8B030D-6E8A-4147-A177-3AD203B41FA5}">
                      <a16:colId xmlns:a16="http://schemas.microsoft.com/office/drawing/2014/main" val="315313728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303157637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361862438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100469254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40138484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1710920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Out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D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C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B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A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8940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981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851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262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2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465647"/>
                  </a:ext>
                </a:extLst>
              </a:tr>
            </a:tbl>
          </a:graphicData>
        </a:graphic>
      </p:graphicFrame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EFED64A6-C6DA-8964-69AB-5A8BDDED8934}"/>
              </a:ext>
            </a:extLst>
          </p:cNvPr>
          <p:cNvSpPr txBox="1"/>
          <p:nvPr/>
        </p:nvSpPr>
        <p:spPr>
          <a:xfrm>
            <a:off x="685800" y="3581400"/>
            <a:ext cx="76200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/>
              <a:t>לאחר כתיבת טבלת האמת ניתן לראות כי כאשר כניסה </a:t>
            </a:r>
            <a:r>
              <a:rPr lang="en-US" dirty="0"/>
              <a:t>D</a:t>
            </a:r>
            <a:r>
              <a:rPr lang="he-IL" dirty="0"/>
              <a:t> שווה ל1 הפונקציה </a:t>
            </a:r>
            <a:r>
              <a:rPr lang="en-US" dirty="0"/>
              <a:t>F</a:t>
            </a:r>
            <a:r>
              <a:rPr lang="he-IL" dirty="0"/>
              <a:t> מוציאה 1 ולכן ניתן לבודד אותה להיות כניסת ה</a:t>
            </a:r>
            <a:r>
              <a:rPr lang="en-US" dirty="0"/>
              <a:t>EN</a:t>
            </a:r>
            <a:r>
              <a:rPr lang="he-I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78568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F6C054F-C0C6-451B-A08D-F8E833927252}" type="slidenum">
              <a:rPr lang="en-US" altLang="he-IL" sz="1000" smtClean="0">
                <a:latin typeface="Lucida Sans Unicode" panose="020B0602030504020204" pitchFamily="34" charset="0"/>
              </a:rPr>
              <a:pPr/>
              <a:t>59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447800" y="228600"/>
            <a:ext cx="7543800" cy="822325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אביב 2017 מועד ב'</a:t>
            </a:r>
            <a:endParaRPr lang="en-US" baseline="30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939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1371600"/>
            <a:ext cx="7993063" cy="389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E6B2A-0326-4462-6F7A-FAF11A25C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2">
            <a:extLst>
              <a:ext uri="{FF2B5EF4-FFF2-40B4-BE49-F238E27FC236}">
                <a16:creationId xmlns:a16="http://schemas.microsoft.com/office/drawing/2014/main" id="{2CD0D049-3644-A9CA-3AEC-3D1C050A8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F6C054F-C0C6-451B-A08D-F8E833927252}" type="slidenum">
              <a:rPr lang="en-US" altLang="he-IL" sz="1000" smtClean="0">
                <a:latin typeface="Lucida Sans Unicode" panose="020B0602030504020204" pitchFamily="34" charset="0"/>
              </a:rPr>
              <a:pPr/>
              <a:t>60</a:t>
            </a:fld>
            <a:endParaRPr lang="en-US" altLang="he-IL" sz="1000">
              <a:latin typeface="Lucida Sans Unicode" panose="020B06020305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6458C4-6BC3-9FA6-0F2A-872FAE848D5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47800" y="228600"/>
            <a:ext cx="7543800" cy="822325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אביב 2017 מועד ב'</a:t>
            </a:r>
            <a:endParaRPr lang="en-US" baseline="30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9396" name="Picture 3">
            <a:extLst>
              <a:ext uri="{FF2B5EF4-FFF2-40B4-BE49-F238E27FC236}">
                <a16:creationId xmlns:a16="http://schemas.microsoft.com/office/drawing/2014/main" id="{BA9F75E7-1345-9819-7069-50BD481853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1371600"/>
            <a:ext cx="7993063" cy="389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7583011C-779E-395B-364C-6CD17FB85936}"/>
              </a:ext>
            </a:extLst>
          </p:cNvPr>
          <p:cNvSpPr/>
          <p:nvPr/>
        </p:nvSpPr>
        <p:spPr>
          <a:xfrm>
            <a:off x="7230912" y="3657600"/>
            <a:ext cx="1303488" cy="3810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367480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A45FD89F-03D0-CC57-D2CD-2E1CEA612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C1CFE4-12F2-4AE4-B857-A6FE449BFC7A}" type="slidenum">
              <a:rPr lang="en-US" altLang="he-IL" smtClean="0"/>
              <a:pPr>
                <a:defRPr/>
              </a:pPr>
              <a:t>61</a:t>
            </a:fld>
            <a:endParaRPr lang="en-US" altLang="he-I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59">
                <a:extLst>
                  <a:ext uri="{FF2B5EF4-FFF2-40B4-BE49-F238E27FC236}">
                    <a16:creationId xmlns:a16="http://schemas.microsoft.com/office/drawing/2014/main" id="{B4E6835F-0F3B-AD42-6343-1FE835BB32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2794895"/>
                  </p:ext>
                </p:extLst>
              </p:nvPr>
            </p:nvGraphicFramePr>
            <p:xfrm>
              <a:off x="762000" y="1295400"/>
              <a:ext cx="2667000" cy="2743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33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01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kern="1200" dirty="0">
                            <a:solidFill>
                              <a:schemeClr val="tx1"/>
                            </a:solidFill>
                            <a:latin typeface="Arial" charset="0"/>
                            <a:ea typeface="+mn-ea"/>
                            <a:cs typeface="Arial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kern="1200" dirty="0">
                            <a:solidFill>
                              <a:schemeClr val="tx1"/>
                            </a:solidFill>
                            <a:latin typeface="Arial" charset="0"/>
                            <a:ea typeface="+mn-ea"/>
                            <a:cs typeface="Arial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kern="1200" dirty="0">
                            <a:solidFill>
                              <a:schemeClr val="tx1"/>
                            </a:solidFill>
                            <a:latin typeface="Arial" charset="0"/>
                            <a:ea typeface="+mn-ea"/>
                            <a:cs typeface="Arial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kern="1200" dirty="0">
                            <a:solidFill>
                              <a:schemeClr val="tx1"/>
                            </a:solidFill>
                            <a:latin typeface="Arial" charset="0"/>
                            <a:ea typeface="+mn-ea"/>
                            <a:cs typeface="Arial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01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kern="1200" dirty="0">
                            <a:solidFill>
                              <a:schemeClr val="tx1"/>
                            </a:solidFill>
                            <a:latin typeface="Arial" charset="0"/>
                            <a:ea typeface="+mn-ea"/>
                            <a:cs typeface="Arial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Arial" charset="0"/>
                                  </a:rPr>
                                  <m:t>𝜙</m:t>
                                </m:r>
                              </m:oMath>
                            </m:oMathPara>
                          </a14:m>
                          <a:endParaRPr lang="en-US" kern="1200" dirty="0">
                            <a:solidFill>
                              <a:schemeClr val="tx1"/>
                            </a:solidFill>
                            <a:latin typeface="Arial" charset="0"/>
                            <a:ea typeface="+mn-ea"/>
                            <a:cs typeface="Arial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kern="1200" dirty="0">
                            <a:solidFill>
                              <a:schemeClr val="tx1"/>
                            </a:solidFill>
                            <a:latin typeface="Arial" charset="0"/>
                            <a:ea typeface="+mn-ea"/>
                            <a:cs typeface="Arial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kern="1200" dirty="0">
                            <a:solidFill>
                              <a:schemeClr val="tx1"/>
                            </a:solidFill>
                            <a:latin typeface="Arial" charset="0"/>
                            <a:ea typeface="+mn-ea"/>
                            <a:cs typeface="Arial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kern="1200" dirty="0">
                            <a:solidFill>
                              <a:schemeClr val="tx1"/>
                            </a:solidFill>
                            <a:latin typeface="Arial" charset="0"/>
                            <a:ea typeface="+mn-ea"/>
                            <a:cs typeface="Arial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kern="1200" dirty="0">
                              <a:solidFill>
                                <a:schemeClr val="tx1"/>
                              </a:solidFill>
                              <a:latin typeface="Arial" charset="0"/>
                              <a:ea typeface="+mn-ea"/>
                              <a:cs typeface="Arial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kern="1200" dirty="0">
                              <a:solidFill>
                                <a:schemeClr val="tx1"/>
                              </a:solidFill>
                              <a:latin typeface="Arial" charset="0"/>
                              <a:ea typeface="+mn-ea"/>
                              <a:cs typeface="Arial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kern="1200" dirty="0">
                            <a:solidFill>
                              <a:schemeClr val="tx1"/>
                            </a:solidFill>
                            <a:latin typeface="Arial" charset="0"/>
                            <a:ea typeface="+mn-ea"/>
                            <a:cs typeface="Arial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kern="1200" dirty="0">
                            <a:solidFill>
                              <a:schemeClr val="tx1"/>
                            </a:solidFill>
                            <a:latin typeface="Arial" charset="0"/>
                            <a:ea typeface="+mn-ea"/>
                            <a:cs typeface="Arial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kern="1200" dirty="0">
                              <a:solidFill>
                                <a:schemeClr val="tx1"/>
                              </a:solidFill>
                              <a:latin typeface="Arial" charset="0"/>
                              <a:ea typeface="+mn-ea"/>
                              <a:cs typeface="Arial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kern="1200" dirty="0">
                            <a:solidFill>
                              <a:schemeClr val="tx1"/>
                            </a:solidFill>
                            <a:latin typeface="Arial" charset="0"/>
                            <a:ea typeface="+mn-ea"/>
                            <a:cs typeface="Arial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kern="1200" dirty="0">
                            <a:solidFill>
                              <a:schemeClr val="tx1"/>
                            </a:solidFill>
                            <a:latin typeface="Arial" charset="0"/>
                            <a:ea typeface="+mn-ea"/>
                            <a:cs typeface="Arial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59">
                <a:extLst>
                  <a:ext uri="{FF2B5EF4-FFF2-40B4-BE49-F238E27FC236}">
                    <a16:creationId xmlns:a16="http://schemas.microsoft.com/office/drawing/2014/main" id="{B4E6835F-0F3B-AD42-6343-1FE835BB32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2794895"/>
                  </p:ext>
                </p:extLst>
              </p:nvPr>
            </p:nvGraphicFramePr>
            <p:xfrm>
              <a:off x="762000" y="1295400"/>
              <a:ext cx="2667000" cy="2743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33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01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kern="1200" dirty="0">
                            <a:solidFill>
                              <a:schemeClr val="tx1"/>
                            </a:solidFill>
                            <a:latin typeface="Arial" charset="0"/>
                            <a:ea typeface="+mn-ea"/>
                            <a:cs typeface="Arial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kern="1200" dirty="0">
                            <a:solidFill>
                              <a:schemeClr val="tx1"/>
                            </a:solidFill>
                            <a:latin typeface="Arial" charset="0"/>
                            <a:ea typeface="+mn-ea"/>
                            <a:cs typeface="Arial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kern="1200" dirty="0">
                            <a:solidFill>
                              <a:schemeClr val="tx1"/>
                            </a:solidFill>
                            <a:latin typeface="Arial" charset="0"/>
                            <a:ea typeface="+mn-ea"/>
                            <a:cs typeface="Arial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kern="1200" dirty="0">
                            <a:solidFill>
                              <a:schemeClr val="tx1"/>
                            </a:solidFill>
                            <a:latin typeface="Arial" charset="0"/>
                            <a:ea typeface="+mn-ea"/>
                            <a:cs typeface="Arial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01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kern="1200" dirty="0">
                            <a:solidFill>
                              <a:schemeClr val="tx1"/>
                            </a:solidFill>
                            <a:latin typeface="Arial" charset="0"/>
                            <a:ea typeface="+mn-ea"/>
                            <a:cs typeface="Arial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8864" t="-197802" r="-20113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kern="1200" dirty="0">
                            <a:solidFill>
                              <a:schemeClr val="tx1"/>
                            </a:solidFill>
                            <a:latin typeface="Arial" charset="0"/>
                            <a:ea typeface="+mn-ea"/>
                            <a:cs typeface="Arial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kern="1200" dirty="0">
                            <a:solidFill>
                              <a:schemeClr val="tx1"/>
                            </a:solidFill>
                            <a:latin typeface="Arial" charset="0"/>
                            <a:ea typeface="+mn-ea"/>
                            <a:cs typeface="Arial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kern="1200" dirty="0">
                            <a:solidFill>
                              <a:schemeClr val="tx1"/>
                            </a:solidFill>
                            <a:latin typeface="Arial" charset="0"/>
                            <a:ea typeface="+mn-ea"/>
                            <a:cs typeface="Arial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kern="1200" dirty="0">
                              <a:solidFill>
                                <a:schemeClr val="tx1"/>
                              </a:solidFill>
                              <a:latin typeface="Arial" charset="0"/>
                              <a:ea typeface="+mn-ea"/>
                              <a:cs typeface="Arial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kern="1200" dirty="0">
                              <a:solidFill>
                                <a:schemeClr val="tx1"/>
                              </a:solidFill>
                              <a:latin typeface="Arial" charset="0"/>
                              <a:ea typeface="+mn-ea"/>
                              <a:cs typeface="Arial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kern="1200" dirty="0">
                            <a:solidFill>
                              <a:schemeClr val="tx1"/>
                            </a:solidFill>
                            <a:latin typeface="Arial" charset="0"/>
                            <a:ea typeface="+mn-ea"/>
                            <a:cs typeface="Arial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kern="1200" dirty="0">
                            <a:solidFill>
                              <a:schemeClr val="tx1"/>
                            </a:solidFill>
                            <a:latin typeface="Arial" charset="0"/>
                            <a:ea typeface="+mn-ea"/>
                            <a:cs typeface="Arial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kern="1200" dirty="0">
                              <a:solidFill>
                                <a:schemeClr val="tx1"/>
                              </a:solidFill>
                              <a:latin typeface="Arial" charset="0"/>
                              <a:ea typeface="+mn-ea"/>
                              <a:cs typeface="Arial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kern="1200" dirty="0">
                            <a:solidFill>
                              <a:schemeClr val="tx1"/>
                            </a:solidFill>
                            <a:latin typeface="Arial" charset="0"/>
                            <a:ea typeface="+mn-ea"/>
                            <a:cs typeface="Arial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kern="1200" dirty="0">
                            <a:solidFill>
                              <a:schemeClr val="tx1"/>
                            </a:solidFill>
                            <a:latin typeface="Arial" charset="0"/>
                            <a:ea typeface="+mn-ea"/>
                            <a:cs typeface="Arial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5" name="Group 12">
            <a:extLst>
              <a:ext uri="{FF2B5EF4-FFF2-40B4-BE49-F238E27FC236}">
                <a16:creationId xmlns:a16="http://schemas.microsoft.com/office/drawing/2014/main" id="{5CC5281B-4449-622C-EF13-D52D95949A20}"/>
              </a:ext>
            </a:extLst>
          </p:cNvPr>
          <p:cNvGrpSpPr>
            <a:grpSpLocks/>
          </p:cNvGrpSpPr>
          <p:nvPr/>
        </p:nvGrpSpPr>
        <p:grpSpPr bwMode="auto">
          <a:xfrm>
            <a:off x="679450" y="1295400"/>
            <a:ext cx="695394" cy="597932"/>
            <a:chOff x="4876800" y="3200400"/>
            <a:chExt cx="695394" cy="597932"/>
          </a:xfrm>
        </p:grpSpPr>
        <p:cxnSp>
          <p:nvCxnSpPr>
            <p:cNvPr id="6" name="Straight Connector 60">
              <a:extLst>
                <a:ext uri="{FF2B5EF4-FFF2-40B4-BE49-F238E27FC236}">
                  <a16:creationId xmlns:a16="http://schemas.microsoft.com/office/drawing/2014/main" id="{9945DAD5-0920-1868-1229-01748EBDA41A}"/>
                </a:ext>
              </a:extLst>
            </p:cNvPr>
            <p:cNvCxnSpPr/>
            <p:nvPr/>
          </p:nvCxnSpPr>
          <p:spPr>
            <a:xfrm rot="10800000">
              <a:off x="4953000" y="3325813"/>
              <a:ext cx="541338" cy="4318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TextBox 61">
              <a:extLst>
                <a:ext uri="{FF2B5EF4-FFF2-40B4-BE49-F238E27FC236}">
                  <a16:creationId xmlns:a16="http://schemas.microsoft.com/office/drawing/2014/main" id="{F050DEAC-DB39-E58D-732A-33B61B60B9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5400" y="3200400"/>
              <a:ext cx="46679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he-IL" dirty="0" err="1"/>
                <a:t>wx</a:t>
              </a:r>
              <a:endParaRPr lang="en-US" altLang="he-IL" dirty="0"/>
            </a:p>
          </p:txBody>
        </p:sp>
        <p:sp>
          <p:nvSpPr>
            <p:cNvPr id="8" name="TextBox 62">
              <a:extLst>
                <a:ext uri="{FF2B5EF4-FFF2-40B4-BE49-F238E27FC236}">
                  <a16:creationId xmlns:a16="http://schemas.microsoft.com/office/drawing/2014/main" id="{0A223E6E-1FD2-E37D-D831-F402959F2C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800" y="3429000"/>
              <a:ext cx="4154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he-IL" dirty="0" err="1"/>
                <a:t>yz</a:t>
              </a:r>
              <a:endParaRPr lang="en-US" altLang="he-IL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תיבת טקסט 8">
                <a:extLst>
                  <a:ext uri="{FF2B5EF4-FFF2-40B4-BE49-F238E27FC236}">
                    <a16:creationId xmlns:a16="http://schemas.microsoft.com/office/drawing/2014/main" id="{6995219E-D582-8BFA-46D2-59FEAC1AEA0A}"/>
                  </a:ext>
                </a:extLst>
              </p:cNvPr>
              <p:cNvSpPr txBox="1"/>
              <p:nvPr/>
            </p:nvSpPr>
            <p:spPr>
              <a:xfrm>
                <a:off x="4203452" y="2426428"/>
                <a:ext cx="4205535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𝑥𝑦𝑧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9" name="תיבת טקסט 8">
                <a:extLst>
                  <a:ext uri="{FF2B5EF4-FFF2-40B4-BE49-F238E27FC236}">
                    <a16:creationId xmlns:a16="http://schemas.microsoft.com/office/drawing/2014/main" id="{6995219E-D582-8BFA-46D2-59FEAC1AE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452" y="2426428"/>
                <a:ext cx="4205535" cy="369332"/>
              </a:xfrm>
              <a:prstGeom prst="rect">
                <a:avLst/>
              </a:prstGeom>
              <a:blipFill>
                <a:blip r:embed="rId3"/>
                <a:stretch>
                  <a:fillRect t="-6667" r="-302" b="-2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580DE415-9518-7C6C-E39A-21D266106E7A}"/>
              </a:ext>
            </a:extLst>
          </p:cNvPr>
          <p:cNvSpPr txBox="1"/>
          <p:nvPr/>
        </p:nvSpPr>
        <p:spPr>
          <a:xfrm>
            <a:off x="3429000" y="2895600"/>
            <a:ext cx="50292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/>
              <a:t>מאחר ועלינו לממש שער </a:t>
            </a:r>
            <a:r>
              <a:rPr lang="en-US" dirty="0"/>
              <a:t>NOT</a:t>
            </a:r>
            <a:r>
              <a:rPr lang="he-IL" dirty="0"/>
              <a:t> לא נוכל לממש את הפונקציה הנתונה ללא בוררים כלל.</a:t>
            </a:r>
          </a:p>
        </p:txBody>
      </p:sp>
    </p:spTree>
    <p:extLst>
      <p:ext uri="{BB962C8B-B14F-4D97-AF65-F5344CB8AC3E}">
        <p14:creationId xmlns:p14="http://schemas.microsoft.com/office/powerpoint/2010/main" val="7820622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F7A322F1-F96D-DDE9-D067-101DDF4C1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C1CFE4-12F2-4AE4-B857-A6FE449BFC7A}" type="slidenum">
              <a:rPr lang="en-US" altLang="he-IL" smtClean="0"/>
              <a:pPr>
                <a:defRPr/>
              </a:pPr>
              <a:t>62</a:t>
            </a:fld>
            <a:endParaRPr lang="en-US" alt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מלבן 3">
                <a:extLst>
                  <a:ext uri="{FF2B5EF4-FFF2-40B4-BE49-F238E27FC236}">
                    <a16:creationId xmlns:a16="http://schemas.microsoft.com/office/drawing/2014/main" id="{3ED1FE6D-CC2A-F78C-FC38-96C6FF883AD2}"/>
                  </a:ext>
                </a:extLst>
              </p:cNvPr>
              <p:cNvSpPr/>
              <p:nvPr/>
            </p:nvSpPr>
            <p:spPr>
              <a:xfrm>
                <a:off x="2171532" y="1031108"/>
                <a:ext cx="1600197" cy="97270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en-US" dirty="0"/>
                  <a:t>Decoder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→4</m:t>
                    </m:r>
                  </m:oMath>
                </a14:m>
                <a:endParaRPr lang="he-IL" dirty="0"/>
              </a:p>
            </p:txBody>
          </p:sp>
        </mc:Choice>
        <mc:Fallback xmlns="">
          <p:sp>
            <p:nvSpPr>
              <p:cNvPr id="4" name="מלבן 3">
                <a:extLst>
                  <a:ext uri="{FF2B5EF4-FFF2-40B4-BE49-F238E27FC236}">
                    <a16:creationId xmlns:a16="http://schemas.microsoft.com/office/drawing/2014/main" id="{3ED1FE6D-CC2A-F78C-FC38-96C6FF883A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532" y="1031108"/>
                <a:ext cx="1600197" cy="972708"/>
              </a:xfrm>
              <a:prstGeom prst="rect">
                <a:avLst/>
              </a:prstGeom>
              <a:blipFill>
                <a:blip r:embed="rId2"/>
                <a:stretch>
                  <a:fillRect l="-263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מחבר חץ ישר 4">
            <a:extLst>
              <a:ext uri="{FF2B5EF4-FFF2-40B4-BE49-F238E27FC236}">
                <a16:creationId xmlns:a16="http://schemas.microsoft.com/office/drawing/2014/main" id="{2CDDF580-24ED-CC57-FD05-86F71188A9A6}"/>
              </a:ext>
            </a:extLst>
          </p:cNvPr>
          <p:cNvCxnSpPr/>
          <p:nvPr/>
        </p:nvCxnSpPr>
        <p:spPr>
          <a:xfrm>
            <a:off x="1409532" y="1336839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מחבר חץ ישר 5">
            <a:extLst>
              <a:ext uri="{FF2B5EF4-FFF2-40B4-BE49-F238E27FC236}">
                <a16:creationId xmlns:a16="http://schemas.microsoft.com/office/drawing/2014/main" id="{26045792-BA07-1841-E5CD-548DB30C3416}"/>
              </a:ext>
            </a:extLst>
          </p:cNvPr>
          <p:cNvCxnSpPr/>
          <p:nvPr/>
        </p:nvCxnSpPr>
        <p:spPr>
          <a:xfrm>
            <a:off x="1409532" y="1702128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תיבת טקסט 6">
                <a:extLst>
                  <a:ext uri="{FF2B5EF4-FFF2-40B4-BE49-F238E27FC236}">
                    <a16:creationId xmlns:a16="http://schemas.microsoft.com/office/drawing/2014/main" id="{7061C634-9813-EE93-767A-B577A33EF204}"/>
                  </a:ext>
                </a:extLst>
              </p:cNvPr>
              <p:cNvSpPr txBox="1"/>
              <p:nvPr/>
            </p:nvSpPr>
            <p:spPr>
              <a:xfrm>
                <a:off x="1028532" y="1087759"/>
                <a:ext cx="403507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" name="תיבת טקסט 6">
                <a:extLst>
                  <a:ext uri="{FF2B5EF4-FFF2-40B4-BE49-F238E27FC236}">
                    <a16:creationId xmlns:a16="http://schemas.microsoft.com/office/drawing/2014/main" id="{7061C634-9813-EE93-767A-B577A33EF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532" y="1087759"/>
                <a:ext cx="40350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תיבת טקסט 7">
                <a:extLst>
                  <a:ext uri="{FF2B5EF4-FFF2-40B4-BE49-F238E27FC236}">
                    <a16:creationId xmlns:a16="http://schemas.microsoft.com/office/drawing/2014/main" id="{8A973AC9-7059-D20D-72C2-AC60144DA0D3}"/>
                  </a:ext>
                </a:extLst>
              </p:cNvPr>
              <p:cNvSpPr txBox="1"/>
              <p:nvPr/>
            </p:nvSpPr>
            <p:spPr>
              <a:xfrm>
                <a:off x="1028532" y="1517462"/>
                <a:ext cx="403508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" name="תיבת טקסט 7">
                <a:extLst>
                  <a:ext uri="{FF2B5EF4-FFF2-40B4-BE49-F238E27FC236}">
                    <a16:creationId xmlns:a16="http://schemas.microsoft.com/office/drawing/2014/main" id="{8A973AC9-7059-D20D-72C2-AC60144DA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532" y="1517462"/>
                <a:ext cx="40350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58DF46FE-7181-8235-CA79-D501A661DD1D}"/>
              </a:ext>
            </a:extLst>
          </p:cNvPr>
          <p:cNvCxnSpPr>
            <a:cxnSpLocks/>
          </p:cNvCxnSpPr>
          <p:nvPr/>
        </p:nvCxnSpPr>
        <p:spPr>
          <a:xfrm>
            <a:off x="3309031" y="2016206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מחבר חץ ישר 9">
            <a:extLst>
              <a:ext uri="{FF2B5EF4-FFF2-40B4-BE49-F238E27FC236}">
                <a16:creationId xmlns:a16="http://schemas.microsoft.com/office/drawing/2014/main" id="{A915179D-21C5-4755-BD84-78E1D32D3DE3}"/>
              </a:ext>
            </a:extLst>
          </p:cNvPr>
          <p:cNvCxnSpPr>
            <a:cxnSpLocks/>
          </p:cNvCxnSpPr>
          <p:nvPr/>
        </p:nvCxnSpPr>
        <p:spPr>
          <a:xfrm>
            <a:off x="3080431" y="2016206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AD29455B-2D07-158C-5356-C33180279377}"/>
              </a:ext>
            </a:extLst>
          </p:cNvPr>
          <p:cNvCxnSpPr>
            <a:cxnSpLocks/>
          </p:cNvCxnSpPr>
          <p:nvPr/>
        </p:nvCxnSpPr>
        <p:spPr>
          <a:xfrm>
            <a:off x="2816480" y="2016206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A43BD61C-5B49-4268-4C50-A296925421DC}"/>
              </a:ext>
            </a:extLst>
          </p:cNvPr>
          <p:cNvCxnSpPr>
            <a:cxnSpLocks/>
          </p:cNvCxnSpPr>
          <p:nvPr/>
        </p:nvCxnSpPr>
        <p:spPr>
          <a:xfrm>
            <a:off x="3502280" y="2016206"/>
            <a:ext cx="0" cy="1301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תיבת טקסט 16">
                <a:extLst>
                  <a:ext uri="{FF2B5EF4-FFF2-40B4-BE49-F238E27FC236}">
                    <a16:creationId xmlns:a16="http://schemas.microsoft.com/office/drawing/2014/main" id="{40DFB79B-E697-05F8-6706-F6CBFDE21999}"/>
                  </a:ext>
                </a:extLst>
              </p:cNvPr>
              <p:cNvSpPr txBox="1"/>
              <p:nvPr/>
            </p:nvSpPr>
            <p:spPr>
              <a:xfrm>
                <a:off x="3812858" y="1586343"/>
                <a:ext cx="3581400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𝑦𝑧𝑤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7" name="תיבת טקסט 16">
                <a:extLst>
                  <a:ext uri="{FF2B5EF4-FFF2-40B4-BE49-F238E27FC236}">
                    <a16:creationId xmlns:a16="http://schemas.microsoft.com/office/drawing/2014/main" id="{40DFB79B-E697-05F8-6706-F6CBFDE21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858" y="1586343"/>
                <a:ext cx="3581400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">
            <a:extLst>
              <a:ext uri="{FF2B5EF4-FFF2-40B4-BE49-F238E27FC236}">
                <a16:creationId xmlns:a16="http://schemas.microsoft.com/office/drawing/2014/main" id="{2D6F9DBA-25F0-D9C4-C3F3-1843FBCBD72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0" r="16283" b="69830"/>
          <a:stretch/>
        </p:blipFill>
        <p:spPr bwMode="auto">
          <a:xfrm rot="5400000">
            <a:off x="3128648" y="3387041"/>
            <a:ext cx="876294" cy="44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מחבר ישר 20">
            <a:extLst>
              <a:ext uri="{FF2B5EF4-FFF2-40B4-BE49-F238E27FC236}">
                <a16:creationId xmlns:a16="http://schemas.microsoft.com/office/drawing/2014/main" id="{BA131AD5-C272-5BBB-D7DF-F5BA8BCDD510}"/>
              </a:ext>
            </a:extLst>
          </p:cNvPr>
          <p:cNvCxnSpPr>
            <a:cxnSpLocks/>
          </p:cNvCxnSpPr>
          <p:nvPr/>
        </p:nvCxnSpPr>
        <p:spPr>
          <a:xfrm>
            <a:off x="3503295" y="3089206"/>
            <a:ext cx="0" cy="1461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תיבת טקסט 21">
                <a:extLst>
                  <a:ext uri="{FF2B5EF4-FFF2-40B4-BE49-F238E27FC236}">
                    <a16:creationId xmlns:a16="http://schemas.microsoft.com/office/drawing/2014/main" id="{6DFFC6BF-6568-58F7-598F-BA973CC2B9CD}"/>
                  </a:ext>
                </a:extLst>
              </p:cNvPr>
              <p:cNvSpPr txBox="1"/>
              <p:nvPr/>
            </p:nvSpPr>
            <p:spPr>
              <a:xfrm>
                <a:off x="3869432" y="3863236"/>
                <a:ext cx="39388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2" name="תיבת טקסט 21">
                <a:extLst>
                  <a:ext uri="{FF2B5EF4-FFF2-40B4-BE49-F238E27FC236}">
                    <a16:creationId xmlns:a16="http://schemas.microsoft.com/office/drawing/2014/main" id="{6DFFC6BF-6568-58F7-598F-BA973CC2B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432" y="3863236"/>
                <a:ext cx="39388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1">
            <a:extLst>
              <a:ext uri="{FF2B5EF4-FFF2-40B4-BE49-F238E27FC236}">
                <a16:creationId xmlns:a16="http://schemas.microsoft.com/office/drawing/2014/main" id="{821D4FB3-2C6C-0DF4-E07C-3EE29B2960C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0" r="16283" b="69830"/>
          <a:stretch/>
        </p:blipFill>
        <p:spPr bwMode="auto">
          <a:xfrm rot="5400000">
            <a:off x="3439247" y="4345737"/>
            <a:ext cx="876294" cy="44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9" name="מחבר: מרפקי 38">
            <a:extLst>
              <a:ext uri="{FF2B5EF4-FFF2-40B4-BE49-F238E27FC236}">
                <a16:creationId xmlns:a16="http://schemas.microsoft.com/office/drawing/2014/main" id="{9C77F4B8-7A52-8711-B76D-6845974E3A72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50616" y="3975741"/>
            <a:ext cx="295503" cy="217425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תיבת טקסט 40">
                <a:extLst>
                  <a:ext uri="{FF2B5EF4-FFF2-40B4-BE49-F238E27FC236}">
                    <a16:creationId xmlns:a16="http://schemas.microsoft.com/office/drawing/2014/main" id="{C5F3747A-B8C9-AD0C-529E-F05FB2DC9866}"/>
                  </a:ext>
                </a:extLst>
              </p:cNvPr>
              <p:cNvSpPr txBox="1"/>
              <p:nvPr/>
            </p:nvSpPr>
            <p:spPr>
              <a:xfrm>
                <a:off x="3502280" y="2926691"/>
                <a:ext cx="39388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1" name="תיבת טקסט 40">
                <a:extLst>
                  <a:ext uri="{FF2B5EF4-FFF2-40B4-BE49-F238E27FC236}">
                    <a16:creationId xmlns:a16="http://schemas.microsoft.com/office/drawing/2014/main" id="{C5F3747A-B8C9-AD0C-529E-F05FB2DC9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280" y="2926691"/>
                <a:ext cx="39388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2" name="Picture 1">
            <a:extLst>
              <a:ext uri="{FF2B5EF4-FFF2-40B4-BE49-F238E27FC236}">
                <a16:creationId xmlns:a16="http://schemas.microsoft.com/office/drawing/2014/main" id="{0B5E4D12-B3D5-B651-01D9-F329D9CD602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0" r="16283" b="69830"/>
          <a:stretch/>
        </p:blipFill>
        <p:spPr bwMode="auto">
          <a:xfrm rot="5400000">
            <a:off x="5458914" y="3469443"/>
            <a:ext cx="876294" cy="44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Picture 1">
            <a:extLst>
              <a:ext uri="{FF2B5EF4-FFF2-40B4-BE49-F238E27FC236}">
                <a16:creationId xmlns:a16="http://schemas.microsoft.com/office/drawing/2014/main" id="{229B2DA2-7E9F-C3CF-1016-424E9B36486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0" r="16283" b="69830"/>
          <a:stretch/>
        </p:blipFill>
        <p:spPr bwMode="auto">
          <a:xfrm rot="5400000">
            <a:off x="5085861" y="4345737"/>
            <a:ext cx="876294" cy="44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" name="תיבת טקסט 43">
                <a:extLst>
                  <a:ext uri="{FF2B5EF4-FFF2-40B4-BE49-F238E27FC236}">
                    <a16:creationId xmlns:a16="http://schemas.microsoft.com/office/drawing/2014/main" id="{DB3CA9B3-6825-4EFB-EC57-83C6F3BB4A09}"/>
                  </a:ext>
                </a:extLst>
              </p:cNvPr>
              <p:cNvSpPr txBox="1"/>
              <p:nvPr/>
            </p:nvSpPr>
            <p:spPr>
              <a:xfrm>
                <a:off x="5837184" y="2957775"/>
                <a:ext cx="39388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4" name="תיבת טקסט 43">
                <a:extLst>
                  <a:ext uri="{FF2B5EF4-FFF2-40B4-BE49-F238E27FC236}">
                    <a16:creationId xmlns:a16="http://schemas.microsoft.com/office/drawing/2014/main" id="{DB3CA9B3-6825-4EFB-EC57-83C6F3BB4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7184" y="2957775"/>
                <a:ext cx="39388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תיבת טקסט 44">
                <a:extLst>
                  <a:ext uri="{FF2B5EF4-FFF2-40B4-BE49-F238E27FC236}">
                    <a16:creationId xmlns:a16="http://schemas.microsoft.com/office/drawing/2014/main" id="{9CA3076A-1DE5-C9C6-0973-F9E099891D63}"/>
                  </a:ext>
                </a:extLst>
              </p:cNvPr>
              <p:cNvSpPr txBox="1"/>
              <p:nvPr/>
            </p:nvSpPr>
            <p:spPr>
              <a:xfrm>
                <a:off x="5637888" y="2957775"/>
                <a:ext cx="39388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5" name="תיבת טקסט 44">
                <a:extLst>
                  <a:ext uri="{FF2B5EF4-FFF2-40B4-BE49-F238E27FC236}">
                    <a16:creationId xmlns:a16="http://schemas.microsoft.com/office/drawing/2014/main" id="{9CA3076A-1DE5-C9C6-0973-F9E099891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888" y="2957775"/>
                <a:ext cx="39388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תיבת טקסט 45">
                <a:extLst>
                  <a:ext uri="{FF2B5EF4-FFF2-40B4-BE49-F238E27FC236}">
                    <a16:creationId xmlns:a16="http://schemas.microsoft.com/office/drawing/2014/main" id="{8F273981-277E-6A6C-FAC7-32F84ADA8214}"/>
                  </a:ext>
                </a:extLst>
              </p:cNvPr>
              <p:cNvSpPr txBox="1"/>
              <p:nvPr/>
            </p:nvSpPr>
            <p:spPr>
              <a:xfrm>
                <a:off x="5267562" y="3818175"/>
                <a:ext cx="477438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6" name="תיבת טקסט 45">
                <a:extLst>
                  <a:ext uri="{FF2B5EF4-FFF2-40B4-BE49-F238E27FC236}">
                    <a16:creationId xmlns:a16="http://schemas.microsoft.com/office/drawing/2014/main" id="{8F273981-277E-6A6C-FAC7-32F84ADA8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7562" y="3818175"/>
                <a:ext cx="47743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מחבר: מרפקי 58">
            <a:extLst>
              <a:ext uri="{FF2B5EF4-FFF2-40B4-BE49-F238E27FC236}">
                <a16:creationId xmlns:a16="http://schemas.microsoft.com/office/drawing/2014/main" id="{5E6EDC06-71CC-9340-7095-D67F533F3062}"/>
              </a:ext>
            </a:extLst>
          </p:cNvPr>
          <p:cNvCxnSpPr>
            <a:cxnSpLocks/>
          </p:cNvCxnSpPr>
          <p:nvPr/>
        </p:nvCxnSpPr>
        <p:spPr>
          <a:xfrm rot="5400000">
            <a:off x="5597546" y="3990559"/>
            <a:ext cx="351456" cy="280220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1" name="Picture 3">
            <a:extLst>
              <a:ext uri="{FF2B5EF4-FFF2-40B4-BE49-F238E27FC236}">
                <a16:creationId xmlns:a16="http://schemas.microsoft.com/office/drawing/2014/main" id="{4252DC5B-D733-5CA7-AF4A-AD3EE5AEBC9E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87" t="13" r="16387" b="73741"/>
          <a:stretch/>
        </p:blipFill>
        <p:spPr bwMode="auto">
          <a:xfrm rot="5400000">
            <a:off x="4422448" y="5796585"/>
            <a:ext cx="644227" cy="328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9" name="מחבר: מרפקי 68">
            <a:extLst>
              <a:ext uri="{FF2B5EF4-FFF2-40B4-BE49-F238E27FC236}">
                <a16:creationId xmlns:a16="http://schemas.microsoft.com/office/drawing/2014/main" id="{6757284E-29E9-789B-4A1D-71F2156782A5}"/>
              </a:ext>
            </a:extLst>
          </p:cNvPr>
          <p:cNvCxnSpPr>
            <a:cxnSpLocks/>
          </p:cNvCxnSpPr>
          <p:nvPr/>
        </p:nvCxnSpPr>
        <p:spPr>
          <a:xfrm rot="16200000" flipH="1">
            <a:off x="3868521" y="4892749"/>
            <a:ext cx="826528" cy="761832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מחבר: מרפקי 74">
            <a:extLst>
              <a:ext uri="{FF2B5EF4-FFF2-40B4-BE49-F238E27FC236}">
                <a16:creationId xmlns:a16="http://schemas.microsoft.com/office/drawing/2014/main" id="{E5E844BA-45F7-1E9F-E17F-44B449F8581F}"/>
              </a:ext>
            </a:extLst>
          </p:cNvPr>
          <p:cNvCxnSpPr>
            <a:cxnSpLocks/>
          </p:cNvCxnSpPr>
          <p:nvPr/>
        </p:nvCxnSpPr>
        <p:spPr>
          <a:xfrm rot="5400000">
            <a:off x="4787634" y="4923270"/>
            <a:ext cx="769364" cy="757954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תיבת טקסט 78">
            <a:extLst>
              <a:ext uri="{FF2B5EF4-FFF2-40B4-BE49-F238E27FC236}">
                <a16:creationId xmlns:a16="http://schemas.microsoft.com/office/drawing/2014/main" id="{47879E02-629B-19ED-23D7-2F1BF2C5BB1D}"/>
              </a:ext>
            </a:extLst>
          </p:cNvPr>
          <p:cNvSpPr txBox="1"/>
          <p:nvPr/>
        </p:nvSpPr>
        <p:spPr>
          <a:xfrm>
            <a:off x="3783903" y="899256"/>
            <a:ext cx="50292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/>
              <a:t>נממש שער </a:t>
            </a:r>
            <a:r>
              <a:rPr lang="en-US" dirty="0"/>
              <a:t>NOT</a:t>
            </a:r>
            <a:r>
              <a:rPr lang="he-IL" dirty="0"/>
              <a:t> באמצעות </a:t>
            </a:r>
            <a:r>
              <a:rPr lang="en-US" dirty="0"/>
              <a:t>Decoder</a:t>
            </a:r>
            <a:r>
              <a:rPr lang="he-IL" dirty="0"/>
              <a:t> ואת יתר המימוש נבצע באמצעות שערים לוגים</a:t>
            </a:r>
          </a:p>
        </p:txBody>
      </p:sp>
    </p:spTree>
    <p:extLst>
      <p:ext uri="{BB962C8B-B14F-4D97-AF65-F5344CB8AC3E}">
        <p14:creationId xmlns:p14="http://schemas.microsoft.com/office/powerpoint/2010/main" val="11522090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E2ACD078-13AC-0D25-C78D-932A5FEB7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C1CFE4-12F2-4AE4-B857-A6FE449BFC7A}" type="slidenum">
              <a:rPr lang="en-US" altLang="he-IL" smtClean="0"/>
              <a:pPr>
                <a:defRPr/>
              </a:pPr>
              <a:t>63</a:t>
            </a:fld>
            <a:endParaRPr lang="en-US" altLang="he-IL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EF72AC49-807D-3829-EC86-94011A9A8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71600"/>
            <a:ext cx="6620799" cy="39439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FD062DD-1DC8-6008-6732-B7B0F486A687}"/>
              </a:ext>
            </a:extLst>
          </p:cNvPr>
          <p:cNvSpPr txBox="1">
            <a:spLocks/>
          </p:cNvSpPr>
          <p:nvPr/>
        </p:nvSpPr>
        <p:spPr>
          <a:xfrm>
            <a:off x="1371600" y="398462"/>
            <a:ext cx="7543800" cy="8223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rtl="1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1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1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1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1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1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1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1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1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מועד ב' חורף 2025</a:t>
            </a:r>
            <a:endParaRPr lang="en-US" baseline="30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4990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F7D6-83E9-F270-C82E-48FB98AC3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0E8CB3D8-5A79-3812-D167-8BF470C34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C1CFE4-12F2-4AE4-B857-A6FE449BFC7A}" type="slidenum">
              <a:rPr lang="en-US" altLang="he-IL" smtClean="0"/>
              <a:pPr>
                <a:defRPr/>
              </a:pPr>
              <a:t>64</a:t>
            </a:fld>
            <a:endParaRPr lang="en-US" altLang="he-IL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34C78CB0-DD1D-9855-C578-20EA7C5F9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71600"/>
            <a:ext cx="6620799" cy="39439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F8C71B7-F909-DDAD-C35E-00B07B8C368C}"/>
              </a:ext>
            </a:extLst>
          </p:cNvPr>
          <p:cNvSpPr txBox="1">
            <a:spLocks/>
          </p:cNvSpPr>
          <p:nvPr/>
        </p:nvSpPr>
        <p:spPr>
          <a:xfrm>
            <a:off x="1371600" y="398462"/>
            <a:ext cx="7543800" cy="8223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rtl="1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1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1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1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1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1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1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1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1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he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מועד ב' חורף 2025</a:t>
            </a:r>
            <a:endParaRPr lang="en-US" baseline="30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5B5DCA2-398C-D07F-482F-823F116234D5}"/>
              </a:ext>
            </a:extLst>
          </p:cNvPr>
          <p:cNvSpPr/>
          <p:nvPr/>
        </p:nvSpPr>
        <p:spPr>
          <a:xfrm>
            <a:off x="5562600" y="4191000"/>
            <a:ext cx="3006007" cy="3048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86512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FABDF-34EE-9380-F6E4-41E5EF185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8A536C42-CA01-0D4E-6844-FBD9F504D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C1CFE4-12F2-4AE4-B857-A6FE449BFC7A}" type="slidenum">
              <a:rPr lang="en-US" altLang="he-IL" smtClean="0"/>
              <a:pPr>
                <a:defRPr/>
              </a:pPr>
              <a:t>65</a:t>
            </a:fld>
            <a:endParaRPr lang="en-US" altLang="he-IL"/>
          </a:p>
        </p:txBody>
      </p:sp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BD1BA321-A08A-0F5C-31E9-4A1ECBB34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051643"/>
              </p:ext>
            </p:extLst>
          </p:nvPr>
        </p:nvGraphicFramePr>
        <p:xfrm>
          <a:off x="457200" y="381000"/>
          <a:ext cx="4318000" cy="63042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863600">
                  <a:extLst>
                    <a:ext uri="{9D8B030D-6E8A-4147-A177-3AD203B41FA5}">
                      <a16:colId xmlns:a16="http://schemas.microsoft.com/office/drawing/2014/main" val="315313728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303157637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361862438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100469254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40138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Out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W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Z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W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Y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8940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981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851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2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465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707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789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127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740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002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342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051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374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284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385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842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51003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לבן 2">
                <a:extLst>
                  <a:ext uri="{FF2B5EF4-FFF2-40B4-BE49-F238E27FC236}">
                    <a16:creationId xmlns:a16="http://schemas.microsoft.com/office/drawing/2014/main" id="{8BE079CC-B740-FBEC-4083-74AFD5ECC4F7}"/>
                  </a:ext>
                </a:extLst>
              </p:cNvPr>
              <p:cNvSpPr/>
              <p:nvPr/>
            </p:nvSpPr>
            <p:spPr>
              <a:xfrm>
                <a:off x="6624639" y="2133600"/>
                <a:ext cx="1600197" cy="97270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en-US" dirty="0"/>
                  <a:t>Decoder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→4</m:t>
                    </m:r>
                  </m:oMath>
                </a14:m>
                <a:endParaRPr lang="he-IL" dirty="0"/>
              </a:p>
            </p:txBody>
          </p:sp>
        </mc:Choice>
        <mc:Fallback xmlns="">
          <p:sp>
            <p:nvSpPr>
              <p:cNvPr id="3" name="מלבן 2">
                <a:extLst>
                  <a:ext uri="{FF2B5EF4-FFF2-40B4-BE49-F238E27FC236}">
                    <a16:creationId xmlns:a16="http://schemas.microsoft.com/office/drawing/2014/main" id="{8BE079CC-B740-FBEC-4083-74AFD5ECC4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639" y="2133600"/>
                <a:ext cx="1600197" cy="972708"/>
              </a:xfrm>
              <a:prstGeom prst="rect">
                <a:avLst/>
              </a:prstGeom>
              <a:blipFill>
                <a:blip r:embed="rId2"/>
                <a:stretch>
                  <a:fillRect l="-301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מחבר חץ ישר 5">
            <a:extLst>
              <a:ext uri="{FF2B5EF4-FFF2-40B4-BE49-F238E27FC236}">
                <a16:creationId xmlns:a16="http://schemas.microsoft.com/office/drawing/2014/main" id="{C24E3AC8-160A-B405-67C1-CB57BEBA66D2}"/>
              </a:ext>
            </a:extLst>
          </p:cNvPr>
          <p:cNvCxnSpPr/>
          <p:nvPr/>
        </p:nvCxnSpPr>
        <p:spPr>
          <a:xfrm>
            <a:off x="5862639" y="2439331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מחבר חץ ישר 6">
            <a:extLst>
              <a:ext uri="{FF2B5EF4-FFF2-40B4-BE49-F238E27FC236}">
                <a16:creationId xmlns:a16="http://schemas.microsoft.com/office/drawing/2014/main" id="{37A03E20-9F44-DCE9-A1F3-B621D370A28B}"/>
              </a:ext>
            </a:extLst>
          </p:cNvPr>
          <p:cNvCxnSpPr/>
          <p:nvPr/>
        </p:nvCxnSpPr>
        <p:spPr>
          <a:xfrm>
            <a:off x="5862639" y="2804620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תיבת טקסט 7">
                <a:extLst>
                  <a:ext uri="{FF2B5EF4-FFF2-40B4-BE49-F238E27FC236}">
                    <a16:creationId xmlns:a16="http://schemas.microsoft.com/office/drawing/2014/main" id="{3C4D26FA-6301-B05C-DED7-865305A93D31}"/>
                  </a:ext>
                </a:extLst>
              </p:cNvPr>
              <p:cNvSpPr txBox="1"/>
              <p:nvPr/>
            </p:nvSpPr>
            <p:spPr>
              <a:xfrm>
                <a:off x="5481639" y="2190251"/>
                <a:ext cx="403507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" name="תיבת טקסט 7">
                <a:extLst>
                  <a:ext uri="{FF2B5EF4-FFF2-40B4-BE49-F238E27FC236}">
                    <a16:creationId xmlns:a16="http://schemas.microsoft.com/office/drawing/2014/main" id="{3C4D26FA-6301-B05C-DED7-865305A93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1639" y="2190251"/>
                <a:ext cx="40350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תיבת טקסט 8">
                <a:extLst>
                  <a:ext uri="{FF2B5EF4-FFF2-40B4-BE49-F238E27FC236}">
                    <a16:creationId xmlns:a16="http://schemas.microsoft.com/office/drawing/2014/main" id="{F78EB4DC-2CE9-AC61-867D-E5A4F41ED20E}"/>
                  </a:ext>
                </a:extLst>
              </p:cNvPr>
              <p:cNvSpPr txBox="1"/>
              <p:nvPr/>
            </p:nvSpPr>
            <p:spPr>
              <a:xfrm>
                <a:off x="5481639" y="2619954"/>
                <a:ext cx="477438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9" name="תיבת טקסט 8">
                <a:extLst>
                  <a:ext uri="{FF2B5EF4-FFF2-40B4-BE49-F238E27FC236}">
                    <a16:creationId xmlns:a16="http://schemas.microsoft.com/office/drawing/2014/main" id="{F78EB4DC-2CE9-AC61-867D-E5A4F41ED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1639" y="2619954"/>
                <a:ext cx="47743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מחבר חץ ישר 9">
            <a:extLst>
              <a:ext uri="{FF2B5EF4-FFF2-40B4-BE49-F238E27FC236}">
                <a16:creationId xmlns:a16="http://schemas.microsoft.com/office/drawing/2014/main" id="{A4255B49-9E54-1DA6-08FE-91DB6C83C665}"/>
              </a:ext>
            </a:extLst>
          </p:cNvPr>
          <p:cNvCxnSpPr>
            <a:cxnSpLocks/>
          </p:cNvCxnSpPr>
          <p:nvPr/>
        </p:nvCxnSpPr>
        <p:spPr>
          <a:xfrm>
            <a:off x="7762138" y="3118698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78B6CF57-0E92-8E64-4253-2286C5403029}"/>
              </a:ext>
            </a:extLst>
          </p:cNvPr>
          <p:cNvCxnSpPr>
            <a:cxnSpLocks/>
          </p:cNvCxnSpPr>
          <p:nvPr/>
        </p:nvCxnSpPr>
        <p:spPr>
          <a:xfrm>
            <a:off x="7533538" y="3118698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BBBCC69D-9858-017C-924D-62A9E135786B}"/>
              </a:ext>
            </a:extLst>
          </p:cNvPr>
          <p:cNvCxnSpPr>
            <a:cxnSpLocks/>
          </p:cNvCxnSpPr>
          <p:nvPr/>
        </p:nvCxnSpPr>
        <p:spPr>
          <a:xfrm>
            <a:off x="7269587" y="3118698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מחבר חץ ישר 12">
            <a:extLst>
              <a:ext uri="{FF2B5EF4-FFF2-40B4-BE49-F238E27FC236}">
                <a16:creationId xmlns:a16="http://schemas.microsoft.com/office/drawing/2014/main" id="{9C1E00A7-E5F0-25C2-B018-3DB822753A4D}"/>
              </a:ext>
            </a:extLst>
          </p:cNvPr>
          <p:cNvCxnSpPr>
            <a:cxnSpLocks/>
          </p:cNvCxnSpPr>
          <p:nvPr/>
        </p:nvCxnSpPr>
        <p:spPr>
          <a:xfrm>
            <a:off x="7031039" y="3118698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תיבת טקסט 13">
                <a:extLst>
                  <a:ext uri="{FF2B5EF4-FFF2-40B4-BE49-F238E27FC236}">
                    <a16:creationId xmlns:a16="http://schemas.microsoft.com/office/drawing/2014/main" id="{BF870D09-0002-89CA-F7C9-E9B05D141289}"/>
                  </a:ext>
                </a:extLst>
              </p:cNvPr>
              <p:cNvSpPr txBox="1"/>
              <p:nvPr/>
            </p:nvSpPr>
            <p:spPr>
              <a:xfrm>
                <a:off x="6794655" y="3669146"/>
                <a:ext cx="44672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4" name="תיבת טקסט 13">
                <a:extLst>
                  <a:ext uri="{FF2B5EF4-FFF2-40B4-BE49-F238E27FC236}">
                    <a16:creationId xmlns:a16="http://schemas.microsoft.com/office/drawing/2014/main" id="{BF870D09-0002-89CA-F7C9-E9B05D141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4655" y="3669146"/>
                <a:ext cx="446725" cy="369332"/>
              </a:xfrm>
              <a:prstGeom prst="rect">
                <a:avLst/>
              </a:prstGeom>
              <a:blipFill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תיבת טקסט 14">
                <a:extLst>
                  <a:ext uri="{FF2B5EF4-FFF2-40B4-BE49-F238E27FC236}">
                    <a16:creationId xmlns:a16="http://schemas.microsoft.com/office/drawing/2014/main" id="{51280C15-5450-1296-E2F1-3C62F4D5B3B4}"/>
                  </a:ext>
                </a:extLst>
              </p:cNvPr>
              <p:cNvSpPr txBox="1"/>
              <p:nvPr/>
            </p:nvSpPr>
            <p:spPr>
              <a:xfrm>
                <a:off x="6790492" y="4325362"/>
                <a:ext cx="126848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5" name="תיבת טקסט 14">
                <a:extLst>
                  <a:ext uri="{FF2B5EF4-FFF2-40B4-BE49-F238E27FC236}">
                    <a16:creationId xmlns:a16="http://schemas.microsoft.com/office/drawing/2014/main" id="{51280C15-5450-1296-E2F1-3C62F4D5B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492" y="4325362"/>
                <a:ext cx="1268489" cy="369332"/>
              </a:xfrm>
              <a:prstGeom prst="rect">
                <a:avLst/>
              </a:prstGeom>
              <a:blipFill>
                <a:blip r:embed="rId6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08535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6AF34-32E4-837A-1C35-0A0D42306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B90AD7C-A7B1-F226-34F7-E9112B4AB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68580" tIns="34290" rIns="68580" bIns="34290" rtlCol="0" anchor="b">
            <a:normAutofit/>
          </a:bodyPr>
          <a:lstStyle/>
          <a:p>
            <a:pPr algn="r"/>
            <a:r>
              <a:rPr lang="he-IL" dirty="0"/>
              <a:t>סיכום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1A8EB71-B6BC-30A6-E972-20334EF1C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905001"/>
            <a:ext cx="7543800" cy="4343400"/>
          </a:xfrm>
        </p:spPr>
        <p:txBody>
          <a:bodyPr>
            <a:normAutofit/>
          </a:bodyPr>
          <a:lstStyle/>
          <a:p>
            <a:pPr algn="r">
              <a:buFont typeface="Wingdings" panose="05000000000000000000" pitchFamily="2" charset="2"/>
              <a:buChar char="§"/>
            </a:pPr>
            <a:r>
              <a:rPr lang="he-IL" sz="2400" dirty="0"/>
              <a:t> </a:t>
            </a:r>
            <a:r>
              <a:rPr lang="en-US" sz="2400" dirty="0"/>
              <a:t>Half/Full Adder</a:t>
            </a:r>
          </a:p>
          <a:p>
            <a:pPr algn="r">
              <a:buFont typeface="Wingdings" panose="05000000000000000000" pitchFamily="2" charset="2"/>
              <a:buChar char="§"/>
            </a:pPr>
            <a:r>
              <a:rPr lang="en-US" sz="2400" dirty="0"/>
              <a:t> </a:t>
            </a:r>
            <a:r>
              <a:rPr lang="he-IL" sz="2400" dirty="0"/>
              <a:t> בורר –</a:t>
            </a:r>
            <a:r>
              <a:rPr lang="en-US" sz="2400" dirty="0"/>
              <a:t> MUX – Multiplexer </a:t>
            </a:r>
          </a:p>
          <a:p>
            <a:pPr algn="r">
              <a:buFont typeface="Wingdings" panose="05000000000000000000" pitchFamily="2" charset="2"/>
              <a:buChar char="§"/>
            </a:pPr>
            <a:r>
              <a:rPr lang="he-IL" sz="2400" dirty="0"/>
              <a:t> מפענח - </a:t>
            </a:r>
            <a:r>
              <a:rPr lang="en-US" sz="2400" dirty="0"/>
              <a:t>Decoder</a:t>
            </a:r>
          </a:p>
          <a:p>
            <a:pPr algn="r">
              <a:buFont typeface="Wingdings" panose="05000000000000000000" pitchFamily="2" charset="2"/>
              <a:buChar char="§"/>
            </a:pPr>
            <a:endParaRPr lang="en-US" sz="2400" dirty="0"/>
          </a:p>
          <a:p>
            <a:pPr algn="l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705688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247D4-34A3-A7CE-EC17-FE5FAE9CA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AB8F705-A869-A96C-3610-07D13840C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68580" tIns="34290" rIns="68580" bIns="34290" rtlCol="0" anchor="b">
            <a:normAutofit/>
          </a:bodyPr>
          <a:lstStyle/>
          <a:p>
            <a:pPr algn="r"/>
            <a:r>
              <a:rPr lang="he-IL" dirty="0"/>
              <a:t>שבוע הבא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EA3B015-17B9-00D1-2A94-75BB51CF9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905001"/>
            <a:ext cx="7543800" cy="43434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he-IL" sz="2400" dirty="0"/>
              <a:t> רכיבי זיכרון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Latch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Flip – Flop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e-IL" dirty="0"/>
              <a:t> חישובי זמנים</a:t>
            </a:r>
          </a:p>
        </p:txBody>
      </p:sp>
    </p:spTree>
    <p:extLst>
      <p:ext uri="{BB962C8B-B14F-4D97-AF65-F5344CB8AC3E}">
        <p14:creationId xmlns:p14="http://schemas.microsoft.com/office/powerpoint/2010/main" val="219210225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4500</TotalTime>
  <Words>1723</Words>
  <Application>Microsoft Macintosh PowerPoint</Application>
  <PresentationFormat>On-screen Show (4:3)</PresentationFormat>
  <Paragraphs>733</Paragraphs>
  <Slides>67</Slides>
  <Notes>58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67</vt:i4>
      </vt:variant>
    </vt:vector>
  </HeadingPairs>
  <TitlesOfParts>
    <vt:vector size="82" baseType="lpstr">
      <vt:lpstr>Arial</vt:lpstr>
      <vt:lpstr>Calibri</vt:lpstr>
      <vt:lpstr>Calibri Light</vt:lpstr>
      <vt:lpstr>Cambria Math</vt:lpstr>
      <vt:lpstr>Franklin Gothic Book</vt:lpstr>
      <vt:lpstr>Lucida Sans Unicode</vt:lpstr>
      <vt:lpstr>Symbol</vt:lpstr>
      <vt:lpstr>Times New Roman</vt:lpstr>
      <vt:lpstr>Wingdings</vt:lpstr>
      <vt:lpstr>Wingdings 2</vt:lpstr>
      <vt:lpstr>Wingdings 3</vt:lpstr>
      <vt:lpstr>Retrospect</vt:lpstr>
      <vt:lpstr>Equation</vt:lpstr>
      <vt:lpstr>Visio</vt:lpstr>
      <vt:lpstr>Bitmap Image</vt:lpstr>
      <vt:lpstr>תרגול 5  תכן לוגי</vt:lpstr>
      <vt:lpstr>שבוע שעבר (תזכורת)</vt:lpstr>
      <vt:lpstr>נושאים</vt:lpstr>
      <vt:lpstr>מוטיבציה</vt:lpstr>
      <vt:lpstr>Half  Adder</vt:lpstr>
      <vt:lpstr>Half  Adder</vt:lpstr>
      <vt:lpstr>Full  Adder</vt:lpstr>
      <vt:lpstr>Full  Adder</vt:lpstr>
      <vt:lpstr>Full  Adder</vt:lpstr>
      <vt:lpstr>Full  Adder</vt:lpstr>
      <vt:lpstr>Full-Adder כמערכת פעולות</vt:lpstr>
      <vt:lpstr>PowerPoint Presentation</vt:lpstr>
      <vt:lpstr>תרגיל</vt:lpstr>
      <vt:lpstr>תרגיל</vt:lpstr>
      <vt:lpstr>עוד שימושים</vt:lpstr>
      <vt:lpstr>עוד שימושים</vt:lpstr>
      <vt:lpstr>PowerPoint Presentation</vt:lpstr>
      <vt:lpstr>PowerPoint Presentation</vt:lpstr>
      <vt:lpstr>PowerPoint Presentation</vt:lpstr>
      <vt:lpstr>בורר</vt:lpstr>
      <vt:lpstr>מימוש פונקציות ע"י בוררים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מימוש פונק' של 4 משתנים ע"י  בוררים 1  4</vt:lpstr>
      <vt:lpstr>מימוש פונק' של 4 משתנים ע"י  בוררים 1  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דקודר (מפענח)</vt:lpstr>
      <vt:lpstr>מפענח</vt:lpstr>
      <vt:lpstr>מפענח</vt:lpstr>
      <vt:lpstr>מפענח</vt:lpstr>
      <vt:lpstr>מימוש פונקציות ע"י מפענחים</vt:lpstr>
      <vt:lpstr>ב. בעזרת מפענח 4→16 ושערים לוגיים:</vt:lpstr>
      <vt:lpstr>ב. בעזרת מפענח 4→16 ושערים לוגיים:</vt:lpstr>
      <vt:lpstr>ב. בעזרת מפענח 4→16 ושערים לוגיים:</vt:lpstr>
      <vt:lpstr>ב. בעזרת מפענח 4→16 ושערים לוגיים:</vt:lpstr>
      <vt:lpstr>מימוש ע"י דקודרים 164</vt:lpstr>
      <vt:lpstr>תרגיל (ממבחן)</vt:lpstr>
      <vt:lpstr>תרגיל (ממבחן)</vt:lpstr>
      <vt:lpstr>פתרון</vt:lpstr>
      <vt:lpstr>אביב 2017 מועד א'</vt:lpstr>
      <vt:lpstr>אביב 2017 מועד א'</vt:lpstr>
      <vt:lpstr>PowerPoint Presentation</vt:lpstr>
      <vt:lpstr>אביב 2017 מועד ב'</vt:lpstr>
      <vt:lpstr>אביב 2017 מועד ב'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סיכום</vt:lpstr>
      <vt:lpstr>שבוע הבא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תכן לוגי</dc:title>
  <dc:creator>na</dc:creator>
  <cp:lastModifiedBy>Ben Hanuka</cp:lastModifiedBy>
  <cp:revision>238</cp:revision>
  <cp:lastPrinted>2019-11-27T12:48:58Z</cp:lastPrinted>
  <dcterms:created xsi:type="dcterms:W3CDTF">2007-06-18T17:17:39Z</dcterms:created>
  <dcterms:modified xsi:type="dcterms:W3CDTF">2025-12-23T07:09:57Z</dcterms:modified>
</cp:coreProperties>
</file>