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1" r:id="rId1"/>
  </p:sldMasterIdLst>
  <p:notesMasterIdLst>
    <p:notesMasterId r:id="rId51"/>
  </p:notesMasterIdLst>
  <p:sldIdLst>
    <p:sldId id="256" r:id="rId2"/>
    <p:sldId id="342" r:id="rId3"/>
    <p:sldId id="341" r:id="rId4"/>
    <p:sldId id="257" r:id="rId5"/>
    <p:sldId id="288" r:id="rId6"/>
    <p:sldId id="322" r:id="rId7"/>
    <p:sldId id="258" r:id="rId8"/>
    <p:sldId id="321" r:id="rId9"/>
    <p:sldId id="323" r:id="rId10"/>
    <p:sldId id="319" r:id="rId11"/>
    <p:sldId id="324" r:id="rId12"/>
    <p:sldId id="325" r:id="rId13"/>
    <p:sldId id="330" r:id="rId14"/>
    <p:sldId id="260" r:id="rId15"/>
    <p:sldId id="261" r:id="rId16"/>
    <p:sldId id="264" r:id="rId17"/>
    <p:sldId id="331" r:id="rId18"/>
    <p:sldId id="265" r:id="rId19"/>
    <p:sldId id="332" r:id="rId20"/>
    <p:sldId id="276" r:id="rId21"/>
    <p:sldId id="277" r:id="rId22"/>
    <p:sldId id="278" r:id="rId23"/>
    <p:sldId id="280" r:id="rId24"/>
    <p:sldId id="326" r:id="rId25"/>
    <p:sldId id="333" r:id="rId26"/>
    <p:sldId id="290" r:id="rId27"/>
    <p:sldId id="283" r:id="rId28"/>
    <p:sldId id="284" r:id="rId29"/>
    <p:sldId id="327" r:id="rId30"/>
    <p:sldId id="286" r:id="rId31"/>
    <p:sldId id="334" r:id="rId32"/>
    <p:sldId id="335" r:id="rId33"/>
    <p:sldId id="293" r:id="rId34"/>
    <p:sldId id="294" r:id="rId35"/>
    <p:sldId id="295" r:id="rId36"/>
    <p:sldId id="296" r:id="rId37"/>
    <p:sldId id="297" r:id="rId38"/>
    <p:sldId id="300" r:id="rId39"/>
    <p:sldId id="301" r:id="rId40"/>
    <p:sldId id="302" r:id="rId41"/>
    <p:sldId id="303" r:id="rId42"/>
    <p:sldId id="338" r:id="rId43"/>
    <p:sldId id="298" r:id="rId44"/>
    <p:sldId id="339" r:id="rId45"/>
    <p:sldId id="340" r:id="rId46"/>
    <p:sldId id="270" r:id="rId47"/>
    <p:sldId id="299" r:id="rId48"/>
    <p:sldId id="336" r:id="rId49"/>
    <p:sldId id="337" r:id="rId50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8312"/>
    <a:srgbClr val="D5E1EF"/>
    <a:srgbClr val="C2D3E8"/>
    <a:srgbClr val="1D47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9" autoAdjust="0"/>
    <p:restoredTop sz="79751" autoAdjust="0"/>
  </p:normalViewPr>
  <p:slideViewPr>
    <p:cSldViewPr>
      <p:cViewPr varScale="1">
        <p:scale>
          <a:sx n="112" d="100"/>
          <a:sy n="112" d="100"/>
        </p:scale>
        <p:origin x="3000" y="1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7295897-A027-4ECB-8348-5D83A6A0B21C}" type="datetimeFigureOut">
              <a:rPr lang="he-IL" smtClean="0"/>
              <a:t>כ"ה.ניסן.תשפ"ו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E31ED46-7FB7-4668-A144-D0CF08306A1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67588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336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6755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630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1298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5749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 smtClean="0"/>
                  <a:t>לרשום על הלוח הגדרות ודוגמא:</a:t>
                </a:r>
              </a:p>
              <a:p>
                <a:pPr algn="l" rtl="0"/>
                <a:r>
                  <a:rPr lang="en-US" b="0" i="0" smtClean="0">
                    <a:latin typeface="Cambria Math" panose="02040503050406030204" pitchFamily="18" charset="0"/>
                  </a:rPr>
                  <a:t>(𝑑_(𝑛−1)…𝑑_2 𝑑_1 𝑑_0 )_𝑏=(𝑑_(𝑛−1) 𝑥𝑏^(𝑛−1)+…+〖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𝑑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_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2 𝑥𝑏^2+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𝑑〗_1 𝑥𝑏^1+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𝑑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_0 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𝑥𝑏^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0 )_10</a:t>
                </a:r>
                <a:endParaRPr lang="he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3225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0604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8004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8786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4632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11060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4415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1714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4161-B364-D2C3-654E-0EA0E2BFA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C848D-5DC5-0546-AEEF-DF94B757B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C80E8-98C3-51CF-CCD4-F4BD13D6F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04ADA-87D1-E908-40C3-B9AF4999A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6022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8850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524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4692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35184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7850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141A-B615-0BE5-1C2D-98507E03B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23691-4F04-8A3B-2F0A-E01AA5D01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B74B9-0E4B-DFBF-259F-2D2EA383D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18AF-D1A3-449F-AB95-D71989A7E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8044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34914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27228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89815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29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1896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2094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863C7-7003-0FEE-5985-7BA79A305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92651-27B4-0991-0761-9A28209FB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D84C4-A7A8-3515-246F-037735DB3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06B52-F36A-3D3C-6045-DBD776A3D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31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2602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B6D5-84DE-E5D5-CBA7-B62BFFDB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EC8F5-BC5B-58E3-FF45-122E03970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8320E-6B5A-2C4F-8FDF-6963F5BC0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FDA2D-E52B-3BC8-9365-D0BEA5A54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5738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34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1610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35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72724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36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4475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37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97484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38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45814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FCEAC-E4D0-46C2-94BC-978C9ADF3686}" type="slidenum">
              <a:rPr lang="he-IL" smtClean="0"/>
              <a:t>42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71270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43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5880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FCEAC-E4D0-46C2-94BC-978C9ADF3686}" type="slidenum">
              <a:rPr lang="he-IL" smtClean="0"/>
              <a:t>44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25574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FCEAC-E4D0-46C2-94BC-978C9ADF3686}" type="slidenum">
              <a:rPr lang="he-IL" smtClean="0"/>
              <a:t>46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80262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1ED46-7FB7-4668-A144-D0CF08306A14}" type="slidenum">
              <a:rPr lang="he-IL" smtClean="0"/>
              <a:t>47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7854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A78B5-AD3B-45F3-BD8D-293919201C5E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6783-C047-436F-8C14-5E8278605F9A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715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25AEB-601F-44D5-B9F8-80848A926371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00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6B884-5329-4D8F-8240-45240D98D8B9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656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9ED4-04DE-4D49-BA3C-08F8C69593FB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3242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A0B49-182D-4CB0-91AC-743581E94FCE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2390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36D0-69F3-4206-90F1-21A74A59ED92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269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2C94C876-E3BA-4E6C-A817-FAD4737B59B3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770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03C46-A830-480D-8B86-A88A7E8F0B80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0047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6AB0-D191-472B-A58D-71F55C3859F1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865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0ECD8-00C4-4BA5-8A0E-104BFAFDA537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2155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7887728-6107-412C-8E25-FACE4E4F1D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A2BD9A1-C450-44EE-BA4C-E7135871E7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32CAFE8-CB3B-49E6-B048-51AD0D506F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C3A2E-1544-424F-AE61-6C5A04BD5C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220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47250-808D-4105-BBCD-3BAD318A2BA3}" type="datetime8">
              <a:rPr lang="he-IL" smtClean="0"/>
              <a:t>12 באפריל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05726DF-CA30-4C16-9A99-4C088F3CDAA0}" type="slidenum">
              <a:rPr lang="he-IL" smtClean="0"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643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1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r" defTabSz="914400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1.png"/><Relationship Id="rId4" Type="http://schemas.openxmlformats.org/officeDocument/2006/relationships/image" Target="../media/image1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demofox.org/2017/11/21/floating-point-precision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8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</a:t>
            </a:fld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980728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he-IL" sz="80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מערכות ספרתיות</a:t>
            </a:r>
            <a:br>
              <a:rPr lang="he-IL" sz="80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he-IL" sz="80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ומבנה המחשב</a:t>
            </a:r>
            <a:r>
              <a:rPr lang="he-IL" sz="8000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099343" y="2714873"/>
            <a:ext cx="6945313" cy="3744913"/>
          </a:xfrm>
        </p:spPr>
        <p:txBody>
          <a:bodyPr>
            <a:normAutofit/>
          </a:bodyPr>
          <a:lstStyle/>
          <a:p>
            <a:pPr algn="ctr"/>
            <a:r>
              <a:rPr lang="he-IL" sz="4000" b="1" dirty="0"/>
              <a:t>תרגול 1</a:t>
            </a:r>
          </a:p>
          <a:p>
            <a:endParaRPr lang="he-IL" sz="4000" b="1" dirty="0"/>
          </a:p>
          <a:p>
            <a:pPr algn="ctr"/>
            <a:r>
              <a:rPr lang="he-IL" sz="4000" b="1" dirty="0"/>
              <a:t>ייצוג מספרים</a:t>
            </a:r>
          </a:p>
          <a:p>
            <a:pPr algn="ctr"/>
            <a:r>
              <a:rPr lang="he-IL" sz="4000" b="1" dirty="0"/>
              <a:t>קודים לקידוד ספרות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870" y="5949280"/>
            <a:ext cx="422166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Ben Hanuka, 2025, Based on Maroun Tork</a:t>
            </a:r>
            <a:endParaRPr lang="he-IL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253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E1A36-1D52-1401-00DA-EB0A0B489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738E-5849-6947-0F10-EB3E75CE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כמה מילים לפני שמתחילים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99D23-46C8-AC59-4684-48FD5B77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2</a:t>
            </a:fld>
            <a:endParaRPr lang="he-IL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0FD9CA-9A8C-A229-EA44-7BBC0A4F0DDA}"/>
              </a:ext>
            </a:extLst>
          </p:cNvPr>
          <p:cNvSpPr txBox="1">
            <a:spLocks/>
          </p:cNvSpPr>
          <p:nvPr/>
        </p:nvSpPr>
        <p:spPr>
          <a:xfrm>
            <a:off x="971601" y="2492896"/>
            <a:ext cx="7543801" cy="223224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91440" indent="-91440" algn="r" defTabSz="914400" rtl="1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he-IL" sz="3200" b="1" dirty="0"/>
              <a:t> הוראה פרונטלית ברגע שפקע״ר </a:t>
            </a:r>
            <a:r>
              <a:rPr lang="he-IL" sz="3200" b="1" dirty="0" err="1"/>
              <a:t>ייאשר</a:t>
            </a:r>
            <a:endParaRPr lang="he-IL" sz="3200" b="1" dirty="0"/>
          </a:p>
          <a:p>
            <a:pPr>
              <a:buFont typeface="Wingdings" pitchFamily="2" charset="2"/>
              <a:buChar char="§"/>
            </a:pPr>
            <a:r>
              <a:rPr lang="he-IL" sz="3200" b="1" dirty="0"/>
              <a:t> מילואים – יינתן מענה. דברו איתי</a:t>
            </a:r>
          </a:p>
          <a:p>
            <a:pPr>
              <a:buFont typeface="Wingdings" pitchFamily="2" charset="2"/>
              <a:buChar char="§"/>
            </a:pPr>
            <a:r>
              <a:rPr lang="he-IL" sz="3200" b="1" dirty="0"/>
              <a:t> נהלים </a:t>
            </a:r>
            <a:r>
              <a:rPr lang="he-IL" sz="3200" b="1" dirty="0" err="1"/>
              <a:t>בmoodle</a:t>
            </a:r>
            <a:r>
              <a:rPr lang="he-IL" sz="3200" b="1" dirty="0"/>
              <a:t> בדף המידע של הקורס</a:t>
            </a:r>
          </a:p>
          <a:p>
            <a:pPr>
              <a:buFont typeface="Wingdings" pitchFamily="2" charset="2"/>
              <a:buChar char="§"/>
            </a:pPr>
            <a:r>
              <a:rPr lang="he-IL" sz="3200" b="1" dirty="0"/>
              <a:t> בחנים שבועיים </a:t>
            </a:r>
            <a:r>
              <a:rPr lang="he-IL" sz="3200" b="1" dirty="0" err="1"/>
              <a:t>בmoodle</a:t>
            </a:r>
            <a:endParaRPr lang="he-IL" sz="3200" b="1" dirty="0"/>
          </a:p>
        </p:txBody>
      </p:sp>
    </p:spTree>
    <p:extLst>
      <p:ext uri="{BB962C8B-B14F-4D97-AF65-F5344CB8AC3E}">
        <p14:creationId xmlns:p14="http://schemas.microsoft.com/office/powerpoint/2010/main" val="4047577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0B2A4-317D-A192-A85B-FF67F399F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5892-FA4A-0EB9-19AB-18A0DAB4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שיעורי בית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6EA33-AF43-518A-BA54-58E1D31B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3</a:t>
            </a:fld>
            <a:endParaRPr lang="he-IL"/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C818A685-3DE7-5FD1-CBF5-D8B9EDBCF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3512877"/>
            <a:ext cx="2873675" cy="928785"/>
          </a:xfrm>
          <a:prstGeom prst="rect">
            <a:avLst/>
          </a:prstGeom>
        </p:spPr>
      </p:pic>
      <p:pic>
        <p:nvPicPr>
          <p:cNvPr id="12" name="תמונה 11" descr="תמונה שמכילה טקסט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DC9C8BFF-A90A-3234-CC5D-6FE044CD4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37" y="1844822"/>
            <a:ext cx="5755392" cy="426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30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he-IL" dirty="0"/>
              <a:t>נושאים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he-IL" sz="3200" dirty="0"/>
              <a:t> ייצוג מספרים טבעיים</a:t>
            </a:r>
          </a:p>
          <a:p>
            <a:pPr>
              <a:buFont typeface="Wingdings" pitchFamily="2" charset="2"/>
              <a:buChar char="§"/>
            </a:pPr>
            <a:r>
              <a:rPr lang="en-US" sz="3200" dirty="0"/>
              <a:t> </a:t>
            </a:r>
            <a:r>
              <a:rPr lang="he-IL" sz="3200" dirty="0"/>
              <a:t>מעבר בין בסיסים</a:t>
            </a:r>
          </a:p>
          <a:p>
            <a:pPr>
              <a:buFont typeface="Wingdings" pitchFamily="2" charset="2"/>
              <a:buChar char="§"/>
            </a:pPr>
            <a:r>
              <a:rPr lang="he-IL" sz="3200" dirty="0"/>
              <a:t> אריתמטיקה</a:t>
            </a:r>
          </a:p>
          <a:p>
            <a:pPr>
              <a:buFont typeface="Wingdings" pitchFamily="2" charset="2"/>
              <a:buChar char="§"/>
            </a:pPr>
            <a:r>
              <a:rPr lang="en-US" sz="3200" dirty="0"/>
              <a:t> </a:t>
            </a:r>
            <a:r>
              <a:rPr lang="he-IL" sz="3200" dirty="0"/>
              <a:t>ייצוג מספרים שליליים בשיטת המשלים ל-2</a:t>
            </a:r>
          </a:p>
          <a:p>
            <a:pPr>
              <a:buFont typeface="Wingdings" pitchFamily="2" charset="2"/>
              <a:buChar char="§"/>
            </a:pPr>
            <a:r>
              <a:rPr lang="he-IL" sz="3200" dirty="0"/>
              <a:t> נקודה צפה – </a:t>
            </a:r>
            <a:r>
              <a:rPr lang="en-US" sz="3200" dirty="0"/>
              <a:t>floating point</a:t>
            </a:r>
          </a:p>
          <a:p>
            <a:pPr>
              <a:buFont typeface="Wingdings" pitchFamily="2" charset="2"/>
              <a:buChar char="§"/>
            </a:pPr>
            <a:r>
              <a:rPr lang="he-IL" sz="3200" dirty="0"/>
              <a:t> קודים בינאריים לקידוד ספרות בבסיס 10</a:t>
            </a:r>
          </a:p>
          <a:p>
            <a:pPr>
              <a:buFont typeface="Wingdings" pitchFamily="2" charset="2"/>
              <a:buChar char="§"/>
            </a:pPr>
            <a:r>
              <a:rPr lang="he-IL" sz="3200" dirty="0"/>
              <a:t> קודים </a:t>
            </a:r>
            <a:r>
              <a:rPr lang="he-IL" sz="3200" dirty="0" err="1"/>
              <a:t>ציקליים</a:t>
            </a:r>
            <a:endParaRPr lang="he-IL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040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B8D6-8922-4CF8-BF6F-410BAA2F2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מוטיבציה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C1CFB-1FEF-4F76-8ACA-F218C4BC1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132856"/>
            <a:ext cx="8229600" cy="4983162"/>
          </a:xfrm>
        </p:spPr>
        <p:txBody>
          <a:bodyPr>
            <a:normAutofit/>
          </a:bodyPr>
          <a:lstStyle/>
          <a:p>
            <a:r>
              <a:rPr lang="he-IL" dirty="0"/>
              <a:t>נולדנו עם עשר אצבעות בידיים. כיצד עולם המספרים שלנו היה נראה עם שְׁמוֹנֶה אצבעות?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למחשב אין אצבעות... איך עוד נוכל ״ללמד אותו״ לספור?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52885-3F2A-4D79-9233-0CB18062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5</a:t>
            </a:fld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D53C9A-5E04-4348-9083-EFB09ABB37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732" y="2780928"/>
            <a:ext cx="4824536" cy="27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8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dirty="0"/>
              <a:t>בסיס עשרוני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6</a:t>
            </a:fld>
            <a:endParaRPr lang="he-IL"/>
          </a:p>
        </p:txBody>
      </p:sp>
      <p:sp>
        <p:nvSpPr>
          <p:cNvPr id="5" name="TextBox 4"/>
          <p:cNvSpPr txBox="1"/>
          <p:nvPr/>
        </p:nvSpPr>
        <p:spPr>
          <a:xfrm>
            <a:off x="-180528" y="2014472"/>
            <a:ext cx="233831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dirty="0"/>
              <a:t>(237)</a:t>
            </a:r>
            <a:r>
              <a:rPr lang="en-US" sz="4400" baseline="-25000" dirty="0"/>
              <a:t>10</a:t>
            </a:r>
            <a:endParaRPr lang="he-IL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2102318" y="2032350"/>
            <a:ext cx="3910444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dirty="0"/>
              <a:t>= 2x</a:t>
            </a:r>
            <a:r>
              <a:rPr lang="en-US" sz="4400" dirty="0">
                <a:solidFill>
                  <a:srgbClr val="FF0000"/>
                </a:solidFill>
              </a:rPr>
              <a:t>100</a:t>
            </a:r>
            <a:r>
              <a:rPr lang="en-US" sz="4400" dirty="0"/>
              <a:t>+3x</a:t>
            </a:r>
            <a:r>
              <a:rPr lang="en-US" sz="4400" dirty="0">
                <a:solidFill>
                  <a:srgbClr val="FF0000"/>
                </a:solidFill>
              </a:rPr>
              <a:t>10</a:t>
            </a:r>
            <a:r>
              <a:rPr lang="en-US" sz="4400" dirty="0"/>
              <a:t>+7</a:t>
            </a:r>
            <a:endParaRPr lang="he-IL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116" y="5296427"/>
                <a:ext cx="9144000" cy="53713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2800" b="1" dirty="0"/>
                  <a:t>מיקום</a:t>
                </a:r>
                <a:r>
                  <a:rPr lang="he-IL" sz="2800" dirty="0"/>
                  <a:t> הספרה (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2800" dirty="0"/>
                  <a:t>) קובע את החזקה שתקבל: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he-IL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" y="5296427"/>
                <a:ext cx="9144000" cy="537135"/>
              </a:xfrm>
              <a:prstGeom prst="rect">
                <a:avLst/>
              </a:prstGeom>
              <a:blipFill>
                <a:blip r:embed="rId3"/>
                <a:stretch>
                  <a:fillRect t="-11628" b="-2790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467544" y="2799020"/>
            <a:ext cx="8349684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400" dirty="0"/>
              <a:t>= 2x</a:t>
            </a:r>
            <a:r>
              <a:rPr lang="en-US" sz="4400" dirty="0">
                <a:solidFill>
                  <a:srgbClr val="FF0000"/>
                </a:solidFill>
              </a:rPr>
              <a:t>10</a:t>
            </a:r>
            <a:r>
              <a:rPr lang="en-US" sz="4400" baseline="30000" dirty="0"/>
              <a:t>2</a:t>
            </a:r>
            <a:r>
              <a:rPr lang="en-US" sz="4400" dirty="0"/>
              <a:t>+3x</a:t>
            </a:r>
            <a:r>
              <a:rPr lang="en-US" sz="4400" dirty="0">
                <a:solidFill>
                  <a:srgbClr val="FF0000"/>
                </a:solidFill>
              </a:rPr>
              <a:t>10</a:t>
            </a:r>
            <a:r>
              <a:rPr lang="en-US" sz="4400" baseline="30000" dirty="0"/>
              <a:t>1</a:t>
            </a:r>
            <a:r>
              <a:rPr lang="en-US" sz="4400" dirty="0"/>
              <a:t>+7x</a:t>
            </a:r>
            <a:r>
              <a:rPr lang="en-US" sz="4400" dirty="0">
                <a:solidFill>
                  <a:srgbClr val="FF0000"/>
                </a:solidFill>
              </a:rPr>
              <a:t>10</a:t>
            </a:r>
            <a:r>
              <a:rPr lang="en-US" sz="4400" baseline="30000" dirty="0"/>
              <a:t>0</a:t>
            </a:r>
            <a:endParaRPr lang="he-IL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-6116" y="5832615"/>
                <a:ext cx="9144000" cy="53713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2800" b="1" dirty="0"/>
                  <a:t>בסיס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he-IL" sz="2800" b="1" dirty="0"/>
                  <a:t> </a:t>
                </a:r>
                <a14:m>
                  <m:oMath xmlns:m="http://schemas.openxmlformats.org/officeDocument/2006/math">
                    <m:r>
                      <a:rPr lang="he-IL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he-IL" sz="2800" dirty="0"/>
                  <a:t> מגדיר ״מה מעלים בחזקה״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he-IL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800" b="0" i="1"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he-IL" sz="2800" dirty="0"/>
                  <a:t> 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16" y="5832615"/>
                <a:ext cx="9144000" cy="537135"/>
              </a:xfrm>
              <a:prstGeom prst="rect">
                <a:avLst/>
              </a:prstGeom>
              <a:blipFill>
                <a:blip r:embed="rId4"/>
                <a:stretch>
                  <a:fillRect t="-9302" b="-302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5C97A6C-8D0B-C518-20BB-71918069D58D}"/>
              </a:ext>
            </a:extLst>
          </p:cNvPr>
          <p:cNvSpPr txBox="1"/>
          <p:nvPr/>
        </p:nvSpPr>
        <p:spPr>
          <a:xfrm>
            <a:off x="0" y="4713314"/>
            <a:ext cx="9144000" cy="5371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/>
              <a:t>מיקום (</a:t>
            </a:r>
            <a:r>
              <a:rPr lang="en-US" sz="2800" b="1" dirty="0" err="1"/>
              <a:t>i</a:t>
            </a:r>
            <a:r>
              <a:rPr lang="he-IL" sz="2800" b="1" dirty="0"/>
              <a:t>)</a:t>
            </a:r>
            <a:r>
              <a:rPr lang="he-IL" sz="2800" dirty="0"/>
              <a:t> ו – </a:t>
            </a:r>
            <a:r>
              <a:rPr lang="he-IL" sz="2800" b="1" dirty="0"/>
              <a:t>בסיס (</a:t>
            </a:r>
            <a:r>
              <a:rPr lang="en-US" sz="2800" b="1" dirty="0"/>
              <a:t>b</a:t>
            </a:r>
            <a:r>
              <a:rPr lang="he-IL" sz="2800" b="1" dirty="0"/>
              <a:t>) </a:t>
            </a:r>
            <a:r>
              <a:rPr lang="he-IL" sz="2800" dirty="0"/>
              <a:t>מגדירים </a:t>
            </a:r>
            <a:r>
              <a:rPr lang="he-IL" sz="2800" b="1" dirty="0"/>
              <a:t>משקל (</a:t>
            </a:r>
            <a:r>
              <a:rPr lang="en-US" sz="2800" b="1" dirty="0"/>
              <a:t>w</a:t>
            </a:r>
            <a:r>
              <a:rPr lang="he-IL" sz="2800" b="1" dirty="0"/>
              <a:t>)</a:t>
            </a:r>
            <a:endParaRPr lang="he-IL" sz="28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75E44E-21C7-B0AD-780B-93D274803D1B}"/>
              </a:ext>
            </a:extLst>
          </p:cNvPr>
          <p:cNvGrpSpPr/>
          <p:nvPr/>
        </p:nvGrpSpPr>
        <p:grpSpPr>
          <a:xfrm>
            <a:off x="2503349" y="3436439"/>
            <a:ext cx="4373078" cy="1178666"/>
            <a:chOff x="1263021" y="3424044"/>
            <a:chExt cx="4373078" cy="117866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FC4831C-758F-FE59-504C-B1BC523AA3B6}"/>
                </a:ext>
              </a:extLst>
            </p:cNvPr>
            <p:cNvGrpSpPr/>
            <p:nvPr/>
          </p:nvGrpSpPr>
          <p:grpSpPr>
            <a:xfrm>
              <a:off x="1263021" y="3429000"/>
              <a:ext cx="1499917" cy="1109980"/>
              <a:chOff x="179512" y="2852936"/>
              <a:chExt cx="3106263" cy="2298720"/>
            </a:xfrm>
          </p:grpSpPr>
          <p:pic>
            <p:nvPicPr>
              <p:cNvPr id="11270" name="Picture 6" descr="Image result for â«×©××¨ ×©× 100 ×©&quot;×â¬â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512" y="2852936"/>
                <a:ext cx="2760241" cy="15496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6" descr="Image result for â«×©××¨ ×©× 100 ×©&quot;×â¬â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5534" y="3601978"/>
                <a:ext cx="2760241" cy="15496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6B1F469-36D6-D3C5-1BFD-EF4D692370C2}"/>
                </a:ext>
              </a:extLst>
            </p:cNvPr>
            <p:cNvGrpSpPr/>
            <p:nvPr/>
          </p:nvGrpSpPr>
          <p:grpSpPr>
            <a:xfrm>
              <a:off x="2975119" y="3424044"/>
              <a:ext cx="980637" cy="1001820"/>
              <a:chOff x="2386506" y="3620499"/>
              <a:chExt cx="1634655" cy="1661240"/>
            </a:xfrm>
          </p:grpSpPr>
          <p:pic>
            <p:nvPicPr>
              <p:cNvPr id="11272" name="Picture 8" descr="Image result for â«××××¢ 10 ×©&quot;×â¬â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934" t="23855" r="15460" b="24971"/>
              <a:stretch/>
            </p:blipFill>
            <p:spPr bwMode="auto">
              <a:xfrm>
                <a:off x="2777456" y="4452046"/>
                <a:ext cx="791981" cy="8296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8" descr="Image result for â«××××¢ 10 ×©&quot;×â¬â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934" t="23855" r="15460" b="24971"/>
              <a:stretch/>
            </p:blipFill>
            <p:spPr bwMode="auto">
              <a:xfrm>
                <a:off x="2386506" y="3620499"/>
                <a:ext cx="791981" cy="8296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8" descr="Image result for â«××××¢ 10 ×©&quot;×â¬â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934" t="23855" r="15460" b="24971"/>
              <a:stretch/>
            </p:blipFill>
            <p:spPr bwMode="auto">
              <a:xfrm>
                <a:off x="3229180" y="3620499"/>
                <a:ext cx="791981" cy="8296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0" descr="Image result for â«××××¢ 1 ×©&quot;×â¬â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98" t="29176" r="16235" b="24302"/>
            <a:stretch/>
          </p:blipFill>
          <p:spPr bwMode="auto">
            <a:xfrm>
              <a:off x="4483569" y="3443491"/>
              <a:ext cx="334523" cy="352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mage result for â«××××¢ 1 ×©&quot;×â¬â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98" t="29176" r="16235" b="24302"/>
            <a:stretch/>
          </p:blipFill>
          <p:spPr bwMode="auto">
            <a:xfrm>
              <a:off x="4917911" y="3439927"/>
              <a:ext cx="334523" cy="352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0" descr="Image result for â«××××¢ 1 ×©&quot;×â¬â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98" t="29176" r="16235" b="24302"/>
            <a:stretch/>
          </p:blipFill>
          <p:spPr bwMode="auto">
            <a:xfrm>
              <a:off x="5301576" y="3856566"/>
              <a:ext cx="334523" cy="352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0" descr="Image result for â«××××¢ 1 ×©&quot;×â¬â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98" t="29176" r="16235" b="24302"/>
            <a:stretch/>
          </p:blipFill>
          <p:spPr bwMode="auto">
            <a:xfrm>
              <a:off x="5301575" y="3439926"/>
              <a:ext cx="334523" cy="352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0" descr="Image result for â«××××¢ 1 ×©&quot;×â¬â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98" t="29176" r="16235" b="24302"/>
            <a:stretch/>
          </p:blipFill>
          <p:spPr bwMode="auto">
            <a:xfrm>
              <a:off x="4929553" y="4250581"/>
              <a:ext cx="334523" cy="352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Image result for â«××××¢ 1 ×©&quot;×â¬â">
              <a:extLst>
                <a:ext uri="{FF2B5EF4-FFF2-40B4-BE49-F238E27FC236}">
                  <a16:creationId xmlns:a16="http://schemas.microsoft.com/office/drawing/2014/main" id="{6DDF8B05-32EF-68F0-C58F-2DD7981F8F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98" t="29176" r="16235" b="24302"/>
            <a:stretch/>
          </p:blipFill>
          <p:spPr bwMode="auto">
            <a:xfrm>
              <a:off x="4906642" y="3825162"/>
              <a:ext cx="334523" cy="352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0" descr="Image result for â«××××¢ 1 ×©&quot;×â¬â">
              <a:extLst>
                <a:ext uri="{FF2B5EF4-FFF2-40B4-BE49-F238E27FC236}">
                  <a16:creationId xmlns:a16="http://schemas.microsoft.com/office/drawing/2014/main" id="{A1AE653E-37E7-A078-5D8C-16C9018DC5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98" t="29176" r="16235" b="24302"/>
            <a:stretch/>
          </p:blipFill>
          <p:spPr bwMode="auto">
            <a:xfrm>
              <a:off x="4458709" y="3840176"/>
              <a:ext cx="334523" cy="352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8455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6" grpId="0"/>
      <p:bldP spid="22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spcBef>
                <a:spcPct val="20000"/>
              </a:spcBef>
            </a:pPr>
            <a:r>
              <a:rPr lang="he-IL" dirty="0">
                <a:latin typeface="+mn-lt"/>
                <a:ea typeface="+mn-ea"/>
              </a:rPr>
              <a:t>ייצוג מספרים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7524" y="2005236"/>
                <a:ext cx="8568952" cy="4637112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𝑁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he-IL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he-IL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he-IL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80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he-IL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N</a:t>
                </a:r>
                <a:r>
                  <a:rPr lang="he-IL" sz="2800" dirty="0">
                    <a:solidFill>
                      <a:schemeClr val="tx1"/>
                    </a:solidFill>
                  </a:rPr>
                  <a:t> – ערך המספר במספרים עשרוניים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b </a:t>
                </a:r>
                <a:r>
                  <a:rPr lang="he-IL" sz="2800" dirty="0">
                    <a:solidFill>
                      <a:schemeClr val="tx1"/>
                    </a:solidFill>
                  </a:rPr>
                  <a:t> – בסיס</a:t>
                </a:r>
              </a:p>
              <a:p>
                <a:r>
                  <a:rPr lang="en-US" sz="2800" dirty="0" err="1">
                    <a:solidFill>
                      <a:schemeClr val="tx1"/>
                    </a:solidFill>
                  </a:rPr>
                  <a:t>w</a:t>
                </a:r>
                <a:r>
                  <a:rPr lang="en-US" sz="2800" baseline="-25000" dirty="0" err="1">
                    <a:solidFill>
                      <a:schemeClr val="tx1"/>
                    </a:solidFill>
                  </a:rPr>
                  <a:t>i</a:t>
                </a:r>
                <a:r>
                  <a:rPr lang="he-IL" sz="2800" dirty="0">
                    <a:solidFill>
                      <a:schemeClr val="tx1"/>
                    </a:solidFill>
                  </a:rPr>
                  <a:t> – המשקל של הספרה ה-</a:t>
                </a:r>
                <a:r>
                  <a:rPr lang="en-US" sz="2800" dirty="0">
                    <a:solidFill>
                      <a:schemeClr val="tx1"/>
                    </a:solidFill>
                  </a:rPr>
                  <a:t>i</a:t>
                </a:r>
                <a:r>
                  <a:rPr lang="he-IL" sz="2800" dirty="0">
                    <a:solidFill>
                      <a:schemeClr val="tx1"/>
                    </a:solidFill>
                  </a:rPr>
                  <a:t>-</a:t>
                </a:r>
                <a:r>
                  <a:rPr lang="he-IL" sz="2800" dirty="0" err="1">
                    <a:solidFill>
                      <a:schemeClr val="tx1"/>
                    </a:solidFill>
                  </a:rPr>
                  <a:t>ית</a:t>
                </a:r>
                <a:r>
                  <a:rPr lang="he-IL" sz="28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he-IL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he-IL" sz="2800" dirty="0">
                    <a:solidFill>
                      <a:schemeClr val="tx1"/>
                    </a:solidFill>
                  </a:rPr>
                  <a:t>, 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d</a:t>
                </a:r>
                <a:r>
                  <a:rPr lang="en-US" sz="2800" baseline="-25000" dirty="0">
                    <a:solidFill>
                      <a:schemeClr val="tx1"/>
                    </a:solidFill>
                  </a:rPr>
                  <a:t>i</a:t>
                </a:r>
                <a:r>
                  <a:rPr lang="he-IL" sz="2800" dirty="0">
                    <a:solidFill>
                      <a:schemeClr val="tx1"/>
                    </a:solidFill>
                  </a:rPr>
                  <a:t> – הספרה ה-</a:t>
                </a:r>
                <a:r>
                  <a:rPr lang="en-US" sz="2800" dirty="0">
                    <a:solidFill>
                      <a:schemeClr val="tx1"/>
                    </a:solidFill>
                  </a:rPr>
                  <a:t>i</a:t>
                </a:r>
                <a:r>
                  <a:rPr lang="he-IL" sz="2800" dirty="0">
                    <a:solidFill>
                      <a:schemeClr val="tx1"/>
                    </a:solidFill>
                  </a:rPr>
                  <a:t>-</a:t>
                </a:r>
                <a:r>
                  <a:rPr lang="he-IL" sz="2800" dirty="0" err="1">
                    <a:solidFill>
                      <a:schemeClr val="tx1"/>
                    </a:solidFill>
                  </a:rPr>
                  <a:t>ית</a:t>
                </a:r>
                <a:r>
                  <a:rPr lang="he-IL" sz="28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endParaRPr lang="en-US" sz="2800" b="0" dirty="0">
                  <a:solidFill>
                    <a:schemeClr val="tx1"/>
                  </a:solidFill>
                  <a:ea typeface="Cambria Math"/>
                </a:endParaRPr>
              </a:p>
              <a:p>
                <a:pPr marL="0" indent="0" algn="l" rtl="0">
                  <a:buNone/>
                </a:pPr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524" y="2005236"/>
                <a:ext cx="8568952" cy="4637112"/>
              </a:xfrm>
              <a:blipFill rotWithShape="0">
                <a:blip r:embed="rId3"/>
                <a:stretch>
                  <a:fillRect r="-149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201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spcBef>
                <a:spcPct val="20000"/>
              </a:spcBef>
            </a:pPr>
            <a:r>
              <a:rPr lang="he-IL" dirty="0"/>
              <a:t>ייצוג מספרים</a:t>
            </a:r>
            <a:endParaRPr lang="he-IL" dirty="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7524" y="2005236"/>
                <a:ext cx="8568952" cy="4637112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𝑁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he-IL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he-IL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he-IL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80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he-IL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N</a:t>
                </a:r>
                <a:r>
                  <a:rPr lang="he-IL" sz="2800" dirty="0">
                    <a:solidFill>
                      <a:schemeClr val="tx1"/>
                    </a:solidFill>
                  </a:rPr>
                  <a:t> – ערך המספר במספרים עשרוניים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b </a:t>
                </a:r>
                <a:r>
                  <a:rPr lang="he-IL" sz="2800" dirty="0">
                    <a:solidFill>
                      <a:schemeClr val="tx1"/>
                    </a:solidFill>
                  </a:rPr>
                  <a:t> – בסיס</a:t>
                </a:r>
              </a:p>
              <a:p>
                <a:r>
                  <a:rPr lang="en-US" sz="2800" dirty="0" err="1">
                    <a:solidFill>
                      <a:schemeClr val="tx1"/>
                    </a:solidFill>
                  </a:rPr>
                  <a:t>w</a:t>
                </a:r>
                <a:r>
                  <a:rPr lang="en-US" sz="2800" baseline="-25000" dirty="0" err="1">
                    <a:solidFill>
                      <a:schemeClr val="tx1"/>
                    </a:solidFill>
                  </a:rPr>
                  <a:t>i</a:t>
                </a:r>
                <a:r>
                  <a:rPr lang="he-IL" sz="2800" dirty="0">
                    <a:solidFill>
                      <a:schemeClr val="tx1"/>
                    </a:solidFill>
                  </a:rPr>
                  <a:t> – המשקל של הספרה ה-</a:t>
                </a:r>
                <a:r>
                  <a:rPr lang="en-US" sz="2800" dirty="0">
                    <a:solidFill>
                      <a:schemeClr val="tx1"/>
                    </a:solidFill>
                  </a:rPr>
                  <a:t>i</a:t>
                </a:r>
                <a:r>
                  <a:rPr lang="he-IL" sz="2800" dirty="0">
                    <a:solidFill>
                      <a:schemeClr val="tx1"/>
                    </a:solidFill>
                  </a:rPr>
                  <a:t>-</a:t>
                </a:r>
                <a:r>
                  <a:rPr lang="he-IL" sz="2800" dirty="0" err="1">
                    <a:solidFill>
                      <a:schemeClr val="tx1"/>
                    </a:solidFill>
                  </a:rPr>
                  <a:t>ית</a:t>
                </a:r>
                <a:r>
                  <a:rPr lang="he-IL" sz="28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he-IL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he-IL" sz="2800" dirty="0">
                    <a:solidFill>
                      <a:schemeClr val="tx1"/>
                    </a:solidFill>
                  </a:rPr>
                  <a:t>, 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d</a:t>
                </a:r>
                <a:r>
                  <a:rPr lang="en-US" sz="2800" baseline="-25000" dirty="0">
                    <a:solidFill>
                      <a:schemeClr val="tx1"/>
                    </a:solidFill>
                  </a:rPr>
                  <a:t>i</a:t>
                </a:r>
                <a:r>
                  <a:rPr lang="he-IL" sz="2800" dirty="0">
                    <a:solidFill>
                      <a:schemeClr val="tx1"/>
                    </a:solidFill>
                  </a:rPr>
                  <a:t> – הספרה ה-</a:t>
                </a:r>
                <a:r>
                  <a:rPr lang="en-US" sz="2800" dirty="0">
                    <a:solidFill>
                      <a:schemeClr val="tx1"/>
                    </a:solidFill>
                  </a:rPr>
                  <a:t>i</a:t>
                </a:r>
                <a:r>
                  <a:rPr lang="he-IL" sz="2800" dirty="0">
                    <a:solidFill>
                      <a:schemeClr val="tx1"/>
                    </a:solidFill>
                  </a:rPr>
                  <a:t>-</a:t>
                </a:r>
                <a:r>
                  <a:rPr lang="he-IL" sz="2800" dirty="0" err="1">
                    <a:solidFill>
                      <a:schemeClr val="tx1"/>
                    </a:solidFill>
                  </a:rPr>
                  <a:t>ית</a:t>
                </a:r>
                <a:r>
                  <a:rPr lang="he-IL" sz="28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ea typeface="Cambria Math"/>
                </a:endParaRPr>
              </a:p>
              <a:p>
                <a:endParaRPr lang="he-IL" sz="1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he-IL" sz="2800" u="sng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דוגמא</a:t>
                </a:r>
                <a:r>
                  <a:rPr lang="he-IL" sz="2800" dirty="0">
                    <a:solidFill>
                      <a:schemeClr val="tx1"/>
                    </a:solidFill>
                  </a:rPr>
                  <a:t>: בסיס עשרוני </a:t>
                </a:r>
                <a:r>
                  <a:rPr lang="en-US" sz="2800" dirty="0">
                    <a:solidFill>
                      <a:schemeClr val="tx1"/>
                    </a:solidFill>
                  </a:rPr>
                  <a:t>(b=10)</a:t>
                </a:r>
                <a:r>
                  <a:rPr lang="he-IL" sz="2800" dirty="0">
                    <a:solidFill>
                      <a:schemeClr val="tx1"/>
                    </a:solidFill>
                  </a:rPr>
                  <a:t>:</a:t>
                </a:r>
                <a:r>
                  <a:rPr lang="he-IL" sz="2800" dirty="0"/>
                  <a:t>   </a:t>
                </a:r>
                <a:r>
                  <a:rPr lang="en-US" sz="2800" dirty="0"/>
                  <a:t>(237)</a:t>
                </a:r>
                <a:r>
                  <a:rPr lang="en-US" sz="2800" baseline="-25000" dirty="0"/>
                  <a:t>10</a:t>
                </a:r>
                <a:r>
                  <a:rPr lang="en-US" sz="2800" dirty="0"/>
                  <a:t>= 2x</a:t>
                </a:r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r>
                  <a:rPr lang="en-US" sz="2800" baseline="30000" dirty="0"/>
                  <a:t>2</a:t>
                </a:r>
                <a:r>
                  <a:rPr lang="en-US" sz="2800" dirty="0"/>
                  <a:t>+3x</a:t>
                </a:r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r>
                  <a:rPr lang="en-US" sz="2800" baseline="30000" dirty="0"/>
                  <a:t>1</a:t>
                </a:r>
                <a:r>
                  <a:rPr lang="en-US" sz="2800" dirty="0"/>
                  <a:t>+7x</a:t>
                </a:r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r>
                  <a:rPr lang="en-US" sz="2800" baseline="30000" dirty="0"/>
                  <a:t>0</a:t>
                </a:r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524" y="2005236"/>
                <a:ext cx="8568952" cy="4637112"/>
              </a:xfrm>
              <a:blipFill rotWithShape="0">
                <a:blip r:embed="rId3"/>
                <a:stretch>
                  <a:fillRect r="-284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607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1772816"/>
            <a:ext cx="8784976" cy="532859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בסיס בינארי </a:t>
            </a:r>
            <a:r>
              <a:rPr lang="en-US" dirty="0"/>
              <a:t>b=2</a:t>
            </a:r>
            <a:r>
              <a:rPr lang="he-IL" dirty="0"/>
              <a:t>:</a:t>
            </a:r>
          </a:p>
          <a:p>
            <a:pPr marL="0" indent="0" algn="l" rtl="0">
              <a:buNone/>
            </a:pPr>
            <a:r>
              <a:rPr lang="en-US" dirty="0"/>
              <a:t>                1x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/>
              <a:t>3</a:t>
            </a:r>
            <a:r>
              <a:rPr lang="en-US" dirty="0"/>
              <a:t>+</a:t>
            </a:r>
            <a:r>
              <a:rPr lang="he-IL" dirty="0"/>
              <a:t>0</a:t>
            </a:r>
            <a:r>
              <a:rPr lang="en-US" dirty="0"/>
              <a:t>x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he-IL" baseline="30000" dirty="0"/>
              <a:t>2</a:t>
            </a:r>
            <a:r>
              <a:rPr lang="en-US" dirty="0"/>
              <a:t>+1x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/>
              <a:t>1</a:t>
            </a:r>
            <a:r>
              <a:rPr lang="en-US" dirty="0"/>
              <a:t>+0x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/>
              <a:t>0 </a:t>
            </a:r>
            <a:r>
              <a:rPr lang="en-US" dirty="0"/>
              <a:t>=(10)</a:t>
            </a:r>
            <a:r>
              <a:rPr lang="en-US" baseline="-25000" dirty="0"/>
              <a:t>10</a:t>
            </a:r>
          </a:p>
          <a:p>
            <a:pPr marL="0" indent="0" algn="l" rtl="0">
              <a:buNone/>
            </a:pPr>
            <a:endParaRPr lang="en-US" baseline="-25000" dirty="0"/>
          </a:p>
          <a:p>
            <a:pPr marL="0" indent="0" algn="l" rtl="0">
              <a:buNone/>
            </a:pPr>
            <a:endParaRPr lang="en-US" sz="2800" baseline="-25000" dirty="0"/>
          </a:p>
          <a:p>
            <a:pPr marL="0" indent="0" algn="l" rtl="0">
              <a:buNone/>
            </a:pPr>
            <a:r>
              <a:rPr lang="en-US" dirty="0"/>
              <a:t>		    </a:t>
            </a:r>
            <a:r>
              <a:rPr lang="en-US" sz="2800" dirty="0"/>
              <a:t>1x</a:t>
            </a:r>
            <a:r>
              <a:rPr lang="en-US" sz="2800" dirty="0">
                <a:solidFill>
                  <a:srgbClr val="FF0000"/>
                </a:solidFill>
              </a:rPr>
              <a:t>2</a:t>
            </a:r>
            <a:r>
              <a:rPr lang="en-US" sz="2800" baseline="30000" dirty="0"/>
              <a:t>7</a:t>
            </a:r>
            <a:r>
              <a:rPr lang="en-US" sz="2800" dirty="0"/>
              <a:t>+1x</a:t>
            </a:r>
            <a:r>
              <a:rPr lang="en-US" sz="2800" dirty="0">
                <a:solidFill>
                  <a:srgbClr val="FF0000"/>
                </a:solidFill>
              </a:rPr>
              <a:t>2</a:t>
            </a:r>
            <a:r>
              <a:rPr lang="en-US" sz="2800" baseline="30000" dirty="0"/>
              <a:t>4</a:t>
            </a:r>
            <a:r>
              <a:rPr lang="en-US" sz="2800" dirty="0"/>
              <a:t>+1x</a:t>
            </a:r>
            <a:r>
              <a:rPr lang="en-US" sz="2800" dirty="0">
                <a:solidFill>
                  <a:srgbClr val="FF0000"/>
                </a:solidFill>
              </a:rPr>
              <a:t>2</a:t>
            </a:r>
            <a:r>
              <a:rPr lang="en-US" sz="2800" baseline="30000" dirty="0"/>
              <a:t>1</a:t>
            </a:r>
            <a:r>
              <a:rPr lang="en-US" sz="2800" dirty="0"/>
              <a:t>+1x</a:t>
            </a:r>
            <a:r>
              <a:rPr lang="en-US" sz="2800" dirty="0">
                <a:solidFill>
                  <a:srgbClr val="FF0000"/>
                </a:solidFill>
              </a:rPr>
              <a:t>2</a:t>
            </a:r>
            <a:r>
              <a:rPr lang="en-US" sz="2800" baseline="30000" dirty="0"/>
              <a:t>0</a:t>
            </a:r>
            <a:r>
              <a:rPr lang="en-US" sz="2800" dirty="0"/>
              <a:t>=128+16+2+1 = (147)</a:t>
            </a:r>
            <a:r>
              <a:rPr lang="en-US" sz="2800" baseline="-25000" dirty="0"/>
              <a:t>10</a:t>
            </a:r>
          </a:p>
          <a:p>
            <a:pPr marL="0" indent="0" algn="l" rtl="0">
              <a:buNone/>
            </a:pPr>
            <a:endParaRPr lang="en-US" sz="2800" baseline="-25000" dirty="0"/>
          </a:p>
          <a:p>
            <a:r>
              <a:rPr lang="he-IL" dirty="0"/>
              <a:t>ואם זה שבר בבסיס בינארי </a:t>
            </a:r>
            <a:r>
              <a:rPr lang="en-US" dirty="0"/>
              <a:t>b=2</a:t>
            </a:r>
            <a:r>
              <a:rPr lang="he-IL" dirty="0"/>
              <a:t>:</a:t>
            </a:r>
          </a:p>
          <a:p>
            <a:endParaRPr lang="en-US" sz="2000" dirty="0"/>
          </a:p>
          <a:p>
            <a:pPr marL="0" indent="0" algn="l" rtl="0">
              <a:buNone/>
            </a:pPr>
            <a:r>
              <a:rPr lang="en-US" dirty="0"/>
              <a:t>		  1x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/>
              <a:t>3</a:t>
            </a:r>
            <a:r>
              <a:rPr lang="en-US" dirty="0"/>
              <a:t>+1x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/>
              <a:t>1</a:t>
            </a:r>
            <a:r>
              <a:rPr lang="en-US" dirty="0"/>
              <a:t>+1x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/>
              <a:t>-1</a:t>
            </a:r>
            <a:r>
              <a:rPr lang="en-US" dirty="0"/>
              <a:t>+1x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/>
              <a:t>-3</a:t>
            </a:r>
            <a:r>
              <a:rPr lang="en-US" dirty="0"/>
              <a:t>=(10.625)</a:t>
            </a:r>
            <a:r>
              <a:rPr lang="en-US" baseline="-25000" dirty="0"/>
              <a:t>10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62666"/>
            <a:ext cx="8229600" cy="1143000"/>
          </a:xfrm>
        </p:spPr>
        <p:txBody>
          <a:bodyPr>
            <a:normAutofit/>
          </a:bodyPr>
          <a:lstStyle/>
          <a:p>
            <a:pPr algn="r">
              <a:spcBef>
                <a:spcPct val="20000"/>
              </a:spcBef>
            </a:pPr>
            <a:r>
              <a:rPr lang="he-IL" dirty="0"/>
              <a:t>מעבר מבסיס </a:t>
            </a:r>
            <a:r>
              <a:rPr lang="en-US" dirty="0"/>
              <a:t>b</a:t>
            </a:r>
            <a:r>
              <a:rPr lang="he-IL" dirty="0"/>
              <a:t> כלשהו לבסיס 10</a:t>
            </a:r>
            <a:endParaRPr lang="he-IL" dirty="0">
              <a:latin typeface="+mn-lt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492896"/>
            <a:ext cx="2445383" cy="4896544"/>
          </a:xfrm>
        </p:spPr>
        <p:txBody>
          <a:bodyPr>
            <a:normAutofit fontScale="92500" lnSpcReduction="20000"/>
          </a:bodyPr>
          <a:lstStyle/>
          <a:p>
            <a:pPr marL="0" indent="0" algn="l" rtl="0">
              <a:buNone/>
            </a:pPr>
            <a:r>
              <a:rPr lang="en-US" sz="2800" b="1" dirty="0"/>
              <a:t>(1010)</a:t>
            </a:r>
            <a:r>
              <a:rPr lang="en-US" sz="2800" b="1" baseline="-25000" dirty="0"/>
              <a:t>2 </a:t>
            </a:r>
            <a:r>
              <a:rPr lang="en-US" sz="2800" b="1" dirty="0"/>
              <a:t>=</a:t>
            </a:r>
          </a:p>
          <a:p>
            <a:pPr marL="0" indent="0" algn="l" rtl="0">
              <a:buNone/>
            </a:pPr>
            <a:endParaRPr lang="en-US" sz="2800" b="1" dirty="0"/>
          </a:p>
          <a:p>
            <a:endParaRPr lang="he-IL" sz="2800" dirty="0"/>
          </a:p>
          <a:p>
            <a:pPr marL="0" indent="0" algn="l" rtl="0">
              <a:buNone/>
            </a:pPr>
            <a:r>
              <a:rPr lang="en-US" sz="2800" dirty="0"/>
              <a:t> </a:t>
            </a:r>
            <a:r>
              <a:rPr lang="en-US" sz="2800" b="1" dirty="0"/>
              <a:t>(10010011)</a:t>
            </a:r>
            <a:r>
              <a:rPr lang="en-US" sz="2800" b="1" baseline="-25000" dirty="0"/>
              <a:t>2 </a:t>
            </a:r>
            <a:r>
              <a:rPr lang="en-US" sz="2800" b="1" dirty="0"/>
              <a:t>=</a:t>
            </a:r>
          </a:p>
          <a:p>
            <a:pPr marL="0" indent="0" algn="l" rtl="0">
              <a:buNone/>
            </a:pPr>
            <a:endParaRPr lang="en-US" sz="2800" b="1" baseline="-25000" dirty="0"/>
          </a:p>
          <a:p>
            <a:pPr marL="0" indent="0" algn="r">
              <a:buNone/>
            </a:pPr>
            <a:endParaRPr lang="en-US" baseline="-25000" dirty="0"/>
          </a:p>
          <a:p>
            <a:pPr marL="0" indent="0" algn="r">
              <a:buNone/>
            </a:pPr>
            <a:endParaRPr lang="en-US" baseline="-25000" dirty="0"/>
          </a:p>
          <a:p>
            <a:pPr marL="0" indent="0" algn="l" rtl="0">
              <a:buNone/>
            </a:pPr>
            <a:endParaRPr lang="he-IL" dirty="0"/>
          </a:p>
          <a:p>
            <a:pPr marL="0" indent="0" algn="l" rtl="0">
              <a:buNone/>
            </a:pPr>
            <a:r>
              <a:rPr lang="en-US" sz="2600" b="1" dirty="0"/>
              <a:t>(</a:t>
            </a:r>
            <a:r>
              <a:rPr lang="en-US" sz="2800" b="1" dirty="0"/>
              <a:t>1010.101)</a:t>
            </a:r>
            <a:r>
              <a:rPr lang="en-US" sz="2800" b="1" baseline="-25000" dirty="0"/>
              <a:t>2 </a:t>
            </a:r>
            <a:r>
              <a:rPr lang="en-US" sz="2600" b="1" dirty="0"/>
              <a:t>=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he-IL" sz="28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252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1772816"/>
            <a:ext cx="8784976" cy="532859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מה קורה אם </a:t>
            </a:r>
            <a:r>
              <a:rPr lang="en-US" dirty="0"/>
              <a:t>b&gt;10</a:t>
            </a:r>
            <a:r>
              <a:rPr lang="he-IL" dirty="0"/>
              <a:t>?</a:t>
            </a:r>
            <a:endParaRPr lang="en-US" baseline="-25000" dirty="0"/>
          </a:p>
          <a:p>
            <a:pPr marL="0" indent="0" algn="l" rtl="0">
              <a:buFont typeface="Arial" pitchFamily="34" charset="0"/>
              <a:buNone/>
            </a:pPr>
            <a:endParaRPr lang="he-IL" dirty="0"/>
          </a:p>
          <a:p>
            <a:pPr marL="0" indent="0">
              <a:buFont typeface="Arial" pitchFamily="34" charset="0"/>
              <a:buNone/>
            </a:pPr>
            <a:endParaRPr lang="he-IL" dirty="0"/>
          </a:p>
          <a:p>
            <a:r>
              <a:rPr lang="he-IL" dirty="0"/>
              <a:t>בסיס </a:t>
            </a:r>
            <a:r>
              <a:rPr lang="he-IL" dirty="0" err="1"/>
              <a:t>הקסדצימלי</a:t>
            </a:r>
            <a:r>
              <a:rPr lang="he-IL" dirty="0"/>
              <a:t> </a:t>
            </a:r>
            <a:r>
              <a:rPr lang="en-US" dirty="0"/>
              <a:t>b=16</a:t>
            </a:r>
            <a:r>
              <a:rPr lang="he-IL" dirty="0"/>
              <a:t>:</a:t>
            </a:r>
          </a:p>
          <a:p>
            <a:pPr marL="0" indent="0" algn="l" rtl="0">
              <a:buNone/>
            </a:pPr>
            <a:r>
              <a:rPr lang="en-US" b="1" dirty="0"/>
              <a:t>(A31)</a:t>
            </a:r>
            <a:r>
              <a:rPr lang="en-US" b="1" baseline="-25000" dirty="0"/>
              <a:t>16</a:t>
            </a:r>
            <a:r>
              <a:rPr lang="en-US" b="1" dirty="0"/>
              <a:t>=</a:t>
            </a:r>
          </a:p>
          <a:p>
            <a:pPr marL="0" indent="0" algn="l" rtl="0">
              <a:buNone/>
            </a:pPr>
            <a:endParaRPr lang="he-IL" sz="2800" dirty="0"/>
          </a:p>
          <a:p>
            <a:pPr marL="0" indent="0" algn="l" rtl="0">
              <a:buNone/>
            </a:pPr>
            <a:r>
              <a:rPr lang="en-US" b="1" dirty="0"/>
              <a:t>(7EC4)</a:t>
            </a:r>
            <a:r>
              <a:rPr lang="en-US" b="1" baseline="-25000" dirty="0"/>
              <a:t>16</a:t>
            </a:r>
            <a:r>
              <a:rPr lang="en-US" b="1" dirty="0"/>
              <a:t>=</a:t>
            </a:r>
            <a:endParaRPr lang="he-I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62666"/>
            <a:ext cx="8229600" cy="1143000"/>
          </a:xfrm>
        </p:spPr>
        <p:txBody>
          <a:bodyPr>
            <a:normAutofit/>
          </a:bodyPr>
          <a:lstStyle/>
          <a:p>
            <a:pPr algn="r">
              <a:spcBef>
                <a:spcPct val="20000"/>
              </a:spcBef>
            </a:pPr>
            <a:r>
              <a:rPr lang="he-IL" dirty="0"/>
              <a:t>מעבר מבסיס </a:t>
            </a:r>
            <a:r>
              <a:rPr lang="en-US" dirty="0"/>
              <a:t>b</a:t>
            </a:r>
            <a:r>
              <a:rPr lang="he-IL" dirty="0"/>
              <a:t> כלשהו לבסיס 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10</a:t>
            </a:fld>
            <a:endParaRPr lang="he-IL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770711"/>
              </p:ext>
            </p:extLst>
          </p:nvPr>
        </p:nvGraphicFramePr>
        <p:xfrm>
          <a:off x="208578" y="2492896"/>
          <a:ext cx="6096000" cy="741680"/>
        </p:xfrm>
        <a:graphic>
          <a:graphicData uri="http://schemas.openxmlformats.org/drawingml/2006/table">
            <a:tbl>
              <a:tblPr rtl="1" firstRow="1" bandRow="1">
                <a:tableStyleId>{D113A9D2-9D6B-4929-AA2D-F23B5EE8CBE7}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F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13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80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1772816"/>
            <a:ext cx="8784976" cy="532859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מה קורה אם </a:t>
            </a:r>
            <a:r>
              <a:rPr lang="en-US" dirty="0"/>
              <a:t>b&gt;10</a:t>
            </a:r>
            <a:r>
              <a:rPr lang="he-IL" dirty="0"/>
              <a:t>?</a:t>
            </a:r>
            <a:endParaRPr lang="en-US" baseline="-25000" dirty="0"/>
          </a:p>
          <a:p>
            <a:pPr marL="0" indent="0" algn="l" rtl="0">
              <a:buFont typeface="Arial" pitchFamily="34" charset="0"/>
              <a:buNone/>
            </a:pPr>
            <a:endParaRPr lang="he-IL" dirty="0"/>
          </a:p>
          <a:p>
            <a:pPr marL="0" indent="0">
              <a:buFont typeface="Arial" pitchFamily="34" charset="0"/>
              <a:buNone/>
            </a:pPr>
            <a:endParaRPr lang="he-IL" dirty="0"/>
          </a:p>
          <a:p>
            <a:r>
              <a:rPr lang="he-IL" dirty="0"/>
              <a:t>בסיס </a:t>
            </a:r>
            <a:r>
              <a:rPr lang="he-IL" dirty="0" err="1"/>
              <a:t>הקסדצימלי</a:t>
            </a:r>
            <a:r>
              <a:rPr lang="he-IL" dirty="0"/>
              <a:t> </a:t>
            </a:r>
            <a:r>
              <a:rPr lang="en-US" dirty="0"/>
              <a:t>b=16</a:t>
            </a:r>
            <a:r>
              <a:rPr lang="he-IL" dirty="0"/>
              <a:t>:</a:t>
            </a:r>
          </a:p>
          <a:p>
            <a:pPr marL="0" indent="0" algn="l" rtl="0">
              <a:buNone/>
            </a:pPr>
            <a:r>
              <a:rPr lang="en-US" b="1" dirty="0"/>
              <a:t>(A31)</a:t>
            </a:r>
            <a:r>
              <a:rPr lang="en-US" b="1" baseline="-25000" dirty="0"/>
              <a:t>16</a:t>
            </a:r>
            <a:r>
              <a:rPr lang="en-US" b="1" dirty="0"/>
              <a:t>= 10x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2</a:t>
            </a:r>
            <a:r>
              <a:rPr lang="en-US" b="1" dirty="0"/>
              <a:t>+3x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1</a:t>
            </a:r>
            <a:r>
              <a:rPr lang="en-US" b="1" dirty="0"/>
              <a:t>+1x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0</a:t>
            </a:r>
            <a:r>
              <a:rPr lang="en-US" b="1" dirty="0"/>
              <a:t>=(2609)</a:t>
            </a:r>
            <a:r>
              <a:rPr lang="en-US" b="1" baseline="-25000" dirty="0"/>
              <a:t>10</a:t>
            </a:r>
            <a:endParaRPr lang="he-IL" dirty="0"/>
          </a:p>
          <a:p>
            <a:pPr marL="0" indent="0" algn="l" rtl="0">
              <a:buNone/>
            </a:pPr>
            <a:endParaRPr lang="he-IL" sz="2800" dirty="0"/>
          </a:p>
          <a:p>
            <a:pPr marL="0" indent="0" algn="l" rtl="0">
              <a:buNone/>
            </a:pPr>
            <a:r>
              <a:rPr lang="en-US" b="1" dirty="0"/>
              <a:t>(7EC4)</a:t>
            </a:r>
            <a:r>
              <a:rPr lang="en-US" b="1" baseline="-25000" dirty="0"/>
              <a:t>16</a:t>
            </a:r>
            <a:r>
              <a:rPr lang="en-US" b="1" dirty="0"/>
              <a:t>=</a:t>
            </a:r>
            <a:endParaRPr lang="he-I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62666"/>
            <a:ext cx="8229600" cy="1143000"/>
          </a:xfrm>
        </p:spPr>
        <p:txBody>
          <a:bodyPr>
            <a:normAutofit/>
          </a:bodyPr>
          <a:lstStyle/>
          <a:p>
            <a:pPr algn="r">
              <a:spcBef>
                <a:spcPct val="20000"/>
              </a:spcBef>
            </a:pPr>
            <a:r>
              <a:rPr lang="he-IL" dirty="0"/>
              <a:t>מעבר מבסיס </a:t>
            </a:r>
            <a:r>
              <a:rPr lang="en-US" dirty="0"/>
              <a:t>b</a:t>
            </a:r>
            <a:r>
              <a:rPr lang="he-IL" dirty="0"/>
              <a:t> כלשהו לבסיס 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11</a:t>
            </a:fld>
            <a:endParaRPr lang="he-IL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8578" y="2492896"/>
          <a:ext cx="6096000" cy="741680"/>
        </p:xfrm>
        <a:graphic>
          <a:graphicData uri="http://schemas.openxmlformats.org/drawingml/2006/table">
            <a:tbl>
              <a:tblPr rtl="1" firstRow="1" bandRow="1">
                <a:tableStyleId>{D113A9D2-9D6B-4929-AA2D-F23B5EE8CBE7}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F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13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29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1772816"/>
            <a:ext cx="8784976" cy="532859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מה קורה אם </a:t>
            </a:r>
            <a:r>
              <a:rPr lang="en-US" dirty="0"/>
              <a:t>b&gt;10</a:t>
            </a:r>
            <a:r>
              <a:rPr lang="he-IL" dirty="0"/>
              <a:t>?</a:t>
            </a:r>
            <a:endParaRPr lang="en-US" baseline="-25000" dirty="0"/>
          </a:p>
          <a:p>
            <a:pPr marL="0" indent="0" algn="l" rtl="0">
              <a:buFont typeface="Arial" pitchFamily="34" charset="0"/>
              <a:buNone/>
            </a:pPr>
            <a:endParaRPr lang="he-IL" dirty="0"/>
          </a:p>
          <a:p>
            <a:pPr marL="0" indent="0">
              <a:buFont typeface="Arial" pitchFamily="34" charset="0"/>
              <a:buNone/>
            </a:pPr>
            <a:endParaRPr lang="he-IL" dirty="0"/>
          </a:p>
          <a:p>
            <a:r>
              <a:rPr lang="he-IL" dirty="0"/>
              <a:t>בסיס </a:t>
            </a:r>
            <a:r>
              <a:rPr lang="he-IL" dirty="0" err="1"/>
              <a:t>הקסדצימלי</a:t>
            </a:r>
            <a:r>
              <a:rPr lang="he-IL" dirty="0"/>
              <a:t> </a:t>
            </a:r>
            <a:r>
              <a:rPr lang="en-US" dirty="0"/>
              <a:t>b=16</a:t>
            </a:r>
            <a:r>
              <a:rPr lang="he-IL" dirty="0"/>
              <a:t>:</a:t>
            </a:r>
          </a:p>
          <a:p>
            <a:pPr marL="0" indent="0" algn="l" rtl="0">
              <a:buNone/>
            </a:pPr>
            <a:r>
              <a:rPr lang="en-US" b="1" dirty="0"/>
              <a:t>(A31)</a:t>
            </a:r>
            <a:r>
              <a:rPr lang="en-US" b="1" baseline="-25000" dirty="0"/>
              <a:t>16</a:t>
            </a:r>
            <a:r>
              <a:rPr lang="en-US" b="1" dirty="0"/>
              <a:t>= 10x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2</a:t>
            </a:r>
            <a:r>
              <a:rPr lang="en-US" b="1" dirty="0"/>
              <a:t>+3x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1</a:t>
            </a:r>
            <a:r>
              <a:rPr lang="en-US" b="1" dirty="0"/>
              <a:t>+1x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0</a:t>
            </a:r>
            <a:r>
              <a:rPr lang="en-US" b="1" dirty="0"/>
              <a:t>=(2609)</a:t>
            </a:r>
            <a:r>
              <a:rPr lang="en-US" b="1" baseline="-25000" dirty="0"/>
              <a:t>10</a:t>
            </a:r>
            <a:endParaRPr lang="he-IL" dirty="0"/>
          </a:p>
          <a:p>
            <a:pPr marL="0" indent="0" algn="l" rtl="0">
              <a:buNone/>
            </a:pPr>
            <a:endParaRPr lang="he-IL" sz="2800" dirty="0"/>
          </a:p>
          <a:p>
            <a:pPr marL="0" indent="0" algn="l" rtl="0">
              <a:buNone/>
            </a:pPr>
            <a:r>
              <a:rPr lang="en-US" b="1" dirty="0"/>
              <a:t>(7EC4)</a:t>
            </a:r>
            <a:r>
              <a:rPr lang="en-US" b="1" baseline="-25000" dirty="0"/>
              <a:t>16</a:t>
            </a:r>
            <a:r>
              <a:rPr lang="en-US" b="1" dirty="0"/>
              <a:t>= 7x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3</a:t>
            </a:r>
            <a:r>
              <a:rPr lang="en-US" b="1" dirty="0"/>
              <a:t>+14x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2</a:t>
            </a:r>
            <a:r>
              <a:rPr lang="en-US" b="1" dirty="0"/>
              <a:t>+12x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1</a:t>
            </a:r>
            <a:r>
              <a:rPr lang="en-US" b="1" dirty="0"/>
              <a:t>+4x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0</a:t>
            </a:r>
            <a:r>
              <a:rPr lang="en-US" b="1" dirty="0"/>
              <a:t>=(32452)</a:t>
            </a:r>
            <a:r>
              <a:rPr lang="en-US" b="1" baseline="-25000" dirty="0"/>
              <a:t>10</a:t>
            </a:r>
            <a:endParaRPr lang="he-IL" dirty="0"/>
          </a:p>
          <a:p>
            <a:pPr marL="0" indent="0" algn="l" rtl="0">
              <a:buNone/>
            </a:pPr>
            <a:endParaRPr lang="he-I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62666"/>
            <a:ext cx="8229600" cy="1143000"/>
          </a:xfrm>
        </p:spPr>
        <p:txBody>
          <a:bodyPr>
            <a:normAutofit/>
          </a:bodyPr>
          <a:lstStyle/>
          <a:p>
            <a:pPr algn="r">
              <a:spcBef>
                <a:spcPct val="20000"/>
              </a:spcBef>
            </a:pPr>
            <a:r>
              <a:rPr lang="he-IL" dirty="0"/>
              <a:t>מעבר מבסיס </a:t>
            </a:r>
            <a:r>
              <a:rPr lang="en-US" dirty="0"/>
              <a:t>b</a:t>
            </a:r>
            <a:r>
              <a:rPr lang="he-IL" dirty="0"/>
              <a:t> כלשהו לבסיס 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12</a:t>
            </a:fld>
            <a:endParaRPr lang="he-IL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8578" y="2492896"/>
          <a:ext cx="6096000" cy="741680"/>
        </p:xfrm>
        <a:graphic>
          <a:graphicData uri="http://schemas.openxmlformats.org/drawingml/2006/table">
            <a:tbl>
              <a:tblPr rtl="1" firstRow="1" bandRow="1">
                <a:tableStyleId>{D113A9D2-9D6B-4929-AA2D-F23B5EE8CBE7}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F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13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758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E054-23C1-6272-6899-10F0D066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8FB6A5-6558-E81E-85EE-85FEC016C0A5}"/>
              </a:ext>
            </a:extLst>
          </p:cNvPr>
          <p:cNvSpPr txBox="1">
            <a:spLocks/>
          </p:cNvSpPr>
          <p:nvPr/>
        </p:nvSpPr>
        <p:spPr>
          <a:xfrm>
            <a:off x="179512" y="1772816"/>
            <a:ext cx="8784976" cy="532859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מה קורה אם </a:t>
            </a:r>
            <a:r>
              <a:rPr lang="en-US" dirty="0"/>
              <a:t>b&gt;10</a:t>
            </a:r>
            <a:r>
              <a:rPr lang="he-IL" dirty="0"/>
              <a:t>?</a:t>
            </a:r>
            <a:endParaRPr lang="en-US" baseline="-25000" dirty="0"/>
          </a:p>
          <a:p>
            <a:pPr marL="0" indent="0" algn="l" rtl="0">
              <a:buFont typeface="Arial" pitchFamily="34" charset="0"/>
              <a:buNone/>
            </a:pPr>
            <a:endParaRPr lang="he-IL" dirty="0"/>
          </a:p>
          <a:p>
            <a:pPr marL="0" indent="0">
              <a:buFont typeface="Arial" pitchFamily="34" charset="0"/>
              <a:buNone/>
            </a:pPr>
            <a:endParaRPr lang="he-IL" dirty="0"/>
          </a:p>
          <a:p>
            <a:r>
              <a:rPr lang="he-IL" dirty="0"/>
              <a:t>בסיס </a:t>
            </a:r>
            <a:r>
              <a:rPr lang="he-IL" dirty="0" err="1"/>
              <a:t>הקסדצימלי</a:t>
            </a:r>
            <a:r>
              <a:rPr lang="he-IL" dirty="0"/>
              <a:t> </a:t>
            </a:r>
            <a:r>
              <a:rPr lang="en-US" dirty="0"/>
              <a:t>b=16</a:t>
            </a:r>
            <a:r>
              <a:rPr lang="he-IL" dirty="0"/>
              <a:t>:</a:t>
            </a:r>
          </a:p>
          <a:p>
            <a:pPr marL="0" indent="0" algn="l" rtl="0">
              <a:buNone/>
            </a:pPr>
            <a:r>
              <a:rPr lang="en-US" b="1" dirty="0"/>
              <a:t>(A31)</a:t>
            </a:r>
            <a:r>
              <a:rPr lang="en-US" b="1" baseline="-25000" dirty="0"/>
              <a:t>16</a:t>
            </a:r>
            <a:r>
              <a:rPr lang="en-US" b="1" dirty="0"/>
              <a:t>= 10x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2</a:t>
            </a:r>
            <a:r>
              <a:rPr lang="en-US" b="1" dirty="0"/>
              <a:t>+3x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1</a:t>
            </a:r>
            <a:r>
              <a:rPr lang="en-US" b="1" dirty="0"/>
              <a:t>+1x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0</a:t>
            </a:r>
            <a:r>
              <a:rPr lang="en-US" b="1" dirty="0"/>
              <a:t>=(2609)</a:t>
            </a:r>
            <a:r>
              <a:rPr lang="en-US" b="1" baseline="-25000" dirty="0"/>
              <a:t>10</a:t>
            </a:r>
            <a:endParaRPr lang="he-IL" dirty="0"/>
          </a:p>
          <a:p>
            <a:pPr marL="0" indent="0" algn="l" rtl="0">
              <a:buNone/>
            </a:pPr>
            <a:endParaRPr lang="he-IL" sz="2800" dirty="0"/>
          </a:p>
          <a:p>
            <a:pPr marL="0" indent="0" algn="l" rtl="0">
              <a:buNone/>
            </a:pPr>
            <a:r>
              <a:rPr lang="en-US" b="1" dirty="0"/>
              <a:t>(7EC4)</a:t>
            </a:r>
            <a:r>
              <a:rPr lang="en-US" b="1" baseline="-25000" dirty="0"/>
              <a:t>16</a:t>
            </a:r>
            <a:r>
              <a:rPr lang="en-US" b="1" dirty="0"/>
              <a:t>= 7x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3</a:t>
            </a:r>
            <a:r>
              <a:rPr lang="en-US" b="1" dirty="0"/>
              <a:t>+14x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2</a:t>
            </a:r>
            <a:r>
              <a:rPr lang="en-US" b="1" dirty="0"/>
              <a:t>+12x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1</a:t>
            </a:r>
            <a:r>
              <a:rPr lang="en-US" b="1" dirty="0"/>
              <a:t>+4x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/>
              <a:t>0</a:t>
            </a:r>
            <a:r>
              <a:rPr lang="en-US" b="1" dirty="0"/>
              <a:t>=(32452)</a:t>
            </a:r>
            <a:r>
              <a:rPr lang="en-US" b="1" baseline="-25000" dirty="0"/>
              <a:t>10</a:t>
            </a:r>
            <a:endParaRPr lang="he-IL" dirty="0"/>
          </a:p>
          <a:p>
            <a:pPr marL="0" indent="0" algn="l" rtl="0">
              <a:buNone/>
            </a:pPr>
            <a:endParaRPr lang="he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65E31-1A3F-9BDF-CE28-DA6E1DC5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562666"/>
            <a:ext cx="8229600" cy="1143000"/>
          </a:xfrm>
        </p:spPr>
        <p:txBody>
          <a:bodyPr>
            <a:normAutofit/>
          </a:bodyPr>
          <a:lstStyle/>
          <a:p>
            <a:pPr algn="r">
              <a:spcBef>
                <a:spcPct val="20000"/>
              </a:spcBef>
            </a:pPr>
            <a:r>
              <a:rPr lang="he-IL" dirty="0"/>
              <a:t>מעבר מבסיס </a:t>
            </a:r>
            <a:r>
              <a:rPr lang="en-US" dirty="0"/>
              <a:t>b</a:t>
            </a:r>
            <a:r>
              <a:rPr lang="he-IL" dirty="0"/>
              <a:t> כלשהו לבסיס 10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A55133-2B04-5213-FF42-BC9BCAF2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13</a:t>
            </a:fld>
            <a:endParaRPr lang="he-I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9D2BF5-7B0A-2DB8-612F-93C0495112EC}"/>
              </a:ext>
            </a:extLst>
          </p:cNvPr>
          <p:cNvGraphicFramePr>
            <a:graphicFrameLocks noGrp="1"/>
          </p:cNvGraphicFramePr>
          <p:nvPr/>
        </p:nvGraphicFramePr>
        <p:xfrm>
          <a:off x="208578" y="2492896"/>
          <a:ext cx="6096000" cy="741680"/>
        </p:xfrm>
        <a:graphic>
          <a:graphicData uri="http://schemas.openxmlformats.org/drawingml/2006/table">
            <a:tbl>
              <a:tblPr rtl="1" firstRow="1" bandRow="1">
                <a:tableStyleId>{D113A9D2-9D6B-4929-AA2D-F23B5EE8CBE7}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F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13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10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62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dirty="0"/>
              <a:t>מעבר מבסיס </a:t>
            </a:r>
            <a:r>
              <a:rPr lang="en-US" dirty="0"/>
              <a:t>10</a:t>
            </a:r>
            <a:r>
              <a:rPr lang="he-IL" dirty="0"/>
              <a:t> לבסיס </a:t>
            </a:r>
            <a:r>
              <a:rPr lang="en-US" dirty="0"/>
              <a:t>b</a:t>
            </a:r>
            <a:r>
              <a:rPr lang="he-IL" dirty="0"/>
              <a:t> כלשהו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933823"/>
                <a:ext cx="8496943" cy="4525963"/>
              </a:xfrm>
            </p:spPr>
            <p:txBody>
              <a:bodyPr>
                <a:normAutofit/>
              </a:bodyPr>
              <a:lstStyle/>
              <a:p>
                <a:pPr marL="0" indent="0" algn="r">
                  <a:buNone/>
                </a:pPr>
                <a:r>
                  <a:rPr lang="he-IL" sz="3200" b="1" dirty="0">
                    <a:solidFill>
                      <a:schemeClr val="tx1"/>
                    </a:solidFill>
                  </a:rPr>
                  <a:t>בכל שלב: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</a:rPr>
                  <a:t>מחלקים בבסיס </a:t>
                </a:r>
                <a:r>
                  <a:rPr lang="en-US" sz="2800" dirty="0">
                    <a:solidFill>
                      <a:schemeClr val="tx1"/>
                    </a:solidFill>
                  </a:rPr>
                  <a:t>b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</a:rPr>
                  <a:t>השארית מהווה ספרה במספר החדש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</a:rPr>
                  <a:t>המנה מועברת לשלב הבא</a:t>
                </a:r>
              </a:p>
              <a:p>
                <a:pPr marL="0" indent="0" algn="l" rtl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he-IL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he-IL" sz="2800" dirty="0"/>
                  <a:t>=</a:t>
                </a:r>
                <a:endParaRPr lang="en-US" sz="2800" dirty="0"/>
              </a:p>
              <a:p>
                <a:pPr marL="0" indent="0" algn="l" rtl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8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he-IL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sz="2800" i="1" dirty="0" smtClean="0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he-IL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he-IL" sz="2800" b="0" i="1" dirty="0" smtClean="0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  <m:r>
                      <a:rPr lang="he-IL" sz="2800" b="0" i="1" dirty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he-IL" sz="28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𝑑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−2</m:t>
                        </m:r>
                      </m:sub>
                    </m:sSub>
                    <m:r>
                      <a:rPr lang="he-IL" sz="2800" b="0" i="1" dirty="0" smtClean="0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he-IL" sz="28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−2</m:t>
                        </m:r>
                      </m:sup>
                    </m:sSup>
                    <m:r>
                      <a:rPr lang="he-IL" sz="2800" b="0" i="1" dirty="0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800" b="0" i="1" dirty="0" smtClean="0">
                        <a:latin typeface="Cambria Math"/>
                        <a:ea typeface="Cambria Math"/>
                      </a:rPr>
                      <m:t>…+</m:t>
                    </m:r>
                    <m:sSub>
                      <m:sSubPr>
                        <m:ctrlPr>
                          <a:rPr lang="he-I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he-IL" sz="2800" i="1" dirty="0" smtClean="0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he-IL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1</m:t>
                        </m:r>
                      </m:sup>
                    </m:sSup>
                    <m:r>
                      <a:rPr lang="he-IL" sz="2800" b="0" i="1" dirty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he-IL" sz="28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𝑑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he-IL" sz="2800" b="0" i="1" dirty="0" smtClean="0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he-IL" sz="28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800" dirty="0"/>
                  <a:t>=</a:t>
                </a:r>
                <a:r>
                  <a:rPr lang="he-IL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he-IL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b="0" i="1" dirty="0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he-IL" sz="2800" i="1" dirty="0" smtClean="0">
                            <a:latin typeface="Cambria Math"/>
                            <a:ea typeface="Cambria Math"/>
                          </a:rPr>
                          <m:t>∙</m:t>
                        </m:r>
                        <m:sSup>
                          <m:sSupPr>
                            <m:ctrlPr>
                              <a:rPr lang="he-IL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he-IL" sz="2800" b="0" i="1" dirty="0" smtClean="0">
                                <a:latin typeface="Cambria Math"/>
                                <a:ea typeface="Cambria Math"/>
                              </a:rPr>
                              <m:t>−2</m:t>
                            </m:r>
                          </m:sup>
                        </m:sSup>
                        <m:r>
                          <a:rPr lang="he-IL" sz="2800" b="0" i="1" dirty="0" smtClean="0">
                            <a:latin typeface="Cambria Math"/>
                            <a:ea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he-IL" sz="2800" b="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en-US" sz="2800" b="0" i="1" dirty="0" smtClean="0">
                                <a:latin typeface="Cambria Math"/>
                                <a:ea typeface="Cambria Math"/>
                              </a:rPr>
                              <m:t>−2</m:t>
                            </m:r>
                          </m:sub>
                        </m:sSub>
                        <m:r>
                          <a:rPr lang="he-IL" sz="2800" b="0" i="1" dirty="0" smtClean="0">
                            <a:latin typeface="Cambria Math"/>
                            <a:ea typeface="Cambria Math"/>
                          </a:rPr>
                          <m:t>∙</m:t>
                        </m:r>
                        <m:sSup>
                          <m:sSupPr>
                            <m:ctrlPr>
                              <a:rPr lang="he-IL" sz="2800" b="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en-US" sz="2800" b="0" i="1" dirty="0" smtClean="0">
                                <a:latin typeface="Cambria Math"/>
                                <a:ea typeface="Cambria Math"/>
                              </a:rPr>
                              <m:t>−3</m:t>
                            </m:r>
                          </m:sup>
                        </m:sSup>
                        <m:r>
                          <a:rPr lang="he-IL" sz="2800" b="0" i="1" dirty="0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…+</m:t>
                        </m:r>
                        <m:sSub>
                          <m:sSubPr>
                            <m:ctrlPr>
                              <a:rPr lang="he-IL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he-IL" sz="2800" i="1" dirty="0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800" b="0" i="1" dirty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𝑑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933823"/>
                <a:ext cx="8496943" cy="4525963"/>
              </a:xfrm>
              <a:blipFill>
                <a:blip r:embed="rId3"/>
                <a:stretch>
                  <a:fillRect l="-2090" t="-2801" r="-283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51426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dirty="0"/>
              <a:t>דוגמא</a:t>
            </a:r>
            <a:endParaRPr lang="he-IL" sz="6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1144" y="1750666"/>
                <a:ext cx="8229600" cy="47091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e-IL" dirty="0">
                    <a:solidFill>
                      <a:schemeClr val="tx1"/>
                    </a:solidFill>
                  </a:rPr>
                  <a:t>מצאו את הייצוג של </a:t>
                </a:r>
                <a:r>
                  <a:rPr lang="he-IL" dirty="0">
                    <a:solidFill>
                      <a:srgbClr val="00B0F0"/>
                    </a:solidFill>
                  </a:rPr>
                  <a:t>500</a:t>
                </a:r>
                <a:r>
                  <a:rPr lang="he-IL" dirty="0"/>
                  <a:t> </a:t>
                </a:r>
                <a:r>
                  <a:rPr lang="he-IL" dirty="0">
                    <a:solidFill>
                      <a:schemeClr val="tx1"/>
                    </a:solidFill>
                  </a:rPr>
                  <a:t>בבסיס 16</a:t>
                </a:r>
                <a:r>
                  <a:rPr lang="he-IL" dirty="0"/>
                  <a:t>. </a:t>
                </a:r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he-IL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∗16 + 4</m:t>
                          </m:r>
                        </m:num>
                        <m:den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∗16 + 15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∗16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lang="he-IL" sz="2800" dirty="0"/>
              </a:p>
              <a:p>
                <a:pPr marL="0" indent="0" algn="ctr">
                  <a:buNone/>
                </a:pPr>
                <a:r>
                  <a:rPr lang="en-US" sz="4000" dirty="0">
                    <a:solidFill>
                      <a:schemeClr val="tx1"/>
                    </a:solidFill>
                  </a:rPr>
                  <a:t>(500)</a:t>
                </a:r>
                <a:r>
                  <a:rPr lang="en-US" sz="4000" baseline="-25000" dirty="0">
                    <a:solidFill>
                      <a:schemeClr val="tx1"/>
                    </a:solidFill>
                  </a:rPr>
                  <a:t>10</a:t>
                </a:r>
                <a:r>
                  <a:rPr lang="en-US" sz="4000" dirty="0">
                    <a:solidFill>
                      <a:schemeClr val="tx1"/>
                    </a:solidFill>
                  </a:rPr>
                  <a:t>=(1F4)</a:t>
                </a:r>
                <a:r>
                  <a:rPr lang="en-US" sz="4000" baseline="-25000" dirty="0">
                    <a:solidFill>
                      <a:schemeClr val="tx1"/>
                    </a:solidFill>
                  </a:rPr>
                  <a:t>16</a:t>
                </a:r>
                <a:endParaRPr lang="he-IL" sz="4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1144" y="1750666"/>
                <a:ext cx="8229600" cy="4709120"/>
              </a:xfrm>
              <a:blipFill rotWithShape="0">
                <a:blip r:embed="rId3"/>
                <a:stretch>
                  <a:fillRect t="-1164" r="-1852" b="-219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15</a:t>
            </a:fld>
            <a:endParaRPr lang="he-IL"/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D8B319A9-2D4E-4CAB-B58C-384D39317F01}"/>
              </a:ext>
            </a:extLst>
          </p:cNvPr>
          <p:cNvSpPr/>
          <p:nvPr/>
        </p:nvSpPr>
        <p:spPr>
          <a:xfrm>
            <a:off x="1547664" y="2132856"/>
            <a:ext cx="1368152" cy="30911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u="sng" dirty="0"/>
              <a:t>מספר</a:t>
            </a:r>
          </a:p>
          <a:p>
            <a:pPr algn="ctr"/>
            <a:endParaRPr lang="he-IL" dirty="0"/>
          </a:p>
          <a:p>
            <a:pPr algn="ctr"/>
            <a:r>
              <a:rPr lang="he-IL" dirty="0"/>
              <a:t>500</a:t>
            </a:r>
          </a:p>
          <a:p>
            <a:pPr algn="ctr"/>
            <a:endParaRPr lang="he-IL" dirty="0"/>
          </a:p>
          <a:p>
            <a:pPr algn="ctr"/>
            <a:r>
              <a:rPr lang="he-IL" dirty="0"/>
              <a:t>31</a:t>
            </a:r>
          </a:p>
          <a:p>
            <a:pPr algn="ctr"/>
            <a:endParaRPr lang="he-IL" dirty="0"/>
          </a:p>
          <a:p>
            <a:pPr algn="ctr"/>
            <a:r>
              <a:rPr lang="he-IL" dirty="0"/>
              <a:t>1</a:t>
            </a:r>
          </a:p>
          <a:p>
            <a:pPr algn="ctr"/>
            <a:endParaRPr lang="he-IL" dirty="0"/>
          </a:p>
          <a:p>
            <a:pPr algn="ctr"/>
            <a:r>
              <a:rPr lang="he-IL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מלבן: פינות מעוגלות 6">
                <a:extLst>
                  <a:ext uri="{FF2B5EF4-FFF2-40B4-BE49-F238E27FC236}">
                    <a16:creationId xmlns:a16="http://schemas.microsoft.com/office/drawing/2014/main" id="{D725E954-AAA5-4065-96FE-25D329C36D3E}"/>
                  </a:ext>
                </a:extLst>
              </p:cNvPr>
              <p:cNvSpPr/>
              <p:nvPr/>
            </p:nvSpPr>
            <p:spPr>
              <a:xfrm>
                <a:off x="3775532" y="2135255"/>
                <a:ext cx="1368152" cy="309118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 b="1" u="sng" dirty="0"/>
                  <a:t>שארית</a:t>
                </a:r>
              </a:p>
              <a:p>
                <a:pPr algn="ctr"/>
                <a:endParaRPr lang="he-IL" dirty="0"/>
              </a:p>
              <a:p>
                <a:pPr algn="ctr"/>
                <a:endParaRPr lang="he-IL" dirty="0"/>
              </a:p>
              <a:p>
                <a:pPr algn="ctr"/>
                <a:endParaRPr lang="he-IL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4=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algn="ctr"/>
                <a:endParaRPr lang="he-IL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  <a:p>
                <a:pPr algn="ctr"/>
                <a:endParaRPr lang="he-IL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מלבן: פינות מעוגלות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725E954-AAA5-4065-96FE-25D329C36D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532" y="2135255"/>
                <a:ext cx="1368152" cy="3091182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67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4000" dirty="0"/>
              <a:t>מעבר בין בסיסים שהם חזקות אחד של השני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2114008"/>
                <a:ext cx="8640960" cy="449309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 n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endParaRPr lang="he-IL" sz="2800" dirty="0">
                  <a:solidFill>
                    <a:schemeClr val="tx1"/>
                  </a:solidFill>
                </a:endParaRPr>
              </a:p>
              <a:p>
                <a:r>
                  <a:rPr lang="he-IL" sz="2800" dirty="0">
                    <a:solidFill>
                      <a:schemeClr val="tx1"/>
                    </a:solidFill>
                  </a:rPr>
                  <a:t>ישנה דרך קלה להמיר ביניהם ללא מעבר דרך הבסיס העשרוני</a:t>
                </a:r>
              </a:p>
              <a:p>
                <a:pPr marL="0" indent="0">
                  <a:buNone/>
                </a:pPr>
                <a:endParaRPr lang="he-IL" sz="16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he-IL" sz="28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דוגמא</a:t>
                </a:r>
                <a:r>
                  <a:rPr lang="he-IL" sz="2800" dirty="0">
                    <a:solidFill>
                      <a:schemeClr val="tx1"/>
                    </a:solidFill>
                  </a:rPr>
                  <a:t>: מעבר מבסיס 2 לבסיס 16 ובחזרה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6=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sz="28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0" indent="0">
                  <a:buNone/>
                </a:pPr>
                <a:endParaRPr lang="he-IL" sz="1800" dirty="0">
                  <a:solidFill>
                    <a:schemeClr val="tx1"/>
                  </a:solidFill>
                </a:endParaRPr>
              </a:p>
              <a:p>
                <a:pPr marL="0" indent="0" algn="l" rtl="0">
                  <a:buNone/>
                </a:pPr>
                <a:r>
                  <a:rPr lang="en-US" sz="2800" dirty="0">
                    <a:solidFill>
                      <a:schemeClr val="tx1"/>
                    </a:solidFill>
                  </a:rPr>
                  <a:t>	(1101011110001111)</a:t>
                </a:r>
                <a:r>
                  <a:rPr lang="en-US" sz="2800" baseline="-25000" dirty="0">
                    <a:solidFill>
                      <a:schemeClr val="tx1"/>
                    </a:solidFill>
                  </a:rPr>
                  <a:t>2</a:t>
                </a:r>
              </a:p>
              <a:p>
                <a:pPr marL="0" indent="0" algn="l" rtl="0">
                  <a:buNone/>
                </a:pPr>
                <a:r>
                  <a:rPr lang="en-US" sz="2800" dirty="0">
                    <a:solidFill>
                      <a:schemeClr val="tx1"/>
                    </a:solidFill>
                  </a:rPr>
                  <a:t>	=(1101,0111,1000,1111)</a:t>
                </a:r>
                <a:r>
                  <a:rPr lang="en-US" sz="2800" baseline="-25000" dirty="0">
                    <a:solidFill>
                      <a:schemeClr val="tx1"/>
                    </a:solidFill>
                  </a:rPr>
                  <a:t>2</a:t>
                </a:r>
              </a:p>
              <a:p>
                <a:pPr marL="0" indent="0" algn="l" rtl="0">
                  <a:buNone/>
                </a:pPr>
                <a:r>
                  <a:rPr lang="en-US" sz="2800" dirty="0">
                    <a:solidFill>
                      <a:schemeClr val="tx1"/>
                    </a:solidFill>
                  </a:rPr>
                  <a:t>	=(D78F)</a:t>
                </a:r>
                <a:r>
                  <a:rPr lang="en-US" sz="2800" baseline="-25000" dirty="0">
                    <a:solidFill>
                      <a:schemeClr val="tx1"/>
                    </a:solidFill>
                  </a:rPr>
                  <a:t>16</a:t>
                </a:r>
                <a:endParaRPr lang="he-IL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he-IL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he-IL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he-IL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he-IL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he-IL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2114008"/>
                <a:ext cx="8640960" cy="4493096"/>
              </a:xfrm>
              <a:blipFill rotWithShape="0">
                <a:blip r:embed="rId3"/>
                <a:stretch>
                  <a:fillRect l="-71" t="-2307" r="-289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526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F8CFD-1B0C-3B00-1E12-FD57B4DB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EF76-C088-0E55-FFCF-65C36D0E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4000" dirty="0"/>
              <a:t>מעבר בין בסיסים – שאלות?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CDF38-9F2F-CA07-9E02-82E00A05A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4616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4000" dirty="0"/>
              <a:t>אריתמטיקה בבסיסים שונים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1880" y="1933228"/>
            <a:ext cx="5277272" cy="4709120"/>
          </a:xfrm>
        </p:spPr>
        <p:txBody>
          <a:bodyPr>
            <a:normAutofit/>
          </a:bodyPr>
          <a:lstStyle/>
          <a:p>
            <a:r>
              <a:rPr lang="he-IL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חיבור</a:t>
            </a:r>
            <a:r>
              <a:rPr lang="he-IL" sz="2400" dirty="0">
                <a:solidFill>
                  <a:schemeClr val="tx1"/>
                </a:solidFill>
              </a:rPr>
              <a:t> בבסיס 2: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   10101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+ </a:t>
            </a:r>
            <a:r>
              <a:rPr lang="en-US" sz="2400" u="sng" dirty="0">
                <a:solidFill>
                  <a:schemeClr val="tx1"/>
                </a:solidFill>
              </a:rPr>
              <a:t>11011</a:t>
            </a:r>
            <a:endParaRPr lang="he-IL" sz="2400" u="sng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 110000</a:t>
            </a:r>
            <a:endParaRPr lang="he-IL" sz="2400" dirty="0">
              <a:solidFill>
                <a:schemeClr val="tx1"/>
              </a:solidFill>
            </a:endParaRPr>
          </a:p>
          <a:p>
            <a:r>
              <a:rPr lang="he-IL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חיסור</a:t>
            </a:r>
            <a:r>
              <a:rPr lang="he-IL" sz="2400" dirty="0">
                <a:solidFill>
                  <a:schemeClr val="tx1"/>
                </a:solidFill>
              </a:rPr>
              <a:t> בבסיס 2: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   110101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-      </a:t>
            </a:r>
            <a:r>
              <a:rPr lang="en-US" sz="2400" u="sng" dirty="0">
                <a:solidFill>
                  <a:schemeClr val="tx1"/>
                </a:solidFill>
              </a:rPr>
              <a:t>11101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endParaRPr lang="he-IL" sz="2400" u="sng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       11000  </a:t>
            </a:r>
            <a:endParaRPr lang="he-IL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he-IL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he-IL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he-IL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he-IL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18</a:t>
            </a:fld>
            <a:endParaRPr lang="he-IL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468560" y="1933228"/>
            <a:ext cx="5277272" cy="47091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r" defTabSz="914400" rtl="1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חיבור</a:t>
            </a:r>
            <a:r>
              <a:rPr lang="he-IL" sz="2400" dirty="0">
                <a:solidFill>
                  <a:schemeClr val="tx1"/>
                </a:solidFill>
              </a:rPr>
              <a:t> בבסיס 16:</a:t>
            </a:r>
          </a:p>
          <a:p>
            <a:pPr marL="0" indent="0" algn="ctr">
              <a:buFont typeface="Calibri" panose="020F0502020204030204" pitchFamily="34" charset="0"/>
              <a:buNone/>
            </a:pPr>
            <a:r>
              <a:rPr lang="en-US" sz="2400" dirty="0">
                <a:solidFill>
                  <a:schemeClr val="tx1"/>
                </a:solidFill>
              </a:rPr>
              <a:t>   15</a:t>
            </a:r>
          </a:p>
          <a:p>
            <a:pPr marL="0" indent="0" algn="ctr">
              <a:buFont typeface="Calibri" panose="020F0502020204030204" pitchFamily="34" charset="0"/>
              <a:buNone/>
            </a:pPr>
            <a:r>
              <a:rPr lang="en-US" sz="2400" dirty="0">
                <a:solidFill>
                  <a:schemeClr val="tx1"/>
                </a:solidFill>
              </a:rPr>
              <a:t>+ </a:t>
            </a:r>
            <a:r>
              <a:rPr lang="en-US" sz="2400" u="sng" dirty="0">
                <a:solidFill>
                  <a:schemeClr val="tx1"/>
                </a:solidFill>
              </a:rPr>
              <a:t>1B</a:t>
            </a:r>
            <a:endParaRPr lang="he-IL" sz="2400" u="sng" dirty="0">
              <a:solidFill>
                <a:schemeClr val="tx1"/>
              </a:solidFill>
            </a:endParaRPr>
          </a:p>
          <a:p>
            <a:pPr marL="0" indent="0" algn="ctr">
              <a:buFont typeface="Calibri" panose="020F0502020204030204" pitchFamily="34" charset="0"/>
              <a:buNone/>
            </a:pPr>
            <a:r>
              <a:rPr lang="en-US" sz="2400" dirty="0">
                <a:solidFill>
                  <a:schemeClr val="tx1"/>
                </a:solidFill>
              </a:rPr>
              <a:t>   30</a:t>
            </a:r>
            <a:endParaRPr lang="he-IL" sz="2400" dirty="0">
              <a:solidFill>
                <a:schemeClr val="tx1"/>
              </a:solidFill>
            </a:endParaRPr>
          </a:p>
          <a:p>
            <a:r>
              <a:rPr lang="he-IL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חיסור</a:t>
            </a:r>
            <a:r>
              <a:rPr lang="he-IL" sz="2400" dirty="0">
                <a:solidFill>
                  <a:schemeClr val="tx1"/>
                </a:solidFill>
              </a:rPr>
              <a:t> בבסיס 16:</a:t>
            </a:r>
          </a:p>
          <a:p>
            <a:pPr marL="0" indent="0" algn="ctr">
              <a:buFont typeface="Calibri" panose="020F0502020204030204" pitchFamily="34" charset="0"/>
              <a:buNone/>
            </a:pPr>
            <a:r>
              <a:rPr lang="en-US" sz="2400" dirty="0">
                <a:solidFill>
                  <a:schemeClr val="tx1"/>
                </a:solidFill>
              </a:rPr>
              <a:t>   35</a:t>
            </a:r>
          </a:p>
          <a:p>
            <a:pPr marL="0" indent="0" algn="ctr">
              <a:buFont typeface="Calibri" panose="020F0502020204030204" pitchFamily="34" charset="0"/>
              <a:buNone/>
            </a:pPr>
            <a:r>
              <a:rPr lang="en-US" sz="2400" dirty="0">
                <a:solidFill>
                  <a:schemeClr val="tx1"/>
                </a:solidFill>
              </a:rPr>
              <a:t>-    </a:t>
            </a:r>
            <a:r>
              <a:rPr lang="en-US" sz="2400" u="sng" dirty="0">
                <a:solidFill>
                  <a:schemeClr val="tx1"/>
                </a:solidFill>
              </a:rPr>
              <a:t>1D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endParaRPr lang="he-IL" sz="2400" u="sng" dirty="0">
              <a:solidFill>
                <a:schemeClr val="tx1"/>
              </a:solidFill>
            </a:endParaRPr>
          </a:p>
          <a:p>
            <a:pPr marL="0" indent="0" algn="ctr">
              <a:buFont typeface="Calibri" panose="020F0502020204030204" pitchFamily="34" charset="0"/>
              <a:buNone/>
            </a:pPr>
            <a:r>
              <a:rPr lang="en-US" sz="2400" dirty="0">
                <a:solidFill>
                  <a:schemeClr val="tx1"/>
                </a:solidFill>
              </a:rPr>
              <a:t>     18  </a:t>
            </a:r>
            <a:endParaRPr lang="he-IL" sz="2400" dirty="0">
              <a:solidFill>
                <a:schemeClr val="tx1"/>
              </a:solidFill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he-IL" sz="2400" dirty="0">
              <a:solidFill>
                <a:schemeClr val="tx1"/>
              </a:solidFill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he-IL" sz="2400" dirty="0">
              <a:solidFill>
                <a:schemeClr val="tx1"/>
              </a:solidFill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he-IL" sz="2400" dirty="0">
              <a:solidFill>
                <a:schemeClr val="tx1"/>
              </a:solidFill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he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67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5EDD-22ED-20CB-6E96-044D7323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D66C8-52B2-2DE4-9B41-1F26B2B1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4000" dirty="0"/>
              <a:t>אריתמטיקה – שאלות?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B1BCB-4032-C893-91C7-0783525C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1359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42B144D-97CC-4B59-9654-1BBD1D532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hangingPunct="1"/>
            <a:r>
              <a:rPr lang="he-IL" altLang="he-IL" sz="4400" dirty="0"/>
              <a:t>מספרים מכוונים – שיטת המשלים ל-2</a:t>
            </a:r>
            <a:endParaRPr lang="en-US" altLang="he-IL" sz="4400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EA01B35-97C5-457B-B2AB-CD38F2EB32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0060" y="1917250"/>
            <a:ext cx="8229600" cy="1447800"/>
          </a:xfrm>
        </p:spPr>
        <p:txBody>
          <a:bodyPr>
            <a:normAutofit lnSpcReduction="10000"/>
          </a:bodyPr>
          <a:lstStyle/>
          <a:p>
            <a:pPr algn="r" rtl="1" eaLnBrk="1" hangingPunct="1">
              <a:lnSpc>
                <a:spcPct val="90000"/>
              </a:lnSpc>
            </a:pPr>
            <a:r>
              <a:rPr lang="he-IL" altLang="he-IL" sz="2400" dirty="0"/>
              <a:t>בשיטה זו, כל מספר מכיל סיבית סימן שמסמנת אם המספר הוא שלילי או חיובי.</a:t>
            </a:r>
          </a:p>
          <a:p>
            <a:pPr algn="r" rtl="1" eaLnBrk="1" hangingPunct="1">
              <a:lnSpc>
                <a:spcPct val="90000"/>
              </a:lnSpc>
            </a:pPr>
            <a:r>
              <a:rPr lang="he-IL" altLang="he-IL" sz="2400" dirty="0"/>
              <a:t>שאר הסיביות מייצגות את </a:t>
            </a:r>
            <a:r>
              <a:rPr lang="he-IL" altLang="he-IL" sz="2400" b="1" dirty="0"/>
              <a:t>הערך</a:t>
            </a:r>
            <a:r>
              <a:rPr lang="he-IL" altLang="he-IL" sz="2400" dirty="0"/>
              <a:t> הבינארי של המספר או את </a:t>
            </a:r>
            <a:r>
              <a:rPr lang="he-IL" altLang="he-IL" sz="2400" b="1" dirty="0"/>
              <a:t>המשלים לערך</a:t>
            </a:r>
            <a:r>
              <a:rPr lang="he-IL" altLang="he-IL" sz="2400" dirty="0"/>
              <a:t> הבינארי </a:t>
            </a:r>
            <a:r>
              <a:rPr lang="he-IL" altLang="he-IL" sz="2400" b="1" u="sng" dirty="0"/>
              <a:t>ועוד אחד</a:t>
            </a:r>
            <a:r>
              <a:rPr lang="he-IL" altLang="he-IL" sz="2400" dirty="0"/>
              <a:t>.</a:t>
            </a:r>
            <a:endParaRPr lang="en-US" altLang="he-IL" sz="2400" dirty="0"/>
          </a:p>
        </p:txBody>
      </p:sp>
      <p:sp>
        <p:nvSpPr>
          <p:cNvPr id="25635" name="Slide Number Placeholder 1">
            <a:extLst>
              <a:ext uri="{FF2B5EF4-FFF2-40B4-BE49-F238E27FC236}">
                <a16:creationId xmlns:a16="http://schemas.microsoft.com/office/drawing/2014/main" id="{EAEA1A0B-E559-4121-892B-6D874987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F76F5D2-79ED-447A-8E66-BB8A8E2F2A02}" type="slidenum">
              <a:rPr lang="en-US" altLang="he-IL" b="0"/>
              <a:pPr eaLnBrk="1" hangingPunct="1"/>
              <a:t>20</a:t>
            </a:fld>
            <a:endParaRPr lang="en-US" altLang="he-IL" b="0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53655FAA-20D5-4E32-9EEE-FA45EA1C7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3" y="382294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 b="0"/>
          </a:p>
        </p:txBody>
      </p:sp>
      <p:graphicFrame>
        <p:nvGraphicFramePr>
          <p:cNvPr id="25605" name="Object 5">
            <a:extLst>
              <a:ext uri="{FF2B5EF4-FFF2-40B4-BE49-F238E27FC236}">
                <a16:creationId xmlns:a16="http://schemas.microsoft.com/office/drawing/2014/main" id="{973FFB9A-D3F2-4BBE-97EA-11D4451BD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357286"/>
              </p:ext>
            </p:extLst>
          </p:nvPr>
        </p:nvGraphicFramePr>
        <p:xfrm>
          <a:off x="1752600" y="5207347"/>
          <a:ext cx="184785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449" imgH="469696" progId="Equation.DSMT4">
                  <p:embed/>
                </p:oleObj>
              </mc:Choice>
              <mc:Fallback>
                <p:oleObj name="Equation" r:id="rId3" imgW="1269449" imgH="469696" progId="Equation.DSMT4">
                  <p:embed/>
                  <p:pic>
                    <p:nvPicPr>
                      <p:cNvPr id="25605" name="Object 5">
                        <a:extLst>
                          <a:ext uri="{FF2B5EF4-FFF2-40B4-BE49-F238E27FC236}">
                            <a16:creationId xmlns:a16="http://schemas.microsoft.com/office/drawing/2014/main" id="{973FFB9A-D3F2-4BBE-97EA-11D4451BD7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207347"/>
                        <a:ext cx="184785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Rectangle 6">
            <a:extLst>
              <a:ext uri="{FF2B5EF4-FFF2-40B4-BE49-F238E27FC236}">
                <a16:creationId xmlns:a16="http://schemas.microsoft.com/office/drawing/2014/main" id="{6026C84B-098B-47DA-99FA-88933F89C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3" y="382294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 b="0"/>
          </a:p>
        </p:txBody>
      </p:sp>
      <p:graphicFrame>
        <p:nvGraphicFramePr>
          <p:cNvPr id="19508" name="Group 52">
            <a:extLst>
              <a:ext uri="{FF2B5EF4-FFF2-40B4-BE49-F238E27FC236}">
                <a16:creationId xmlns:a16="http://schemas.microsoft.com/office/drawing/2014/main" id="{90CAE331-1434-4A7F-97D1-4008EDBC1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320211"/>
              </p:ext>
            </p:extLst>
          </p:nvPr>
        </p:nvGraphicFramePr>
        <p:xfrm>
          <a:off x="1752600" y="3683347"/>
          <a:ext cx="6022975" cy="1432068"/>
        </p:xfrm>
        <a:graphic>
          <a:graphicData uri="http://schemas.openxmlformats.org/drawingml/2006/table">
            <a:tbl>
              <a:tblPr rtl="1"/>
              <a:tblGrid>
                <a:gridCol w="61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038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b</a:t>
                      </a:r>
                      <a:r>
                        <a:rPr kumimoji="0" lang="en-US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638" marB="4563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b</a:t>
                      </a:r>
                      <a:r>
                        <a:rPr kumimoji="0" lang="en-US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N-2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b</a:t>
                      </a:r>
                      <a:r>
                        <a:rPr kumimoji="0" lang="en-US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N-1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848">
                <a:tc gridSpan="9"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אם חיובי – הערך הבינארי של המספר</a:t>
                      </a:r>
                    </a:p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אם שלילי – המשלים של הערך הבינארי של המספר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he-IL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+ 1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sign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636" name="Object 8">
            <a:extLst>
              <a:ext uri="{FF2B5EF4-FFF2-40B4-BE49-F238E27FC236}">
                <a16:creationId xmlns:a16="http://schemas.microsoft.com/office/drawing/2014/main" id="{130029D7-ACA7-4226-A41E-13F5E1543D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298489"/>
              </p:ext>
            </p:extLst>
          </p:nvPr>
        </p:nvGraphicFramePr>
        <p:xfrm>
          <a:off x="1697409" y="6836279"/>
          <a:ext cx="30988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84200" imgH="431640" progId="Equation.DSMT4">
                  <p:embed/>
                </p:oleObj>
              </mc:Choice>
              <mc:Fallback>
                <p:oleObj name="Equation" r:id="rId5" imgW="1384200" imgH="431640" progId="Equation.DSMT4">
                  <p:embed/>
                  <p:pic>
                    <p:nvPicPr>
                      <p:cNvPr id="25636" name="Object 8">
                        <a:extLst>
                          <a:ext uri="{FF2B5EF4-FFF2-40B4-BE49-F238E27FC236}">
                            <a16:creationId xmlns:a16="http://schemas.microsoft.com/office/drawing/2014/main" id="{130029D7-ACA7-4226-A41E-13F5E1543D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409" y="6836279"/>
                        <a:ext cx="309880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7" name="TextBox 9">
            <a:extLst>
              <a:ext uri="{FF2B5EF4-FFF2-40B4-BE49-F238E27FC236}">
                <a16:creationId xmlns:a16="http://schemas.microsoft.com/office/drawing/2014/main" id="{3F1ACE08-5603-4CB6-9262-BC28D6DD7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281" y="6952832"/>
            <a:ext cx="144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he-IL" altLang="he-IL" sz="2000" b="0" dirty="0"/>
              <a:t>באופן כללי:</a:t>
            </a:r>
          </a:p>
        </p:txBody>
      </p:sp>
    </p:spTree>
    <p:extLst>
      <p:ext uri="{BB962C8B-B14F-4D97-AF65-F5344CB8AC3E}">
        <p14:creationId xmlns:p14="http://schemas.microsoft.com/office/powerpoint/2010/main" val="105227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Group 2">
            <a:extLst>
              <a:ext uri="{FF2B5EF4-FFF2-40B4-BE49-F238E27FC236}">
                <a16:creationId xmlns:a16="http://schemas.microsoft.com/office/drawing/2014/main" id="{8A6EF88C-3AB9-4AEE-BB9E-E68E2BF5D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908082"/>
              </p:ext>
            </p:extLst>
          </p:nvPr>
        </p:nvGraphicFramePr>
        <p:xfrm>
          <a:off x="5383165" y="1941516"/>
          <a:ext cx="3337560" cy="4175886"/>
        </p:xfrm>
        <a:graphic>
          <a:graphicData uri="http://schemas.openxmlformats.org/drawingml/2006/table">
            <a:tbl>
              <a:tblPr rtl="1"/>
              <a:tblGrid>
                <a:gridCol w="1365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2’s complement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ערך (ללא סימן)</a:t>
                      </a:r>
                      <a:endParaRPr kumimoji="0" lang="he-IL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מספר בינארי</a:t>
                      </a:r>
                      <a:endParaRPr kumimoji="0" lang="he-IL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4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001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4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010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0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011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4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-4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0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-3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101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4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-2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110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0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-1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111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665" name="Text Box 41">
            <a:extLst>
              <a:ext uri="{FF2B5EF4-FFF2-40B4-BE49-F238E27FC236}">
                <a16:creationId xmlns:a16="http://schemas.microsoft.com/office/drawing/2014/main" id="{DF266C97-C3D4-49CD-8D69-8B5E6B1CC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2032483"/>
            <a:ext cx="4343400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he-IL" altLang="he-IL" sz="3200" b="0" u="sng" dirty="0"/>
              <a:t>טווח ייצוג:</a:t>
            </a:r>
            <a:br>
              <a:rPr lang="en-US" altLang="he-IL" sz="3200" b="0" dirty="0"/>
            </a:br>
            <a:br>
              <a:rPr lang="en-US" altLang="he-IL" sz="3200" b="0" dirty="0"/>
            </a:br>
            <a:r>
              <a:rPr lang="he-IL" altLang="he-IL" sz="3200" b="0" dirty="0"/>
              <a:t>	</a:t>
            </a:r>
          </a:p>
          <a:p>
            <a:pPr algn="r" rtl="1" eaLnBrk="1" hangingPunct="1">
              <a:buFontTx/>
              <a:buChar char="•"/>
            </a:pPr>
            <a:r>
              <a:rPr lang="he-IL" altLang="he-IL" sz="3200" b="0" u="sng" dirty="0"/>
              <a:t>יתרונות :</a:t>
            </a:r>
          </a:p>
          <a:p>
            <a:pPr lvl="1" algn="r" rtl="1" eaLnBrk="1" hangingPunct="1">
              <a:buFontTx/>
              <a:buChar char="•"/>
            </a:pPr>
            <a:r>
              <a:rPr lang="he-IL" altLang="he-IL" sz="3200" b="0" dirty="0"/>
              <a:t>חיבור/חיסור פשוטים: אם יש </a:t>
            </a:r>
            <a:r>
              <a:rPr lang="en-US" altLang="he-IL" sz="3200" b="0" dirty="0"/>
              <a:t>carry</a:t>
            </a:r>
            <a:r>
              <a:rPr lang="he-IL" altLang="he-IL" sz="3200" b="0" dirty="0"/>
              <a:t> פשוט מתעלמים ממנו.</a:t>
            </a:r>
          </a:p>
          <a:p>
            <a:pPr lvl="1" algn="r" rtl="1" eaLnBrk="1" hangingPunct="1">
              <a:buFontTx/>
              <a:buChar char="•"/>
            </a:pPr>
            <a:r>
              <a:rPr lang="he-IL" altLang="he-IL" sz="3200" b="0" dirty="0"/>
              <a:t>ייצוג בודד לאפס.</a:t>
            </a:r>
          </a:p>
        </p:txBody>
      </p:sp>
      <p:sp>
        <p:nvSpPr>
          <p:cNvPr id="26666" name="Rectangle 42">
            <a:extLst>
              <a:ext uri="{FF2B5EF4-FFF2-40B4-BE49-F238E27FC236}">
                <a16:creationId xmlns:a16="http://schemas.microsoft.com/office/drawing/2014/main" id="{A5D356B7-DE14-423E-BB0A-1D7D42715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graphicFrame>
        <p:nvGraphicFramePr>
          <p:cNvPr id="26667" name="Object 43">
            <a:extLst>
              <a:ext uri="{FF2B5EF4-FFF2-40B4-BE49-F238E27FC236}">
                <a16:creationId xmlns:a16="http://schemas.microsoft.com/office/drawing/2014/main" id="{80487CD8-0BDE-4CB7-915B-AFAB9AA53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156888"/>
              </p:ext>
            </p:extLst>
          </p:nvPr>
        </p:nvGraphicFramePr>
        <p:xfrm>
          <a:off x="963472" y="2780928"/>
          <a:ext cx="27289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9200" imgH="190500" progId="Equation.DSMT4">
                  <p:embed/>
                </p:oleObj>
              </mc:Choice>
              <mc:Fallback>
                <p:oleObj name="Equation" r:id="rId3" imgW="1219200" imgH="190500" progId="Equation.DSMT4">
                  <p:embed/>
                  <p:pic>
                    <p:nvPicPr>
                      <p:cNvPr id="26667" name="Object 43">
                        <a:extLst>
                          <a:ext uri="{FF2B5EF4-FFF2-40B4-BE49-F238E27FC236}">
                            <a16:creationId xmlns:a16="http://schemas.microsoft.com/office/drawing/2014/main" id="{80487CD8-0BDE-4CB7-915B-AFAB9AA53A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472" y="2780928"/>
                        <a:ext cx="27289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8" name="Rectangle 44">
            <a:extLst>
              <a:ext uri="{FF2B5EF4-FFF2-40B4-BE49-F238E27FC236}">
                <a16:creationId xmlns:a16="http://schemas.microsoft.com/office/drawing/2014/main" id="{6858A861-7C98-4609-B171-869477EDD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r" eaLnBrk="1" hangingPunct="1"/>
            <a:r>
              <a:rPr lang="he-IL" altLang="he-IL" dirty="0"/>
              <a:t>משלים ל-2</a:t>
            </a:r>
            <a:endParaRPr lang="en-US" altLang="he-IL" dirty="0"/>
          </a:p>
        </p:txBody>
      </p:sp>
      <p:sp>
        <p:nvSpPr>
          <p:cNvPr id="26669" name="Slide Number Placeholder 1">
            <a:extLst>
              <a:ext uri="{FF2B5EF4-FFF2-40B4-BE49-F238E27FC236}">
                <a16:creationId xmlns:a16="http://schemas.microsoft.com/office/drawing/2014/main" id="{59E9648C-A685-4220-80F9-F3C5D1C4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9D7B4F3-85F2-46D3-A06A-D370CB3BDE0D}" type="slidenum">
              <a:rPr lang="en-US" altLang="he-IL" b="0"/>
              <a:pPr eaLnBrk="1" hangingPunct="1"/>
              <a:t>21</a:t>
            </a:fld>
            <a:endParaRPr lang="en-US" altLang="he-IL" b="0"/>
          </a:p>
        </p:txBody>
      </p:sp>
    </p:spTree>
    <p:extLst>
      <p:ext uri="{BB962C8B-B14F-4D97-AF65-F5344CB8AC3E}">
        <p14:creationId xmlns:p14="http://schemas.microsoft.com/office/powerpoint/2010/main" val="2003551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CC24C6A-7686-42F4-8F4A-A64FF80A9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he-IL" altLang="he-IL" dirty="0"/>
              <a:t>משלים ל-2</a:t>
            </a:r>
            <a:endParaRPr lang="en-US" altLang="he-IL" dirty="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C9A2372-DFB2-4B36-879E-8FC7F3ED85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3550" y="1903413"/>
            <a:ext cx="8229600" cy="609600"/>
          </a:xfrm>
        </p:spPr>
        <p:txBody>
          <a:bodyPr/>
          <a:lstStyle/>
          <a:p>
            <a:pPr algn="r" rtl="1" eaLnBrk="1" hangingPunct="1"/>
            <a:r>
              <a:rPr lang="he-IL" altLang="he-IL" dirty="0"/>
              <a:t>דוגמאות לחיבור וחיסור (</a:t>
            </a:r>
            <a:r>
              <a:rPr lang="en-US" altLang="he-IL" dirty="0"/>
              <a:t>N=5</a:t>
            </a:r>
            <a:r>
              <a:rPr lang="he-IL" altLang="he-IL" dirty="0"/>
              <a:t>) :</a:t>
            </a:r>
            <a:endParaRPr lang="en-US" altLang="he-IL" dirty="0"/>
          </a:p>
        </p:txBody>
      </p:sp>
      <p:sp>
        <p:nvSpPr>
          <p:cNvPr id="27697" name="Slide Number Placeholder 1">
            <a:extLst>
              <a:ext uri="{FF2B5EF4-FFF2-40B4-BE49-F238E27FC236}">
                <a16:creationId xmlns:a16="http://schemas.microsoft.com/office/drawing/2014/main" id="{9ABFAC3B-E957-4177-A7E4-1B6F74EC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71DCBDE-6228-41A6-88A2-562CA58CD35A}" type="slidenum">
              <a:rPr lang="en-US" altLang="he-IL" b="0"/>
              <a:pPr eaLnBrk="1" hangingPunct="1"/>
              <a:t>22</a:t>
            </a:fld>
            <a:endParaRPr lang="en-US" altLang="he-IL" b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A374EC9B-46E3-4A77-B035-E6CAF150A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0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51504015-2A0B-45C3-ADC1-36C36C4A3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0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933762B4-24CE-4699-B1B3-A0215BCAA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CEEF96F2-E6C7-4BA0-8D0D-D3DDF5ACF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481BAA7B-009F-4327-8514-941A9D576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15B34EA4-B378-44F0-AE23-9D89B0BB7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0</a:t>
            </a:r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FA18817D-9EC5-42DD-8893-8BBE5C749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8606CE0C-DE62-482D-8F04-16C941897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60" name="Text Box 12">
            <a:extLst>
              <a:ext uri="{FF2B5EF4-FFF2-40B4-BE49-F238E27FC236}">
                <a16:creationId xmlns:a16="http://schemas.microsoft.com/office/drawing/2014/main" id="{8797C4CF-C816-4B0F-816F-962A79184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12420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he-IL" altLang="he-IL"/>
              <a:t>+</a:t>
            </a:r>
            <a:endParaRPr lang="en-US" altLang="he-IL"/>
          </a:p>
        </p:txBody>
      </p:sp>
      <p:sp>
        <p:nvSpPr>
          <p:cNvPr id="27661" name="Line 13">
            <a:extLst>
              <a:ext uri="{FF2B5EF4-FFF2-40B4-BE49-F238E27FC236}">
                <a16:creationId xmlns:a16="http://schemas.microsoft.com/office/drawing/2014/main" id="{3C0AEBEF-B64B-4D0F-9696-924628A92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42672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BC8E080F-0195-48B5-AD2A-135B44A03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CA36966B-E9F5-4B9B-976A-14FAA0459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64" name="Rectangle 16">
            <a:extLst>
              <a:ext uri="{FF2B5EF4-FFF2-40B4-BE49-F238E27FC236}">
                <a16:creationId xmlns:a16="http://schemas.microsoft.com/office/drawing/2014/main" id="{BB316CB6-F78A-41F7-881D-4CCC6C278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65" name="Rectangle 17">
            <a:extLst>
              <a:ext uri="{FF2B5EF4-FFF2-40B4-BE49-F238E27FC236}">
                <a16:creationId xmlns:a16="http://schemas.microsoft.com/office/drawing/2014/main" id="{4CD8C75C-64BC-4FC5-BD90-545C56CF4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66" name="Text Box 19">
            <a:extLst>
              <a:ext uri="{FF2B5EF4-FFF2-40B4-BE49-F238E27FC236}">
                <a16:creationId xmlns:a16="http://schemas.microsoft.com/office/drawing/2014/main" id="{23B1ED68-7AB2-47D1-83FE-FC31F7916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5" y="2627313"/>
            <a:ext cx="596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 b="0" dirty="0"/>
              <a:t>(=7)</a:t>
            </a:r>
          </a:p>
        </p:txBody>
      </p:sp>
      <p:sp>
        <p:nvSpPr>
          <p:cNvPr id="27667" name="Text Box 20">
            <a:extLst>
              <a:ext uri="{FF2B5EF4-FFF2-40B4-BE49-F238E27FC236}">
                <a16:creationId xmlns:a16="http://schemas.microsoft.com/office/drawing/2014/main" id="{A932B717-2EE7-4662-BD4C-E595BA20D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505200"/>
            <a:ext cx="73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 b="0" dirty="0"/>
              <a:t>(= -9)</a:t>
            </a:r>
          </a:p>
        </p:txBody>
      </p:sp>
      <p:sp>
        <p:nvSpPr>
          <p:cNvPr id="27668" name="Text Box 21">
            <a:extLst>
              <a:ext uri="{FF2B5EF4-FFF2-40B4-BE49-F238E27FC236}">
                <a16:creationId xmlns:a16="http://schemas.microsoft.com/office/drawing/2014/main" id="{F90020C5-6D0F-4443-9B0F-941402267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648200"/>
            <a:ext cx="73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 b="0" dirty="0"/>
              <a:t>(= -2)</a:t>
            </a:r>
          </a:p>
        </p:txBody>
      </p:sp>
      <p:sp>
        <p:nvSpPr>
          <p:cNvPr id="27669" name="Rectangle 22">
            <a:extLst>
              <a:ext uri="{FF2B5EF4-FFF2-40B4-BE49-F238E27FC236}">
                <a16:creationId xmlns:a16="http://schemas.microsoft.com/office/drawing/2014/main" id="{27CB22F5-29D4-4204-B136-C8D6C1EEC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70" name="Rectangle 23">
            <a:extLst>
              <a:ext uri="{FF2B5EF4-FFF2-40B4-BE49-F238E27FC236}">
                <a16:creationId xmlns:a16="http://schemas.microsoft.com/office/drawing/2014/main" id="{3265D5C3-83A3-44B3-8523-6F4E875CF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0</a:t>
            </a:r>
          </a:p>
        </p:txBody>
      </p:sp>
      <p:sp>
        <p:nvSpPr>
          <p:cNvPr id="27671" name="Rectangle 24">
            <a:extLst>
              <a:ext uri="{FF2B5EF4-FFF2-40B4-BE49-F238E27FC236}">
                <a16:creationId xmlns:a16="http://schemas.microsoft.com/office/drawing/2014/main" id="{5686C156-70E3-460A-8BF8-AC0B69F21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72" name="Rectangle 25">
            <a:extLst>
              <a:ext uri="{FF2B5EF4-FFF2-40B4-BE49-F238E27FC236}">
                <a16:creationId xmlns:a16="http://schemas.microsoft.com/office/drawing/2014/main" id="{DCD66576-FB4E-42FF-95CB-67BB2905E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73" name="Rectangle 26">
            <a:extLst>
              <a:ext uri="{FF2B5EF4-FFF2-40B4-BE49-F238E27FC236}">
                <a16:creationId xmlns:a16="http://schemas.microsoft.com/office/drawing/2014/main" id="{E495E6F3-4048-45C1-880C-6B8069B7D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74" name="Rectangle 27">
            <a:extLst>
              <a:ext uri="{FF2B5EF4-FFF2-40B4-BE49-F238E27FC236}">
                <a16:creationId xmlns:a16="http://schemas.microsoft.com/office/drawing/2014/main" id="{618FAF09-803E-4782-BC05-D7BBC4266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0</a:t>
            </a:r>
          </a:p>
        </p:txBody>
      </p:sp>
      <p:sp>
        <p:nvSpPr>
          <p:cNvPr id="27675" name="Rectangle 28">
            <a:extLst>
              <a:ext uri="{FF2B5EF4-FFF2-40B4-BE49-F238E27FC236}">
                <a16:creationId xmlns:a16="http://schemas.microsoft.com/office/drawing/2014/main" id="{68E68A75-E32F-422F-95EC-343F9D584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76" name="Rectangle 29">
            <a:extLst>
              <a:ext uri="{FF2B5EF4-FFF2-40B4-BE49-F238E27FC236}">
                <a16:creationId xmlns:a16="http://schemas.microsoft.com/office/drawing/2014/main" id="{AE939031-BF1C-4FF7-B070-EBACF57E8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0</a:t>
            </a:r>
          </a:p>
        </p:txBody>
      </p:sp>
      <p:sp>
        <p:nvSpPr>
          <p:cNvPr id="27677" name="Text Box 30">
            <a:extLst>
              <a:ext uri="{FF2B5EF4-FFF2-40B4-BE49-F238E27FC236}">
                <a16:creationId xmlns:a16="http://schemas.microsoft.com/office/drawing/2014/main" id="{2E944BE0-47E4-4D24-8C42-5D08DBB80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12420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he-IL" altLang="he-IL"/>
              <a:t>+</a:t>
            </a:r>
            <a:endParaRPr lang="en-US" altLang="he-IL"/>
          </a:p>
        </p:txBody>
      </p:sp>
      <p:sp>
        <p:nvSpPr>
          <p:cNvPr id="27678" name="Line 31">
            <a:extLst>
              <a:ext uri="{FF2B5EF4-FFF2-40B4-BE49-F238E27FC236}">
                <a16:creationId xmlns:a16="http://schemas.microsoft.com/office/drawing/2014/main" id="{4EE7A333-A86A-4101-AC1F-907DE5BF5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2672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79" name="Rectangle 32">
            <a:extLst>
              <a:ext uri="{FF2B5EF4-FFF2-40B4-BE49-F238E27FC236}">
                <a16:creationId xmlns:a16="http://schemas.microsoft.com/office/drawing/2014/main" id="{EC378C81-0732-49E2-B869-A822773CD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he-IL" altLang="he-IL" b="0"/>
              <a:t>0</a:t>
            </a:r>
            <a:endParaRPr lang="en-US" altLang="he-IL" b="0"/>
          </a:p>
        </p:txBody>
      </p:sp>
      <p:sp>
        <p:nvSpPr>
          <p:cNvPr id="27680" name="Rectangle 33">
            <a:extLst>
              <a:ext uri="{FF2B5EF4-FFF2-40B4-BE49-F238E27FC236}">
                <a16:creationId xmlns:a16="http://schemas.microsoft.com/office/drawing/2014/main" id="{BA54D639-73EA-4080-A053-671673518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81" name="Rectangle 34">
            <a:extLst>
              <a:ext uri="{FF2B5EF4-FFF2-40B4-BE49-F238E27FC236}">
                <a16:creationId xmlns:a16="http://schemas.microsoft.com/office/drawing/2014/main" id="{6B771973-43D9-4686-B97A-A2E9EC97B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0</a:t>
            </a:r>
          </a:p>
        </p:txBody>
      </p:sp>
      <p:sp>
        <p:nvSpPr>
          <p:cNvPr id="27682" name="Rectangle 35">
            <a:extLst>
              <a:ext uri="{FF2B5EF4-FFF2-40B4-BE49-F238E27FC236}">
                <a16:creationId xmlns:a16="http://schemas.microsoft.com/office/drawing/2014/main" id="{700CB688-D465-4D19-B21A-5DCD2D0A0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 dirty="0"/>
              <a:t>1</a:t>
            </a:r>
          </a:p>
        </p:txBody>
      </p:sp>
      <p:sp>
        <p:nvSpPr>
          <p:cNvPr id="27683" name="Rectangle 36">
            <a:extLst>
              <a:ext uri="{FF2B5EF4-FFF2-40B4-BE49-F238E27FC236}">
                <a16:creationId xmlns:a16="http://schemas.microsoft.com/office/drawing/2014/main" id="{3970AB6C-BFFD-42E3-8E42-E7EF16F3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he-IL" altLang="he-IL" b="0"/>
              <a:t>1</a:t>
            </a:r>
            <a:endParaRPr lang="en-US" altLang="he-IL" b="0"/>
          </a:p>
        </p:txBody>
      </p:sp>
      <p:sp>
        <p:nvSpPr>
          <p:cNvPr id="27684" name="Text Box 37">
            <a:extLst>
              <a:ext uri="{FF2B5EF4-FFF2-40B4-BE49-F238E27FC236}">
                <a16:creationId xmlns:a16="http://schemas.microsoft.com/office/drawing/2014/main" id="{D8FDCBF5-7567-4AA9-84BB-D7572BA0A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538" y="5237163"/>
            <a:ext cx="781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 dirty="0"/>
              <a:t>Carry</a:t>
            </a:r>
          </a:p>
        </p:txBody>
      </p:sp>
      <p:sp>
        <p:nvSpPr>
          <p:cNvPr id="27685" name="AutoShape 38">
            <a:extLst>
              <a:ext uri="{FF2B5EF4-FFF2-40B4-BE49-F238E27FC236}">
                <a16:creationId xmlns:a16="http://schemas.microsoft.com/office/drawing/2014/main" id="{86D30B03-38F5-4EDE-86F4-7C1D26FDF79D}"/>
              </a:ext>
            </a:extLst>
          </p:cNvPr>
          <p:cNvSpPr>
            <a:spLocks/>
          </p:cNvSpPr>
          <p:nvPr/>
        </p:nvSpPr>
        <p:spPr bwMode="auto">
          <a:xfrm rot="-5400000">
            <a:off x="4598988" y="4984750"/>
            <a:ext cx="152400" cy="457200"/>
          </a:xfrm>
          <a:prstGeom prst="lef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7686" name="Text Box 39">
            <a:extLst>
              <a:ext uri="{FF2B5EF4-FFF2-40B4-BE49-F238E27FC236}">
                <a16:creationId xmlns:a16="http://schemas.microsoft.com/office/drawing/2014/main" id="{E62BF6CC-B6A1-4A06-A114-A5199A500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525" y="2627313"/>
            <a:ext cx="736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 b="0" dirty="0"/>
              <a:t>(= -5)</a:t>
            </a:r>
          </a:p>
        </p:txBody>
      </p:sp>
      <p:sp>
        <p:nvSpPr>
          <p:cNvPr id="27687" name="Text Box 40">
            <a:extLst>
              <a:ext uri="{FF2B5EF4-FFF2-40B4-BE49-F238E27FC236}">
                <a16:creationId xmlns:a16="http://schemas.microsoft.com/office/drawing/2014/main" id="{EAD6ABD4-9056-4FDA-8387-2F0A904CB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505200"/>
            <a:ext cx="73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 b="0" dirty="0"/>
              <a:t>(= -6)</a:t>
            </a:r>
          </a:p>
        </p:txBody>
      </p:sp>
      <p:sp>
        <p:nvSpPr>
          <p:cNvPr id="27688" name="Text Box 41">
            <a:extLst>
              <a:ext uri="{FF2B5EF4-FFF2-40B4-BE49-F238E27FC236}">
                <a16:creationId xmlns:a16="http://schemas.microsoft.com/office/drawing/2014/main" id="{B60C3E6A-0204-423E-8725-6CAA78095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572000"/>
            <a:ext cx="86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 b="0" dirty="0"/>
              <a:t>(= -11)</a:t>
            </a:r>
          </a:p>
        </p:txBody>
      </p:sp>
      <p:sp>
        <p:nvSpPr>
          <p:cNvPr id="27689" name="Line 42">
            <a:extLst>
              <a:ext uri="{FF2B5EF4-FFF2-40B4-BE49-F238E27FC236}">
                <a16:creationId xmlns:a16="http://schemas.microsoft.com/office/drawing/2014/main" id="{3551E395-5EDD-4107-A720-DE4653483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209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90" name="Rectangle 50">
            <a:extLst>
              <a:ext uri="{FF2B5EF4-FFF2-40B4-BE49-F238E27FC236}">
                <a16:creationId xmlns:a16="http://schemas.microsoft.com/office/drawing/2014/main" id="{B90E1157-387A-4F0F-8CF1-3EB8088EA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91" name="Rectangle 51">
            <a:extLst>
              <a:ext uri="{FF2B5EF4-FFF2-40B4-BE49-F238E27FC236}">
                <a16:creationId xmlns:a16="http://schemas.microsoft.com/office/drawing/2014/main" id="{C0D52FE0-FEA7-4A0E-B61B-3C6CF8F5F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92" name="Rectangle 52">
            <a:extLst>
              <a:ext uri="{FF2B5EF4-FFF2-40B4-BE49-F238E27FC236}">
                <a16:creationId xmlns:a16="http://schemas.microsoft.com/office/drawing/2014/main" id="{E02BFC15-03C1-4E8D-875D-1821BAAC6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0</a:t>
            </a:r>
          </a:p>
        </p:txBody>
      </p:sp>
      <p:sp>
        <p:nvSpPr>
          <p:cNvPr id="27693" name="Rectangle 53">
            <a:extLst>
              <a:ext uri="{FF2B5EF4-FFF2-40B4-BE49-F238E27FC236}">
                <a16:creationId xmlns:a16="http://schemas.microsoft.com/office/drawing/2014/main" id="{497BB4C6-7A1D-4F18-AFC6-67253C67D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514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94" name="Rectangle 54">
            <a:extLst>
              <a:ext uri="{FF2B5EF4-FFF2-40B4-BE49-F238E27FC236}">
                <a16:creationId xmlns:a16="http://schemas.microsoft.com/office/drawing/2014/main" id="{A17289E4-8B84-4CE4-AD7A-6A32FCF81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429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sp>
        <p:nvSpPr>
          <p:cNvPr id="27695" name="Rectangle 55">
            <a:extLst>
              <a:ext uri="{FF2B5EF4-FFF2-40B4-BE49-F238E27FC236}">
                <a16:creationId xmlns:a16="http://schemas.microsoft.com/office/drawing/2014/main" id="{CE2B44FA-81F8-4C46-A562-C392C7510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495800"/>
            <a:ext cx="533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b="0"/>
              <a:t>1</a:t>
            </a:r>
          </a:p>
        </p:txBody>
      </p:sp>
      <p:cxnSp>
        <p:nvCxnSpPr>
          <p:cNvPr id="27696" name="AutoShape 57">
            <a:extLst>
              <a:ext uri="{FF2B5EF4-FFF2-40B4-BE49-F238E27FC236}">
                <a16:creationId xmlns:a16="http://schemas.microsoft.com/office/drawing/2014/main" id="{D072DDE5-5EA1-4AE5-84EA-C1136C8EDDD8}"/>
              </a:ext>
            </a:extLst>
          </p:cNvPr>
          <p:cNvCxnSpPr>
            <a:cxnSpLocks noChangeShapeType="1"/>
            <a:stCxn id="27684" idx="2"/>
          </p:cNvCxnSpPr>
          <p:nvPr/>
        </p:nvCxnSpPr>
        <p:spPr bwMode="auto">
          <a:xfrm rot="16200000" flipH="1">
            <a:off x="4787900" y="5507038"/>
            <a:ext cx="525463" cy="7191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7698" name="Picture 52" descr="http://www.dirtyandthirty.com/wp-content/uploads/2011/10/garbage-can1.jpg">
            <a:extLst>
              <a:ext uri="{FF2B5EF4-FFF2-40B4-BE49-F238E27FC236}">
                <a16:creationId xmlns:a16="http://schemas.microsoft.com/office/drawing/2014/main" id="{C8C8C5E3-7AFB-4ECE-A974-27A5C6687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5627688"/>
            <a:ext cx="7207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466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2" grpId="0" animBg="1"/>
      <p:bldP spid="27663" grpId="0" animBg="1"/>
      <p:bldP spid="27664" grpId="0" animBg="1"/>
      <p:bldP spid="27665" grpId="0" animBg="1"/>
      <p:bldP spid="27666" grpId="0"/>
      <p:bldP spid="27667" grpId="0"/>
      <p:bldP spid="27668" grpId="0"/>
      <p:bldP spid="27679" grpId="0" animBg="1"/>
      <p:bldP spid="27680" grpId="0" animBg="1"/>
      <p:bldP spid="27681" grpId="0" animBg="1"/>
      <p:bldP spid="27682" grpId="0" animBg="1"/>
      <p:bldP spid="27683" grpId="0" animBg="1"/>
      <p:bldP spid="27684" grpId="0"/>
      <p:bldP spid="27685" grpId="0" animBg="1"/>
      <p:bldP spid="27686" grpId="0"/>
      <p:bldP spid="27687" grpId="0"/>
      <p:bldP spid="27688" grpId="0"/>
      <p:bldP spid="27692" grpId="0" animBg="1"/>
      <p:bldP spid="2769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04979B9-F155-4EF4-BA24-9C220FF90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he-IL" altLang="he-IL" dirty="0"/>
              <a:t>משלים ל-2 – כללים לחיבור</a:t>
            </a:r>
            <a:endParaRPr lang="en-US" altLang="he-IL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AC9C009-CDEF-4F02-B17D-ED37CA4897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 rtl="1" eaLnBrk="1" hangingPunct="1">
              <a:lnSpc>
                <a:spcPct val="80000"/>
              </a:lnSpc>
              <a:buNone/>
            </a:pPr>
            <a:endParaRPr lang="en-US" altLang="he-IL" sz="2800" dirty="0">
              <a:solidFill>
                <a:schemeClr val="tx1"/>
              </a:solidFill>
            </a:endParaRPr>
          </a:p>
          <a:p>
            <a:pPr marL="0" indent="0" algn="r" rtl="1" eaLnBrk="1" hangingPunct="1">
              <a:lnSpc>
                <a:spcPct val="80000"/>
              </a:lnSpc>
              <a:buNone/>
            </a:pPr>
            <a:r>
              <a:rPr lang="en-US" altLang="he-IL" sz="2800" dirty="0">
                <a:solidFill>
                  <a:schemeClr val="tx1"/>
                </a:solidFill>
              </a:rPr>
              <a:t> -</a:t>
            </a:r>
            <a:r>
              <a:rPr lang="he-IL" altLang="he-IL" sz="2800" dirty="0">
                <a:solidFill>
                  <a:schemeClr val="tx1"/>
                </a:solidFill>
              </a:rPr>
              <a:t>חיבור שני מספרים </a:t>
            </a:r>
            <a:r>
              <a:rPr lang="he-IL" altLang="he-IL" sz="2800" b="1" dirty="0">
                <a:solidFill>
                  <a:schemeClr val="tx1"/>
                </a:solidFill>
              </a:rPr>
              <a:t>שליליים</a:t>
            </a:r>
            <a:r>
              <a:rPr lang="he-IL" altLang="he-IL" sz="2800" dirty="0">
                <a:solidFill>
                  <a:schemeClr val="tx1"/>
                </a:solidFill>
              </a:rPr>
              <a:t> (חיוביים) עלול להביא לתוצאה </a:t>
            </a:r>
            <a:r>
              <a:rPr lang="he-IL" altLang="he-IL" sz="2800" b="1" dirty="0">
                <a:solidFill>
                  <a:schemeClr val="tx1"/>
                </a:solidFill>
              </a:rPr>
              <a:t>חיובית</a:t>
            </a:r>
            <a:r>
              <a:rPr lang="he-IL" altLang="he-IL" sz="2800" dirty="0">
                <a:solidFill>
                  <a:schemeClr val="tx1"/>
                </a:solidFill>
              </a:rPr>
              <a:t> (שלילית), כלומר לגלישה</a:t>
            </a:r>
            <a:r>
              <a:rPr lang="en-US" altLang="he-IL" sz="2800" dirty="0">
                <a:solidFill>
                  <a:schemeClr val="tx1"/>
                </a:solidFill>
              </a:rPr>
              <a:t>:</a:t>
            </a:r>
            <a:br>
              <a:rPr lang="en-US" altLang="he-IL" sz="2800" dirty="0">
                <a:solidFill>
                  <a:schemeClr val="tx1"/>
                </a:solidFill>
              </a:rPr>
            </a:br>
            <a:endParaRPr lang="he-IL" altLang="he-IL" sz="2800" dirty="0">
              <a:solidFill>
                <a:schemeClr val="tx1"/>
              </a:solidFill>
            </a:endParaRPr>
          </a:p>
          <a:p>
            <a:pPr marL="990600" lvl="1" indent="-533400" algn="r" rtl="1" eaLnBrk="1" hangingPunct="1">
              <a:lnSpc>
                <a:spcPct val="80000"/>
              </a:lnSpc>
            </a:pPr>
            <a:r>
              <a:rPr lang="en-US" altLang="he-IL" sz="2400" dirty="0">
                <a:solidFill>
                  <a:schemeClr val="tx1"/>
                </a:solidFill>
              </a:rPr>
              <a:t>(-4)+(-3) = 100+101 =  001 =       </a:t>
            </a:r>
            <a:r>
              <a:rPr lang="en-US" altLang="he-IL" sz="2400" b="1" dirty="0">
                <a:solidFill>
                  <a:schemeClr val="tx1"/>
                </a:solidFill>
              </a:rPr>
              <a:t>1 ≠ -7</a:t>
            </a:r>
            <a:endParaRPr lang="he-IL" altLang="he-IL" sz="2400" b="1" dirty="0">
              <a:solidFill>
                <a:schemeClr val="tx1"/>
              </a:solidFill>
            </a:endParaRPr>
          </a:p>
          <a:p>
            <a:pPr marL="990600" lvl="1" indent="-533400" algn="r" rtl="1" eaLnBrk="1" hangingPunct="1">
              <a:lnSpc>
                <a:spcPct val="80000"/>
              </a:lnSpc>
            </a:pPr>
            <a:r>
              <a:rPr lang="en-US" altLang="he-IL" sz="2400" dirty="0">
                <a:solidFill>
                  <a:schemeClr val="tx1"/>
                </a:solidFill>
              </a:rPr>
              <a:t>3+3 = 011+011 =  110 =     </a:t>
            </a:r>
            <a:r>
              <a:rPr lang="en-US" altLang="he-IL" sz="2400" b="1" dirty="0">
                <a:solidFill>
                  <a:schemeClr val="tx1"/>
                </a:solidFill>
              </a:rPr>
              <a:t>-2  ≠  6</a:t>
            </a:r>
            <a:br>
              <a:rPr lang="en-US" altLang="he-IL" sz="2400" dirty="0">
                <a:solidFill>
                  <a:schemeClr val="tx1"/>
                </a:solidFill>
              </a:rPr>
            </a:br>
            <a:endParaRPr lang="en-US" altLang="he-IL" sz="2400" dirty="0">
              <a:solidFill>
                <a:schemeClr val="tx1"/>
              </a:solidFill>
            </a:endParaRPr>
          </a:p>
          <a:p>
            <a:pPr marL="457200" lvl="1" indent="0" algn="r" rtl="1" eaLnBrk="1" hangingPunct="1">
              <a:lnSpc>
                <a:spcPct val="80000"/>
              </a:lnSpc>
              <a:buNone/>
            </a:pPr>
            <a:endParaRPr lang="he-IL" altLang="he-IL" sz="2400" dirty="0">
              <a:solidFill>
                <a:schemeClr val="tx1"/>
              </a:solidFill>
            </a:endParaRPr>
          </a:p>
          <a:p>
            <a:pPr marL="0" indent="0" algn="r" rtl="1" eaLnBrk="1" hangingPunct="1">
              <a:lnSpc>
                <a:spcPct val="80000"/>
              </a:lnSpc>
              <a:buNone/>
            </a:pPr>
            <a:r>
              <a:rPr lang="en-US" altLang="he-IL" sz="2800" dirty="0">
                <a:solidFill>
                  <a:schemeClr val="tx1"/>
                </a:solidFill>
              </a:rPr>
              <a:t> -</a:t>
            </a:r>
            <a:r>
              <a:rPr lang="he-IL" altLang="he-IL" sz="2800" dirty="0">
                <a:solidFill>
                  <a:schemeClr val="tx1"/>
                </a:solidFill>
              </a:rPr>
              <a:t>חיבור מספר שלילי עם מספר חיובי נותן תמיד תוצאה נכונה.</a:t>
            </a:r>
            <a:br>
              <a:rPr lang="en-US" altLang="he-IL" sz="2800" dirty="0">
                <a:solidFill>
                  <a:schemeClr val="tx1"/>
                </a:solidFill>
              </a:rPr>
            </a:br>
            <a:br>
              <a:rPr lang="en-US" altLang="he-IL" sz="2800" dirty="0">
                <a:solidFill>
                  <a:schemeClr val="tx1"/>
                </a:solidFill>
              </a:rPr>
            </a:br>
            <a:endParaRPr lang="en-US" altLang="he-IL" sz="2800" dirty="0">
              <a:solidFill>
                <a:schemeClr val="tx1"/>
              </a:solidFill>
            </a:endParaRPr>
          </a:p>
        </p:txBody>
      </p:sp>
      <p:sp>
        <p:nvSpPr>
          <p:cNvPr id="28676" name="Slide Number Placeholder 1">
            <a:extLst>
              <a:ext uri="{FF2B5EF4-FFF2-40B4-BE49-F238E27FC236}">
                <a16:creationId xmlns:a16="http://schemas.microsoft.com/office/drawing/2014/main" id="{B503E21B-ACC0-4BB4-AC13-B12E38D7E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13B01C5-5A71-462D-8A31-36ADBCA89074}" type="slidenum">
              <a:rPr lang="en-US" altLang="he-IL" b="0"/>
              <a:pPr eaLnBrk="1" hangingPunct="1"/>
              <a:t>23</a:t>
            </a:fld>
            <a:endParaRPr lang="en-US" altLang="he-IL" b="0"/>
          </a:p>
        </p:txBody>
      </p:sp>
    </p:spTree>
    <p:extLst>
      <p:ext uri="{BB962C8B-B14F-4D97-AF65-F5344CB8AC3E}">
        <p14:creationId xmlns:p14="http://schemas.microsoft.com/office/powerpoint/2010/main" val="335483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5" y="286604"/>
            <a:ext cx="8640961" cy="1450757"/>
          </a:xfrm>
        </p:spPr>
        <p:txBody>
          <a:bodyPr>
            <a:normAutofit/>
          </a:bodyPr>
          <a:lstStyle/>
          <a:p>
            <a:pPr algn="r"/>
            <a:r>
              <a:rPr lang="he-IL" dirty="0"/>
              <a:t>פתרון – ייצוג המספרים עם יותר סיביות ע"י שימוש ב- </a:t>
            </a:r>
            <a:r>
              <a:rPr lang="en-US" dirty="0"/>
              <a:t>Sign extension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3" y="1845734"/>
            <a:ext cx="8856984" cy="475161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MSB (Most Significant Bit)</a:t>
            </a:r>
            <a:r>
              <a:rPr lang="he-IL" sz="2400" dirty="0"/>
              <a:t>: הסיבית בעלת המשקל הגבוה ביותר במספר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/>
              <a:t>LSB (Least Significant Bit)</a:t>
            </a:r>
            <a:r>
              <a:rPr lang="he-IL" sz="2400" dirty="0"/>
              <a:t>: הסיבית בעלת המשקל הנמוך ביותר במספר</a:t>
            </a:r>
            <a:endParaRPr lang="en-US" sz="2400" dirty="0"/>
          </a:p>
          <a:p>
            <a:endParaRPr lang="en-US" sz="2400" dirty="0"/>
          </a:p>
          <a:p>
            <a:endParaRPr lang="he-IL" sz="2400" dirty="0"/>
          </a:p>
          <a:p>
            <a:endParaRPr lang="he-IL" sz="1050" dirty="0"/>
          </a:p>
          <a:p>
            <a:endParaRPr lang="he-IL" sz="1200" dirty="0"/>
          </a:p>
          <a:p>
            <a:pPr marL="0" indent="0">
              <a:buNone/>
            </a:pPr>
            <a:r>
              <a:rPr lang="en-US" sz="2400" b="1" dirty="0"/>
              <a:t>Sign extension </a:t>
            </a:r>
            <a:r>
              <a:rPr lang="he-IL" sz="2400" dirty="0"/>
              <a:t>: הוספת סיביות למספר ע"י שכפול הסיבית ה- </a:t>
            </a:r>
            <a:r>
              <a:rPr lang="en-US" sz="2400" dirty="0"/>
              <a:t>MSB</a:t>
            </a:r>
            <a:r>
              <a:rPr lang="he-IL" sz="2400" dirty="0"/>
              <a:t> עד למילוי כל הסיביות שנוספו</a:t>
            </a:r>
          </a:p>
          <a:p>
            <a:pPr marL="0" indent="0">
              <a:buNone/>
            </a:pPr>
            <a:r>
              <a:rPr lang="he-IL" b="1" dirty="0"/>
              <a:t>לדוגמה: </a:t>
            </a:r>
            <a:r>
              <a:rPr lang="he-IL" dirty="0"/>
              <a:t>הרחבה לייצוג של </a:t>
            </a:r>
            <a:r>
              <a:rPr lang="en-US" dirty="0"/>
              <a:t>-4</a:t>
            </a:r>
            <a:r>
              <a:rPr lang="he-IL" dirty="0"/>
              <a:t> מ- 3 סיביות ל- 4 סיביות:</a:t>
            </a:r>
            <a:r>
              <a:rPr lang="en-US" dirty="0"/>
              <a:t>100 </a:t>
            </a:r>
            <a:r>
              <a:rPr lang="he-IL" dirty="0"/>
              <a:t> </a:t>
            </a:r>
            <a:r>
              <a:rPr lang="he-IL" dirty="0">
                <a:sym typeface="Wingdings" panose="05000000000000000000" pitchFamily="2" charset="2"/>
              </a:rPr>
              <a:t></a:t>
            </a:r>
            <a:r>
              <a:rPr lang="he-IL" dirty="0"/>
              <a:t> 1100</a:t>
            </a:r>
          </a:p>
          <a:p>
            <a:pPr marL="0" indent="0">
              <a:buNone/>
            </a:pPr>
            <a:r>
              <a:rPr lang="he-IL" dirty="0"/>
              <a:t>	הרחבה לייצוג של </a:t>
            </a:r>
            <a:r>
              <a:rPr lang="en-US" dirty="0"/>
              <a:t>-4</a:t>
            </a:r>
            <a:r>
              <a:rPr lang="he-IL" dirty="0"/>
              <a:t> מ- 3 סיביות ל- 8 סיביות:</a:t>
            </a:r>
            <a:r>
              <a:rPr lang="en-US" dirty="0"/>
              <a:t>100 </a:t>
            </a:r>
            <a:r>
              <a:rPr lang="he-IL" dirty="0"/>
              <a:t> </a:t>
            </a:r>
            <a:r>
              <a:rPr lang="he-IL" dirty="0">
                <a:sym typeface="Wingdings" panose="05000000000000000000" pitchFamily="2" charset="2"/>
              </a:rPr>
              <a:t></a:t>
            </a:r>
            <a:r>
              <a:rPr lang="he-IL" dirty="0"/>
              <a:t> 11111100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24</a:t>
            </a:fld>
            <a:endParaRPr lang="he-IL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90CAE331-1434-4A7F-97D1-4008EDBC1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659962"/>
              </p:ext>
            </p:extLst>
          </p:nvPr>
        </p:nvGraphicFramePr>
        <p:xfrm>
          <a:off x="1056457" y="2996952"/>
          <a:ext cx="7103096" cy="1432000"/>
        </p:xfrm>
        <a:graphic>
          <a:graphicData uri="http://schemas.openxmlformats.org/drawingml/2006/table">
            <a:tbl>
              <a:tblPr rtl="1"/>
              <a:tblGrid>
                <a:gridCol w="72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7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58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45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32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038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b</a:t>
                      </a:r>
                      <a:r>
                        <a:rPr kumimoji="0" lang="en-US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638" marB="4563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b</a:t>
                      </a:r>
                      <a:r>
                        <a:rPr kumimoji="0" lang="en-US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b</a:t>
                      </a:r>
                      <a:r>
                        <a:rPr kumimoji="0" lang="en-US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he-IL"/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</a:t>
                      </a: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</a:t>
                      </a: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</a:t>
                      </a: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b</a:t>
                      </a:r>
                      <a:r>
                        <a:rPr kumimoji="0" lang="en-US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N-2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b</a:t>
                      </a:r>
                      <a:r>
                        <a:rPr kumimoji="0" lang="en-US" sz="20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N-1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David" pitchFamily="2" charset="-79"/>
                      </a:endParaRPr>
                    </a:p>
                  </a:txBody>
                  <a:tcPr marT="45638" marB="4563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38" marB="456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848">
                <a:tc gridSpan="9"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LSB</a:t>
                      </a:r>
                    </a:p>
                  </a:txBody>
                  <a:tcPr marT="45638" marB="45638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MSB</a:t>
                      </a:r>
                    </a:p>
                  </a:txBody>
                  <a:tcPr marT="45638" marB="45638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83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066D8-85BF-BB1C-EB1A-A2E06B16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0EDA-6656-5184-F6B9-6490A215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4000" dirty="0"/>
              <a:t>משלים ל-2 – שאלות?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A3FA3-380B-C979-F9B5-ED2A2E6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5899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AFCA8-81D5-4CAE-AD2F-96429C57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כיצד נייצג מספרים גדולים?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59B6CF-2593-4493-9F1D-180642EC70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46358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he-IL" sz="2800" dirty="0">
                    <a:solidFill>
                      <a:schemeClr val="tx1"/>
                    </a:solidFill>
                  </a:rPr>
                  <a:t>מהו הערך המקסימלי שמייצג מספר בינארי בן 32 סיביות לא מכוון?</a:t>
                </a:r>
                <a:endParaRPr lang="en-US" sz="2800" dirty="0">
                  <a:solidFill>
                    <a:schemeClr val="tx1"/>
                  </a:solidFill>
                </a:endParaRPr>
              </a:p>
              <a:p>
                <a:endParaRPr lang="he-IL" sz="2800" dirty="0">
                  <a:solidFill>
                    <a:schemeClr val="tx1"/>
                  </a:solidFill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</a:endParaRPr>
              </a:p>
              <a:p>
                <a:pPr marL="0" indent="0" algn="ctr" rtl="0">
                  <a:buNone/>
                </a:pPr>
                <a:r>
                  <a:rPr lang="he-IL" sz="2800" dirty="0">
                    <a:solidFill>
                      <a:schemeClr val="tx1"/>
                    </a:solidFill>
                  </a:rPr>
                  <a:t>(כארבעה מיליארד)</a:t>
                </a:r>
              </a:p>
              <a:p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he-IL" sz="2800" dirty="0">
                    <a:solidFill>
                      <a:schemeClr val="tx1"/>
                    </a:solidFill>
                  </a:rPr>
                  <a:t>ומכוון?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32−1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−1 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</a:endParaRPr>
              </a:p>
              <a:p>
                <a:pPr marL="0" indent="0" algn="ctr" rtl="0">
                  <a:buNone/>
                </a:pPr>
                <a:r>
                  <a:rPr lang="he-IL" sz="2800" dirty="0">
                    <a:solidFill>
                      <a:schemeClr val="tx1"/>
                    </a:solidFill>
                  </a:rPr>
                  <a:t>(כמינוס שני מיליארד עד שני מיליארד)</a:t>
                </a:r>
              </a:p>
              <a:p>
                <a:pPr marL="0" indent="0" algn="l" rtl="0">
                  <a:buNone/>
                </a:pPr>
                <a:endParaRPr lang="he-IL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959B6CF-2593-4493-9F1D-180642EC7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463586"/>
              </a:xfrm>
              <a:blipFill rotWithShape="0">
                <a:blip r:embed="rId3"/>
                <a:stretch>
                  <a:fillRect t="-3415" r="-28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0874D-95E8-43BB-94FA-293E3057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149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B83C49A-3D02-4D6B-9781-1870CBD7B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 eaLnBrk="1" hangingPunct="1"/>
            <a:r>
              <a:rPr lang="he-IL" altLang="he-IL" dirty="0"/>
              <a:t>נקודה צפה (</a:t>
            </a:r>
            <a:r>
              <a:rPr lang="en-US" altLang="he-IL" dirty="0"/>
              <a:t>Floating Point</a:t>
            </a:r>
            <a:r>
              <a:rPr lang="he-IL" altLang="he-IL" dirty="0"/>
              <a:t>)</a:t>
            </a:r>
            <a:endParaRPr lang="en-US" altLang="he-IL" dirty="0"/>
          </a:p>
        </p:txBody>
      </p:sp>
      <p:sp>
        <p:nvSpPr>
          <p:cNvPr id="33830" name="Slide Number Placeholder 1">
            <a:extLst>
              <a:ext uri="{FF2B5EF4-FFF2-40B4-BE49-F238E27FC236}">
                <a16:creationId xmlns:a16="http://schemas.microsoft.com/office/drawing/2014/main" id="{CCCE2C46-A3E9-4A84-A3F3-BC76C625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DCADD3C-63CA-4660-B1C5-80A9C196A197}" type="slidenum">
              <a:rPr lang="en-US" altLang="he-IL" b="0"/>
              <a:pPr eaLnBrk="1" hangingPunct="1"/>
              <a:t>27</a:t>
            </a:fld>
            <a:endParaRPr lang="en-US" altLang="he-IL" b="0" dirty="0"/>
          </a:p>
        </p:txBody>
      </p:sp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C0F70FFC-FEE5-4CF4-A26C-E9AA400645AE}"/>
              </a:ext>
            </a:extLst>
          </p:cNvPr>
          <p:cNvSpPr/>
          <p:nvPr/>
        </p:nvSpPr>
        <p:spPr>
          <a:xfrm>
            <a:off x="2689734" y="3622437"/>
            <a:ext cx="918592" cy="2519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 bit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" name="סוגר מסולסל ימני 2">
            <a:extLst>
              <a:ext uri="{FF2B5EF4-FFF2-40B4-BE49-F238E27FC236}">
                <a16:creationId xmlns:a16="http://schemas.microsoft.com/office/drawing/2014/main" id="{302FCB1E-7C70-4093-8B26-17D3716F0FE8}"/>
              </a:ext>
            </a:extLst>
          </p:cNvPr>
          <p:cNvSpPr/>
          <p:nvPr/>
        </p:nvSpPr>
        <p:spPr>
          <a:xfrm rot="5400000">
            <a:off x="3049983" y="2420980"/>
            <a:ext cx="198094" cy="20882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0B88CAB7-0123-4A75-A48C-462E21724C47}"/>
              </a:ext>
            </a:extLst>
          </p:cNvPr>
          <p:cNvSpPr/>
          <p:nvPr/>
        </p:nvSpPr>
        <p:spPr>
          <a:xfrm>
            <a:off x="6010859" y="3618833"/>
            <a:ext cx="918592" cy="2519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23 bit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5" name="סוגר מסולסל ימני 14">
            <a:extLst>
              <a:ext uri="{FF2B5EF4-FFF2-40B4-BE49-F238E27FC236}">
                <a16:creationId xmlns:a16="http://schemas.microsoft.com/office/drawing/2014/main" id="{41AD1A6C-4433-4A02-9D9E-8A47156DA892}"/>
              </a:ext>
            </a:extLst>
          </p:cNvPr>
          <p:cNvSpPr/>
          <p:nvPr/>
        </p:nvSpPr>
        <p:spPr>
          <a:xfrm rot="5400000">
            <a:off x="6362388" y="1412906"/>
            <a:ext cx="199447" cy="41030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24BEF9C0-2387-428E-A388-C6F826A3D1E3}"/>
              </a:ext>
            </a:extLst>
          </p:cNvPr>
          <p:cNvSpPr/>
          <p:nvPr/>
        </p:nvSpPr>
        <p:spPr>
          <a:xfrm>
            <a:off x="467544" y="1832705"/>
            <a:ext cx="82912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he-IL" sz="2800" dirty="0"/>
              <a:t> </a:t>
            </a:r>
            <a:r>
              <a:rPr lang="he-IL" sz="2400" dirty="0"/>
              <a:t>ייצוג של מספר גדול מאוד או קטן מאוד במעט סיביות (בדוגמה: 32)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he-IL" sz="2400" dirty="0"/>
              <a:t> </a:t>
            </a:r>
            <a:r>
              <a:rPr lang="en-US" sz="2400" dirty="0"/>
              <a:t>B = 127</a:t>
            </a:r>
            <a:r>
              <a:rPr lang="he-IL" sz="2400" dirty="0"/>
              <a:t> (</a:t>
            </a:r>
            <a:r>
              <a:rPr lang="en-US" sz="2400" dirty="0"/>
              <a:t>Bias</a:t>
            </a:r>
            <a:r>
              <a:rPr lang="he-IL" sz="2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8ED1FE79-5CB4-479F-AE03-3F8D122CEF2E}"/>
                  </a:ext>
                </a:extLst>
              </p:cNvPr>
              <p:cNvSpPr/>
              <p:nvPr/>
            </p:nvSpPr>
            <p:spPr>
              <a:xfrm>
                <a:off x="133450" y="4486776"/>
                <a:ext cx="5112567" cy="7920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Value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∗(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 </a:t>
                </a:r>
                <a:endParaRPr lang="he-IL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D1FE79-5CB4-479F-AE03-3F8D122CE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50" y="4486776"/>
                <a:ext cx="5112567" cy="792088"/>
              </a:xfrm>
              <a:prstGeom prst="roundRect">
                <a:avLst/>
              </a:prstGeom>
              <a:blipFill rotWithShape="0">
                <a:blip r:embed="rId3"/>
                <a:stretch>
                  <a:fillRect l="-1306" b="-45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מלבן 8">
            <a:extLst>
              <a:ext uri="{FF2B5EF4-FFF2-40B4-BE49-F238E27FC236}">
                <a16:creationId xmlns:a16="http://schemas.microsoft.com/office/drawing/2014/main" id="{759F11CB-A839-459C-9446-4E8926C7CA82}"/>
              </a:ext>
            </a:extLst>
          </p:cNvPr>
          <p:cNvSpPr/>
          <p:nvPr/>
        </p:nvSpPr>
        <p:spPr>
          <a:xfrm>
            <a:off x="4410596" y="3004658"/>
            <a:ext cx="4103031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Fraction (Mantissa)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77C1F30A-320A-4EAC-AB66-4B67F003477E}"/>
              </a:ext>
            </a:extLst>
          </p:cNvPr>
          <p:cNvSpPr/>
          <p:nvPr/>
        </p:nvSpPr>
        <p:spPr>
          <a:xfrm>
            <a:off x="2104914" y="3004658"/>
            <a:ext cx="2088233" cy="3434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Exponent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6F5DDE72-156A-4D3E-9584-D128AE59E4FE}"/>
              </a:ext>
            </a:extLst>
          </p:cNvPr>
          <p:cNvSpPr/>
          <p:nvPr/>
        </p:nvSpPr>
        <p:spPr>
          <a:xfrm>
            <a:off x="1240819" y="3004658"/>
            <a:ext cx="792089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Sign</a:t>
            </a:r>
            <a:endParaRPr lang="he-IL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מלבן 20">
                <a:extLst>
                  <a:ext uri="{FF2B5EF4-FFF2-40B4-BE49-F238E27FC236}">
                    <a16:creationId xmlns:a16="http://schemas.microsoft.com/office/drawing/2014/main" id="{DFF7853B-EE8E-40B0-872A-647966421380}"/>
                  </a:ext>
                </a:extLst>
              </p:cNvPr>
              <p:cNvSpPr/>
              <p:nvPr/>
            </p:nvSpPr>
            <p:spPr>
              <a:xfrm>
                <a:off x="1532433" y="4031512"/>
                <a:ext cx="74271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sz="2800" dirty="0"/>
                  <a:t>Normalized: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≤254</m:t>
                    </m:r>
                  </m:oMath>
                </a14:m>
                <a:r>
                  <a:rPr lang="en-US" sz="2800" dirty="0"/>
                  <a:t> </a:t>
                </a:r>
                <a:endParaRPr lang="he-IL" sz="2800" dirty="0"/>
              </a:p>
            </p:txBody>
          </p:sp>
        </mc:Choice>
        <mc:Fallback xmlns="">
          <p:sp>
            <p:nvSpPr>
              <p:cNvPr id="21" name="מלבן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FF7853B-EE8E-40B0-872A-647966421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433" y="4031512"/>
                <a:ext cx="7427168" cy="523220"/>
              </a:xfrm>
              <a:prstGeom prst="rect">
                <a:avLst/>
              </a:prstGeom>
              <a:blipFill rotWithShape="0">
                <a:blip r:embed="rId4"/>
                <a:stretch>
                  <a:fillRect t="-11628" r="-1723" b="-3372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מלבן: פינות מעוגלות 21">
                <a:extLst>
                  <a:ext uri="{FF2B5EF4-FFF2-40B4-BE49-F238E27FC236}">
                    <a16:creationId xmlns:a16="http://schemas.microsoft.com/office/drawing/2014/main" id="{3B8C3A1A-9610-47C6-9777-E81E9090D35B}"/>
                  </a:ext>
                </a:extLst>
              </p:cNvPr>
              <p:cNvSpPr/>
              <p:nvPr/>
            </p:nvSpPr>
            <p:spPr>
              <a:xfrm>
                <a:off x="133451" y="5451264"/>
                <a:ext cx="5112566" cy="7920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Value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 </a:t>
                </a:r>
                <a:endParaRPr lang="he-IL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מלבן: פינות מעוגלות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B8C3A1A-9610-47C6-9777-E81E9090D3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51" y="5451264"/>
                <a:ext cx="5112566" cy="792088"/>
              </a:xfrm>
              <a:prstGeom prst="roundRect">
                <a:avLst/>
              </a:prstGeom>
              <a:blipFill rotWithShape="0">
                <a:blip r:embed="rId5"/>
                <a:stretch>
                  <a:fillRect b="-45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מלבן 22">
                <a:extLst>
                  <a:ext uri="{FF2B5EF4-FFF2-40B4-BE49-F238E27FC236}">
                    <a16:creationId xmlns:a16="http://schemas.microsoft.com/office/drawing/2014/main" id="{07D70502-FB9A-4624-857B-35C3684B693A}"/>
                  </a:ext>
                </a:extLst>
              </p:cNvPr>
              <p:cNvSpPr/>
              <p:nvPr/>
            </p:nvSpPr>
            <p:spPr>
              <a:xfrm>
                <a:off x="1403648" y="5608854"/>
                <a:ext cx="74271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sz="2800" dirty="0" err="1"/>
                  <a:t>Denormalized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</a:t>
                </a:r>
                <a:endParaRPr lang="he-IL" sz="2800" dirty="0"/>
              </a:p>
            </p:txBody>
          </p:sp>
        </mc:Choice>
        <mc:Fallback xmlns="">
          <p:sp>
            <p:nvSpPr>
              <p:cNvPr id="23" name="מלבן 2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7D70502-FB9A-4624-857B-35C3684B69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5608854"/>
                <a:ext cx="7427168" cy="523220"/>
              </a:xfrm>
              <a:prstGeom prst="rect">
                <a:avLst/>
              </a:prstGeom>
              <a:blipFill rotWithShape="0">
                <a:blip r:embed="rId6"/>
                <a:stretch>
                  <a:fillRect t="-12791" r="-1723" b="-3372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אליפסה 9">
            <a:extLst>
              <a:ext uri="{FF2B5EF4-FFF2-40B4-BE49-F238E27FC236}">
                <a16:creationId xmlns:a16="http://schemas.microsoft.com/office/drawing/2014/main" id="{4F374C16-F020-4A0E-9958-844CA62589B3}"/>
              </a:ext>
            </a:extLst>
          </p:cNvPr>
          <p:cNvSpPr/>
          <p:nvPr/>
        </p:nvSpPr>
        <p:spPr>
          <a:xfrm>
            <a:off x="4272661" y="3370355"/>
            <a:ext cx="64502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863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 animBg="1"/>
      <p:bldP spid="15" grpId="0" animBg="1"/>
      <p:bldP spid="8" grpId="0" animBg="1"/>
      <p:bldP spid="9" grpId="0" animBg="1"/>
      <p:bldP spid="19" grpId="0" animBg="1"/>
      <p:bldP spid="20" grpId="0" animBg="1"/>
      <p:bldP spid="21" grpId="0"/>
      <p:bldP spid="22" grpId="0" animBg="1"/>
      <p:bldP spid="23" grpId="0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B83C49A-3D02-4D6B-9781-1870CBD7B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 eaLnBrk="1" hangingPunct="1"/>
            <a:r>
              <a:rPr lang="he-IL" altLang="he-IL" dirty="0"/>
              <a:t>נקודה צפה (</a:t>
            </a:r>
            <a:r>
              <a:rPr lang="en-US" altLang="he-IL" dirty="0"/>
              <a:t>Floating Point</a:t>
            </a:r>
            <a:r>
              <a:rPr lang="he-IL" altLang="he-IL" dirty="0"/>
              <a:t>)</a:t>
            </a:r>
            <a:endParaRPr lang="en-US" altLang="he-IL" dirty="0"/>
          </a:p>
        </p:txBody>
      </p:sp>
      <p:sp>
        <p:nvSpPr>
          <p:cNvPr id="33830" name="Slide Number Placeholder 1">
            <a:extLst>
              <a:ext uri="{FF2B5EF4-FFF2-40B4-BE49-F238E27FC236}">
                <a16:creationId xmlns:a16="http://schemas.microsoft.com/office/drawing/2014/main" id="{CCCE2C46-A3E9-4A84-A3F3-BC76C625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DCADD3C-63CA-4660-B1C5-80A9C196A197}" type="slidenum">
              <a:rPr lang="en-US" altLang="he-IL" b="0"/>
              <a:pPr eaLnBrk="1" hangingPunct="1"/>
              <a:t>28</a:t>
            </a:fld>
            <a:endParaRPr lang="en-US" altLang="he-IL" b="0" dirty="0"/>
          </a:p>
        </p:txBody>
      </p:sp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C0F70FFC-FEE5-4CF4-A26C-E9AA400645AE}"/>
              </a:ext>
            </a:extLst>
          </p:cNvPr>
          <p:cNvSpPr/>
          <p:nvPr/>
        </p:nvSpPr>
        <p:spPr>
          <a:xfrm>
            <a:off x="2852563" y="3342787"/>
            <a:ext cx="918592" cy="2519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 bit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" name="סוגר מסולסל ימני 2">
            <a:extLst>
              <a:ext uri="{FF2B5EF4-FFF2-40B4-BE49-F238E27FC236}">
                <a16:creationId xmlns:a16="http://schemas.microsoft.com/office/drawing/2014/main" id="{302FCB1E-7C70-4093-8B26-17D3716F0FE8}"/>
              </a:ext>
            </a:extLst>
          </p:cNvPr>
          <p:cNvSpPr/>
          <p:nvPr/>
        </p:nvSpPr>
        <p:spPr>
          <a:xfrm rot="5400000">
            <a:off x="3212812" y="2141330"/>
            <a:ext cx="198094" cy="20882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0B88CAB7-0123-4A75-A48C-462E21724C47}"/>
              </a:ext>
            </a:extLst>
          </p:cNvPr>
          <p:cNvSpPr/>
          <p:nvPr/>
        </p:nvSpPr>
        <p:spPr>
          <a:xfrm>
            <a:off x="6181877" y="3339183"/>
            <a:ext cx="918592" cy="2519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23 bit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5" name="סוגר מסולסל ימני 14">
            <a:extLst>
              <a:ext uri="{FF2B5EF4-FFF2-40B4-BE49-F238E27FC236}">
                <a16:creationId xmlns:a16="http://schemas.microsoft.com/office/drawing/2014/main" id="{41AD1A6C-4433-4A02-9D9E-8A47156DA892}"/>
              </a:ext>
            </a:extLst>
          </p:cNvPr>
          <p:cNvSpPr/>
          <p:nvPr/>
        </p:nvSpPr>
        <p:spPr>
          <a:xfrm rot="5400000">
            <a:off x="6525216" y="1133256"/>
            <a:ext cx="199447" cy="41030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24BEF9C0-2387-428E-A388-C6F826A3D1E3}"/>
              </a:ext>
            </a:extLst>
          </p:cNvPr>
          <p:cNvSpPr/>
          <p:nvPr/>
        </p:nvSpPr>
        <p:spPr>
          <a:xfrm>
            <a:off x="1259632" y="1683990"/>
            <a:ext cx="74271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he-IL" sz="2800" dirty="0"/>
              <a:t> דוגמא: מהו ערכו של הייצוג הבא?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8ED1FE79-5CB4-479F-AE03-3F8D122CEF2E}"/>
                  </a:ext>
                </a:extLst>
              </p:cNvPr>
              <p:cNvSpPr/>
              <p:nvPr/>
            </p:nvSpPr>
            <p:spPr>
              <a:xfrm>
                <a:off x="1285461" y="4437112"/>
                <a:ext cx="6840760" cy="7920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Value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𝟏𝟐𝟖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𝟏𝟐𝟕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𝟕𝟓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 </a:t>
                </a:r>
                <a:endParaRPr lang="he-IL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8ED1FE79-5CB4-479F-AE03-3F8D122CE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461" y="4437112"/>
                <a:ext cx="6840760" cy="792088"/>
              </a:xfrm>
              <a:prstGeom prst="roundRect">
                <a:avLst/>
              </a:prstGeom>
              <a:blipFill>
                <a:blip r:embed="rId3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מלבן 8">
            <a:extLst>
              <a:ext uri="{FF2B5EF4-FFF2-40B4-BE49-F238E27FC236}">
                <a16:creationId xmlns:a16="http://schemas.microsoft.com/office/drawing/2014/main" id="{759F11CB-A839-459C-9446-4E8926C7CA82}"/>
              </a:ext>
            </a:extLst>
          </p:cNvPr>
          <p:cNvSpPr/>
          <p:nvPr/>
        </p:nvSpPr>
        <p:spPr>
          <a:xfrm>
            <a:off x="4573425" y="2725008"/>
            <a:ext cx="4103031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110 0000 0000 0000 0000 0000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77C1F30A-320A-4EAC-AB66-4B67F003477E}"/>
              </a:ext>
            </a:extLst>
          </p:cNvPr>
          <p:cNvSpPr/>
          <p:nvPr/>
        </p:nvSpPr>
        <p:spPr>
          <a:xfrm>
            <a:off x="2267743" y="2725008"/>
            <a:ext cx="2088233" cy="3434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1000 0000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6F5DDE72-156A-4D3E-9584-D128AE59E4FE}"/>
              </a:ext>
            </a:extLst>
          </p:cNvPr>
          <p:cNvSpPr/>
          <p:nvPr/>
        </p:nvSpPr>
        <p:spPr>
          <a:xfrm>
            <a:off x="1403648" y="2725008"/>
            <a:ext cx="792089" cy="3434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  <a:endParaRPr lang="he-IL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מלבן 20">
                <a:extLst>
                  <a:ext uri="{FF2B5EF4-FFF2-40B4-BE49-F238E27FC236}">
                    <a16:creationId xmlns:a16="http://schemas.microsoft.com/office/drawing/2014/main" id="{DFF7853B-EE8E-40B0-872A-647966421380}"/>
                  </a:ext>
                </a:extLst>
              </p:cNvPr>
              <p:cNvSpPr/>
              <p:nvPr/>
            </p:nvSpPr>
            <p:spPr>
              <a:xfrm>
                <a:off x="1259632" y="3832138"/>
                <a:ext cx="7427168" cy="532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sz="2800" dirty="0"/>
                  <a:t>F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𝟕𝟓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21" name="מלבן 20">
                <a:extLst>
                  <a:ext uri="{FF2B5EF4-FFF2-40B4-BE49-F238E27FC236}">
                    <a16:creationId xmlns:a16="http://schemas.microsoft.com/office/drawing/2014/main" id="{DFF7853B-EE8E-40B0-872A-647966421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3832138"/>
                <a:ext cx="7427168" cy="532966"/>
              </a:xfrm>
              <a:prstGeom prst="rect">
                <a:avLst/>
              </a:prstGeom>
              <a:blipFill>
                <a:blip r:embed="rId4"/>
                <a:stretch>
                  <a:fillRect t="-10345" r="-1806" b="-33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5F9F473B-C208-4264-BCE0-24F6665C73A4}"/>
              </a:ext>
            </a:extLst>
          </p:cNvPr>
          <p:cNvSpPr/>
          <p:nvPr/>
        </p:nvSpPr>
        <p:spPr>
          <a:xfrm>
            <a:off x="6408915" y="2321584"/>
            <a:ext cx="432048" cy="259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B83E1AEB-CBB8-4C35-9536-B081227BECFD}"/>
              </a:ext>
            </a:extLst>
          </p:cNvPr>
          <p:cNvSpPr/>
          <p:nvPr/>
        </p:nvSpPr>
        <p:spPr>
          <a:xfrm>
            <a:off x="3095835" y="2298616"/>
            <a:ext cx="432048" cy="259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B6F605B1-EC41-4608-8135-8EA99A218D90}"/>
              </a:ext>
            </a:extLst>
          </p:cNvPr>
          <p:cNvSpPr/>
          <p:nvPr/>
        </p:nvSpPr>
        <p:spPr>
          <a:xfrm>
            <a:off x="1581301" y="2298617"/>
            <a:ext cx="432048" cy="259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B18F6E01-DF60-407A-AE8E-A7632D0171AC}"/>
              </a:ext>
            </a:extLst>
          </p:cNvPr>
          <p:cNvSpPr/>
          <p:nvPr/>
        </p:nvSpPr>
        <p:spPr>
          <a:xfrm>
            <a:off x="1259632" y="5426060"/>
            <a:ext cx="74271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he-IL" sz="2800" dirty="0"/>
              <a:t> כיצד יראה מספר זה בייצוג </a:t>
            </a:r>
            <a:r>
              <a:rPr lang="he-IL" sz="2800" dirty="0" err="1"/>
              <a:t>הקסדסימלי</a:t>
            </a:r>
            <a:r>
              <a:rPr lang="he-IL" sz="2800" dirty="0"/>
              <a:t> (בסיס 16)?</a:t>
            </a:r>
          </a:p>
        </p:txBody>
      </p:sp>
      <p:sp>
        <p:nvSpPr>
          <p:cNvPr id="22" name="אליפסה 9">
            <a:extLst>
              <a:ext uri="{FF2B5EF4-FFF2-40B4-BE49-F238E27FC236}">
                <a16:creationId xmlns:a16="http://schemas.microsoft.com/office/drawing/2014/main" id="{4F374C16-F020-4A0E-9958-844CA62589B3}"/>
              </a:ext>
            </a:extLst>
          </p:cNvPr>
          <p:cNvSpPr/>
          <p:nvPr/>
        </p:nvSpPr>
        <p:spPr>
          <a:xfrm>
            <a:off x="4427984" y="3075332"/>
            <a:ext cx="64502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Rectangle 3"/>
          <p:cNvSpPr/>
          <p:nvPr/>
        </p:nvSpPr>
        <p:spPr>
          <a:xfrm>
            <a:off x="3529293" y="5853752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0x40600000</a:t>
            </a:r>
            <a:endParaRPr lang="he-IL" sz="3200" b="1" dirty="0"/>
          </a:p>
        </p:txBody>
      </p:sp>
    </p:spTree>
    <p:extLst>
      <p:ext uri="{BB962C8B-B14F-4D97-AF65-F5344CB8AC3E}">
        <p14:creationId xmlns:p14="http://schemas.microsoft.com/office/powerpoint/2010/main" val="104414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1" grpId="0"/>
      <p:bldP spid="24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B83C49A-3D02-4D6B-9781-1870CBD7B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 eaLnBrk="1" hangingPunct="1"/>
            <a:r>
              <a:rPr lang="he-IL" altLang="he-IL" dirty="0"/>
              <a:t>נקודה צפה (</a:t>
            </a:r>
            <a:r>
              <a:rPr lang="en-US" altLang="he-IL" dirty="0"/>
              <a:t>Floating Point</a:t>
            </a:r>
            <a:r>
              <a:rPr lang="he-IL" altLang="he-IL" dirty="0"/>
              <a:t>)</a:t>
            </a:r>
            <a:endParaRPr lang="en-US" altLang="he-IL" dirty="0"/>
          </a:p>
        </p:txBody>
      </p:sp>
      <p:sp>
        <p:nvSpPr>
          <p:cNvPr id="33830" name="Slide Number Placeholder 1">
            <a:extLst>
              <a:ext uri="{FF2B5EF4-FFF2-40B4-BE49-F238E27FC236}">
                <a16:creationId xmlns:a16="http://schemas.microsoft.com/office/drawing/2014/main" id="{CCCE2C46-A3E9-4A84-A3F3-BC76C625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DCADD3C-63CA-4660-B1C5-80A9C196A197}" type="slidenum">
              <a:rPr lang="en-US" altLang="he-IL" b="0"/>
              <a:pPr eaLnBrk="1" hangingPunct="1"/>
              <a:t>29</a:t>
            </a:fld>
            <a:endParaRPr lang="en-US" altLang="he-IL" b="0" dirty="0"/>
          </a:p>
        </p:txBody>
      </p:sp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C0F70FFC-FEE5-4CF4-A26C-E9AA400645AE}"/>
              </a:ext>
            </a:extLst>
          </p:cNvPr>
          <p:cNvSpPr/>
          <p:nvPr/>
        </p:nvSpPr>
        <p:spPr>
          <a:xfrm>
            <a:off x="2852563" y="3342787"/>
            <a:ext cx="918592" cy="2519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 bit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" name="סוגר מסולסל ימני 2">
            <a:extLst>
              <a:ext uri="{FF2B5EF4-FFF2-40B4-BE49-F238E27FC236}">
                <a16:creationId xmlns:a16="http://schemas.microsoft.com/office/drawing/2014/main" id="{302FCB1E-7C70-4093-8B26-17D3716F0FE8}"/>
              </a:ext>
            </a:extLst>
          </p:cNvPr>
          <p:cNvSpPr/>
          <p:nvPr/>
        </p:nvSpPr>
        <p:spPr>
          <a:xfrm rot="5400000">
            <a:off x="3212812" y="2141330"/>
            <a:ext cx="198094" cy="20882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0B88CAB7-0123-4A75-A48C-462E21724C47}"/>
              </a:ext>
            </a:extLst>
          </p:cNvPr>
          <p:cNvSpPr/>
          <p:nvPr/>
        </p:nvSpPr>
        <p:spPr>
          <a:xfrm>
            <a:off x="6181877" y="3339183"/>
            <a:ext cx="918592" cy="2519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23 bit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5" name="סוגר מסולסל ימני 14">
            <a:extLst>
              <a:ext uri="{FF2B5EF4-FFF2-40B4-BE49-F238E27FC236}">
                <a16:creationId xmlns:a16="http://schemas.microsoft.com/office/drawing/2014/main" id="{41AD1A6C-4433-4A02-9D9E-8A47156DA892}"/>
              </a:ext>
            </a:extLst>
          </p:cNvPr>
          <p:cNvSpPr/>
          <p:nvPr/>
        </p:nvSpPr>
        <p:spPr>
          <a:xfrm rot="5400000">
            <a:off x="6525216" y="1133256"/>
            <a:ext cx="199447" cy="41030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24BEF9C0-2387-428E-A388-C6F826A3D1E3}"/>
              </a:ext>
            </a:extLst>
          </p:cNvPr>
          <p:cNvSpPr/>
          <p:nvPr/>
        </p:nvSpPr>
        <p:spPr>
          <a:xfrm>
            <a:off x="1259632" y="1683990"/>
            <a:ext cx="74271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he-IL" sz="2800" dirty="0"/>
              <a:t> דוגמא: מהו ערכו של הייצוג הבא?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8ED1FE79-5CB4-479F-AE03-3F8D122CEF2E}"/>
                  </a:ext>
                </a:extLst>
              </p:cNvPr>
              <p:cNvSpPr/>
              <p:nvPr/>
            </p:nvSpPr>
            <p:spPr>
              <a:xfrm>
                <a:off x="1285461" y="4437112"/>
                <a:ext cx="6840760" cy="98894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Value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𝟏𝟑𝟐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𝟏𝟐𝟕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𝟐𝟑𝟔𝟑𝟐𝟖𝟏𝟐𝟓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𝟐𝟑𝟔𝟑𝟐𝟖𝟏𝟐𝟓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endParaRPr lang="he-IL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D1FE79-5CB4-479F-AE03-3F8D122CE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461" y="4437112"/>
                <a:ext cx="6840760" cy="988948"/>
              </a:xfrm>
              <a:prstGeom prst="roundRect">
                <a:avLst/>
              </a:prstGeom>
              <a:blipFill rotWithShape="0">
                <a:blip r:embed="rId3"/>
                <a:stretch>
                  <a:fillRect t="-303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מלבן 8">
            <a:extLst>
              <a:ext uri="{FF2B5EF4-FFF2-40B4-BE49-F238E27FC236}">
                <a16:creationId xmlns:a16="http://schemas.microsoft.com/office/drawing/2014/main" id="{759F11CB-A839-459C-9446-4E8926C7CA82}"/>
              </a:ext>
            </a:extLst>
          </p:cNvPr>
          <p:cNvSpPr/>
          <p:nvPr/>
        </p:nvSpPr>
        <p:spPr>
          <a:xfrm>
            <a:off x="4573425" y="2725008"/>
            <a:ext cx="4103031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001 1110 0100 0000 0000 0000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77C1F30A-320A-4EAC-AB66-4B67F003477E}"/>
              </a:ext>
            </a:extLst>
          </p:cNvPr>
          <p:cNvSpPr/>
          <p:nvPr/>
        </p:nvSpPr>
        <p:spPr>
          <a:xfrm>
            <a:off x="2267743" y="2725008"/>
            <a:ext cx="2088233" cy="3434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100 0010 0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6F5DDE72-156A-4D3E-9584-D128AE59E4FE}"/>
              </a:ext>
            </a:extLst>
          </p:cNvPr>
          <p:cNvSpPr/>
          <p:nvPr/>
        </p:nvSpPr>
        <p:spPr>
          <a:xfrm>
            <a:off x="1403648" y="2725008"/>
            <a:ext cx="792089" cy="3434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  <a:endParaRPr lang="he-IL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מלבן 20">
                <a:extLst>
                  <a:ext uri="{FF2B5EF4-FFF2-40B4-BE49-F238E27FC236}">
                    <a16:creationId xmlns:a16="http://schemas.microsoft.com/office/drawing/2014/main" id="{DFF7853B-EE8E-40B0-872A-647966421380}"/>
                  </a:ext>
                </a:extLst>
              </p:cNvPr>
              <p:cNvSpPr/>
              <p:nvPr/>
            </p:nvSpPr>
            <p:spPr>
              <a:xfrm>
                <a:off x="179512" y="3832138"/>
                <a:ext cx="8507288" cy="539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sz="2800" dirty="0"/>
                  <a:t>F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US" sz="28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US" sz="28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n-US" sz="28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𝟐𝟑𝟔𝟑𝟐𝟖𝟏𝟐𝟓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21" name="מלבן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FF7853B-EE8E-40B0-872A-647966421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832138"/>
                <a:ext cx="8507288" cy="539315"/>
              </a:xfrm>
              <a:prstGeom prst="rect">
                <a:avLst/>
              </a:prstGeom>
              <a:blipFill rotWithShape="0">
                <a:blip r:embed="rId4"/>
                <a:stretch>
                  <a:fillRect t="-9091" r="-1504" b="-3295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5F9F473B-C208-4264-BCE0-24F6665C73A4}"/>
              </a:ext>
            </a:extLst>
          </p:cNvPr>
          <p:cNvSpPr/>
          <p:nvPr/>
        </p:nvSpPr>
        <p:spPr>
          <a:xfrm>
            <a:off x="6408915" y="2321584"/>
            <a:ext cx="432048" cy="259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B83E1AEB-CBB8-4C35-9536-B081227BECFD}"/>
              </a:ext>
            </a:extLst>
          </p:cNvPr>
          <p:cNvSpPr/>
          <p:nvPr/>
        </p:nvSpPr>
        <p:spPr>
          <a:xfrm>
            <a:off x="3095835" y="2298616"/>
            <a:ext cx="432048" cy="259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B6F605B1-EC41-4608-8135-8EA99A218D90}"/>
              </a:ext>
            </a:extLst>
          </p:cNvPr>
          <p:cNvSpPr/>
          <p:nvPr/>
        </p:nvSpPr>
        <p:spPr>
          <a:xfrm>
            <a:off x="1581301" y="2298617"/>
            <a:ext cx="432048" cy="259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B18F6E01-DF60-407A-AE8E-A7632D0171AC}"/>
              </a:ext>
            </a:extLst>
          </p:cNvPr>
          <p:cNvSpPr/>
          <p:nvPr/>
        </p:nvSpPr>
        <p:spPr>
          <a:xfrm>
            <a:off x="1259632" y="5426060"/>
            <a:ext cx="74271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he-IL" sz="2800" dirty="0"/>
              <a:t> כיצד יראה מספר זה בייצוג </a:t>
            </a:r>
            <a:r>
              <a:rPr lang="he-IL" sz="2800" dirty="0" err="1"/>
              <a:t>הקסדסימלי</a:t>
            </a:r>
            <a:r>
              <a:rPr lang="he-IL" sz="2800" dirty="0"/>
              <a:t> (בסיס 16)?</a:t>
            </a:r>
          </a:p>
        </p:txBody>
      </p:sp>
      <p:sp>
        <p:nvSpPr>
          <p:cNvPr id="22" name="אליפסה 9">
            <a:extLst>
              <a:ext uri="{FF2B5EF4-FFF2-40B4-BE49-F238E27FC236}">
                <a16:creationId xmlns:a16="http://schemas.microsoft.com/office/drawing/2014/main" id="{4F374C16-F020-4A0E-9958-844CA62589B3}"/>
              </a:ext>
            </a:extLst>
          </p:cNvPr>
          <p:cNvSpPr/>
          <p:nvPr/>
        </p:nvSpPr>
        <p:spPr>
          <a:xfrm>
            <a:off x="4427984" y="3075332"/>
            <a:ext cx="64502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Rectangle 3"/>
          <p:cNvSpPr/>
          <p:nvPr/>
        </p:nvSpPr>
        <p:spPr>
          <a:xfrm>
            <a:off x="3460365" y="5853752"/>
            <a:ext cx="23054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0x421E4000</a:t>
            </a:r>
            <a:endParaRPr lang="he-IL" sz="3200" b="1" dirty="0"/>
          </a:p>
        </p:txBody>
      </p:sp>
    </p:spTree>
    <p:extLst>
      <p:ext uri="{BB962C8B-B14F-4D97-AF65-F5344CB8AC3E}">
        <p14:creationId xmlns:p14="http://schemas.microsoft.com/office/powerpoint/2010/main" val="269771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1" grpId="0"/>
      <p:bldP spid="24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B83C49A-3D02-4D6B-9781-1870CBD7B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 eaLnBrk="1" hangingPunct="1"/>
            <a:r>
              <a:rPr lang="he-IL" altLang="he-IL" dirty="0"/>
              <a:t>נקודה צפה (</a:t>
            </a:r>
            <a:r>
              <a:rPr lang="en-US" altLang="he-IL" dirty="0"/>
              <a:t>Floating Point</a:t>
            </a:r>
            <a:r>
              <a:rPr lang="he-IL" altLang="he-IL" dirty="0"/>
              <a:t>)</a:t>
            </a:r>
            <a:endParaRPr lang="en-US" altLang="he-IL" dirty="0"/>
          </a:p>
        </p:txBody>
      </p:sp>
      <p:sp>
        <p:nvSpPr>
          <p:cNvPr id="33830" name="Slide Number Placeholder 1">
            <a:extLst>
              <a:ext uri="{FF2B5EF4-FFF2-40B4-BE49-F238E27FC236}">
                <a16:creationId xmlns:a16="http://schemas.microsoft.com/office/drawing/2014/main" id="{CCCE2C46-A3E9-4A84-A3F3-BC76C625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DCADD3C-63CA-4660-B1C5-80A9C196A197}" type="slidenum">
              <a:rPr lang="en-US" altLang="he-IL" b="0"/>
              <a:pPr eaLnBrk="1" hangingPunct="1"/>
              <a:t>30</a:t>
            </a:fld>
            <a:endParaRPr lang="en-US" altLang="he-IL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לבן 4">
                <a:extLst>
                  <a:ext uri="{FF2B5EF4-FFF2-40B4-BE49-F238E27FC236}">
                    <a16:creationId xmlns:a16="http://schemas.microsoft.com/office/drawing/2014/main" id="{24BEF9C0-2387-428E-A388-C6F826A3D1E3}"/>
                  </a:ext>
                </a:extLst>
              </p:cNvPr>
              <p:cNvSpPr/>
              <p:nvPr/>
            </p:nvSpPr>
            <p:spPr>
              <a:xfrm>
                <a:off x="611560" y="1793180"/>
                <a:ext cx="8147248" cy="4022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he-IL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sz="2800" b="0" i="0" smtClean="0">
                        <a:latin typeface="Cambria Math" panose="02040503050406030204" pitchFamily="18" charset="0"/>
                      </a:rPr>
                      <m:t>כאשר</m:t>
                    </m:r>
                  </m:oMath>
                </a14:m>
                <a:r>
                  <a:rPr lang="he-IL" sz="2800" dirty="0"/>
                  <a:t> </a:t>
                </a:r>
                <a:r>
                  <a:rPr lang="en-US" sz="2800" dirty="0"/>
                  <a:t> </a:t>
                </a:r>
              </a:p>
              <a:p>
                <a:pPr lvl="1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he-IL" sz="2800" dirty="0"/>
                  <a:t> אם </a:t>
                </a:r>
                <a:r>
                  <a:rPr lang="en-US" sz="2800" dirty="0"/>
                  <a:t>F=0</a:t>
                </a:r>
                <a:r>
                  <a:rPr lang="he-IL" sz="2800" dirty="0"/>
                  <a:t> – מייצג אינסוף</a:t>
                </a:r>
              </a:p>
              <a:p>
                <a:pPr lvl="1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he-IL" sz="2800" dirty="0"/>
                  <a:t> אחרת – מייצג מספר לא קיים </a:t>
                </a:r>
                <a:r>
                  <a:rPr lang="en-US" sz="2800" dirty="0"/>
                  <a:t>(</a:t>
                </a:r>
                <a:r>
                  <a:rPr lang="en-US" sz="2800" dirty="0" err="1"/>
                  <a:t>NaN</a:t>
                </a:r>
                <a:r>
                  <a:rPr lang="en-US" sz="2800" dirty="0"/>
                  <a:t>)</a:t>
                </a:r>
                <a:endParaRPr lang="he-IL" sz="2800" dirty="0"/>
              </a:p>
              <a:p>
                <a:pPr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he-IL" sz="2800" dirty="0"/>
                  <a:t> מקבלים טווח גדול יותר של ערכים על חשבון הרזולוציה (בכל מקרה, לא נוכל לייצג יותר מ-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he-IL" sz="2800" dirty="0"/>
                  <a:t> ערכים שונים עם 32 סיביות).</a:t>
                </a:r>
                <a:endParaRPr lang="en-US" sz="2800" dirty="0"/>
              </a:p>
              <a:p>
                <a:pPr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he-IL" sz="2800" dirty="0"/>
                  <a:t>דוגמא:</a:t>
                </a:r>
                <a:r>
                  <a:rPr lang="en-US" sz="2800" dirty="0"/>
                  <a:t> </a:t>
                </a:r>
                <a:endParaRPr lang="he-IL" sz="2800" dirty="0"/>
              </a:p>
            </p:txBody>
          </p:sp>
        </mc:Choice>
        <mc:Fallback xmlns="">
          <p:sp>
            <p:nvSpPr>
              <p:cNvPr id="5" name="מלבן 4">
                <a:extLst>
                  <a:ext uri="{FF2B5EF4-FFF2-40B4-BE49-F238E27FC236}">
                    <a16:creationId xmlns:a16="http://schemas.microsoft.com/office/drawing/2014/main" id="{24BEF9C0-2387-428E-A388-C6F826A3D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793180"/>
                <a:ext cx="8147248" cy="4022896"/>
              </a:xfrm>
              <a:prstGeom prst="rect">
                <a:avLst/>
              </a:prstGeom>
              <a:blipFill>
                <a:blip r:embed="rId3"/>
                <a:stretch>
                  <a:fillRect t="-315" r="-1558" b="-34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812701A-75E1-0CD5-913C-029E95733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" y="5678498"/>
            <a:ext cx="7529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2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0 01111111 00000000000000000000000 = 3f80 0000</a:t>
            </a:r>
            <a:r>
              <a:rPr kumimoji="0" lang="en-IL" altLang="en-IL" sz="900" b="0" i="0" u="none" strike="noStrike" cap="none" normalizeH="0" baseline="-30000" dirty="0">
                <a:ln>
                  <a:noFill/>
                </a:ln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kumimoji="0" lang="en-IL" altLang="en-IL" sz="12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 = 1 </a:t>
            </a:r>
            <a:br>
              <a:rPr kumimoji="0" lang="en-IL" altLang="en-IL" sz="12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</a:br>
            <a:r>
              <a:rPr kumimoji="0" lang="en-IL" altLang="en-IL" sz="12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0 01111111 00000000000000000000001 = 3f80 0001</a:t>
            </a:r>
            <a:r>
              <a:rPr kumimoji="0" lang="en-IL" altLang="en-IL" sz="900" b="0" i="0" u="none" strike="noStrike" cap="none" normalizeH="0" baseline="-30000" dirty="0">
                <a:ln>
                  <a:noFill/>
                </a:ln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kumimoji="0" lang="en-IL" altLang="en-IL" sz="12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 = 1 + 2</a:t>
            </a:r>
            <a:r>
              <a:rPr kumimoji="0" lang="en-IL" altLang="en-IL" sz="900" b="0" i="0" u="none" strike="noStrike" cap="none" normalizeH="0" baseline="30000" dirty="0">
                <a:ln>
                  <a:noFill/>
                </a:ln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−23</a:t>
            </a:r>
            <a:r>
              <a:rPr kumimoji="0" lang="en-IL" altLang="en-IL" sz="12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Courier New" panose="02070309020205020404" pitchFamily="49" charset="0"/>
              </a:rPr>
              <a:t> ≈ 1.00000011920928955</a:t>
            </a: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968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138C-12A0-BABB-91A0-814E0A5B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DF0649D-FB1F-B021-DD5E-114F9CEF2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 eaLnBrk="1" hangingPunct="1"/>
            <a:r>
              <a:rPr lang="he-IL" altLang="he-IL" dirty="0"/>
              <a:t>נקודה צפה (</a:t>
            </a:r>
            <a:r>
              <a:rPr lang="en-US" altLang="he-IL" dirty="0"/>
              <a:t>Floating Point</a:t>
            </a:r>
            <a:r>
              <a:rPr lang="he-IL" altLang="he-IL" dirty="0"/>
              <a:t>)</a:t>
            </a:r>
            <a:endParaRPr lang="en-US" altLang="he-IL" dirty="0"/>
          </a:p>
        </p:txBody>
      </p:sp>
      <p:sp>
        <p:nvSpPr>
          <p:cNvPr id="33830" name="Slide Number Placeholder 1">
            <a:extLst>
              <a:ext uri="{FF2B5EF4-FFF2-40B4-BE49-F238E27FC236}">
                <a16:creationId xmlns:a16="http://schemas.microsoft.com/office/drawing/2014/main" id="{48083AD9-AFFF-9C73-2875-A9BA648D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DCADD3C-63CA-4660-B1C5-80A9C196A197}" type="slidenum">
              <a:rPr lang="en-US" altLang="he-IL" b="0"/>
              <a:pPr eaLnBrk="1" hangingPunct="1"/>
              <a:t>31</a:t>
            </a:fld>
            <a:endParaRPr lang="en-US" altLang="he-IL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DC036-03FB-8E53-CC21-D9513BE26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401077"/>
            <a:ext cx="7772400" cy="2767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726FE1-76A3-C77D-DBBF-57093EE835F8}"/>
              </a:ext>
            </a:extLst>
          </p:cNvPr>
          <p:cNvSpPr txBox="1"/>
          <p:nvPr/>
        </p:nvSpPr>
        <p:spPr>
          <a:xfrm>
            <a:off x="1497857" y="5291916"/>
            <a:ext cx="6148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blog.demofox.org</a:t>
            </a:r>
            <a:r>
              <a:rPr lang="en-US" dirty="0">
                <a:hlinkClick r:id="rId4"/>
              </a:rPr>
              <a:t>/2017/11/21/floating-point-precision/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93CDF-A8C8-9D56-05D5-8FDEAB80BF22}"/>
              </a:ext>
            </a:extLst>
          </p:cNvPr>
          <p:cNvSpPr txBox="1"/>
          <p:nvPr/>
        </p:nvSpPr>
        <p:spPr>
          <a:xfrm>
            <a:off x="2625026" y="1908638"/>
            <a:ext cx="393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רמת דיוק של ייצוג </a:t>
            </a:r>
            <a:r>
              <a:rPr lang="en-US" dirty="0"/>
              <a:t>Floating Point</a:t>
            </a:r>
            <a:r>
              <a:rPr lang="he-IL" dirty="0"/>
              <a:t> לפי טווח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8952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21DD-957E-EB50-A21A-0414DEE9B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EB21-1842-5546-3B62-A34384D1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altLang="he-IL" sz="4000" dirty="0"/>
              <a:t>נקודה צפה (</a:t>
            </a:r>
            <a:r>
              <a:rPr lang="en-US" altLang="he-IL" sz="4000" dirty="0"/>
              <a:t>Floating Point</a:t>
            </a:r>
            <a:r>
              <a:rPr lang="he-IL" altLang="he-IL" sz="4000" dirty="0"/>
              <a:t>) – שאלות?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23E4F-5082-74DF-6103-0BF8FF4E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9541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5306CB2-E735-4312-A252-292C866527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 eaLnBrk="1" hangingPunct="1"/>
            <a:r>
              <a:rPr lang="he-IL" altLang="en-US" sz="4000" dirty="0"/>
              <a:t>קודים בינאריים לקידוד ספרות בבסיס 10</a:t>
            </a:r>
            <a:endParaRPr lang="en-US" altLang="en-US" sz="4000" dirty="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7D12748-CE1D-4E94-8944-44469ADA8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2623" y="2035310"/>
            <a:ext cx="8229600" cy="3048000"/>
          </a:xfrm>
        </p:spPr>
        <p:txBody>
          <a:bodyPr>
            <a:normAutofit/>
          </a:bodyPr>
          <a:lstStyle/>
          <a:p>
            <a:pPr algn="r" rtl="1" eaLnBrk="1" hangingPunct="1"/>
            <a:r>
              <a:rPr lang="he-IL" altLang="en-US" sz="2800" b="1" dirty="0">
                <a:solidFill>
                  <a:schemeClr val="tx1"/>
                </a:solidFill>
              </a:rPr>
              <a:t>הגדרה</a:t>
            </a:r>
            <a:r>
              <a:rPr lang="he-IL" altLang="en-US" sz="2800" dirty="0">
                <a:solidFill>
                  <a:schemeClr val="tx1"/>
                </a:solidFill>
              </a:rPr>
              <a:t>:   ייצוג בינארי המקיים:</a:t>
            </a:r>
          </a:p>
          <a:p>
            <a:pPr lvl="1" algn="r" rtl="1" eaLnBrk="1" hangingPunct="1"/>
            <a:r>
              <a:rPr lang="he-IL" altLang="en-US" sz="2400" dirty="0">
                <a:solidFill>
                  <a:schemeClr val="tx1"/>
                </a:solidFill>
              </a:rPr>
              <a:t>לכל ספרה  9</a:t>
            </a:r>
            <a:r>
              <a:rPr lang="en-US" altLang="en-US" sz="2400" dirty="0">
                <a:solidFill>
                  <a:schemeClr val="tx1"/>
                </a:solidFill>
              </a:rPr>
              <a:t>…</a:t>
            </a:r>
            <a:r>
              <a:rPr lang="he-IL" altLang="en-US" sz="2400" dirty="0">
                <a:solidFill>
                  <a:schemeClr val="tx1"/>
                </a:solidFill>
              </a:rPr>
              <a:t>.0 קיימת מילת קוד שונה.</a:t>
            </a:r>
            <a:br>
              <a:rPr lang="en-US" altLang="en-US" sz="2400" dirty="0">
                <a:solidFill>
                  <a:schemeClr val="tx1"/>
                </a:solidFill>
              </a:rPr>
            </a:br>
            <a:endParaRPr lang="he-IL" altLang="en-US" sz="2400" dirty="0">
              <a:solidFill>
                <a:schemeClr val="tx1"/>
              </a:solidFill>
            </a:endParaRPr>
          </a:p>
          <a:p>
            <a:pPr lvl="1" algn="r" rtl="1" eaLnBrk="1" hangingPunct="1"/>
            <a:r>
              <a:rPr lang="he-IL" altLang="en-US" sz="2400" dirty="0">
                <a:solidFill>
                  <a:schemeClr val="tx1"/>
                </a:solidFill>
              </a:rPr>
              <a:t>קיימת נוסחה או טבלת מעבר: ספרה </a:t>
            </a:r>
            <a:r>
              <a:rPr lang="en-US" altLang="en-US" sz="2400" dirty="0">
                <a:solidFill>
                  <a:schemeClr val="tx1"/>
                </a:solidFill>
              </a:rPr>
              <a:t>↔</a:t>
            </a:r>
            <a:r>
              <a:rPr lang="he-IL" altLang="en-US" sz="2400" dirty="0">
                <a:solidFill>
                  <a:schemeClr val="tx1"/>
                </a:solidFill>
              </a:rPr>
              <a:t> קוד.</a:t>
            </a:r>
            <a:br>
              <a:rPr lang="en-US" altLang="en-US" sz="2400" dirty="0">
                <a:solidFill>
                  <a:schemeClr val="tx1"/>
                </a:solidFill>
              </a:rPr>
            </a:br>
            <a:endParaRPr lang="he-IL" altLang="en-US" sz="2400" dirty="0">
              <a:solidFill>
                <a:schemeClr val="tx1"/>
              </a:solidFill>
            </a:endParaRPr>
          </a:p>
          <a:p>
            <a:pPr algn="r" rtl="1" eaLnBrk="1" hangingPunct="1"/>
            <a:r>
              <a:rPr lang="he-IL" altLang="en-US" sz="2800" dirty="0">
                <a:solidFill>
                  <a:schemeClr val="tx1"/>
                </a:solidFill>
              </a:rPr>
              <a:t>למשל: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0487" name="Slide Number Placeholder 1">
            <a:extLst>
              <a:ext uri="{FF2B5EF4-FFF2-40B4-BE49-F238E27FC236}">
                <a16:creationId xmlns:a16="http://schemas.microsoft.com/office/drawing/2014/main" id="{DB7F5870-9E51-4EC1-9B71-A8F8E4DB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4B9321-0C6B-4089-BE25-6C1909D2E3C4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F65FA0D5-E374-43EC-96F8-73563875E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453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he-IL" altLang="en-US" sz="1800" b="1">
              <a:solidFill>
                <a:srgbClr val="000000"/>
              </a:solidFill>
            </a:endParaRPr>
          </a:p>
        </p:txBody>
      </p:sp>
      <p:sp>
        <p:nvSpPr>
          <p:cNvPr id="20485" name="Text Box 59">
            <a:extLst>
              <a:ext uri="{FF2B5EF4-FFF2-40B4-BE49-F238E27FC236}">
                <a16:creationId xmlns:a16="http://schemas.microsoft.com/office/drawing/2014/main" id="{39E593C3-B3BC-4074-8A70-09CE69C7C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4143375"/>
            <a:ext cx="15017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>
                <a:solidFill>
                  <a:srgbClr val="000000"/>
                </a:solidFill>
              </a:rPr>
              <a:t>1000 = 0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>
                <a:solidFill>
                  <a:srgbClr val="000000"/>
                </a:solidFill>
              </a:rPr>
              <a:t>1001 = 1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>
                <a:solidFill>
                  <a:srgbClr val="000000"/>
                </a:solidFill>
              </a:rPr>
              <a:t>0110 = 2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>
                <a:solidFill>
                  <a:srgbClr val="000000"/>
                </a:solidFill>
              </a:rPr>
              <a:t>1111 = 3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>
                <a:solidFill>
                  <a:srgbClr val="000000"/>
                </a:solidFill>
              </a:rPr>
              <a:t>0000 = 4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20486" name="Text Box 60">
            <a:extLst>
              <a:ext uri="{FF2B5EF4-FFF2-40B4-BE49-F238E27FC236}">
                <a16:creationId xmlns:a16="http://schemas.microsoft.com/office/drawing/2014/main" id="{4ACDE3DB-F09E-40F8-97A0-150239CC9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114800"/>
            <a:ext cx="1401763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0111 = 5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0001 = 6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1011 = 7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0011 = 8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1101 = 9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0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4207FD7-AB89-4271-AB40-04537F234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he-IL" altLang="en-US" dirty="0"/>
              <a:t>קודים משוקללים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>
                <a:extLst>
                  <a:ext uri="{FF2B5EF4-FFF2-40B4-BE49-F238E27FC236}">
                    <a16:creationId xmlns:a16="http://schemas.microsoft.com/office/drawing/2014/main" id="{743FC99E-4623-4B75-8D6A-E9CFA13DA96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 eaLnBrk="1" hangingPunct="1"/>
                <a:r>
                  <a:rPr lang="he-IL" altLang="en-US" sz="3200" dirty="0">
                    <a:solidFill>
                      <a:schemeClr val="tx1"/>
                    </a:solidFill>
                  </a:rPr>
                  <a:t>בקוד זה יש חוקיות :</a:t>
                </a:r>
              </a:p>
              <a:p>
                <a:pPr lvl="1" algn="r" rtl="1" eaLnBrk="1" hangingPunct="1"/>
                <a:r>
                  <a:rPr lang="he-IL" altLang="en-US" sz="2800" dirty="0">
                    <a:solidFill>
                      <a:schemeClr val="tx1"/>
                    </a:solidFill>
                  </a:rPr>
                  <a:t>כל </a:t>
                </a:r>
                <a:r>
                  <a:rPr lang="he-IL" altLang="en-US" sz="2800" b="1" dirty="0">
                    <a:solidFill>
                      <a:schemeClr val="tx1"/>
                    </a:solidFill>
                  </a:rPr>
                  <a:t>ספרה</a:t>
                </a:r>
                <a:r>
                  <a:rPr lang="he-IL" altLang="en-US" sz="2800" dirty="0">
                    <a:solidFill>
                      <a:schemeClr val="tx1"/>
                    </a:solidFill>
                  </a:rPr>
                  <a:t> מיוצגת ע"י 4 סיביות</a:t>
                </a:r>
                <a:r>
                  <a:rPr lang="en-US" alt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he-IL" altLang="en-US" sz="28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he-IL" altLang="en-US" sz="2800" dirty="0">
                    <a:solidFill>
                      <a:schemeClr val="tx1"/>
                    </a:solidFill>
                  </a:rPr>
                  <a:t>)</a:t>
                </a:r>
                <a:br>
                  <a:rPr lang="en-US" altLang="en-US" sz="2800" dirty="0">
                    <a:solidFill>
                      <a:schemeClr val="tx1"/>
                    </a:solidFill>
                  </a:rPr>
                </a:br>
                <a:endParaRPr lang="he-IL" altLang="en-US" sz="2800" dirty="0">
                  <a:solidFill>
                    <a:schemeClr val="tx1"/>
                  </a:solidFill>
                </a:endParaRPr>
              </a:p>
              <a:p>
                <a:pPr lvl="1" algn="r" rtl="1" eaLnBrk="1" hangingPunct="1"/>
                <a:r>
                  <a:rPr lang="he-IL" altLang="en-US" sz="2800" dirty="0">
                    <a:solidFill>
                      <a:schemeClr val="tx1"/>
                    </a:solidFill>
                  </a:rPr>
                  <a:t>לכל סיבית יש משקל</a:t>
                </a:r>
                <a:r>
                  <a:rPr lang="en-US" alt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he-IL" altLang="en-US" sz="2800" dirty="0">
                    <a:solidFill>
                      <a:schemeClr val="tx1"/>
                    </a:solidFill>
                  </a:rPr>
                  <a:t>מוגדר (</a:t>
                </a:r>
                <a:r>
                  <a:rPr lang="en-US" altLang="en-US" sz="2800" dirty="0" err="1">
                    <a:solidFill>
                      <a:schemeClr val="tx1"/>
                    </a:solidFill>
                  </a:rPr>
                  <a:t>w</a:t>
                </a:r>
                <a:r>
                  <a:rPr lang="en-US" altLang="en-US" sz="2800" baseline="-25000" dirty="0" err="1">
                    <a:solidFill>
                      <a:schemeClr val="tx1"/>
                    </a:solidFill>
                  </a:rPr>
                  <a:t>i</a:t>
                </a:r>
                <a:r>
                  <a:rPr lang="he-IL" altLang="en-US" sz="2800" dirty="0">
                    <a:solidFill>
                      <a:schemeClr val="tx1"/>
                    </a:solidFill>
                  </a:rPr>
                  <a:t>)</a:t>
                </a:r>
                <a:br>
                  <a:rPr lang="en-US" altLang="en-US" sz="2800" dirty="0">
                    <a:solidFill>
                      <a:schemeClr val="tx1"/>
                    </a:solidFill>
                  </a:rPr>
                </a:br>
                <a:endParaRPr lang="he-IL" altLang="en-US" sz="2800" dirty="0">
                  <a:solidFill>
                    <a:schemeClr val="tx1"/>
                  </a:solidFill>
                </a:endParaRPr>
              </a:p>
              <a:p>
                <a:pPr lvl="1" algn="r" rtl="1" eaLnBrk="1" hangingPunct="1"/>
                <a:r>
                  <a:rPr lang="he-IL" altLang="en-US" sz="2800" dirty="0">
                    <a:solidFill>
                      <a:schemeClr val="tx1"/>
                    </a:solidFill>
                  </a:rPr>
                  <a:t>ערך </a:t>
                </a:r>
                <a:r>
                  <a:rPr lang="he-IL" altLang="en-US" sz="2800" b="1" dirty="0">
                    <a:solidFill>
                      <a:schemeClr val="tx1"/>
                    </a:solidFill>
                  </a:rPr>
                  <a:t>הספרה</a:t>
                </a:r>
                <a:r>
                  <a:rPr lang="he-IL" altLang="en-US" sz="2800" dirty="0">
                    <a:solidFill>
                      <a:schemeClr val="tx1"/>
                    </a:solidFill>
                  </a:rPr>
                  <a:t> הוא: </a:t>
                </a:r>
                <a:endParaRPr lang="en-US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507" name="Rectangle 3">
                <a:extLst>
                  <a:ext uri="{FF2B5EF4-FFF2-40B4-BE49-F238E27FC236}">
                    <a16:creationId xmlns:a16="http://schemas.microsoft.com/office/drawing/2014/main" id="{743FC99E-4623-4B75-8D6A-E9CFA13DA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3145" r="-318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0" name="Slide Number Placeholder 1">
            <a:extLst>
              <a:ext uri="{FF2B5EF4-FFF2-40B4-BE49-F238E27FC236}">
                <a16:creationId xmlns:a16="http://schemas.microsoft.com/office/drawing/2014/main" id="{1D4D0280-A713-405C-8B59-11CC86E4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53F703-3748-458B-9E41-98FAC661F498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8253951C-C773-4E71-A9AE-591A4F15B7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419650"/>
              </p:ext>
            </p:extLst>
          </p:nvPr>
        </p:nvGraphicFramePr>
        <p:xfrm>
          <a:off x="536575" y="4391025"/>
          <a:ext cx="64928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545760" progId="Equation.DSMT4">
                  <p:embed/>
                </p:oleObj>
              </mc:Choice>
              <mc:Fallback>
                <p:oleObj name="Equation" r:id="rId4" imgW="3162240" imgH="545760" progId="Equation.DSMT4">
                  <p:embed/>
                  <p:pic>
                    <p:nvPicPr>
                      <p:cNvPr id="21509" name="Object 5">
                        <a:extLst>
                          <a:ext uri="{FF2B5EF4-FFF2-40B4-BE49-F238E27FC236}">
                            <a16:creationId xmlns:a16="http://schemas.microsoft.com/office/drawing/2014/main" id="{8253951C-C773-4E71-A9AE-591A4F15B7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4391025"/>
                        <a:ext cx="6492875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6751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7" name="Slide Number Placeholder 1">
            <a:extLst>
              <a:ext uri="{FF2B5EF4-FFF2-40B4-BE49-F238E27FC236}">
                <a16:creationId xmlns:a16="http://schemas.microsoft.com/office/drawing/2014/main" id="{AF4BF48E-3AAD-4E3B-BFFE-AA53370B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DFCEEF-963A-41C9-A921-DF4B1A38C2F1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graphicFrame>
        <p:nvGraphicFramePr>
          <p:cNvPr id="40432" name="Group 496">
            <a:extLst>
              <a:ext uri="{FF2B5EF4-FFF2-40B4-BE49-F238E27FC236}">
                <a16:creationId xmlns:a16="http://schemas.microsoft.com/office/drawing/2014/main" id="{006AE673-1884-40F2-8681-6269CB3B72E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15215672"/>
              </p:ext>
            </p:extLst>
          </p:nvPr>
        </p:nvGraphicFramePr>
        <p:xfrm>
          <a:off x="539552" y="670718"/>
          <a:ext cx="8229600" cy="5516563"/>
        </p:xfrm>
        <a:graphic>
          <a:graphicData uri="http://schemas.openxmlformats.org/drawingml/2006/table">
            <a:tbl>
              <a:tblPr rtl="1"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קוד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BCD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ספרה / משקלים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8  4  2  1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2  4  2  1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6  4  2 -3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0  0  0  0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0  0  0  0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0  0  0  0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0  0  0  1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0  0  0  1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0  1  0  1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0  0  1  0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0  0  1  0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0  0  1  0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0  0  1  1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0  0  1  1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1  0  0  1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0  1  0  0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0  1  0  0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0  1  0  0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0  1  0  1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1  0  1  1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1  0  1  1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0  1  1  0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1  1  0  0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0  1  1  0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0  1  1  1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1  1  0  1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1  1  0  1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1  0  0  0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1  1  1  0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1  0  1  0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1  0  0  1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1  1  1  1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1  1  1 1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BF6AC63-4460-47F9-9CD1-D1D903324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53708"/>
            <a:ext cx="8229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r" eaLnBrk="1" hangingPunct="1">
              <a:buNone/>
            </a:pPr>
            <a:r>
              <a:rPr lang="he-IL" altLang="en-US" b="1" kern="0" dirty="0"/>
              <a:t> דוגמאות לקודים משוקללים</a:t>
            </a:r>
            <a:endParaRPr lang="en-US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269945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A35BCFE-BA49-4595-B6A4-47497D0C0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286604"/>
            <a:ext cx="7827208" cy="1450757"/>
          </a:xfrm>
        </p:spPr>
        <p:txBody>
          <a:bodyPr/>
          <a:lstStyle/>
          <a:p>
            <a:pPr algn="r" rtl="1" eaLnBrk="1" hangingPunct="1"/>
            <a:r>
              <a:rPr lang="he-IL" altLang="en-US" dirty="0"/>
              <a:t>קוד </a:t>
            </a:r>
            <a:r>
              <a:rPr lang="en-US" altLang="en-US" dirty="0"/>
              <a:t>BCD</a:t>
            </a:r>
            <a:r>
              <a:rPr lang="he-IL" altLang="en-US" dirty="0"/>
              <a:t> לעומת מספר בבסיס בינארי</a:t>
            </a:r>
            <a:endParaRPr lang="en-US" altLang="en-US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21C0BAE-8E0B-4260-8152-F4F83863C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r" rtl="1" eaLnBrk="1" hangingPunct="1"/>
            <a:r>
              <a:rPr lang="he-IL" altLang="en-US" dirty="0">
                <a:solidFill>
                  <a:schemeClr val="tx1"/>
                </a:solidFill>
              </a:rPr>
              <a:t>נבדיל בין ייצוג המספר 16 בבסיס בינארי :</a:t>
            </a:r>
          </a:p>
          <a:p>
            <a:pPr algn="r" rtl="1" eaLnBrk="1" hangingPunct="1"/>
            <a:endParaRPr lang="he-IL" altLang="en-US" dirty="0">
              <a:solidFill>
                <a:schemeClr val="tx1"/>
              </a:solidFill>
            </a:endParaRPr>
          </a:p>
          <a:p>
            <a:pPr algn="r" rtl="1" eaLnBrk="1" hangingPunct="1"/>
            <a:endParaRPr lang="he-IL" altLang="en-US" dirty="0">
              <a:solidFill>
                <a:schemeClr val="tx1"/>
              </a:solidFill>
            </a:endParaRPr>
          </a:p>
          <a:p>
            <a:pPr algn="r" rtl="1" eaLnBrk="1" hangingPunct="1"/>
            <a:endParaRPr lang="he-IL" altLang="en-US" dirty="0">
              <a:solidFill>
                <a:schemeClr val="tx1"/>
              </a:solidFill>
            </a:endParaRPr>
          </a:p>
          <a:p>
            <a:pPr algn="r" rtl="1" eaLnBrk="1" hangingPunct="1"/>
            <a:r>
              <a:rPr lang="he-IL" altLang="en-US" dirty="0">
                <a:solidFill>
                  <a:schemeClr val="tx1"/>
                </a:solidFill>
              </a:rPr>
              <a:t>לבין ייצוג המספר 16 בקוד </a:t>
            </a:r>
            <a:r>
              <a:rPr lang="en-US" altLang="en-US" dirty="0">
                <a:solidFill>
                  <a:schemeClr val="tx1"/>
                </a:solidFill>
              </a:rPr>
              <a:t>BCD</a:t>
            </a:r>
            <a:r>
              <a:rPr lang="he-IL" altLang="en-US" dirty="0">
                <a:solidFill>
                  <a:schemeClr val="tx1"/>
                </a:solidFill>
              </a:rPr>
              <a:t> :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3575" name="Slide Number Placeholder 1">
            <a:extLst>
              <a:ext uri="{FF2B5EF4-FFF2-40B4-BE49-F238E27FC236}">
                <a16:creationId xmlns:a16="http://schemas.microsoft.com/office/drawing/2014/main" id="{0DB8C0F7-D626-4DC4-A419-DA92B3BD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BD1C3A-0664-4AC4-BB7D-6DECBC177701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511A385B-8B71-40F5-A57E-DC466A694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373313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E0F7398B-91B0-4E6C-B752-3433346E3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373313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7B448FEA-6944-41FE-BD6E-A9E3B680D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373313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535104A9-CD61-4071-A737-E5C23A64A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373313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0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2816397D-C88F-4A7C-9D8B-D110EE654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373313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0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23561" name="AutoShape 9">
            <a:extLst>
              <a:ext uri="{FF2B5EF4-FFF2-40B4-BE49-F238E27FC236}">
                <a16:creationId xmlns:a16="http://schemas.microsoft.com/office/drawing/2014/main" id="{3DA05AF9-DD8C-4061-B6C7-93FFB9F9857D}"/>
              </a:ext>
            </a:extLst>
          </p:cNvPr>
          <p:cNvSpPr>
            <a:spLocks/>
          </p:cNvSpPr>
          <p:nvPr/>
        </p:nvSpPr>
        <p:spPr bwMode="auto">
          <a:xfrm rot="-5400000">
            <a:off x="3962400" y="1916113"/>
            <a:ext cx="228600" cy="25146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he-IL" altLang="en-US" sz="1800">
              <a:solidFill>
                <a:srgbClr val="000000"/>
              </a:solidFill>
            </a:endParaRPr>
          </a:p>
        </p:txBody>
      </p:sp>
      <p:sp>
        <p:nvSpPr>
          <p:cNvPr id="23562" name="Text Box 10">
            <a:extLst>
              <a:ext uri="{FF2B5EF4-FFF2-40B4-BE49-F238E27FC236}">
                <a16:creationId xmlns:a16="http://schemas.microsoft.com/office/drawing/2014/main" id="{612CADE7-387C-4373-9B2B-6C2F4EA5F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5" y="3287713"/>
            <a:ext cx="1250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רוחב:</a:t>
            </a:r>
            <a:r>
              <a:rPr lang="en-US" altLang="en-US" sz="1800">
                <a:solidFill>
                  <a:srgbClr val="000000"/>
                </a:solidFill>
              </a:rPr>
              <a:t> </a:t>
            </a:r>
            <a:r>
              <a:rPr lang="he-IL" altLang="en-US" sz="1800">
                <a:solidFill>
                  <a:srgbClr val="000000"/>
                </a:solidFill>
              </a:rPr>
              <a:t>5 ביט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23563" name="Rectangle 12">
            <a:extLst>
              <a:ext uri="{FF2B5EF4-FFF2-40B4-BE49-F238E27FC236}">
                <a16:creationId xmlns:a16="http://schemas.microsoft.com/office/drawing/2014/main" id="{94622FDB-A0F2-4327-92F0-C5A36D16B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50912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3564" name="Rectangle 13">
            <a:extLst>
              <a:ext uri="{FF2B5EF4-FFF2-40B4-BE49-F238E27FC236}">
                <a16:creationId xmlns:a16="http://schemas.microsoft.com/office/drawing/2014/main" id="{BE03707B-969F-442D-A5A4-4145DCDDF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0912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1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23565" name="Rectangle 14">
            <a:extLst>
              <a:ext uri="{FF2B5EF4-FFF2-40B4-BE49-F238E27FC236}">
                <a16:creationId xmlns:a16="http://schemas.microsoft.com/office/drawing/2014/main" id="{5797798C-71F8-4F70-B2B0-243C8115E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50912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1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23566" name="Rectangle 15">
            <a:extLst>
              <a:ext uri="{FF2B5EF4-FFF2-40B4-BE49-F238E27FC236}">
                <a16:creationId xmlns:a16="http://schemas.microsoft.com/office/drawing/2014/main" id="{CA4C5050-4366-47A6-99BB-F4C45F1FB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50912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0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23567" name="AutoShape 16">
            <a:extLst>
              <a:ext uri="{FF2B5EF4-FFF2-40B4-BE49-F238E27FC236}">
                <a16:creationId xmlns:a16="http://schemas.microsoft.com/office/drawing/2014/main" id="{D590BBC2-63B2-4E53-810D-9ED004230564}"/>
              </a:ext>
            </a:extLst>
          </p:cNvPr>
          <p:cNvSpPr>
            <a:spLocks/>
          </p:cNvSpPr>
          <p:nvPr/>
        </p:nvSpPr>
        <p:spPr bwMode="auto">
          <a:xfrm rot="-5400000">
            <a:off x="5676900" y="4318620"/>
            <a:ext cx="228600" cy="1981200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he-IL" altLang="en-US" sz="1800">
              <a:solidFill>
                <a:srgbClr val="000000"/>
              </a:solidFill>
            </a:endParaRPr>
          </a:p>
        </p:txBody>
      </p:sp>
      <p:sp>
        <p:nvSpPr>
          <p:cNvPr id="23568" name="Text Box 17">
            <a:extLst>
              <a:ext uri="{FF2B5EF4-FFF2-40B4-BE49-F238E27FC236}">
                <a16:creationId xmlns:a16="http://schemas.microsoft.com/office/drawing/2014/main" id="{94603B7D-721D-48F5-B018-7E4D2D53C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423520"/>
            <a:ext cx="14589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ייצוג הספרה 6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רוחב: 4 ביטים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23569" name="Rectangle 18">
            <a:extLst>
              <a:ext uri="{FF2B5EF4-FFF2-40B4-BE49-F238E27FC236}">
                <a16:creationId xmlns:a16="http://schemas.microsoft.com/office/drawing/2014/main" id="{2756CBE1-AF31-4B34-BE7B-4BD2A5F66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0912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3570" name="Rectangle 19">
            <a:extLst>
              <a:ext uri="{FF2B5EF4-FFF2-40B4-BE49-F238E27FC236}">
                <a16:creationId xmlns:a16="http://schemas.microsoft.com/office/drawing/2014/main" id="{EDD1351E-E8AC-43D4-9976-BD7AACDCF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50912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3571" name="Rectangle 20">
            <a:extLst>
              <a:ext uri="{FF2B5EF4-FFF2-40B4-BE49-F238E27FC236}">
                <a16:creationId xmlns:a16="http://schemas.microsoft.com/office/drawing/2014/main" id="{41D7AA79-C95A-43FA-A332-C021A20B4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50912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0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23572" name="Rectangle 21">
            <a:extLst>
              <a:ext uri="{FF2B5EF4-FFF2-40B4-BE49-F238E27FC236}">
                <a16:creationId xmlns:a16="http://schemas.microsoft.com/office/drawing/2014/main" id="{084AB7E0-2A73-48D8-A141-DB00CAD39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50912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1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23573" name="AutoShape 22">
            <a:extLst>
              <a:ext uri="{FF2B5EF4-FFF2-40B4-BE49-F238E27FC236}">
                <a16:creationId xmlns:a16="http://schemas.microsoft.com/office/drawing/2014/main" id="{EFE0ADB7-C332-4C8E-BD02-BD858657C83D}"/>
              </a:ext>
            </a:extLst>
          </p:cNvPr>
          <p:cNvSpPr>
            <a:spLocks/>
          </p:cNvSpPr>
          <p:nvPr/>
        </p:nvSpPr>
        <p:spPr bwMode="auto">
          <a:xfrm rot="-5400000">
            <a:off x="3467100" y="4318620"/>
            <a:ext cx="228600" cy="1981200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he-IL" altLang="en-US" sz="1800">
              <a:solidFill>
                <a:srgbClr val="000000"/>
              </a:solidFill>
            </a:endParaRPr>
          </a:p>
        </p:txBody>
      </p:sp>
      <p:sp>
        <p:nvSpPr>
          <p:cNvPr id="23574" name="Text Box 23">
            <a:extLst>
              <a:ext uri="{FF2B5EF4-FFF2-40B4-BE49-F238E27FC236}">
                <a16:creationId xmlns:a16="http://schemas.microsoft.com/office/drawing/2014/main" id="{72412272-140C-45CE-83EA-FC9CD6D1D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423520"/>
            <a:ext cx="14589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ייצוג הספרה 1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>
                <a:solidFill>
                  <a:srgbClr val="000000"/>
                </a:solidFill>
              </a:rPr>
              <a:t>רוחב: 4 ביטים</a:t>
            </a:r>
            <a:endParaRPr lang="en-US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4546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8" name="Slide Number Placeholder 1">
            <a:extLst>
              <a:ext uri="{FF2B5EF4-FFF2-40B4-BE49-F238E27FC236}">
                <a16:creationId xmlns:a16="http://schemas.microsoft.com/office/drawing/2014/main" id="{1DD559FD-22A2-4C20-8540-FF0418B2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B7FB95-CA66-4B38-8A15-0205433AFD4E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24578" name="Title 1">
            <a:extLst>
              <a:ext uri="{FF2B5EF4-FFF2-40B4-BE49-F238E27FC236}">
                <a16:creationId xmlns:a16="http://schemas.microsoft.com/office/drawing/2014/main" id="{C36A4325-C90A-451F-AF46-39A893C1F0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79912" y="332656"/>
            <a:ext cx="5132040" cy="755997"/>
          </a:xfrm>
        </p:spPr>
        <p:txBody>
          <a:bodyPr/>
          <a:lstStyle/>
          <a:p>
            <a:r>
              <a:rPr lang="he-IL" altLang="en-US" dirty="0"/>
              <a:t>דוגמה לקוד לא משוקלל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E6E7D7-CE5D-4F8C-99CD-80D8886F92A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83669460"/>
              </p:ext>
            </p:extLst>
          </p:nvPr>
        </p:nvGraphicFramePr>
        <p:xfrm>
          <a:off x="2627784" y="1124744"/>
          <a:ext cx="4114800" cy="5029200"/>
        </p:xfrm>
        <a:graphic>
          <a:graphicData uri="http://schemas.openxmlformats.org/drawingml/2006/table">
            <a:tbl>
              <a:tblPr rtl="1"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ספרה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Excess-3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0  0  1  1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0  1  0  0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0  1  0  1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0  1  1  0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0  1  1  1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1  0  0  0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1  0  0  1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1  0  1  0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1  0  1  1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David" pitchFamily="2" charset="-79"/>
                        </a:rPr>
                        <a:t>1  1  0  0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2357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81">
            <a:extLst>
              <a:ext uri="{FF2B5EF4-FFF2-40B4-BE49-F238E27FC236}">
                <a16:creationId xmlns:a16="http://schemas.microsoft.com/office/drawing/2014/main" id="{46D77901-4E3E-44F8-866A-D53B6DF14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76" y="2827213"/>
            <a:ext cx="1295400" cy="3429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he-IL" altLang="en-US" sz="1800" b="1">
              <a:solidFill>
                <a:srgbClr val="000000"/>
              </a:solidFill>
            </a:endParaRPr>
          </a:p>
        </p:txBody>
      </p:sp>
      <p:sp>
        <p:nvSpPr>
          <p:cNvPr id="27651" name="Rectangle 480">
            <a:extLst>
              <a:ext uri="{FF2B5EF4-FFF2-40B4-BE49-F238E27FC236}">
                <a16:creationId xmlns:a16="http://schemas.microsoft.com/office/drawing/2014/main" id="{AF30ACD5-6945-4C0A-9313-68EC1964E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38" y="2827213"/>
            <a:ext cx="1295400" cy="1905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he-IL" altLang="en-US" sz="1800" b="1">
              <a:solidFill>
                <a:srgbClr val="000000"/>
              </a:solidFill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2031930C-FD79-47AB-A165-351B374C0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rtl="1" eaLnBrk="1" hangingPunct="1"/>
            <a:r>
              <a:rPr lang="he-IL" altLang="en-US" dirty="0"/>
              <a:t>קודים </a:t>
            </a:r>
            <a:r>
              <a:rPr lang="he-IL" altLang="en-US" dirty="0" err="1"/>
              <a:t>ציקליים</a:t>
            </a:r>
            <a:endParaRPr lang="en-US" altLang="en-US" dirty="0"/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E5469CFB-329C-42DF-A40A-FB320FBFC7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 eaLnBrk="1" hangingPunct="1">
              <a:defRPr/>
            </a:pPr>
            <a:r>
              <a:rPr lang="he-IL" sz="2800" dirty="0">
                <a:solidFill>
                  <a:schemeClr val="tx1"/>
                </a:solidFill>
              </a:rPr>
              <a:t>מילת קוד של ספרה כלשהי שונה ממילת הקוד של הספרה שלפניה ואחריה בסיבית אחת בלבד.</a:t>
            </a:r>
          </a:p>
          <a:p>
            <a:pPr algn="r" rtl="1" eaLnBrk="1" hangingPunct="1">
              <a:defRPr/>
            </a:pPr>
            <a:r>
              <a:rPr lang="he-IL" sz="2800" dirty="0">
                <a:solidFill>
                  <a:schemeClr val="tx1"/>
                </a:solidFill>
              </a:rPr>
              <a:t>דוגמא שימושית </a:t>
            </a:r>
            <a:r>
              <a:rPr lang="en-US" sz="2800" dirty="0">
                <a:solidFill>
                  <a:schemeClr val="tx1"/>
                </a:solidFill>
              </a:rPr>
              <a:t>-</a:t>
            </a:r>
            <a:r>
              <a:rPr lang="he-IL" sz="2800" dirty="0">
                <a:solidFill>
                  <a:schemeClr val="tx1"/>
                </a:solidFill>
              </a:rPr>
              <a:t> </a:t>
            </a:r>
            <a:r>
              <a:rPr lang="he-IL" sz="2800" b="1" dirty="0">
                <a:solidFill>
                  <a:schemeClr val="tx1"/>
                </a:solidFill>
              </a:rPr>
              <a:t>קוד </a:t>
            </a:r>
            <a:r>
              <a:rPr lang="en-US" sz="2800" b="1" dirty="0">
                <a:solidFill>
                  <a:schemeClr val="tx1"/>
                </a:solidFill>
              </a:rPr>
              <a:t>Gray</a:t>
            </a:r>
            <a:r>
              <a:rPr lang="he-IL" sz="2800" b="1" dirty="0">
                <a:solidFill>
                  <a:schemeClr val="tx1"/>
                </a:solidFill>
              </a:rPr>
              <a:t> </a:t>
            </a:r>
            <a:r>
              <a:rPr lang="he-IL" sz="2800" dirty="0">
                <a:solidFill>
                  <a:schemeClr val="tx1"/>
                </a:solidFill>
              </a:rPr>
              <a:t>: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7661" name="Slide Number Placeholder 1">
            <a:extLst>
              <a:ext uri="{FF2B5EF4-FFF2-40B4-BE49-F238E27FC236}">
                <a16:creationId xmlns:a16="http://schemas.microsoft.com/office/drawing/2014/main" id="{686D271F-09B2-4D94-8B75-A182EE64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DA9E89-54C6-4D72-96D7-059716A797D6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27654" name="Text Box 472">
            <a:extLst>
              <a:ext uri="{FF2B5EF4-FFF2-40B4-BE49-F238E27FC236}">
                <a16:creationId xmlns:a16="http://schemas.microsoft.com/office/drawing/2014/main" id="{E46C0792-5C62-4EEA-AD49-32018A0CF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938" y="2820863"/>
            <a:ext cx="132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e-IL" altLang="en-US" sz="1800" b="1" dirty="0">
                <a:solidFill>
                  <a:srgbClr val="000000"/>
                </a:solidFill>
              </a:rPr>
              <a:t>קוד באורך 3</a:t>
            </a:r>
            <a:endParaRPr lang="en-US" altLang="en-US" sz="1800" b="1" dirty="0">
              <a:solidFill>
                <a:srgbClr val="000000"/>
              </a:solidFill>
            </a:endParaRPr>
          </a:p>
        </p:txBody>
      </p:sp>
      <p:sp>
        <p:nvSpPr>
          <p:cNvPr id="27655" name="Text Box 473">
            <a:extLst>
              <a:ext uri="{FF2B5EF4-FFF2-40B4-BE49-F238E27FC236}">
                <a16:creationId xmlns:a16="http://schemas.microsoft.com/office/drawing/2014/main" id="{55A505C4-5F55-4CBD-A5F7-2E929B7DD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4001" y="3212976"/>
            <a:ext cx="693737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00</a:t>
            </a:r>
            <a:r>
              <a:rPr lang="he-IL" altLang="en-US" sz="2400" b="1" dirty="0">
                <a:solidFill>
                  <a:srgbClr val="00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0</a:t>
            </a:r>
            <a:r>
              <a:rPr lang="he-IL" altLang="en-US" sz="2400" b="1" dirty="0">
                <a:solidFill>
                  <a:srgbClr val="000000"/>
                </a:solidFill>
              </a:rPr>
              <a:t>1</a:t>
            </a:r>
            <a:r>
              <a:rPr lang="he-IL" altLang="en-US" sz="2400" dirty="0">
                <a:solidFill>
                  <a:srgbClr val="00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01</a:t>
            </a:r>
            <a:r>
              <a:rPr lang="he-IL" altLang="en-US" sz="2400" b="1" dirty="0">
                <a:solidFill>
                  <a:srgbClr val="00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e-IL" altLang="en-US" sz="2400" b="1" dirty="0">
                <a:solidFill>
                  <a:srgbClr val="000000"/>
                </a:solidFill>
              </a:rPr>
              <a:t>1</a:t>
            </a:r>
            <a:r>
              <a:rPr lang="he-IL" altLang="en-US" sz="2400" dirty="0">
                <a:solidFill>
                  <a:srgbClr val="000000"/>
                </a:solidFill>
              </a:rPr>
              <a:t>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11</a:t>
            </a:r>
            <a:r>
              <a:rPr lang="he-IL" altLang="en-US" sz="2400" b="1" dirty="0">
                <a:solidFill>
                  <a:srgbClr val="00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1</a:t>
            </a:r>
            <a:r>
              <a:rPr lang="he-IL" altLang="en-US" sz="2400" b="1" dirty="0">
                <a:solidFill>
                  <a:srgbClr val="000000"/>
                </a:solidFill>
              </a:rPr>
              <a:t>0</a:t>
            </a:r>
            <a:r>
              <a:rPr lang="he-IL" altLang="en-US" sz="2400" dirty="0">
                <a:solidFill>
                  <a:srgbClr val="00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e-IL" altLang="en-US" sz="2400" dirty="0">
                <a:solidFill>
                  <a:srgbClr val="000000"/>
                </a:solidFill>
              </a:rPr>
              <a:t>10</a:t>
            </a:r>
            <a:r>
              <a:rPr lang="he-IL" altLang="en-US" sz="2400" b="1" dirty="0">
                <a:solidFill>
                  <a:srgbClr val="000000"/>
                </a:solidFill>
              </a:rPr>
              <a:t>0</a:t>
            </a:r>
            <a:endParaRPr lang="en-US" altLang="en-US" sz="2400" b="1" dirty="0">
              <a:solidFill>
                <a:srgbClr val="000000"/>
              </a:solidFill>
            </a:endParaRPr>
          </a:p>
        </p:txBody>
      </p:sp>
      <p:sp>
        <p:nvSpPr>
          <p:cNvPr id="27656" name="Text Box 474">
            <a:extLst>
              <a:ext uri="{FF2B5EF4-FFF2-40B4-BE49-F238E27FC236}">
                <a16:creationId xmlns:a16="http://schemas.microsoft.com/office/drawing/2014/main" id="{BFC8C16A-3853-4AEE-8A98-4134F1E42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738" y="3208213"/>
            <a:ext cx="354013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7657" name="Text Box 475">
            <a:extLst>
              <a:ext uri="{FF2B5EF4-FFF2-40B4-BE49-F238E27FC236}">
                <a16:creationId xmlns:a16="http://schemas.microsoft.com/office/drawing/2014/main" id="{55435B27-B770-4A67-8886-61B6E3876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51" y="2820863"/>
            <a:ext cx="132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 b="1">
                <a:solidFill>
                  <a:srgbClr val="000000"/>
                </a:solidFill>
              </a:rPr>
              <a:t>קוד באורך </a:t>
            </a:r>
            <a:r>
              <a:rPr lang="en-US" altLang="en-US" sz="18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7658" name="Text Box 476">
            <a:extLst>
              <a:ext uri="{FF2B5EF4-FFF2-40B4-BE49-F238E27FC236}">
                <a16:creationId xmlns:a16="http://schemas.microsoft.com/office/drawing/2014/main" id="{1BF51544-1D92-4998-97FA-78C187FF1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538" y="3208213"/>
            <a:ext cx="5238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>
                <a:solidFill>
                  <a:srgbClr val="000000"/>
                </a:solidFill>
              </a:rPr>
              <a:t>00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>
                <a:solidFill>
                  <a:srgbClr val="000000"/>
                </a:solidFill>
              </a:rPr>
              <a:t>0</a:t>
            </a:r>
            <a:r>
              <a:rPr lang="he-IL" altLang="en-US" sz="2400" b="1">
                <a:solidFill>
                  <a:srgbClr val="000000"/>
                </a:solidFill>
              </a:rPr>
              <a:t>1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 b="1">
                <a:solidFill>
                  <a:srgbClr val="000000"/>
                </a:solidFill>
              </a:rPr>
              <a:t>1</a:t>
            </a:r>
            <a:r>
              <a:rPr lang="he-IL" altLang="en-US" sz="2400">
                <a:solidFill>
                  <a:srgbClr val="000000"/>
                </a:solidFill>
              </a:rPr>
              <a:t>1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>
                <a:solidFill>
                  <a:srgbClr val="000000"/>
                </a:solidFill>
              </a:rPr>
              <a:t>1</a:t>
            </a:r>
            <a:r>
              <a:rPr lang="he-IL" altLang="en-US" sz="24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7659" name="Text Box 477">
            <a:extLst>
              <a:ext uri="{FF2B5EF4-FFF2-40B4-BE49-F238E27FC236}">
                <a16:creationId xmlns:a16="http://schemas.microsoft.com/office/drawing/2014/main" id="{266A0082-92F7-4E23-BDFD-EA03736AC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38" y="3208213"/>
            <a:ext cx="354013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7660" name="Text Box 479">
            <a:extLst>
              <a:ext uri="{FF2B5EF4-FFF2-40B4-BE49-F238E27FC236}">
                <a16:creationId xmlns:a16="http://schemas.microsoft.com/office/drawing/2014/main" id="{F9E68076-E7DE-485F-B66D-3240282BE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706" y="4740626"/>
            <a:ext cx="617829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 sz="2800" b="1" dirty="0">
                <a:solidFill>
                  <a:srgbClr val="C00000"/>
                </a:solidFill>
              </a:rPr>
              <a:t>שימו לב !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 sz="2800" b="1" dirty="0">
                <a:solidFill>
                  <a:srgbClr val="C00000"/>
                </a:solidFill>
              </a:rPr>
              <a:t>קוד </a:t>
            </a:r>
            <a:r>
              <a:rPr lang="he-IL" altLang="en-US" sz="2800" b="1" dirty="0" err="1">
                <a:solidFill>
                  <a:srgbClr val="C00000"/>
                </a:solidFill>
              </a:rPr>
              <a:t>גריי</a:t>
            </a:r>
            <a:r>
              <a:rPr lang="he-IL" altLang="en-US" sz="2800" b="1" dirty="0">
                <a:solidFill>
                  <a:srgbClr val="C00000"/>
                </a:solidFill>
              </a:rPr>
              <a:t> אינו קוד לייצוג ספרות עשרוניות !</a:t>
            </a:r>
            <a:endParaRPr lang="en-US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38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3BEFD56B-0D0F-4E82-A49A-3F06DF25C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404" y="2081833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75" name="Rectangle 8">
            <a:extLst>
              <a:ext uri="{FF2B5EF4-FFF2-40B4-BE49-F238E27FC236}">
                <a16:creationId xmlns:a16="http://schemas.microsoft.com/office/drawing/2014/main" id="{5F77CD0A-DDB6-4CC0-9E66-82740A066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404" y="3293095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C9B9E5BF-5E11-4D50-9004-0989DCF5D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372" y="2733418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701" name="Slide Number Placeholder 1">
            <a:extLst>
              <a:ext uri="{FF2B5EF4-FFF2-40B4-BE49-F238E27FC236}">
                <a16:creationId xmlns:a16="http://schemas.microsoft.com/office/drawing/2014/main" id="{DC848397-FB40-47E8-B586-BE85AFF7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366FF0-E184-4D80-86DB-369705F4B0E2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96097663-056D-450E-9C13-2528C8F501F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6351"/>
            <a:ext cx="8229600" cy="1143000"/>
          </a:xfrm>
        </p:spPr>
        <p:txBody>
          <a:bodyPr/>
          <a:lstStyle/>
          <a:p>
            <a:pPr algn="r" rtl="1" eaLnBrk="1" hangingPunct="1"/>
            <a:r>
              <a:rPr lang="he-IL" altLang="en-US" dirty="0"/>
              <a:t>הרחבת קוד </a:t>
            </a:r>
            <a:r>
              <a:rPr lang="en-US" altLang="en-US" dirty="0"/>
              <a:t>Gray</a:t>
            </a:r>
          </a:p>
        </p:txBody>
      </p:sp>
      <p:sp>
        <p:nvSpPr>
          <p:cNvPr id="28678" name="Rectangle 4">
            <a:extLst>
              <a:ext uri="{FF2B5EF4-FFF2-40B4-BE49-F238E27FC236}">
                <a16:creationId xmlns:a16="http://schemas.microsoft.com/office/drawing/2014/main" id="{73E3A403-8849-4C39-BD6A-AE3D7983E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372" y="3343018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79" name="Rectangle 9">
            <a:extLst>
              <a:ext uri="{FF2B5EF4-FFF2-40B4-BE49-F238E27FC236}">
                <a16:creationId xmlns:a16="http://schemas.microsoft.com/office/drawing/2014/main" id="{2BBDA457-0551-446C-AD7E-E5FD0D0E5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004" y="2081833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80" name="Rectangle 10">
            <a:extLst>
              <a:ext uri="{FF2B5EF4-FFF2-40B4-BE49-F238E27FC236}">
                <a16:creationId xmlns:a16="http://schemas.microsoft.com/office/drawing/2014/main" id="{1E80B21C-4045-4BCA-8B4E-9195C4A7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004" y="2691433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81" name="Rectangle 11">
            <a:extLst>
              <a:ext uri="{FF2B5EF4-FFF2-40B4-BE49-F238E27FC236}">
                <a16:creationId xmlns:a16="http://schemas.microsoft.com/office/drawing/2014/main" id="{E561A696-CA5A-4FEB-A3D5-68E8DB9F2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004" y="3301033"/>
            <a:ext cx="533400" cy="606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82" name="Rectangle 12">
            <a:extLst>
              <a:ext uri="{FF2B5EF4-FFF2-40B4-BE49-F238E27FC236}">
                <a16:creationId xmlns:a16="http://schemas.microsoft.com/office/drawing/2014/main" id="{A04DEAB9-5570-4D80-8E42-77467D3B1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004" y="3902695"/>
            <a:ext cx="533400" cy="606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28683" name="Group 21">
            <a:extLst>
              <a:ext uri="{FF2B5EF4-FFF2-40B4-BE49-F238E27FC236}">
                <a16:creationId xmlns:a16="http://schemas.microsoft.com/office/drawing/2014/main" id="{34A016B6-925C-4342-AC0C-FB89C42999AB}"/>
              </a:ext>
            </a:extLst>
          </p:cNvPr>
          <p:cNvGrpSpPr>
            <a:grpSpLocks/>
          </p:cNvGrpSpPr>
          <p:nvPr/>
        </p:nvGrpSpPr>
        <p:grpSpPr bwMode="auto">
          <a:xfrm>
            <a:off x="1886000" y="1191742"/>
            <a:ext cx="1066800" cy="2438400"/>
            <a:chOff x="4464" y="672"/>
            <a:chExt cx="672" cy="1536"/>
          </a:xfrm>
        </p:grpSpPr>
        <p:sp>
          <p:nvSpPr>
            <p:cNvPr id="28711" name="Rectangle 4">
              <a:extLst>
                <a:ext uri="{FF2B5EF4-FFF2-40B4-BE49-F238E27FC236}">
                  <a16:creationId xmlns:a16="http://schemas.microsoft.com/office/drawing/2014/main" id="{22DDE9E3-155F-47D6-AEB0-681B6B4D9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672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12" name="Rectangle 5">
              <a:extLst>
                <a:ext uri="{FF2B5EF4-FFF2-40B4-BE49-F238E27FC236}">
                  <a16:creationId xmlns:a16="http://schemas.microsoft.com/office/drawing/2014/main" id="{F653D91A-14BD-43CF-B3AD-3CAA1AC40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056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13" name="Rectangle 6">
              <a:extLst>
                <a:ext uri="{FF2B5EF4-FFF2-40B4-BE49-F238E27FC236}">
                  <a16:creationId xmlns:a16="http://schemas.microsoft.com/office/drawing/2014/main" id="{026BE59C-5812-42D1-BDEB-12C1C06BA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672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14" name="Rectangle 7">
              <a:extLst>
                <a:ext uri="{FF2B5EF4-FFF2-40B4-BE49-F238E27FC236}">
                  <a16:creationId xmlns:a16="http://schemas.microsoft.com/office/drawing/2014/main" id="{1F8F336B-4A71-4733-B2BA-D03725A24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056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15" name="Rectangle 8">
              <a:extLst>
                <a:ext uri="{FF2B5EF4-FFF2-40B4-BE49-F238E27FC236}">
                  <a16:creationId xmlns:a16="http://schemas.microsoft.com/office/drawing/2014/main" id="{E53E77E4-6D5D-4EDF-96E0-BCADA39D3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440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16" name="Rectangle 9">
              <a:extLst>
                <a:ext uri="{FF2B5EF4-FFF2-40B4-BE49-F238E27FC236}">
                  <a16:creationId xmlns:a16="http://schemas.microsoft.com/office/drawing/2014/main" id="{74FF1D3D-9114-4AB4-BB51-950A9528B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824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17" name="Rectangle 10">
              <a:extLst>
                <a:ext uri="{FF2B5EF4-FFF2-40B4-BE49-F238E27FC236}">
                  <a16:creationId xmlns:a16="http://schemas.microsoft.com/office/drawing/2014/main" id="{1559D37D-0759-4229-A2FF-5A2106DF9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440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18" name="Rectangle 11">
              <a:extLst>
                <a:ext uri="{FF2B5EF4-FFF2-40B4-BE49-F238E27FC236}">
                  <a16:creationId xmlns:a16="http://schemas.microsoft.com/office/drawing/2014/main" id="{E1634396-46A8-474C-A2CD-6D6C3BD02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824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8684" name="Group 22">
            <a:extLst>
              <a:ext uri="{FF2B5EF4-FFF2-40B4-BE49-F238E27FC236}">
                <a16:creationId xmlns:a16="http://schemas.microsoft.com/office/drawing/2014/main" id="{C7C46434-0878-4D32-A8CA-8105497D7908}"/>
              </a:ext>
            </a:extLst>
          </p:cNvPr>
          <p:cNvGrpSpPr>
            <a:grpSpLocks/>
          </p:cNvGrpSpPr>
          <p:nvPr/>
        </p:nvGrpSpPr>
        <p:grpSpPr bwMode="auto">
          <a:xfrm>
            <a:off x="1886000" y="3630142"/>
            <a:ext cx="1066800" cy="2438400"/>
            <a:chOff x="4464" y="2400"/>
            <a:chExt cx="672" cy="1536"/>
          </a:xfrm>
        </p:grpSpPr>
        <p:sp>
          <p:nvSpPr>
            <p:cNvPr id="28703" name="Rectangle 12">
              <a:extLst>
                <a:ext uri="{FF2B5EF4-FFF2-40B4-BE49-F238E27FC236}">
                  <a16:creationId xmlns:a16="http://schemas.microsoft.com/office/drawing/2014/main" id="{D4DFE6DF-2EE8-4586-8070-5250A36B5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400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04" name="Rectangle 13">
              <a:extLst>
                <a:ext uri="{FF2B5EF4-FFF2-40B4-BE49-F238E27FC236}">
                  <a16:creationId xmlns:a16="http://schemas.microsoft.com/office/drawing/2014/main" id="{955FFC09-C7E8-4276-8CC8-A0235F4C9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784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05" name="Rectangle 14">
              <a:extLst>
                <a:ext uri="{FF2B5EF4-FFF2-40B4-BE49-F238E27FC236}">
                  <a16:creationId xmlns:a16="http://schemas.microsoft.com/office/drawing/2014/main" id="{792AD414-FC97-4274-BC48-8A2D3B142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400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06" name="Rectangle 15">
              <a:extLst>
                <a:ext uri="{FF2B5EF4-FFF2-40B4-BE49-F238E27FC236}">
                  <a16:creationId xmlns:a16="http://schemas.microsoft.com/office/drawing/2014/main" id="{C4E24FB2-84E8-4237-9FC1-2B3060B6D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784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07" name="Rectangle 16">
              <a:extLst>
                <a:ext uri="{FF2B5EF4-FFF2-40B4-BE49-F238E27FC236}">
                  <a16:creationId xmlns:a16="http://schemas.microsoft.com/office/drawing/2014/main" id="{0E97F051-6888-4FC6-A59D-82BB54D80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168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08" name="Rectangle 17">
              <a:extLst>
                <a:ext uri="{FF2B5EF4-FFF2-40B4-BE49-F238E27FC236}">
                  <a16:creationId xmlns:a16="http://schemas.microsoft.com/office/drawing/2014/main" id="{BBB6BD6F-A790-420B-B567-F1A1DDE92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552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09" name="Rectangle 18">
              <a:extLst>
                <a:ext uri="{FF2B5EF4-FFF2-40B4-BE49-F238E27FC236}">
                  <a16:creationId xmlns:a16="http://schemas.microsoft.com/office/drawing/2014/main" id="{933B1C0A-2A3C-43A6-8604-C063E9406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168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8710" name="Rectangle 19">
              <a:extLst>
                <a:ext uri="{FF2B5EF4-FFF2-40B4-BE49-F238E27FC236}">
                  <a16:creationId xmlns:a16="http://schemas.microsoft.com/office/drawing/2014/main" id="{484E6C84-1178-474C-910D-AD3186E3D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552"/>
              <a:ext cx="33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e-IL" altLang="en-US">
                  <a:solidFill>
                    <a:srgbClr val="000000"/>
                  </a:solidFill>
                </a:rPr>
                <a:t>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8685" name="Rectangle 25">
            <a:extLst>
              <a:ext uri="{FF2B5EF4-FFF2-40B4-BE49-F238E27FC236}">
                <a16:creationId xmlns:a16="http://schemas.microsoft.com/office/drawing/2014/main" id="{1EC08EB7-5944-425B-9C76-249478837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600" y="1191742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8686" name="Rectangle 26">
            <a:extLst>
              <a:ext uri="{FF2B5EF4-FFF2-40B4-BE49-F238E27FC236}">
                <a16:creationId xmlns:a16="http://schemas.microsoft.com/office/drawing/2014/main" id="{781C5029-34AB-49C3-80F2-358B8F6DC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600" y="1801342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8687" name="Rectangle 27">
            <a:extLst>
              <a:ext uri="{FF2B5EF4-FFF2-40B4-BE49-F238E27FC236}">
                <a16:creationId xmlns:a16="http://schemas.microsoft.com/office/drawing/2014/main" id="{7BDA3C52-14BE-4CE5-B231-D36F8D840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600" y="2410942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8688" name="Rectangle 28">
            <a:extLst>
              <a:ext uri="{FF2B5EF4-FFF2-40B4-BE49-F238E27FC236}">
                <a16:creationId xmlns:a16="http://schemas.microsoft.com/office/drawing/2014/main" id="{E9FD2819-C667-4620-A282-62076EAAA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600" y="3020542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8689" name="Rectangle 29">
            <a:extLst>
              <a:ext uri="{FF2B5EF4-FFF2-40B4-BE49-F238E27FC236}">
                <a16:creationId xmlns:a16="http://schemas.microsoft.com/office/drawing/2014/main" id="{5791DF35-4C58-42DF-B858-82F23625C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600" y="3630142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90" name="Rectangle 30">
            <a:extLst>
              <a:ext uri="{FF2B5EF4-FFF2-40B4-BE49-F238E27FC236}">
                <a16:creationId xmlns:a16="http://schemas.microsoft.com/office/drawing/2014/main" id="{50D0BA6A-F13D-40E5-89EF-3233660B1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600" y="4239742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91" name="Rectangle 31">
            <a:extLst>
              <a:ext uri="{FF2B5EF4-FFF2-40B4-BE49-F238E27FC236}">
                <a16:creationId xmlns:a16="http://schemas.microsoft.com/office/drawing/2014/main" id="{75927376-F8FD-4780-A745-A7736197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600" y="4849342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92" name="Rectangle 32">
            <a:extLst>
              <a:ext uri="{FF2B5EF4-FFF2-40B4-BE49-F238E27FC236}">
                <a16:creationId xmlns:a16="http://schemas.microsoft.com/office/drawing/2014/main" id="{E25A31B6-283D-429D-B48B-381772BAA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600" y="5458942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srgbClr val="00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D14AE8-D750-4E0E-9BD3-09881C5B1432}"/>
              </a:ext>
            </a:extLst>
          </p:cNvPr>
          <p:cNvCxnSpPr/>
          <p:nvPr/>
        </p:nvCxnSpPr>
        <p:spPr bwMode="auto">
          <a:xfrm>
            <a:off x="971600" y="3630142"/>
            <a:ext cx="22098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694" name="Rectangle 8">
            <a:extLst>
              <a:ext uri="{FF2B5EF4-FFF2-40B4-BE49-F238E27FC236}">
                <a16:creationId xmlns:a16="http://schemas.microsoft.com/office/drawing/2014/main" id="{E588FCBE-A612-4BEE-B3EB-FFF99AF9A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404" y="2683495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95" name="Rectangle 3">
            <a:extLst>
              <a:ext uri="{FF2B5EF4-FFF2-40B4-BE49-F238E27FC236}">
                <a16:creationId xmlns:a16="http://schemas.microsoft.com/office/drawing/2014/main" id="{EDBB9203-6D96-415C-8AE1-E6FFFA092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404" y="389952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he-IL" altLang="en-US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96" name="TextBox 3">
            <a:extLst>
              <a:ext uri="{FF2B5EF4-FFF2-40B4-BE49-F238E27FC236}">
                <a16:creationId xmlns:a16="http://schemas.microsoft.com/office/drawing/2014/main" id="{8668412E-E114-4108-9EDC-C8B142455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4581" y="2208818"/>
            <a:ext cx="13890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n=1</a:t>
            </a:r>
            <a:endParaRPr lang="he-IL" altLang="en-US"/>
          </a:p>
        </p:txBody>
      </p:sp>
      <p:sp>
        <p:nvSpPr>
          <p:cNvPr id="28697" name="TextBox 41">
            <a:extLst>
              <a:ext uri="{FF2B5EF4-FFF2-40B4-BE49-F238E27FC236}">
                <a16:creationId xmlns:a16="http://schemas.microsoft.com/office/drawing/2014/main" id="{66F0B647-419A-48C9-B5E9-323C1F559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649" y="1521367"/>
            <a:ext cx="13890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n=2</a:t>
            </a:r>
            <a:endParaRPr lang="he-IL" altLang="en-US" dirty="0"/>
          </a:p>
        </p:txBody>
      </p:sp>
      <p:sp>
        <p:nvSpPr>
          <p:cNvPr id="28698" name="TextBox 42">
            <a:extLst>
              <a:ext uri="{FF2B5EF4-FFF2-40B4-BE49-F238E27FC236}">
                <a16:creationId xmlns:a16="http://schemas.microsoft.com/office/drawing/2014/main" id="{58394A04-8A99-4C92-825F-6DE6BD9C3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309" y="667142"/>
            <a:ext cx="13890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n=3</a:t>
            </a:r>
            <a:endParaRPr lang="he-IL" alt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9E021A5-00AE-4F10-9EAB-C3222A624B64}"/>
              </a:ext>
            </a:extLst>
          </p:cNvPr>
          <p:cNvCxnSpPr/>
          <p:nvPr/>
        </p:nvCxnSpPr>
        <p:spPr bwMode="auto">
          <a:xfrm>
            <a:off x="4076179" y="3285158"/>
            <a:ext cx="1431925" cy="7937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E62438D-312E-4298-B852-FAD803A64957}"/>
              </a:ext>
            </a:extLst>
          </p:cNvPr>
          <p:cNvCxnSpPr/>
          <p:nvPr/>
        </p:nvCxnSpPr>
        <p:spPr bwMode="auto">
          <a:xfrm>
            <a:off x="6872634" y="3343018"/>
            <a:ext cx="906463" cy="7937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702" name="TextBox 1">
            <a:extLst>
              <a:ext uri="{FF2B5EF4-FFF2-40B4-BE49-F238E27FC236}">
                <a16:creationId xmlns:a16="http://schemas.microsoft.com/office/drawing/2014/main" id="{52E95112-EFD0-454F-B8A3-0AF29F0E9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4934623"/>
            <a:ext cx="525658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/>
            <a:r>
              <a:rPr lang="he-IL" altLang="he-IL" sz="3200" dirty="0"/>
              <a:t>משקפים את השורות הקיימות כמראה אופקית ומוסיפים עמודה</a:t>
            </a:r>
            <a:endParaRPr lang="en-US" altLang="he-IL" sz="3200" dirty="0"/>
          </a:p>
        </p:txBody>
      </p:sp>
    </p:spTree>
    <p:extLst>
      <p:ext uri="{BB962C8B-B14F-4D97-AF65-F5344CB8AC3E}">
        <p14:creationId xmlns:p14="http://schemas.microsoft.com/office/powerpoint/2010/main" val="11113033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3AE9353-9EA2-46C7-B53B-A49E0B6A7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rtl="1" eaLnBrk="1" hangingPunct="1"/>
            <a:r>
              <a:rPr lang="he-IL" altLang="en-US" dirty="0"/>
              <a:t>המרה מבינארי ל-</a:t>
            </a:r>
            <a:r>
              <a:rPr lang="en-US" altLang="en-US" dirty="0"/>
              <a:t>Gray</a:t>
            </a:r>
          </a:p>
        </p:txBody>
      </p:sp>
      <p:graphicFrame>
        <p:nvGraphicFramePr>
          <p:cNvPr id="29699" name="Object 4">
            <a:extLst>
              <a:ext uri="{FF2B5EF4-FFF2-40B4-BE49-F238E27FC236}">
                <a16:creationId xmlns:a16="http://schemas.microsoft.com/office/drawing/2014/main" id="{85740D81-585A-4417-96E9-B33660918E75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7104185"/>
              </p:ext>
            </p:extLst>
          </p:nvPr>
        </p:nvGraphicFramePr>
        <p:xfrm>
          <a:off x="-501750" y="2861527"/>
          <a:ext cx="8939213" cy="342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468467" imgH="2476805" progId="Word.Document.8">
                  <p:embed/>
                </p:oleObj>
              </mc:Choice>
              <mc:Fallback>
                <p:oleObj name="Document" r:id="rId2" imgW="6468467" imgH="2476805" progId="Word.Document.8">
                  <p:embed/>
                  <p:pic>
                    <p:nvPicPr>
                      <p:cNvPr id="29699" name="Object 4">
                        <a:extLst>
                          <a:ext uri="{FF2B5EF4-FFF2-40B4-BE49-F238E27FC236}">
                            <a16:creationId xmlns:a16="http://schemas.microsoft.com/office/drawing/2014/main" id="{85740D81-585A-4417-96E9-B33660918E7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01750" y="2861527"/>
                        <a:ext cx="8939213" cy="342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Slide Number Placeholder 1">
            <a:extLst>
              <a:ext uri="{FF2B5EF4-FFF2-40B4-BE49-F238E27FC236}">
                <a16:creationId xmlns:a16="http://schemas.microsoft.com/office/drawing/2014/main" id="{3A0EA119-E6C3-4567-ADDF-632435F9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23DD65-95A3-485B-9FA8-A3E295737DF5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29700" name="Text Box 7">
            <a:extLst>
              <a:ext uri="{FF2B5EF4-FFF2-40B4-BE49-F238E27FC236}">
                <a16:creationId xmlns:a16="http://schemas.microsoft.com/office/drawing/2014/main" id="{24937C5F-FB86-45DC-ADBA-8E3E74400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086" y="5822512"/>
            <a:ext cx="90733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400" b="1" dirty="0">
                <a:solidFill>
                  <a:srgbClr val="000000"/>
                </a:solidFill>
              </a:rPr>
              <a:t>האופרטור</a:t>
            </a:r>
            <a:r>
              <a:rPr lang="en-US" altLang="en-US" sz="2400" b="1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he-IL" altLang="en-US" sz="2400" b="1" dirty="0">
                <a:solidFill>
                  <a:srgbClr val="000000"/>
                </a:solidFill>
              </a:rPr>
              <a:t>  מציין </a:t>
            </a:r>
            <a:r>
              <a:rPr lang="en-US" altLang="en-US" sz="2400" b="1" dirty="0">
                <a:solidFill>
                  <a:srgbClr val="000000"/>
                </a:solidFill>
              </a:rPr>
              <a:t>XOR</a:t>
            </a:r>
            <a:r>
              <a:rPr lang="he-IL" altLang="en-US" sz="2400" b="1" dirty="0">
                <a:solidFill>
                  <a:srgbClr val="000000"/>
                </a:solidFill>
              </a:rPr>
              <a:t>. כלומר </a:t>
            </a:r>
            <a:r>
              <a:rPr lang="en-US" altLang="en-US" sz="2400" b="1" dirty="0">
                <a:solidFill>
                  <a:srgbClr val="000000"/>
                </a:solidFill>
              </a:rPr>
              <a:t>, X </a:t>
            </a:r>
            <a:r>
              <a:rPr lang="en-US" altLang="en-US" sz="2400" b="1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r>
              <a:rPr lang="en-US" altLang="en-US" sz="2400" b="1" dirty="0">
                <a:solidFill>
                  <a:srgbClr val="000000"/>
                </a:solidFill>
                <a:sym typeface="Mathematica1" pitchFamily="2" charset="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</a:rPr>
              <a:t>Y  = 1</a:t>
            </a:r>
            <a:r>
              <a:rPr lang="he-IL" altLang="en-US" sz="2400" b="1" dirty="0">
                <a:solidFill>
                  <a:srgbClr val="000000"/>
                </a:solidFill>
              </a:rPr>
              <a:t> אם ורק אם</a:t>
            </a:r>
            <a:r>
              <a:rPr lang="en-US" altLang="en-US" sz="2400" b="1" dirty="0">
                <a:solidFill>
                  <a:srgbClr val="000000"/>
                </a:solidFill>
              </a:rPr>
              <a:t> X  </a:t>
            </a:r>
            <a:r>
              <a:rPr lang="he-IL" altLang="en-US" sz="2400" b="1" dirty="0">
                <a:solidFill>
                  <a:srgbClr val="000000"/>
                </a:solidFill>
              </a:rPr>
              <a:t>שונה מ-</a:t>
            </a:r>
            <a:r>
              <a:rPr lang="en-US" altLang="en-US" sz="2400" b="1" dirty="0">
                <a:solidFill>
                  <a:srgbClr val="000000"/>
                </a:solidFill>
              </a:rPr>
              <a:t>Y</a:t>
            </a:r>
            <a:r>
              <a:rPr lang="he-IL" altLang="en-US" sz="2400" b="1" dirty="0">
                <a:solidFill>
                  <a:srgbClr val="000000"/>
                </a:solidFill>
              </a:rPr>
              <a:t>.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29701" name="Object 8">
            <a:extLst>
              <a:ext uri="{FF2B5EF4-FFF2-40B4-BE49-F238E27FC236}">
                <a16:creationId xmlns:a16="http://schemas.microsoft.com/office/drawing/2014/main" id="{A34B9F47-DA5F-4163-AB90-889C5BEAC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358789"/>
              </p:ext>
            </p:extLst>
          </p:nvPr>
        </p:nvGraphicFramePr>
        <p:xfrm>
          <a:off x="357741" y="1970088"/>
          <a:ext cx="79248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94100" imgH="482600" progId="Equation.DSMT4">
                  <p:embed/>
                </p:oleObj>
              </mc:Choice>
              <mc:Fallback>
                <p:oleObj name="Equation" r:id="rId4" imgW="3594100" imgH="482600" progId="Equation.DSMT4">
                  <p:embed/>
                  <p:pic>
                    <p:nvPicPr>
                      <p:cNvPr id="29701" name="Object 8">
                        <a:extLst>
                          <a:ext uri="{FF2B5EF4-FFF2-40B4-BE49-F238E27FC236}">
                            <a16:creationId xmlns:a16="http://schemas.microsoft.com/office/drawing/2014/main" id="{A34B9F47-DA5F-4163-AB90-889C5BEAC4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741" y="1970088"/>
                        <a:ext cx="79248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7">
            <a:extLst>
              <a:ext uri="{FF2B5EF4-FFF2-40B4-BE49-F238E27FC236}">
                <a16:creationId xmlns:a16="http://schemas.microsoft.com/office/drawing/2014/main" id="{812E5759-596C-49B0-A4FA-AD64C14B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0536" y="4167607"/>
            <a:ext cx="3944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9703" name="Rectangle 8">
            <a:extLst>
              <a:ext uri="{FF2B5EF4-FFF2-40B4-BE49-F238E27FC236}">
                <a16:creationId xmlns:a16="http://schemas.microsoft.com/office/drawing/2014/main" id="{B78EEB4C-EDC1-47F6-A22C-A258BB547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5486" y="4150144"/>
            <a:ext cx="3944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9704" name="Rectangle 9">
            <a:extLst>
              <a:ext uri="{FF2B5EF4-FFF2-40B4-BE49-F238E27FC236}">
                <a16:creationId xmlns:a16="http://schemas.microsoft.com/office/drawing/2014/main" id="{70F24540-A8BA-4D74-8A07-4CAE4DBA5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9919" y="4150144"/>
            <a:ext cx="3944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32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/>
      <p:bldP spid="29703" grpId="0"/>
      <p:bldP spid="2970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5157536-57D0-4A4B-8A5D-1E4000C6D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he-IL" altLang="en-US"/>
              <a:t>המרה מ-</a:t>
            </a:r>
            <a:r>
              <a:rPr lang="en-US" altLang="en-US"/>
              <a:t>Gray</a:t>
            </a:r>
            <a:r>
              <a:rPr lang="he-IL" altLang="en-US"/>
              <a:t> לבינארי</a:t>
            </a:r>
            <a:endParaRPr lang="en-US" altLang="en-US"/>
          </a:p>
        </p:txBody>
      </p:sp>
      <p:graphicFrame>
        <p:nvGraphicFramePr>
          <p:cNvPr id="30724" name="Object 5">
            <a:extLst>
              <a:ext uri="{FF2B5EF4-FFF2-40B4-BE49-F238E27FC236}">
                <a16:creationId xmlns:a16="http://schemas.microsoft.com/office/drawing/2014/main" id="{70BE54CE-97C1-4275-B1DB-FAE1BFD7BD5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258667"/>
              </p:ext>
            </p:extLst>
          </p:nvPr>
        </p:nvGraphicFramePr>
        <p:xfrm>
          <a:off x="-1422025" y="3193600"/>
          <a:ext cx="9831388" cy="334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39243" imgH="2110750" progId="Word.Document.8">
                  <p:embed/>
                </p:oleObj>
              </mc:Choice>
              <mc:Fallback>
                <p:oleObj name="Document" r:id="rId2" imgW="7339243" imgH="2110750" progId="Word.Document.8">
                  <p:embed/>
                  <p:pic>
                    <p:nvPicPr>
                      <p:cNvPr id="30724" name="Object 5">
                        <a:extLst>
                          <a:ext uri="{FF2B5EF4-FFF2-40B4-BE49-F238E27FC236}">
                            <a16:creationId xmlns:a16="http://schemas.microsoft.com/office/drawing/2014/main" id="{70BE54CE-97C1-4275-B1DB-FAE1BFD7BD5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422025" y="3193600"/>
                        <a:ext cx="9831388" cy="334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Slide Number Placeholder 1">
            <a:extLst>
              <a:ext uri="{FF2B5EF4-FFF2-40B4-BE49-F238E27FC236}">
                <a16:creationId xmlns:a16="http://schemas.microsoft.com/office/drawing/2014/main" id="{5C4441CB-0703-44B7-A459-029B8E5D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8309FD-65F5-4186-9296-F03D0FFC7235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graphicFrame>
        <p:nvGraphicFramePr>
          <p:cNvPr id="30723" name="Object 4">
            <a:extLst>
              <a:ext uri="{FF2B5EF4-FFF2-40B4-BE49-F238E27FC236}">
                <a16:creationId xmlns:a16="http://schemas.microsoft.com/office/drawing/2014/main" id="{44C55FC9-5B36-48C9-8011-FDFCDBB369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054840"/>
              </p:ext>
            </p:extLst>
          </p:nvPr>
        </p:nvGraphicFramePr>
        <p:xfrm>
          <a:off x="755576" y="1991519"/>
          <a:ext cx="734695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19500" imgH="482600" progId="Equation.DSMT4">
                  <p:embed/>
                </p:oleObj>
              </mc:Choice>
              <mc:Fallback>
                <p:oleObj name="Equation" r:id="rId4" imgW="3619500" imgH="482600" progId="Equation.DSMT4">
                  <p:embed/>
                  <p:pic>
                    <p:nvPicPr>
                      <p:cNvPr id="30723" name="Object 4">
                        <a:extLst>
                          <a:ext uri="{FF2B5EF4-FFF2-40B4-BE49-F238E27FC236}">
                            <a16:creationId xmlns:a16="http://schemas.microsoft.com/office/drawing/2014/main" id="{44C55FC9-5B36-48C9-8011-FDFCDBB369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991519"/>
                        <a:ext cx="7346950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Rectangle 6">
            <a:extLst>
              <a:ext uri="{FF2B5EF4-FFF2-40B4-BE49-F238E27FC236}">
                <a16:creationId xmlns:a16="http://schemas.microsoft.com/office/drawing/2014/main" id="{7063E2FA-F2DB-4AD5-A08B-0E45C678A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970" y="4352243"/>
            <a:ext cx="3818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30726" name="Rectangle 7">
            <a:extLst>
              <a:ext uri="{FF2B5EF4-FFF2-40B4-BE49-F238E27FC236}">
                <a16:creationId xmlns:a16="http://schemas.microsoft.com/office/drawing/2014/main" id="{5869E9FA-5EDC-4ADE-B764-0732E9631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817" y="4352243"/>
            <a:ext cx="3818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30727" name="Rectangle 8">
            <a:extLst>
              <a:ext uri="{FF2B5EF4-FFF2-40B4-BE49-F238E27FC236}">
                <a16:creationId xmlns:a16="http://schemas.microsoft.com/office/drawing/2014/main" id="{5D22AD1D-B826-4A98-B8A1-0A3F13DC6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4893" y="4326258"/>
            <a:ext cx="3818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85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/>
      <p:bldP spid="30726" grpId="0"/>
      <p:bldP spid="307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B7CD-0EF6-7328-BB49-0B872B88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3300" dirty="0">
                <a:latin typeface="Narkisim" panose="020E0502050101010101" pitchFamily="34" charset="-79"/>
                <a:cs typeface="Narkisim" panose="020E0502050101010101" pitchFamily="34" charset="-79"/>
              </a:rPr>
              <a:t>אביב 2023 מועד א'</a:t>
            </a:r>
            <a:endParaRPr lang="en-US" sz="3300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9B1EC-6746-03C9-F15B-EF4D2E2F1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29" y="1885878"/>
            <a:ext cx="5741766" cy="377756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A735773-D742-1396-2233-ABA5EEF2213E}"/>
              </a:ext>
            </a:extLst>
          </p:cNvPr>
          <p:cNvSpPr/>
          <p:nvPr/>
        </p:nvSpPr>
        <p:spPr>
          <a:xfrm>
            <a:off x="6118761" y="4972123"/>
            <a:ext cx="316180" cy="2627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033156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4461E8E-C50C-00EB-08FF-20C756FB0B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616" y="1844824"/>
                <a:ext cx="6447501" cy="355536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  <m:t>𝑥𝑦𝑧</m:t>
                              </m:r>
                            </m:e>
                          </m:d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𝑏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  <m:t>10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  <m:t>18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arkisim" panose="020E0502050101010101" pitchFamily="34" charset="-79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𝑏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+4</m:t>
                          </m:r>
                        </m:sub>
                      </m:sSub>
                    </m:oMath>
                  </m:oMathPara>
                </a14:m>
                <a:endParaRPr lang="en-US" sz="1400" b="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endParaRPr lang="en-US" sz="1400" b="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1∙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𝑏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+0∙1=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𝑏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+4)∙1+8∙1</m:t>
                      </m:r>
                    </m:oMath>
                  </m:oMathPara>
                </a14:m>
                <a:endParaRPr lang="en-US" sz="1400" b="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endParaRPr lang="en-US" sz="14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=12</m:t>
                      </m:r>
                    </m:oMath>
                  </m:oMathPara>
                </a14:m>
                <a:endParaRPr lang="en-US" sz="1400" b="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r>
                  <a:rPr lang="he-IL" sz="14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תשובות א ,ב וה' נפסלות מיידית – </a:t>
                </a:r>
                <a:r>
                  <a:rPr lang="en-US" sz="14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C</a:t>
                </a:r>
                <a:r>
                  <a:rPr lang="he-IL" sz="14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 איננו מספר שמיוצג בבסיס 12. מאי השוויון הראשון נקבל:</a:t>
                </a:r>
              </a:p>
              <a:p>
                <a:pPr marL="0" indent="0">
                  <a:buNone/>
                </a:pPr>
                <a:endParaRPr lang="he-IL" sz="14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∙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12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arkisim" panose="020E0502050101010101" pitchFamily="34" charset="-79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∙1=144</m:t>
                      </m:r>
                    </m:oMath>
                  </m:oMathPara>
                </a14:m>
                <a:endParaRPr lang="en-US" sz="1400" b="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 algn="l">
                  <a:buNone/>
                </a:pPr>
                <a:endParaRPr lang="en-US" sz="14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144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+12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Narkisim" panose="020E0502050101010101" pitchFamily="34" charset="-79"/>
                        </a:rPr>
                        <m:t>=144</m:t>
                      </m:r>
                    </m:oMath>
                  </m:oMathPara>
                </a14:m>
                <a:endParaRPr lang="en-US" sz="1400" b="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r>
                  <a:rPr lang="he-IL" sz="14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תשובה ג' היא הפתרון הנכון</a:t>
                </a:r>
                <a:endParaRPr lang="en-US" sz="14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 algn="l">
                  <a:buNone/>
                </a:pPr>
                <a:endParaRPr lang="en-US" sz="14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4461E8E-C50C-00EB-08FF-20C756FB0B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616" y="1844824"/>
                <a:ext cx="6447501" cy="3555361"/>
              </a:xfrm>
              <a:blipFill>
                <a:blip r:embed="rId3"/>
                <a:stretch>
                  <a:fillRect r="-170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4120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B7CD-0EF6-7328-BB49-0B872B885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639" y="836712"/>
            <a:ext cx="6447501" cy="990600"/>
          </a:xfrm>
        </p:spPr>
        <p:txBody>
          <a:bodyPr>
            <a:normAutofit/>
          </a:bodyPr>
          <a:lstStyle/>
          <a:p>
            <a:pPr algn="r"/>
            <a:r>
              <a:rPr lang="he-IL" sz="3300" dirty="0">
                <a:latin typeface="Narkisim" panose="020E0502050101010101" pitchFamily="34" charset="-79"/>
                <a:cs typeface="Narkisim" panose="020E0502050101010101" pitchFamily="34" charset="-79"/>
              </a:rPr>
              <a:t>חורף 2023 מועד ב'</a:t>
            </a:r>
            <a:endParaRPr lang="en-US" sz="3300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AC7D1-A9F8-1A48-9A46-991A17FF1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1772816"/>
            <a:ext cx="5714588" cy="442188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1B0FB8B-3149-B664-91F8-EE7295B009FF}"/>
              </a:ext>
            </a:extLst>
          </p:cNvPr>
          <p:cNvSpPr/>
          <p:nvPr/>
        </p:nvSpPr>
        <p:spPr>
          <a:xfrm>
            <a:off x="8227121" y="5403114"/>
            <a:ext cx="282039" cy="2627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1967ED-E2BE-AE97-F1BE-A78A38B72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4509120"/>
            <a:ext cx="5614392" cy="143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60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10DE691F-87DB-C534-6CAD-08713D127BEA}"/>
                  </a:ext>
                </a:extLst>
              </p:cNvPr>
              <p:cNvSpPr txBox="1"/>
              <p:nvPr/>
            </p:nvSpPr>
            <p:spPr>
              <a:xfrm>
                <a:off x="1979712" y="2188917"/>
                <a:ext cx="4576665" cy="24801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350" dirty="0">
                    <a:latin typeface="Cambria Math" panose="02040503050406030204" pitchFamily="18" charset="0"/>
                  </a:rPr>
                  <a:t>A = 11001001</a:t>
                </a:r>
              </a:p>
              <a:p>
                <a:pPr algn="ctr"/>
                <a:r>
                  <a:rPr lang="en-US" sz="1350" dirty="0">
                    <a:latin typeface="Cambria Math" panose="02040503050406030204" pitchFamily="18" charset="0"/>
                  </a:rPr>
                  <a:t>B = 11001100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sz="135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en-US" sz="1350" i="1">
                          <a:latin typeface="Cambria Math" panose="02040503050406030204" pitchFamily="18" charset="0"/>
                        </a:rPr>
                        <m:t>∙(1+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35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𝑣𝑎</m:t>
                      </m:r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35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35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4−0</m:t>
                          </m:r>
                        </m:sup>
                      </m:sSup>
                      <m:r>
                        <a:rPr lang="en-US" sz="135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</a:rPr>
                        <m:t>=−16−8−1=−25</m:t>
                      </m:r>
                    </m:oMath>
                  </m:oMathPara>
                </a14:m>
                <a:endParaRPr lang="en-US" sz="135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𝑣𝑎</m:t>
                      </m:r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35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35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4−0</m:t>
                          </m:r>
                        </m:sup>
                      </m:sSup>
                      <m:r>
                        <a:rPr lang="en-US" sz="135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</a:rPr>
                        <m:t>=−16−8−4=−28</m:t>
                      </m:r>
                    </m:oMath>
                  </m:oMathPara>
                </a14:m>
                <a:endParaRPr lang="en-US" sz="135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𝑣𝑎</m:t>
                      </m:r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𝑣𝑎</m:t>
                      </m:r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350" i="1">
                          <a:latin typeface="Cambria Math" panose="02040503050406030204" pitchFamily="18" charset="0"/>
                        </a:rPr>
                        <m:t>=−25−28=−53</m:t>
                      </m:r>
                    </m:oMath>
                  </m:oMathPara>
                </a14:m>
                <a:endParaRPr lang="en-US" sz="135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53→0110101</m:t>
                      </m:r>
                    </m:oMath>
                  </m:oMathPara>
                </a14:m>
                <a:endParaRPr lang="en-US" sz="135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−53→1001010+0000001=1001011</m:t>
                      </m:r>
                    </m:oMath>
                  </m:oMathPara>
                </a14:m>
                <a:endParaRPr lang="en-US" sz="1350" dirty="0"/>
              </a:p>
              <a:p>
                <a:pPr algn="r" rtl="1"/>
                <a:r>
                  <a:rPr lang="he-IL" sz="1350" dirty="0"/>
                  <a:t>תשובה ג'</a:t>
                </a:r>
              </a:p>
            </p:txBody>
          </p:sp>
        </mc:Choice>
        <mc:Fallback xmlns="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10DE691F-87DB-C534-6CAD-08713D127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2188917"/>
                <a:ext cx="4576665" cy="2480166"/>
              </a:xfrm>
              <a:prstGeom prst="rect">
                <a:avLst/>
              </a:prstGeom>
              <a:blipFill>
                <a:blip r:embed="rId2"/>
                <a:stretch>
                  <a:fillRect t="-491" r="-266" b="-172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6220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5CC591-B6E1-D4E4-81B0-896F48A8C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696"/>
          <a:stretch/>
        </p:blipFill>
        <p:spPr>
          <a:xfrm>
            <a:off x="3275856" y="1824074"/>
            <a:ext cx="5684514" cy="266429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16FE03E-C0C9-C10B-D068-B3F0B8D8FA03}"/>
              </a:ext>
            </a:extLst>
          </p:cNvPr>
          <p:cNvSpPr txBox="1">
            <a:spLocks/>
          </p:cNvSpPr>
          <p:nvPr/>
        </p:nvSpPr>
        <p:spPr>
          <a:xfrm>
            <a:off x="-396552" y="517075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400" dirty="0">
                <a:latin typeface="Narkisim" panose="020E0502050101010101" pitchFamily="34" charset="-79"/>
                <a:cs typeface="Narkisim" panose="020E0502050101010101" pitchFamily="34" charset="-79"/>
              </a:rPr>
              <a:t>אביב 2021 מועד א'</a:t>
            </a:r>
            <a:endParaRPr lang="en-US" sz="4400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718827AC-9033-D152-B52C-38850BC3C4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599" t="67525"/>
          <a:stretch>
            <a:fillRect/>
          </a:stretch>
        </p:blipFill>
        <p:spPr>
          <a:xfrm>
            <a:off x="5601850" y="4749869"/>
            <a:ext cx="3349391" cy="1822757"/>
          </a:xfrm>
          <a:prstGeom prst="rect">
            <a:avLst/>
          </a:prstGeom>
        </p:spPr>
      </p:pic>
      <p:pic>
        <p:nvPicPr>
          <p:cNvPr id="2" name="Picture 9">
            <a:extLst>
              <a:ext uri="{FF2B5EF4-FFF2-40B4-BE49-F238E27FC236}">
                <a16:creationId xmlns:a16="http://schemas.microsoft.com/office/drawing/2014/main" id="{F47E7B26-4FF3-C841-3858-A69D716BE1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599" t="50848" b="43369"/>
          <a:stretch>
            <a:fillRect/>
          </a:stretch>
        </p:blipFill>
        <p:spPr>
          <a:xfrm>
            <a:off x="5592722" y="4425268"/>
            <a:ext cx="3349391" cy="32460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196A5EE-1A01-59E4-B6FE-1B7BDDB7B121}"/>
              </a:ext>
            </a:extLst>
          </p:cNvPr>
          <p:cNvSpPr/>
          <p:nvPr/>
        </p:nvSpPr>
        <p:spPr>
          <a:xfrm>
            <a:off x="8316416" y="6237312"/>
            <a:ext cx="282039" cy="2627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72029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5A0F122-B853-00B5-E210-B6281F33F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4173" y="1268760"/>
                <a:ext cx="7815653" cy="457250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he-IL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יש 3 אפשרויות במשתנה הכניסה ו</a:t>
                </a:r>
                <a:r>
                  <a:rPr lang="en-US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n</a:t>
                </a:r>
                <a:r>
                  <a:rPr lang="he-IL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 משתנה כניסה אפשריים. מכאן שמרחב אפשרויות הקלט הוא </a:t>
                </a:r>
                <a14:m>
                  <m:oMath xmlns:m="http://schemas.openxmlformats.org/officeDocument/2006/math">
                    <m:r>
                      <a:rPr lang="he-IL" sz="1600" b="0" i="0" smtClean="0">
                        <a:latin typeface="Cambria Math" panose="02040503050406030204" pitchFamily="18" charset="0"/>
                        <a:cs typeface="Narkisim" panose="020E0502050101010101" pitchFamily="34" charset="-79"/>
                      </a:rPr>
                      <m:t>.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Narkisim" panose="020E0502050101010101" pitchFamily="34" charset="-79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Narkisim" panose="020E0502050101010101" pitchFamily="34" charset="-79"/>
                          </a:rPr>
                          <m:t>3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Narkisim" panose="020E0502050101010101" pitchFamily="34" charset="-79"/>
                          </a:rPr>
                          <m:t>𝑛</m:t>
                        </m:r>
                      </m:sup>
                    </m:sSup>
                  </m:oMath>
                </a14:m>
                <a:endParaRPr lang="en-US" sz="16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r>
                  <a:rPr lang="he-IL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למוצא הפונקציה יש 8 פלטים שונים עבור כל קלט במרחב האפשרויות. </a:t>
                </a:r>
              </a:p>
              <a:p>
                <a:pPr marL="0" indent="0">
                  <a:buNone/>
                </a:pPr>
                <a:r>
                  <a:rPr lang="he-IL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פונקציה היא מיפוי של כניסה ליציאה, למשל עבור </a:t>
                </a:r>
                <a:r>
                  <a:rPr lang="en-US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n=1</a:t>
                </a:r>
                <a:r>
                  <a:rPr lang="he-IL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 נקבל 8 אופציות לכל קלט, ונוכל להרכיב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600" b="0" i="1" smtClean="0">
                            <a:latin typeface="Cambria Math" panose="02040503050406030204" pitchFamily="18" charset="0"/>
                            <a:cs typeface="Narkisim" panose="020E0502050101010101" pitchFamily="34" charset="-79"/>
                          </a:rPr>
                        </m:ctrlPr>
                      </m:sSupPr>
                      <m:e>
                        <m:r>
                          <a:rPr lang="he-IL" sz="1600" b="0" i="1" smtClean="0">
                            <a:latin typeface="Cambria Math" panose="02040503050406030204" pitchFamily="18" charset="0"/>
                            <a:cs typeface="Narkisim" panose="020E0502050101010101" pitchFamily="34" charset="-79"/>
                          </a:rPr>
                          <m:t>8</m:t>
                        </m:r>
                      </m:e>
                      <m:sup>
                        <m:r>
                          <a:rPr lang="he-IL" sz="1600" b="0" i="1" smtClean="0">
                            <a:latin typeface="Cambria Math" panose="02040503050406030204" pitchFamily="18" charset="0"/>
                            <a:cs typeface="Narkisim" panose="020E0502050101010101" pitchFamily="34" charset="-79"/>
                          </a:rPr>
                          <m:t>3</m:t>
                        </m:r>
                      </m:sup>
                    </m:sSup>
                  </m:oMath>
                </a14:m>
                <a:r>
                  <a:rPr lang="he-IL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 פונקציות:</a:t>
                </a:r>
              </a:p>
              <a:p>
                <a:pPr marL="0" indent="0">
                  <a:buNone/>
                </a:pPr>
                <a:endParaRPr lang="he-IL" sz="16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 algn="ctr">
                  <a:buNone/>
                </a:pPr>
                <a:endParaRPr lang="he-IL" sz="16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endParaRPr lang="he-IL" sz="16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endParaRPr lang="he-IL" sz="16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endParaRPr lang="he-IL" sz="16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endParaRPr lang="he-IL" sz="1600" dirty="0">
                  <a:latin typeface="Narkisim" panose="020E0502050101010101" pitchFamily="34" charset="-79"/>
                  <a:cs typeface="Narkisim" panose="020E0502050101010101" pitchFamily="34" charset="-79"/>
                </a:endParaRPr>
              </a:p>
              <a:p>
                <a:pPr marL="0" indent="0">
                  <a:buNone/>
                </a:pPr>
                <a:r>
                  <a:rPr lang="he-IL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יש סה"כ 8 פונקציות קבועות אשר יחזירו פלט זהה לכל פלט אפשרי מ 0 עד 7 ולכן, מספר הפונקציות השונות הינו: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600" b="0" i="1" smtClean="0">
                            <a:latin typeface="Cambria Math" panose="02040503050406030204" pitchFamily="18" charset="0"/>
                            <a:cs typeface="Narkisim" panose="020E0502050101010101" pitchFamily="34" charset="-79"/>
                          </a:rPr>
                        </m:ctrlPr>
                      </m:sSupPr>
                      <m:e>
                        <m:r>
                          <a:rPr lang="he-IL" sz="1600" b="0" i="1" smtClean="0">
                            <a:latin typeface="Cambria Math" panose="02040503050406030204" pitchFamily="18" charset="0"/>
                            <a:cs typeface="Narkisim" panose="020E0502050101010101" pitchFamily="34" charset="-79"/>
                          </a:rPr>
                          <m:t>8</m:t>
                        </m:r>
                      </m:e>
                      <m:sup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Narkisim" panose="020E0502050101010101" pitchFamily="34" charset="-79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Narkisim" panose="020E0502050101010101" pitchFamily="34" charset="-79"/>
                              </a:rPr>
                              <m:t>3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Narkisim" panose="020E0502050101010101" pitchFamily="34" charset="-79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cs typeface="Narkisim" panose="020E0502050101010101" pitchFamily="34" charset="-79"/>
                      </a:rPr>
                      <m:t>−8</m:t>
                    </m:r>
                  </m:oMath>
                </a14:m>
                <a:r>
                  <a:rPr lang="he-IL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.</a:t>
                </a:r>
              </a:p>
              <a:p>
                <a:pPr marL="0" indent="0">
                  <a:buNone/>
                </a:pPr>
                <a:r>
                  <a:rPr lang="he-IL" sz="1600" dirty="0">
                    <a:latin typeface="Narkisim" panose="020E0502050101010101" pitchFamily="34" charset="-79"/>
                    <a:cs typeface="Narkisim" panose="020E0502050101010101" pitchFamily="34" charset="-79"/>
                  </a:rPr>
                  <a:t>תשובה ה'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5A0F122-B853-00B5-E210-B6281F33F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173" y="1268760"/>
                <a:ext cx="7815653" cy="4572508"/>
              </a:xfrm>
              <a:blipFill>
                <a:blip r:embed="rId3"/>
                <a:stretch>
                  <a:fillRect t="-554" r="-1461" b="-581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4C7D15-6250-E642-A6A5-C4AB90DE6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865894"/>
              </p:ext>
            </p:extLst>
          </p:nvPr>
        </p:nvGraphicFramePr>
        <p:xfrm>
          <a:off x="2591778" y="2564904"/>
          <a:ext cx="3960441" cy="2180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147">
                  <a:extLst>
                    <a:ext uri="{9D8B030D-6E8A-4147-A177-3AD203B41FA5}">
                      <a16:colId xmlns:a16="http://schemas.microsoft.com/office/drawing/2014/main" val="258509629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3718579793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1862822286"/>
                    </a:ext>
                  </a:extLst>
                </a:gridCol>
              </a:tblGrid>
              <a:tr h="2409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dirty="0"/>
                        <a:t>f(0)</a:t>
                      </a:r>
                      <a:endParaRPr lang="en-IL" sz="1200" dirty="0"/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f(1)</a:t>
                      </a:r>
                      <a:endParaRPr lang="en-IL" sz="1200" dirty="0"/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f(2)</a:t>
                      </a:r>
                      <a:endParaRPr lang="en-IL" sz="1200" dirty="0"/>
                    </a:p>
                  </a:txBody>
                  <a:tcPr marL="59407" marR="59407" marT="29703" marB="29703"/>
                </a:tc>
                <a:extLst>
                  <a:ext uri="{0D108BD9-81ED-4DB2-BD59-A6C34878D82A}">
                    <a16:rowId xmlns:a16="http://schemas.microsoft.com/office/drawing/2014/main" val="1521810075"/>
                  </a:ext>
                </a:extLst>
              </a:tr>
              <a:tr h="2409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0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0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0</a:t>
                      </a:r>
                    </a:p>
                  </a:txBody>
                  <a:tcPr marL="59407" marR="59407" marT="29703" marB="29703"/>
                </a:tc>
                <a:extLst>
                  <a:ext uri="{0D108BD9-81ED-4DB2-BD59-A6C34878D82A}">
                    <a16:rowId xmlns:a16="http://schemas.microsoft.com/office/drawing/2014/main" val="2591672090"/>
                  </a:ext>
                </a:extLst>
              </a:tr>
              <a:tr h="2409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1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1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1</a:t>
                      </a:r>
                    </a:p>
                  </a:txBody>
                  <a:tcPr marL="59407" marR="59407" marT="29703" marB="29703"/>
                </a:tc>
                <a:extLst>
                  <a:ext uri="{0D108BD9-81ED-4DB2-BD59-A6C34878D82A}">
                    <a16:rowId xmlns:a16="http://schemas.microsoft.com/office/drawing/2014/main" val="3472083952"/>
                  </a:ext>
                </a:extLst>
              </a:tr>
              <a:tr h="2409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2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2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2</a:t>
                      </a:r>
                    </a:p>
                  </a:txBody>
                  <a:tcPr marL="59407" marR="59407" marT="29703" marB="29703"/>
                </a:tc>
                <a:extLst>
                  <a:ext uri="{0D108BD9-81ED-4DB2-BD59-A6C34878D82A}">
                    <a16:rowId xmlns:a16="http://schemas.microsoft.com/office/drawing/2014/main" val="4096665553"/>
                  </a:ext>
                </a:extLst>
              </a:tr>
              <a:tr h="2409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3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3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3</a:t>
                      </a:r>
                    </a:p>
                  </a:txBody>
                  <a:tcPr marL="59407" marR="59407" marT="29703" marB="29703"/>
                </a:tc>
                <a:extLst>
                  <a:ext uri="{0D108BD9-81ED-4DB2-BD59-A6C34878D82A}">
                    <a16:rowId xmlns:a16="http://schemas.microsoft.com/office/drawing/2014/main" val="2007847839"/>
                  </a:ext>
                </a:extLst>
              </a:tr>
              <a:tr h="2409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4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4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4</a:t>
                      </a:r>
                    </a:p>
                  </a:txBody>
                  <a:tcPr marL="59407" marR="59407" marT="29703" marB="29703"/>
                </a:tc>
                <a:extLst>
                  <a:ext uri="{0D108BD9-81ED-4DB2-BD59-A6C34878D82A}">
                    <a16:rowId xmlns:a16="http://schemas.microsoft.com/office/drawing/2014/main" val="888837183"/>
                  </a:ext>
                </a:extLst>
              </a:tr>
              <a:tr h="2409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5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5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5</a:t>
                      </a:r>
                    </a:p>
                  </a:txBody>
                  <a:tcPr marL="59407" marR="59407" marT="29703" marB="29703"/>
                </a:tc>
                <a:extLst>
                  <a:ext uri="{0D108BD9-81ED-4DB2-BD59-A6C34878D82A}">
                    <a16:rowId xmlns:a16="http://schemas.microsoft.com/office/drawing/2014/main" val="3017285990"/>
                  </a:ext>
                </a:extLst>
              </a:tr>
              <a:tr h="2409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6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6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6</a:t>
                      </a:r>
                    </a:p>
                  </a:txBody>
                  <a:tcPr marL="59407" marR="59407" marT="29703" marB="29703"/>
                </a:tc>
                <a:extLst>
                  <a:ext uri="{0D108BD9-81ED-4DB2-BD59-A6C34878D82A}">
                    <a16:rowId xmlns:a16="http://schemas.microsoft.com/office/drawing/2014/main" val="3132798828"/>
                  </a:ext>
                </a:extLst>
              </a:tr>
              <a:tr h="2409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7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7</a:t>
                      </a:r>
                    </a:p>
                  </a:txBody>
                  <a:tcPr marL="59407" marR="59407" marT="29703" marB="2970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200" dirty="0"/>
                        <a:t>7</a:t>
                      </a:r>
                    </a:p>
                  </a:txBody>
                  <a:tcPr marL="59407" marR="59407" marT="29703" marB="29703"/>
                </a:tc>
                <a:extLst>
                  <a:ext uri="{0D108BD9-81ED-4DB2-BD59-A6C34878D82A}">
                    <a16:rowId xmlns:a16="http://schemas.microsoft.com/office/drawing/2014/main" val="2003152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4017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2CDB7-0F91-5409-ABC0-2546BF2D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6065-C0E9-C1AE-9243-74808E31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he-IL" dirty="0"/>
              <a:t>סיכום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CC9B8-90EB-10D6-D495-30BED514D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he-IL" sz="3200" dirty="0"/>
              <a:t> ייצוג מספרים טבעיים</a:t>
            </a:r>
          </a:p>
          <a:p>
            <a:pPr>
              <a:buFont typeface="Wingdings" pitchFamily="2" charset="2"/>
              <a:buChar char="§"/>
            </a:pPr>
            <a:r>
              <a:rPr lang="en-US" sz="3200" dirty="0"/>
              <a:t> </a:t>
            </a:r>
            <a:r>
              <a:rPr lang="he-IL" sz="3200" dirty="0"/>
              <a:t>מעבר בין בסיסים</a:t>
            </a:r>
          </a:p>
          <a:p>
            <a:pPr>
              <a:buFont typeface="Wingdings" pitchFamily="2" charset="2"/>
              <a:buChar char="§"/>
            </a:pPr>
            <a:r>
              <a:rPr lang="en-US" sz="3200" dirty="0"/>
              <a:t> </a:t>
            </a:r>
            <a:r>
              <a:rPr lang="he-IL" sz="3200" dirty="0"/>
              <a:t>אריתמטיקה</a:t>
            </a:r>
          </a:p>
          <a:p>
            <a:pPr>
              <a:buFont typeface="Wingdings" pitchFamily="2" charset="2"/>
              <a:buChar char="§"/>
            </a:pPr>
            <a:r>
              <a:rPr lang="en-US" sz="3200" dirty="0"/>
              <a:t> </a:t>
            </a:r>
            <a:r>
              <a:rPr lang="he-IL" sz="3200" dirty="0"/>
              <a:t>ייצוג מספרים שליליים בשיטת המשלים ל-2</a:t>
            </a:r>
          </a:p>
          <a:p>
            <a:pPr>
              <a:buFont typeface="Wingdings" pitchFamily="2" charset="2"/>
              <a:buChar char="§"/>
            </a:pPr>
            <a:r>
              <a:rPr lang="en-US" sz="3200" dirty="0"/>
              <a:t> </a:t>
            </a:r>
            <a:r>
              <a:rPr lang="he-IL" sz="3200" dirty="0"/>
              <a:t>נקודה צפה – </a:t>
            </a:r>
            <a:r>
              <a:rPr lang="en-US" sz="3200" dirty="0"/>
              <a:t>floating point</a:t>
            </a:r>
          </a:p>
          <a:p>
            <a:pPr>
              <a:buFont typeface="Wingdings" pitchFamily="2" charset="2"/>
              <a:buChar char="§"/>
            </a:pPr>
            <a:r>
              <a:rPr lang="he-IL" sz="3200" dirty="0"/>
              <a:t> קודים בינאריים לקידוד ספרות בבסיס 10</a:t>
            </a:r>
          </a:p>
          <a:p>
            <a:pPr>
              <a:buFont typeface="Wingdings" pitchFamily="2" charset="2"/>
              <a:buChar char="§"/>
            </a:pPr>
            <a:r>
              <a:rPr lang="he-IL" sz="3200" dirty="0"/>
              <a:t> קודים </a:t>
            </a:r>
            <a:r>
              <a:rPr lang="he-IL" sz="3200" dirty="0" err="1"/>
              <a:t>ציקליים</a:t>
            </a:r>
            <a:endParaRPr lang="he-IL" sz="3200" dirty="0"/>
          </a:p>
          <a:p>
            <a:pPr>
              <a:buFont typeface="Wingdings" pitchFamily="2" charset="2"/>
              <a:buChar char="§"/>
            </a:pPr>
            <a:endParaRPr lang="he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97870-5F9C-0E4F-B672-31C7FB57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48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106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7875-E50C-726F-3018-B06E0E21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FBB1-BA0D-2836-64DE-2436D78E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he-IL" dirty="0"/>
              <a:t>תרגול הבא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F07A2-1D97-A8A6-9A11-6FE4FF6D1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</a:t>
            </a:r>
            <a:endParaRPr lang="he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39F55-7F4A-BD28-1CC3-E621468FC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26DF-CA30-4C16-9A99-4C088F3CDAA0}" type="slidenum">
              <a:rPr lang="he-IL" smtClean="0"/>
              <a:t>49</a:t>
            </a:fld>
            <a:endParaRPr lang="he-I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FD649B-A6AD-A42F-EC65-543F33B88610}"/>
              </a:ext>
            </a:extLst>
          </p:cNvPr>
          <p:cNvSpPr txBox="1">
            <a:spLocks/>
          </p:cNvSpPr>
          <p:nvPr/>
        </p:nvSpPr>
        <p:spPr>
          <a:xfrm>
            <a:off x="975359" y="19981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r" defTabSz="914400" rtl="1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sz="3200" dirty="0"/>
              <a:t> </a:t>
            </a:r>
            <a:r>
              <a:rPr lang="he-IL" sz="3200" dirty="0"/>
              <a:t>קודים לגילוי ותיקון שגיאות</a:t>
            </a:r>
          </a:p>
          <a:p>
            <a:pPr>
              <a:buFont typeface="Wingdings" pitchFamily="2" charset="2"/>
              <a:buChar char="§"/>
            </a:pPr>
            <a:r>
              <a:rPr lang="he-IL" sz="3200" dirty="0"/>
              <a:t> שפת </a:t>
            </a:r>
            <a:r>
              <a:rPr lang="he-IL" sz="3200" dirty="0" err="1"/>
              <a:t>Assembly</a:t>
            </a:r>
            <a:endParaRPr lang="he-IL" sz="3200" dirty="0"/>
          </a:p>
          <a:p>
            <a:pPr>
              <a:buFont typeface="Wingdings" pitchFamily="2" charset="2"/>
              <a:buChar char="§"/>
            </a:pPr>
            <a:endParaRPr lang="he-IL" sz="3200" dirty="0"/>
          </a:p>
          <a:p>
            <a:pPr>
              <a:buFont typeface="Wingdings" pitchFamily="2" charset="2"/>
              <a:buChar char="§"/>
            </a:pP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30394360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4125</TotalTime>
  <Words>2300</Words>
  <Application>Microsoft Macintosh PowerPoint</Application>
  <PresentationFormat>On-screen Show (4:3)</PresentationFormat>
  <Paragraphs>738</Paragraphs>
  <Slides>49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Courier New</vt:lpstr>
      <vt:lpstr>Mathematica1</vt:lpstr>
      <vt:lpstr>Narkisim</vt:lpstr>
      <vt:lpstr>Symbol</vt:lpstr>
      <vt:lpstr>Times New Roman</vt:lpstr>
      <vt:lpstr>Wingdings</vt:lpstr>
      <vt:lpstr>Retrospect</vt:lpstr>
      <vt:lpstr>Equation</vt:lpstr>
      <vt:lpstr>Document</vt:lpstr>
      <vt:lpstr>מערכות ספרתיות ומבנה המחשב </vt:lpstr>
      <vt:lpstr>כמה מילים לפני שמתחילים</vt:lpstr>
      <vt:lpstr>שיעורי בית</vt:lpstr>
      <vt:lpstr>נושאים</vt:lpstr>
      <vt:lpstr>מוטיבציה</vt:lpstr>
      <vt:lpstr>בסיס עשרוני</vt:lpstr>
      <vt:lpstr>ייצוג מספרים</vt:lpstr>
      <vt:lpstr>ייצוג מספרים</vt:lpstr>
      <vt:lpstr>מעבר מבסיס b כלשהו לבסיס 10</vt:lpstr>
      <vt:lpstr>מעבר מבסיס b כלשהו לבסיס 10</vt:lpstr>
      <vt:lpstr>מעבר מבסיס b כלשהו לבסיס 10</vt:lpstr>
      <vt:lpstr>מעבר מבסיס b כלשהו לבסיס 10</vt:lpstr>
      <vt:lpstr>מעבר מבסיס b כלשהו לבסיס 10</vt:lpstr>
      <vt:lpstr>מעבר מבסיס 10 לבסיס b כלשהו</vt:lpstr>
      <vt:lpstr>דוגמא</vt:lpstr>
      <vt:lpstr>מעבר בין בסיסים שהם חזקות אחד של השני</vt:lpstr>
      <vt:lpstr>מעבר בין בסיסים – שאלות?</vt:lpstr>
      <vt:lpstr>אריתמטיקה בבסיסים שונים</vt:lpstr>
      <vt:lpstr>אריתמטיקה – שאלות?</vt:lpstr>
      <vt:lpstr>מספרים מכוונים – שיטת המשלים ל-2</vt:lpstr>
      <vt:lpstr>משלים ל-2</vt:lpstr>
      <vt:lpstr>משלים ל-2</vt:lpstr>
      <vt:lpstr>משלים ל-2 – כללים לחיבור</vt:lpstr>
      <vt:lpstr>פתרון – ייצוג המספרים עם יותר סיביות ע"י שימוש ב- Sign extension</vt:lpstr>
      <vt:lpstr>משלים ל-2 – שאלות?</vt:lpstr>
      <vt:lpstr>כיצד נייצג מספרים גדולים?</vt:lpstr>
      <vt:lpstr>נקודה צפה (Floating Point)</vt:lpstr>
      <vt:lpstr>נקודה צפה (Floating Point)</vt:lpstr>
      <vt:lpstr>נקודה צפה (Floating Point)</vt:lpstr>
      <vt:lpstr>נקודה צפה (Floating Point)</vt:lpstr>
      <vt:lpstr>נקודה צפה (Floating Point)</vt:lpstr>
      <vt:lpstr>נקודה צפה (Floating Point) – שאלות?</vt:lpstr>
      <vt:lpstr>קודים בינאריים לקידוד ספרות בבסיס 10</vt:lpstr>
      <vt:lpstr>קודים משוקללים</vt:lpstr>
      <vt:lpstr>PowerPoint Presentation</vt:lpstr>
      <vt:lpstr>קוד BCD לעומת מספר בבסיס בינארי</vt:lpstr>
      <vt:lpstr>דוגמה לקוד לא משוקלל</vt:lpstr>
      <vt:lpstr>קודים ציקליים</vt:lpstr>
      <vt:lpstr>הרחבת קוד Gray</vt:lpstr>
      <vt:lpstr>המרה מבינארי ל-Gray</vt:lpstr>
      <vt:lpstr>המרה מ-Gray לבינארי</vt:lpstr>
      <vt:lpstr>אביב 2023 מועד א'</vt:lpstr>
      <vt:lpstr>PowerPoint Presentation</vt:lpstr>
      <vt:lpstr>חורף 2023 מועד ב'</vt:lpstr>
      <vt:lpstr>PowerPoint Presentation</vt:lpstr>
      <vt:lpstr>PowerPoint Presentation</vt:lpstr>
      <vt:lpstr>PowerPoint Presentation</vt:lpstr>
      <vt:lpstr>סיכום</vt:lpstr>
      <vt:lpstr>תרגול הבא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מערכות ספרתיות</dc:title>
  <dc:creator>debby</dc:creator>
  <cp:lastModifiedBy>Ben Hanuka</cp:lastModifiedBy>
  <cp:revision>248</cp:revision>
  <dcterms:created xsi:type="dcterms:W3CDTF">2011-10-23T13:37:02Z</dcterms:created>
  <dcterms:modified xsi:type="dcterms:W3CDTF">2026-04-12T10:22:16Z</dcterms:modified>
</cp:coreProperties>
</file>