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256" r:id="rId2"/>
    <p:sldId id="321" r:id="rId3"/>
    <p:sldId id="318" r:id="rId4"/>
    <p:sldId id="323" r:id="rId5"/>
    <p:sldId id="322" r:id="rId6"/>
    <p:sldId id="303" r:id="rId7"/>
    <p:sldId id="304" r:id="rId8"/>
    <p:sldId id="307" r:id="rId9"/>
    <p:sldId id="308" r:id="rId10"/>
    <p:sldId id="309" r:id="rId11"/>
    <p:sldId id="324" r:id="rId12"/>
    <p:sldId id="281" r:id="rId13"/>
    <p:sldId id="313" r:id="rId14"/>
    <p:sldId id="258" r:id="rId15"/>
    <p:sldId id="259" r:id="rId16"/>
    <p:sldId id="260" r:id="rId17"/>
    <p:sldId id="261" r:id="rId18"/>
    <p:sldId id="262" r:id="rId19"/>
    <p:sldId id="289" r:id="rId20"/>
    <p:sldId id="290" r:id="rId21"/>
    <p:sldId id="291" r:id="rId22"/>
    <p:sldId id="283" r:id="rId23"/>
    <p:sldId id="278" r:id="rId24"/>
    <p:sldId id="263" r:id="rId25"/>
    <p:sldId id="306" r:id="rId26"/>
    <p:sldId id="325" r:id="rId27"/>
    <p:sldId id="271" r:id="rId28"/>
    <p:sldId id="272" r:id="rId29"/>
    <p:sldId id="273" r:id="rId30"/>
    <p:sldId id="274" r:id="rId31"/>
    <p:sldId id="275" r:id="rId32"/>
    <p:sldId id="310" r:id="rId33"/>
    <p:sldId id="326" r:id="rId34"/>
    <p:sldId id="276" r:id="rId35"/>
    <p:sldId id="328" r:id="rId36"/>
    <p:sldId id="327" r:id="rId37"/>
    <p:sldId id="292" r:id="rId38"/>
    <p:sldId id="312" r:id="rId39"/>
    <p:sldId id="329" r:id="rId40"/>
    <p:sldId id="296" r:id="rId41"/>
    <p:sldId id="311" r:id="rId42"/>
    <p:sldId id="330" r:id="rId43"/>
    <p:sldId id="314" r:id="rId44"/>
    <p:sldId id="315" r:id="rId45"/>
    <p:sldId id="331" r:id="rId46"/>
    <p:sldId id="332" r:id="rId47"/>
  </p:sldIdLst>
  <p:sldSz cx="9144000" cy="6858000" type="screen4x3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650C17-5038-E34E-89D8-B375D8F8FA74}" v="1" dt="2025-12-23T07:15:48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9" autoAdjust="0"/>
    <p:restoredTop sz="82123" autoAdjust="0"/>
  </p:normalViewPr>
  <p:slideViewPr>
    <p:cSldViewPr>
      <p:cViewPr varScale="1">
        <p:scale>
          <a:sx n="99" d="100"/>
          <a:sy n="99" d="100"/>
        </p:scale>
        <p:origin x="2264" y="168"/>
      </p:cViewPr>
      <p:guideLst>
        <p:guide orient="horz" pos="2160"/>
        <p:guide pos="2880"/>
      </p:guideLst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Hanuka" userId="8fcfd652-4ae7-4605-9bfd-5ff0d9da73a0" providerId="ADAL" clId="{E64352B5-F0D7-55D7-BDA8-47CEA1D5C864}"/>
    <pc:docChg chg="custSel addSld delSld modSld">
      <pc:chgData name="Ben Hanuka" userId="8fcfd652-4ae7-4605-9bfd-5ff0d9da73a0" providerId="ADAL" clId="{E64352B5-F0D7-55D7-BDA8-47CEA1D5C864}" dt="2025-12-23T07:16:53.844" v="1039" actId="20577"/>
      <pc:docMkLst>
        <pc:docMk/>
      </pc:docMkLst>
      <pc:sldChg chg="modNotesTx">
        <pc:chgData name="Ben Hanuka" userId="8fcfd652-4ae7-4605-9bfd-5ff0d9da73a0" providerId="ADAL" clId="{E64352B5-F0D7-55D7-BDA8-47CEA1D5C864}" dt="2025-12-23T07:15:22.511" v="1024" actId="20577"/>
        <pc:sldMkLst>
          <pc:docMk/>
          <pc:sldMk cId="0" sldId="258"/>
        </pc:sldMkLst>
      </pc:sldChg>
      <pc:sldChg chg="modNotesTx">
        <pc:chgData name="Ben Hanuka" userId="8fcfd652-4ae7-4605-9bfd-5ff0d9da73a0" providerId="ADAL" clId="{E64352B5-F0D7-55D7-BDA8-47CEA1D5C864}" dt="2025-12-23T07:15:26.276" v="1025" actId="20577"/>
        <pc:sldMkLst>
          <pc:docMk/>
          <pc:sldMk cId="0" sldId="259"/>
        </pc:sldMkLst>
      </pc:sldChg>
      <pc:sldChg chg="modNotesTx">
        <pc:chgData name="Ben Hanuka" userId="8fcfd652-4ae7-4605-9bfd-5ff0d9da73a0" providerId="ADAL" clId="{E64352B5-F0D7-55D7-BDA8-47CEA1D5C864}" dt="2025-12-23T07:15:35.613" v="1026" actId="20577"/>
        <pc:sldMkLst>
          <pc:docMk/>
          <pc:sldMk cId="0" sldId="262"/>
        </pc:sldMkLst>
      </pc:sldChg>
      <pc:sldChg chg="modNotesTx">
        <pc:chgData name="Ben Hanuka" userId="8fcfd652-4ae7-4605-9bfd-5ff0d9da73a0" providerId="ADAL" clId="{E64352B5-F0D7-55D7-BDA8-47CEA1D5C864}" dt="2025-12-23T07:15:57.954" v="1028" actId="20577"/>
        <pc:sldMkLst>
          <pc:docMk/>
          <pc:sldMk cId="0" sldId="263"/>
        </pc:sldMkLst>
      </pc:sldChg>
      <pc:sldChg chg="modNotesTx">
        <pc:chgData name="Ben Hanuka" userId="8fcfd652-4ae7-4605-9bfd-5ff0d9da73a0" providerId="ADAL" clId="{E64352B5-F0D7-55D7-BDA8-47CEA1D5C864}" dt="2025-12-23T07:16:08.452" v="1030" actId="20577"/>
        <pc:sldMkLst>
          <pc:docMk/>
          <pc:sldMk cId="0" sldId="271"/>
        </pc:sldMkLst>
      </pc:sldChg>
      <pc:sldChg chg="modNotesTx">
        <pc:chgData name="Ben Hanuka" userId="8fcfd652-4ae7-4605-9bfd-5ff0d9da73a0" providerId="ADAL" clId="{E64352B5-F0D7-55D7-BDA8-47CEA1D5C864}" dt="2025-12-23T07:16:11.221" v="1031" actId="20577"/>
        <pc:sldMkLst>
          <pc:docMk/>
          <pc:sldMk cId="0" sldId="272"/>
        </pc:sldMkLst>
      </pc:sldChg>
      <pc:sldChg chg="modNotesTx">
        <pc:chgData name="Ben Hanuka" userId="8fcfd652-4ae7-4605-9bfd-5ff0d9da73a0" providerId="ADAL" clId="{E64352B5-F0D7-55D7-BDA8-47CEA1D5C864}" dt="2025-12-23T07:16:14.754" v="1032" actId="20577"/>
        <pc:sldMkLst>
          <pc:docMk/>
          <pc:sldMk cId="0" sldId="273"/>
        </pc:sldMkLst>
      </pc:sldChg>
      <pc:sldChg chg="modNotesTx">
        <pc:chgData name="Ben Hanuka" userId="8fcfd652-4ae7-4605-9bfd-5ff0d9da73a0" providerId="ADAL" clId="{E64352B5-F0D7-55D7-BDA8-47CEA1D5C864}" dt="2025-12-23T07:16:25.557" v="1033" actId="20577"/>
        <pc:sldMkLst>
          <pc:docMk/>
          <pc:sldMk cId="0" sldId="276"/>
        </pc:sldMkLst>
      </pc:sldChg>
      <pc:sldChg chg="modNotesTx">
        <pc:chgData name="Ben Hanuka" userId="8fcfd652-4ae7-4605-9bfd-5ff0d9da73a0" providerId="ADAL" clId="{E64352B5-F0D7-55D7-BDA8-47CEA1D5C864}" dt="2025-12-23T07:15:15.316" v="1022" actId="20577"/>
        <pc:sldMkLst>
          <pc:docMk/>
          <pc:sldMk cId="0" sldId="281"/>
        </pc:sldMkLst>
      </pc:sldChg>
      <pc:sldChg chg="modNotesTx">
        <pc:chgData name="Ben Hanuka" userId="8fcfd652-4ae7-4605-9bfd-5ff0d9da73a0" providerId="ADAL" clId="{E64352B5-F0D7-55D7-BDA8-47CEA1D5C864}" dt="2025-12-23T07:15:41.217" v="1027" actId="20577"/>
        <pc:sldMkLst>
          <pc:docMk/>
          <pc:sldMk cId="0" sldId="289"/>
        </pc:sldMkLst>
      </pc:sldChg>
      <pc:sldChg chg="modNotesTx">
        <pc:chgData name="Ben Hanuka" userId="8fcfd652-4ae7-4605-9bfd-5ff0d9da73a0" providerId="ADAL" clId="{E64352B5-F0D7-55D7-BDA8-47CEA1D5C864}" dt="2025-12-23T07:16:34.724" v="1034" actId="20577"/>
        <pc:sldMkLst>
          <pc:docMk/>
          <pc:sldMk cId="0" sldId="292"/>
        </pc:sldMkLst>
      </pc:sldChg>
      <pc:sldChg chg="modNotesTx">
        <pc:chgData name="Ben Hanuka" userId="8fcfd652-4ae7-4605-9bfd-5ff0d9da73a0" providerId="ADAL" clId="{E64352B5-F0D7-55D7-BDA8-47CEA1D5C864}" dt="2025-12-23T07:16:44.723" v="1037" actId="20577"/>
        <pc:sldMkLst>
          <pc:docMk/>
          <pc:sldMk cId="0" sldId="296"/>
        </pc:sldMkLst>
      </pc:sldChg>
      <pc:sldChg chg="modNotesTx">
        <pc:chgData name="Ben Hanuka" userId="8fcfd652-4ae7-4605-9bfd-5ff0d9da73a0" providerId="ADAL" clId="{E64352B5-F0D7-55D7-BDA8-47CEA1D5C864}" dt="2025-12-23T07:14:46.372" v="1017" actId="20577"/>
        <pc:sldMkLst>
          <pc:docMk/>
          <pc:sldMk cId="0" sldId="303"/>
        </pc:sldMkLst>
      </pc:sldChg>
      <pc:sldChg chg="modAnim modNotesTx">
        <pc:chgData name="Ben Hanuka" userId="8fcfd652-4ae7-4605-9bfd-5ff0d9da73a0" providerId="ADAL" clId="{E64352B5-F0D7-55D7-BDA8-47CEA1D5C864}" dt="2025-12-23T07:14:51.108" v="1018" actId="20577"/>
        <pc:sldMkLst>
          <pc:docMk/>
          <pc:sldMk cId="0" sldId="304"/>
        </pc:sldMkLst>
      </pc:sldChg>
      <pc:sldChg chg="modNotesTx">
        <pc:chgData name="Ben Hanuka" userId="8fcfd652-4ae7-4605-9bfd-5ff0d9da73a0" providerId="ADAL" clId="{E64352B5-F0D7-55D7-BDA8-47CEA1D5C864}" dt="2025-12-23T07:16:02.515" v="1029" actId="20577"/>
        <pc:sldMkLst>
          <pc:docMk/>
          <pc:sldMk cId="0" sldId="306"/>
        </pc:sldMkLst>
      </pc:sldChg>
      <pc:sldChg chg="modNotesTx">
        <pc:chgData name="Ben Hanuka" userId="8fcfd652-4ae7-4605-9bfd-5ff0d9da73a0" providerId="ADAL" clId="{E64352B5-F0D7-55D7-BDA8-47CEA1D5C864}" dt="2025-12-23T07:14:59.570" v="1019" actId="20577"/>
        <pc:sldMkLst>
          <pc:docMk/>
          <pc:sldMk cId="1903252766" sldId="307"/>
        </pc:sldMkLst>
      </pc:sldChg>
      <pc:sldChg chg="modNotesTx">
        <pc:chgData name="Ben Hanuka" userId="8fcfd652-4ae7-4605-9bfd-5ff0d9da73a0" providerId="ADAL" clId="{E64352B5-F0D7-55D7-BDA8-47CEA1D5C864}" dt="2025-12-23T07:15:05.077" v="1020" actId="20577"/>
        <pc:sldMkLst>
          <pc:docMk/>
          <pc:sldMk cId="291345739" sldId="308"/>
        </pc:sldMkLst>
      </pc:sldChg>
      <pc:sldChg chg="modNotesTx">
        <pc:chgData name="Ben Hanuka" userId="8fcfd652-4ae7-4605-9bfd-5ff0d9da73a0" providerId="ADAL" clId="{E64352B5-F0D7-55D7-BDA8-47CEA1D5C864}" dt="2025-12-23T07:15:09.617" v="1021" actId="20577"/>
        <pc:sldMkLst>
          <pc:docMk/>
          <pc:sldMk cId="286816620" sldId="309"/>
        </pc:sldMkLst>
      </pc:sldChg>
      <pc:sldChg chg="modNotesTx">
        <pc:chgData name="Ben Hanuka" userId="8fcfd652-4ae7-4605-9bfd-5ff0d9da73a0" providerId="ADAL" clId="{E64352B5-F0D7-55D7-BDA8-47CEA1D5C864}" dt="2025-12-23T07:16:38.754" v="1035" actId="20577"/>
        <pc:sldMkLst>
          <pc:docMk/>
          <pc:sldMk cId="496739134" sldId="312"/>
        </pc:sldMkLst>
      </pc:sldChg>
      <pc:sldChg chg="modNotesTx">
        <pc:chgData name="Ben Hanuka" userId="8fcfd652-4ae7-4605-9bfd-5ff0d9da73a0" providerId="ADAL" clId="{E64352B5-F0D7-55D7-BDA8-47CEA1D5C864}" dt="2025-12-23T07:15:19.622" v="1023" actId="20577"/>
        <pc:sldMkLst>
          <pc:docMk/>
          <pc:sldMk cId="2290852702" sldId="313"/>
        </pc:sldMkLst>
      </pc:sldChg>
      <pc:sldChg chg="modNotesTx">
        <pc:chgData name="Ben Hanuka" userId="8fcfd652-4ae7-4605-9bfd-5ff0d9da73a0" providerId="ADAL" clId="{E64352B5-F0D7-55D7-BDA8-47CEA1D5C864}" dt="2025-12-23T07:16:53.844" v="1039" actId="20577"/>
        <pc:sldMkLst>
          <pc:docMk/>
          <pc:sldMk cId="3464947351" sldId="314"/>
        </pc:sldMkLst>
      </pc:sldChg>
      <pc:sldChg chg="modNotesTx">
        <pc:chgData name="Ben Hanuka" userId="8fcfd652-4ae7-4605-9bfd-5ff0d9da73a0" providerId="ADAL" clId="{E64352B5-F0D7-55D7-BDA8-47CEA1D5C864}" dt="2025-12-23T07:16:41.252" v="1036" actId="20577"/>
        <pc:sldMkLst>
          <pc:docMk/>
          <pc:sldMk cId="2914041574" sldId="329"/>
        </pc:sldMkLst>
      </pc:sldChg>
      <pc:sldChg chg="modNotesTx">
        <pc:chgData name="Ben Hanuka" userId="8fcfd652-4ae7-4605-9bfd-5ff0d9da73a0" providerId="ADAL" clId="{E64352B5-F0D7-55D7-BDA8-47CEA1D5C864}" dt="2025-12-23T07:16:51.436" v="1038" actId="20577"/>
        <pc:sldMkLst>
          <pc:docMk/>
          <pc:sldMk cId="2800892479" sldId="33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51275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pPr>
              <a:defRPr/>
            </a:pPr>
            <a:fld id="{D9D063A2-62E3-4BF4-8DD8-AD814F6FD930}" type="datetimeFigureOut">
              <a:rPr lang="he-IL"/>
              <a:pPr>
                <a:defRPr/>
              </a:pPr>
              <a:t>ג'.טבת.תשפ"ו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51275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pPr>
              <a:defRPr/>
            </a:pPr>
            <a:fld id="{17BE40D7-DF04-4EAF-88D6-20D13490714E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12127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51275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pPr>
              <a:defRPr/>
            </a:pPr>
            <a:fld id="{2EEE06BB-6BA1-4A62-9974-F8EAC4700EA5}" type="datetimeFigureOut">
              <a:rPr lang="he-IL"/>
              <a:pPr>
                <a:defRPr/>
              </a:pPr>
              <a:t>ג'.טבת.תשפ"ו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 noProof="0"/>
              <a:t>Click to edit Master text styles</a:t>
            </a:r>
          </a:p>
          <a:p>
            <a:pPr lvl="1"/>
            <a:r>
              <a:rPr lang="en-US" altLang="he-IL" noProof="0"/>
              <a:t>Second level</a:t>
            </a:r>
          </a:p>
          <a:p>
            <a:pPr lvl="2"/>
            <a:r>
              <a:rPr lang="en-US" altLang="he-IL" noProof="0"/>
              <a:t>Third level</a:t>
            </a:r>
          </a:p>
          <a:p>
            <a:pPr lvl="3"/>
            <a:r>
              <a:rPr lang="en-US" altLang="he-IL" noProof="0"/>
              <a:t>Fourth level</a:t>
            </a:r>
          </a:p>
          <a:p>
            <a:pPr lvl="4"/>
            <a:r>
              <a:rPr lang="en-US" altLang="he-IL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51275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pPr>
              <a:defRPr/>
            </a:pPr>
            <a:fld id="{5B57D39C-C09D-4673-A762-36D48DB5D715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288554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58B0CD-5217-4696-8B1B-E3D4DC7A5A5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4113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B9B9993-C5E7-4531-9CEB-CBAE63344565}" type="slidenum">
              <a:rPr lang="he-IL" altLang="he-IL" smtClean="0"/>
              <a:pPr/>
              <a:t>6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007859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7888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C493D22-1CE9-439E-BF20-E8CB37A9DE7F}" type="slidenum">
              <a:rPr lang="he-IL" altLang="he-IL" smtClean="0"/>
              <a:pPr/>
              <a:t>8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866216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C493D22-1CE9-439E-BF20-E8CB37A9DE7F}" type="slidenum">
              <a:rPr lang="he-IL" altLang="he-IL" smtClean="0"/>
              <a:pPr/>
              <a:t>9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9096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C493D22-1CE9-439E-BF20-E8CB37A9DE7F}" type="slidenum">
              <a:rPr lang="he-IL" altLang="he-IL" smtClean="0"/>
              <a:pPr/>
              <a:t>10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292467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58B0CD-5217-4696-8B1B-E3D4DC7A5A53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41134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2439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 rtl="0" eaLnBrk="0" fontAlgn="base" hangingPunct="0">
              <a:spcBef>
                <a:spcPct val="30000"/>
              </a:spcBef>
              <a:spcAft>
                <a:spcPct val="0"/>
              </a:spcAft>
              <a:buFontTx/>
              <a:buChar char="-"/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4820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39868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0507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7752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5637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46203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endParaRPr lang="en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i="0">
                    <a:latin typeface="Cambria Math" panose="02040503050406030204" pitchFamily="18" charset="0"/>
                  </a:rPr>
                  <a:t>𝑎⊕𝑏=𝑏⊕𝑎</a:t>
                </a:r>
                <a:endParaRPr lang="en-US" b="0" dirty="0"/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𝑎⊕𝑎=0</a:t>
                </a:r>
                <a:endParaRPr lang="en-US" b="0" dirty="0"/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𝑎⊕𝑎 ̅=1</a:t>
                </a:r>
                <a:endParaRPr lang="en-US" b="0" dirty="0"/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𝑎⊕0=𝑎</a:t>
                </a:r>
                <a:endParaRPr lang="en-US" b="0" dirty="0"/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𝑎⊕1=𝑎 ̅</a:t>
                </a:r>
                <a:endParaRPr lang="en-US" b="0" dirty="0"/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𝑎⊕𝑏⊕𝑐=(𝑎⊕𝑏)⊕𝑐=𝑎⊕(𝑏⊕𝑐)</a:t>
                </a:r>
                <a:endParaRPr lang="en-IL" dirty="0"/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𝑎(𝑏⊕𝑐)=𝑎𝑏⊕𝑎𝑐</a:t>
                </a:r>
                <a:endParaRPr lang="en-US" b="0" dirty="0"/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𝑖𝑓 𝑎⊕𝑐=𝑎⊕𝑏⇒𝑎=𝑏.    𝑝𝑟𝑜𝑜𝑓:𝑎⊕𝑐⊕𝑐=𝑏⊕𝑐⊕𝑐 →𝑎⊕0=𝑏⊕0→𝑎=𝑏</a:t>
                </a:r>
                <a:endParaRPr lang="en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4741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7820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942924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7297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58B0CD-5217-4696-8B1B-E3D4DC7A5A53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41134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77335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2410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29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10832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9827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4BD28-8F65-0397-C0E2-ABDE1EB38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8DAB13DB-4FEA-8840-684C-1762C1863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4779EE4-9E55-762B-1524-AAEF4B388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066B778-789F-9B8C-B697-710EC2B8F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33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00264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34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25086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6EE6-AE7B-52A6-50EF-A17B3F3CD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0BD9CBD-946E-17C6-833D-D69DE6045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26B2B1C-CF91-2343-0102-C898AC7FA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249DC66-BA11-4327-53E7-A11197AA7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35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37571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7D35-AE50-17A6-B07A-3A789AD6D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E5A688AA-9DA6-5DF8-A6C7-F2E55CFD7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89DBDC-52C3-5BB7-84CD-01B6C811E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42B1601-9B00-6020-24F2-C518F7483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36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9256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37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98085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2FC76-F504-4281-19A1-616D95C2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90D099D-46C8-C0A9-5D53-ED126253D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43A0319-94C5-41C4-1065-751946305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116EFE-98B5-A651-28BB-192FA3ACE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38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84530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1DD6C-6E1F-C996-AF3E-33705B503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179D93D4-E824-D578-33FD-ED4918F8F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D8B5F72D-2E59-D691-8650-1BFBB2522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45B51F7-5398-3E02-B7F2-CD4298F3A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39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19687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40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9423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41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39874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5603-1FD6-414B-BF08-20CB8ADF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CBEB377-29EA-EF05-7222-1C5AB1BBC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B90CE536-AAD5-40AA-AE80-1A366F2A9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1646272-6CF1-0EED-793D-BB050A17B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42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49327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43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25024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7D39C-C09D-4673-A762-36D48DB5D715}" type="slidenum">
              <a:rPr lang="he-IL" smtClean="0"/>
              <a:pPr>
                <a:defRPr/>
              </a:pPr>
              <a:t>44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237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cxnSp>
        <p:nvCxnSpPr>
          <p:cNvPr id="6" name="Straight Connector 5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32233-0403-4BF4-B8A9-C2D7F7F87BC3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796613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F3FC0-5BEA-4C74-8F43-4EC4D63662E3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65214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4D6AA-36D6-4284-A8E4-593298D81018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421785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03D85B-77A2-4512-AA70-9DC3BF89F685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74388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F38CD-DECE-488F-B590-E1EFC9BF9488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132566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FCD51-5FEB-42EA-8FB9-8BEC7C35AC33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90823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3" name="Rectangle 2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62C4F-F9D6-4211-865A-4C41AF494400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406352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3030538" y="0"/>
            <a:ext cx="47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349250" y="6459538"/>
            <a:ext cx="1963738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53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79C936D-317A-4CDA-AFAB-DAACFACDAC43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111355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953000"/>
            <a:ext cx="9142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4914900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BA2B3-778B-4592-98E6-49642D9D23C9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843311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1FFEB-BC91-4905-810D-EE5D37CE35CA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00314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CC9C8-E1CE-43CC-A634-91EE930C978A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424960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text styles</a:t>
            </a:r>
          </a:p>
          <a:p>
            <a:pPr lvl="1"/>
            <a:r>
              <a:rPr lang="en-US" altLang="he-IL"/>
              <a:t>Second level</a:t>
            </a:r>
          </a:p>
          <a:p>
            <a:pPr lvl="2"/>
            <a:r>
              <a:rPr lang="en-US" altLang="he-IL"/>
              <a:t>Third level</a:t>
            </a:r>
          </a:p>
          <a:p>
            <a:pPr lvl="3"/>
            <a:r>
              <a:rPr lang="en-US" altLang="he-IL"/>
              <a:t>Fourth level</a:t>
            </a:r>
          </a:p>
          <a:p>
            <a:pPr lvl="4"/>
            <a:r>
              <a:rPr lang="en-US" altLang="he-IL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DDEA7FB-3699-4661-9B6B-241ED03976A5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350" y="1738313"/>
            <a:ext cx="74755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1" r:id="rId2"/>
    <p:sldLayoutId id="2147483837" r:id="rId3"/>
    <p:sldLayoutId id="2147483832" r:id="rId4"/>
    <p:sldLayoutId id="2147483833" r:id="rId5"/>
    <p:sldLayoutId id="2147483834" r:id="rId6"/>
    <p:sldLayoutId id="2147483838" r:id="rId7"/>
    <p:sldLayoutId id="2147483839" r:id="rId8"/>
    <p:sldLayoutId id="2147483840" r:id="rId9"/>
    <p:sldLayoutId id="2147483835" r:id="rId10"/>
    <p:sldLayoutId id="2147483841" r:id="rId11"/>
  </p:sldLayoutIdLst>
  <p:txStyles>
    <p:titleStyle>
      <a:lvl1pPr algn="l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1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1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1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1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r" rtl="1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r" rtl="1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r" rtl="1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r" rtl="1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r" rtl="1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5.emf"/><Relationship Id="rId7" Type="http://schemas.openxmlformats.org/officeDocument/2006/relationships/oleObject" Target="../embeddings/oleObject10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wmf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95300" y="947738"/>
            <a:ext cx="8153400" cy="54102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תרגול </a:t>
            </a:r>
            <a:r>
              <a:rPr lang="en-US" altLang="he-IL" sz="600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b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אלגברה בוליאנית</a:t>
            </a:r>
            <a:b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 מיתוג</a:t>
            </a:r>
            <a:b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מערכת פעולות שלמה</a:t>
            </a:r>
            <a:b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he-IL" altLang="he-IL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altLang="he-IL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119063" y="5913438"/>
            <a:ext cx="410785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Ben Hanuka, 2025, based on Maroun Tork</a:t>
            </a:r>
            <a:endParaRPr lang="he-IL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שבוע שעבר (תזכורת)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he-IL" sz="2400" dirty="0"/>
              <a:t> הגדרות – קוד, מרחק קוד, מרחק </a:t>
            </a:r>
            <a:r>
              <a:rPr lang="he-IL" sz="2400" dirty="0" err="1"/>
              <a:t>המינג</a:t>
            </a:r>
            <a:endParaRPr lang="he-IL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 קודים לגילוי שגיאות – </a:t>
            </a:r>
            <a:r>
              <a:rPr lang="en-US" sz="2400" dirty="0"/>
              <a:t>Error Correction Codes (ECC)</a:t>
            </a:r>
            <a:endParaRPr lang="he-IL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 שפת </a:t>
            </a:r>
            <a:r>
              <a:rPr lang="he-IL" sz="2400" dirty="0" err="1"/>
              <a:t>Assembly</a:t>
            </a:r>
            <a:endParaRPr lang="he-IL" sz="2400" dirty="0"/>
          </a:p>
          <a:p>
            <a:pPr marL="0" indent="0" algn="l" rtl="0">
              <a:buNone/>
            </a:pPr>
            <a:endParaRPr lang="en-US" sz="2400" dirty="0"/>
          </a:p>
          <a:p>
            <a:pPr algn="l" rtl="0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/>
            <a:endParaRPr lang="he-IL" sz="2400" dirty="0"/>
          </a:p>
          <a:p>
            <a:endParaRPr lang="he-IL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0409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C9DAF3-3365-7C17-4A3B-7CB1ECC56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נושאים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8620D5D-90E1-2E47-B11A-90CC23F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</a:t>
            </a:r>
            <a:r>
              <a:rPr lang="en-US" sz="2400" dirty="0"/>
              <a:t> </a:t>
            </a:r>
            <a:r>
              <a:rPr lang="he-IL" sz="2400" dirty="0"/>
              <a:t>אלגברה בוליאנית 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פונקציות מיתוג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 err="1"/>
              <a:t>ליטרל</a:t>
            </a:r>
            <a:endParaRPr lang="he-IL" sz="2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 err="1"/>
              <a:t>Minterm</a:t>
            </a:r>
            <a:endParaRPr lang="he-IL" sz="2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 err="1"/>
              <a:t>Maxterm</a:t>
            </a:r>
            <a:endParaRPr lang="he-IL" sz="2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/>
              <a:t>צורה קנונית של סכום מכפלות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/>
              <a:t>צורה קנונית של מכפלת סכומים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מערכת פעולות שלמה וחצי שלמה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תרגילים</a:t>
            </a:r>
            <a:endParaRPr lang="en-US" sz="2400" dirty="0"/>
          </a:p>
          <a:p>
            <a:pPr algn="l" rtl="0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 rtl="0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0028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A58D23A-8779-4EE6-BA7A-964A0702C5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rtl="1"/>
            <a:r>
              <a:rPr lang="he-IL" altLang="en-US" dirty="0"/>
              <a:t>אלגברה בוליאנית</a:t>
            </a:r>
            <a:endParaRPr lang="en-US" altLang="en-US" dirty="0"/>
          </a:p>
        </p:txBody>
      </p:sp>
      <p:sp>
        <p:nvSpPr>
          <p:cNvPr id="31748" name="Slide Number Placeholder 1">
            <a:extLst>
              <a:ext uri="{FF2B5EF4-FFF2-40B4-BE49-F238E27FC236}">
                <a16:creationId xmlns:a16="http://schemas.microsoft.com/office/drawing/2014/main" id="{9170B791-DC86-4C95-8F61-D79A5E75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8C1B69-4A13-423D-9F70-D234DE124ED2}" type="slidenum">
              <a:rPr lang="en-US" altLang="en-US" sz="105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4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7E8BC76-1265-4F8D-9E39-EF7D1F981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en-US" dirty="0"/>
              <a:t>מוטיבציה</a:t>
            </a:r>
            <a:endParaRPr lang="en-US" altLang="en-US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625941B-41EF-427F-A5A2-86275674F8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altLang="en-US" sz="2100" dirty="0">
                <a:solidFill>
                  <a:schemeClr val="tx1"/>
                </a:solidFill>
              </a:rPr>
              <a:t>למדנו שהמחשב ״סופר״ בבינארית. אבל אנחנו רוצים גם לעשות חשבון, להריץ תוכנות, לקבל החלטות </a:t>
            </a:r>
            <a:r>
              <a:rPr lang="he-IL" altLang="en-US" sz="2100" dirty="0" err="1">
                <a:solidFill>
                  <a:schemeClr val="tx1"/>
                </a:solidFill>
              </a:rPr>
              <a:t>וכ׳ו</a:t>
            </a:r>
            <a:r>
              <a:rPr lang="he-IL" altLang="en-US" sz="2100" dirty="0">
                <a:solidFill>
                  <a:schemeClr val="tx1"/>
                </a:solidFill>
              </a:rPr>
              <a:t>.</a:t>
            </a: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r>
              <a:rPr lang="he-IL" altLang="en-US" sz="2100" dirty="0">
                <a:solidFill>
                  <a:schemeClr val="tx1"/>
                </a:solidFill>
              </a:rPr>
              <a:t>בשביל זה צריך לתת למחשב סט של פעולות שאפשר להפעיל על משתנים בוליאניים (בינאריים...)</a:t>
            </a:r>
            <a:endParaRPr lang="en-US" altLang="en-US" sz="2100" dirty="0">
              <a:solidFill>
                <a:schemeClr val="tx1"/>
              </a:solidFill>
            </a:endParaRPr>
          </a:p>
        </p:txBody>
      </p:sp>
      <p:sp>
        <p:nvSpPr>
          <p:cNvPr id="32772" name="Slide Number Placeholder 1">
            <a:extLst>
              <a:ext uri="{FF2B5EF4-FFF2-40B4-BE49-F238E27FC236}">
                <a16:creationId xmlns:a16="http://schemas.microsoft.com/office/drawing/2014/main" id="{1D5ECE81-4C6F-489A-AF08-721C28C0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7D973A-81BB-4F55-9590-2E72D8CEA77D}" type="slidenum">
              <a:rPr lang="en-US" altLang="en-US" sz="105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050">
              <a:solidFill>
                <a:srgbClr val="000000"/>
              </a:solidFill>
            </a:endParaRPr>
          </a:p>
        </p:txBody>
      </p:sp>
      <p:pic>
        <p:nvPicPr>
          <p:cNvPr id="1028" name="Picture 4" descr="With halloween around the corner, I feel it's time we practise our boolean  logic : r/ProgrammerHumor">
            <a:extLst>
              <a:ext uri="{FF2B5EF4-FFF2-40B4-BE49-F238E27FC236}">
                <a16:creationId xmlns:a16="http://schemas.microsoft.com/office/drawing/2014/main" id="{252355B9-4D92-3A83-0FE3-EA3F32DEC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2438400"/>
            <a:ext cx="5105400" cy="253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62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אלגברה בוליאנית</a:t>
            </a:r>
            <a:r>
              <a:rPr lang="en-US" altLang="he-IL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he-IL" altLang="he-IL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זהויות שימושיות</a:t>
            </a:r>
            <a:endParaRPr lang="en-US" altLang="he-IL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714500" y="1828801"/>
            <a:ext cx="2378075" cy="4022725"/>
          </a:xfr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p:sp>
        <p:nvSpPr>
          <p:cNvPr id="4" name="Content Placeholder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486400" y="1828800"/>
            <a:ext cx="2378075" cy="4022725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p:sp>
        <p:nvSpPr>
          <p:cNvPr id="2" name="Rectangle 1"/>
          <p:cNvSpPr/>
          <p:nvPr/>
        </p:nvSpPr>
        <p:spPr>
          <a:xfrm>
            <a:off x="2133600" y="4630738"/>
            <a:ext cx="942975" cy="8302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 i="1" dirty="0">
                <a:solidFill>
                  <a:srgbClr val="404040"/>
                </a:solidFill>
                <a:latin typeface="+mn-lt"/>
                <a:cs typeface="+mn-cs"/>
              </a:rPr>
              <a:t>OR</a:t>
            </a:r>
            <a:endParaRPr lang="he-IL" sz="4800" b="1" i="1" dirty="0">
              <a:solidFill>
                <a:srgbClr val="404040"/>
              </a:solidFill>
              <a:latin typeface="+mn-lt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68975" y="4630738"/>
            <a:ext cx="1349375" cy="8302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 i="1" dirty="0">
                <a:solidFill>
                  <a:srgbClr val="404040"/>
                </a:solidFill>
                <a:latin typeface="+mn-lt"/>
                <a:cs typeface="+mn-cs"/>
              </a:rPr>
              <a:t>AND</a:t>
            </a:r>
            <a:endParaRPr lang="he-IL" sz="4800" b="1" i="1" dirty="0">
              <a:solidFill>
                <a:srgbClr val="404040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אלגברה בוליאנית</a:t>
            </a:r>
            <a:r>
              <a:rPr lang="en-US" altLang="he-IL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he-IL" altLang="he-IL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זהויות שימושיות</a:t>
            </a:r>
            <a:endParaRPr lang="en-US" altLang="he-IL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Content Placeholder 1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0">
            <a:blip r:embed="rId3"/>
            <a:stretch>
              <a:fillRect l="-1698"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אלגברה בוליאנית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3200400"/>
            <a:ext cx="7239000" cy="2362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sp>
        <p:nvSpPr>
          <p:cNvPr id="6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5800" y="5867400"/>
            <a:ext cx="8382000" cy="400110"/>
          </a:xfrm>
          <a:prstGeom prst="rect">
            <a:avLst/>
          </a:prstGeom>
          <a:blipFill rotWithShape="0">
            <a:blip r:embed="rId3"/>
            <a:stretch>
              <a:fillRect l="-800" t="-9231" b="-26154"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 rtl="0"/>
                <a:r>
                  <a:rPr lang="en-US" sz="2800" b="1" dirty="0"/>
                  <a:t>Minimize the following Boolean expression:</a:t>
                </a:r>
                <a:endParaRPr lang="en-US" sz="2800" b="1" i="1" dirty="0"/>
              </a:p>
              <a:p>
                <a:pPr algn="l" rtl="0"/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sz="2800" b="1" i="1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𝑨𝑨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limLow>
                      <m:limLow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groupChr>
                      </m:e>
                      <m:li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𝑨𝑨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lim>
                    </m:limLow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d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limLow>
                      <m:limLow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groupChr>
                      </m:e>
                      <m:lim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lim>
                    </m:limLow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limLow>
                      <m:limLow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groupChr>
                      </m:e>
                      <m:li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lim>
                    </m:limLow>
                    <m:borderBox>
                      <m:borderBox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borderBox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4"/>
                <a:stretch>
                  <a:fillRect l="-2102" t="-2576" b="-15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325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אלגברה בוליאנית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3200400"/>
            <a:ext cx="7239000" cy="2362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822324" y="1846263"/>
                <a:ext cx="7788275" cy="4022725"/>
              </a:xfrm>
            </p:spPr>
            <p:txBody>
              <a:bodyPr/>
              <a:lstStyle/>
              <a:p>
                <a:pPr algn="l" rtl="0"/>
                <a:r>
                  <a:rPr lang="en-US" sz="2800" b="1" dirty="0"/>
                  <a:t>Minimize the following Boolean expression:</a:t>
                </a:r>
                <a:endParaRPr lang="en-US" sz="2800" b="1" i="1" dirty="0"/>
              </a:p>
              <a:p>
                <a:pPr marL="200025" lvl="1" indent="0" algn="l" rtl="0">
                  <a:buNone/>
                </a:pPr>
                <a:endParaRPr lang="en-US" sz="2800" b="1" i="1" dirty="0"/>
              </a:p>
              <a:p>
                <a:pPr marL="200025" lvl="1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  <m:r>
                        <a:rPr lang="en-US" sz="2800" b="1" i="1">
                          <a:latin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𝑩</m:t>
                      </m:r>
                      <m:acc>
                        <m:accPr>
                          <m:chr m:val="̅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  <m:r>
                        <a:rPr lang="en-US" sz="2800" b="1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𝑨𝑩</m:t>
                      </m:r>
                      <m:acc>
                        <m:accPr>
                          <m:chr m:val="̅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  <m:r>
                        <a:rPr lang="en-US" sz="2800" b="1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̅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  <m:r>
                        <a:rPr lang="en-US" sz="2800" b="1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𝑨𝑩𝑪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̅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sz="2800" b="1" i="1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𝑨𝑪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d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borderBox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324" y="1846263"/>
                <a:ext cx="7788275" cy="4022725"/>
              </a:xfrm>
              <a:blipFill rotWithShape="0">
                <a:blip r:embed="rId3"/>
                <a:stretch>
                  <a:fillRect l="-2036" t="-257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34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אלגברה בוליאנית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3200400"/>
            <a:ext cx="7239000" cy="2362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822324" y="1846263"/>
                <a:ext cx="7788275" cy="4022725"/>
              </a:xfrm>
            </p:spPr>
            <p:txBody>
              <a:bodyPr/>
              <a:lstStyle/>
              <a:p>
                <a:pPr algn="l" rtl="0"/>
                <a:r>
                  <a:rPr lang="en-US" sz="2800" b="1" dirty="0"/>
                  <a:t>Minimize the following Boolean expression:</a:t>
                </a:r>
                <a:endParaRPr lang="en-US" sz="2800" b="1" i="1" dirty="0"/>
              </a:p>
              <a:p>
                <a:pPr algn="l" rt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𝑨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</m:acc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acc>
                              <m:accPr>
                                <m:chr m:val="̅"/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</m:acc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𝑩𝑪</m:t>
                            </m:r>
                          </m:e>
                        </m:d>
                      </m:e>
                    </m:acc>
                  </m:oMath>
                </a14:m>
                <a:endParaRPr lang="en-US" sz="2800" b="1" i="1" dirty="0"/>
              </a:p>
              <a:p>
                <a:pPr algn="l" rtl="0"/>
                <a14:m>
                  <m:oMath xmlns:m="http://schemas.openxmlformats.org/officeDocument/2006/math">
                    <m:limLow>
                      <m:limLow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groupChr>
                      </m:e>
                      <m:li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𝐃𝐞𝐌𝐨𝐫𝐠𝐚𝐧</m:t>
                        </m:r>
                      </m:lim>
                    </m:limLow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limLow>
                      <m:limLow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groupChr>
                      </m:e>
                      <m:li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𝐃𝐞𝐌𝐨𝐫𝐠𝐚𝐧</m:t>
                        </m:r>
                      </m:lim>
                    </m:limLow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acc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∙ 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limLow>
                      <m:limLow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groupChr>
                      </m:e>
                      <m:li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𝐃𝐞𝐌𝐨𝐫𝐠𝐚𝐧</m:t>
                        </m:r>
                      </m:lim>
                    </m:limLow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acc>
                      </m:e>
                    </m:d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endParaRPr lang="en-US" b="1" i="1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borderBox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324" y="1846263"/>
                <a:ext cx="7788275" cy="4022725"/>
              </a:xfrm>
              <a:blipFill rotWithShape="0">
                <a:blip r:embed="rId3"/>
                <a:stretch>
                  <a:fillRect l="-2036" t="-2576" b="-318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81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A58D23A-8779-4EE6-BA7A-964A0702C5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rtl="1"/>
            <a:r>
              <a:rPr lang="he-IL" altLang="en-US" dirty="0"/>
              <a:t>פונקציות</a:t>
            </a:r>
            <a:endParaRPr lang="en-US" altLang="en-US" dirty="0"/>
          </a:p>
        </p:txBody>
      </p:sp>
      <p:sp>
        <p:nvSpPr>
          <p:cNvPr id="31748" name="Slide Number Placeholder 1">
            <a:extLst>
              <a:ext uri="{FF2B5EF4-FFF2-40B4-BE49-F238E27FC236}">
                <a16:creationId xmlns:a16="http://schemas.microsoft.com/office/drawing/2014/main" id="{9170B791-DC86-4C95-8F61-D79A5E75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8C1B69-4A13-423D-9F70-D234DE124ED2}" type="slidenum">
              <a:rPr lang="en-US" altLang="en-US" sz="105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0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011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 - הגדרות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46263"/>
            <a:ext cx="7832725" cy="4022725"/>
          </a:xfrm>
        </p:spPr>
        <p:txBody>
          <a:bodyPr/>
          <a:lstStyle/>
          <a:p>
            <a:pPr eaLnBrk="1" hangingPunct="1"/>
            <a:r>
              <a:rPr lang="he-IL" altLang="he-IL" sz="2400" dirty="0"/>
              <a:t>פונקציה לוגית                     מתאימה ערך (1 או 0) לכל אחד מ-</a:t>
            </a:r>
            <a:r>
              <a:rPr lang="en-US" altLang="he-IL" sz="2400" dirty="0"/>
              <a:t>2</a:t>
            </a:r>
            <a:r>
              <a:rPr lang="en-US" altLang="he-IL" sz="2400" baseline="30000" dirty="0"/>
              <a:t>n</a:t>
            </a:r>
            <a:r>
              <a:rPr lang="he-IL" altLang="he-IL" sz="2400" baseline="30000" dirty="0"/>
              <a:t> </a:t>
            </a:r>
            <a:r>
              <a:rPr lang="he-IL" altLang="he-IL" sz="2400" dirty="0"/>
              <a:t>הצרופים של המשתנים שלה</a:t>
            </a:r>
            <a:endParaRPr lang="en-US" altLang="he-IL" sz="2400" dirty="0"/>
          </a:p>
          <a:p>
            <a:pPr eaLnBrk="1" hangingPunct="1"/>
            <a:r>
              <a:rPr lang="he-IL" altLang="he-IL" sz="2400" dirty="0"/>
              <a:t>למשל:</a:t>
            </a:r>
            <a:endParaRPr lang="en-US" altLang="he-IL" sz="2400" dirty="0"/>
          </a:p>
          <a:p>
            <a:pPr eaLnBrk="1" hangingPunct="1"/>
            <a:endParaRPr lang="he-IL" altLang="he-IL" sz="2400" dirty="0"/>
          </a:p>
          <a:p>
            <a:pPr eaLnBrk="1" hangingPunct="1"/>
            <a:endParaRPr lang="he-IL" altLang="he-IL" sz="2400" dirty="0"/>
          </a:p>
          <a:p>
            <a:pPr eaLnBrk="1" hangingPunct="1"/>
            <a:r>
              <a:rPr lang="he-IL" altLang="he-IL" sz="2400" dirty="0"/>
              <a:t>קיימות         פונקציות שונות ב-</a:t>
            </a:r>
            <a:r>
              <a:rPr lang="en-US" altLang="he-IL" sz="2400" dirty="0"/>
              <a:t>n</a:t>
            </a:r>
            <a:r>
              <a:rPr lang="he-IL" altLang="he-IL" sz="2400" dirty="0"/>
              <a:t> משתנים</a:t>
            </a: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5095875" y="1789113"/>
          <a:ext cx="1447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48975" imgH="253890" progId="Equation.DSMT4">
                  <p:embed/>
                </p:oleObj>
              </mc:Choice>
              <mc:Fallback>
                <p:oleObj name="Equation" r:id="rId3" imgW="748975" imgH="253890" progId="Equation.DSMT4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5" y="1789113"/>
                        <a:ext cx="14478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6"/>
          <p:cNvGraphicFramePr>
            <a:graphicFrameLocks noChangeAspect="1"/>
          </p:cNvGraphicFramePr>
          <p:nvPr/>
        </p:nvGraphicFramePr>
        <p:xfrm>
          <a:off x="5819775" y="2667000"/>
          <a:ext cx="1524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99753" imgH="253890" progId="Equation.DSMT4">
                  <p:embed/>
                </p:oleObj>
              </mc:Choice>
              <mc:Fallback>
                <p:oleObj name="Equation" r:id="rId5" imgW="799753" imgH="253890" progId="Equation.DSMT4">
                  <p:embed/>
                  <p:pic>
                    <p:nvPicPr>
                      <p:cNvPr id="2048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775" y="2667000"/>
                        <a:ext cx="1524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6934200" y="4038600"/>
          <a:ext cx="5143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619" imgH="215619" progId="Equation.DSMT4">
                  <p:embed/>
                </p:oleObj>
              </mc:Choice>
              <mc:Fallback>
                <p:oleObj name="Equation" r:id="rId7" imgW="215619" imgH="215619" progId="Equation.DSMT4">
                  <p:embed/>
                  <p:pic>
                    <p:nvPicPr>
                      <p:cNvPr id="41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038600"/>
                        <a:ext cx="5143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8B588-7991-E118-F44C-23B2C52E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6AEA1E2-F8A4-6271-62B7-49977A545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הגדרות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FE9B296-56EB-1B4C-A7E6-6A14F07D6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25" y="1846263"/>
            <a:ext cx="7543800" cy="4249737"/>
          </a:xfrm>
        </p:spPr>
        <p:txBody>
          <a:bodyPr/>
          <a:lstStyle/>
          <a:p>
            <a:pPr marL="0" indent="0">
              <a:buNone/>
            </a:pPr>
            <a:r>
              <a:rPr lang="he-IL" b="1" u="sng" dirty="0" err="1"/>
              <a:t>ליטרל</a:t>
            </a:r>
            <a:r>
              <a:rPr lang="he-IL" dirty="0"/>
              <a:t> - משתנה</a:t>
            </a:r>
            <a:endParaRPr lang="he-IL" b="1" u="sng" dirty="0"/>
          </a:p>
          <a:p>
            <a:pPr marL="0" indent="0">
              <a:buNone/>
            </a:pPr>
            <a:r>
              <a:rPr lang="en-US" b="1" u="sng" dirty="0" err="1"/>
              <a:t>Minterm</a:t>
            </a:r>
            <a:r>
              <a:rPr lang="he-IL" b="1" u="sng" dirty="0"/>
              <a:t>-</a:t>
            </a:r>
            <a:r>
              <a:rPr lang="he-IL" dirty="0"/>
              <a:t> מכפלה המכילה את כל </a:t>
            </a:r>
            <a:r>
              <a:rPr lang="en-US" dirty="0"/>
              <a:t>n</a:t>
            </a:r>
            <a:r>
              <a:rPr lang="he-IL" dirty="0"/>
              <a:t> </a:t>
            </a:r>
            <a:r>
              <a:rPr lang="he-IL" dirty="0" err="1"/>
              <a:t>הליטרלים</a:t>
            </a:r>
            <a:r>
              <a:rPr lang="he-IL" dirty="0"/>
              <a:t> המקבלת את הערך 1 רק עבור צירוף אחד של ערכי </a:t>
            </a:r>
            <a:r>
              <a:rPr lang="he-IL" dirty="0" err="1"/>
              <a:t>הליטרלים</a:t>
            </a:r>
            <a:r>
              <a:rPr lang="he-IL" dirty="0"/>
              <a:t>.</a:t>
            </a:r>
          </a:p>
          <a:p>
            <a:pPr marL="0" indent="0">
              <a:buNone/>
            </a:pPr>
            <a:r>
              <a:rPr lang="he-IL" b="1" u="sng" dirty="0"/>
              <a:t>צורה קנונית של סכום מכפלות -</a:t>
            </a:r>
            <a:r>
              <a:rPr lang="he-IL" dirty="0"/>
              <a:t> סכום כל המכפלות (</a:t>
            </a:r>
            <a:r>
              <a:rPr lang="en-US" dirty="0" err="1"/>
              <a:t>minterms</a:t>
            </a:r>
            <a:r>
              <a:rPr lang="he-IL" dirty="0"/>
              <a:t>) המתאימות לשורות בטבלת האמת עבורן הפונקציה מקבלת 1. הערה: הצורה הקנונית אינה בהכרח הצורה המצומצמת או המיטבית ביותר.</a:t>
            </a:r>
          </a:p>
          <a:p>
            <a:pPr marL="0" indent="0">
              <a:buNone/>
            </a:pPr>
            <a:r>
              <a:rPr lang="en-US" b="1" u="sng" dirty="0"/>
              <a:t>Maxterm</a:t>
            </a:r>
            <a:r>
              <a:rPr lang="he-IL" b="1" u="sng" dirty="0"/>
              <a:t>-</a:t>
            </a:r>
            <a:r>
              <a:rPr lang="he-IL" dirty="0"/>
              <a:t> סכום של </a:t>
            </a:r>
            <a:r>
              <a:rPr lang="en-US" dirty="0"/>
              <a:t>n</a:t>
            </a:r>
            <a:r>
              <a:rPr lang="he-IL" dirty="0"/>
              <a:t> </a:t>
            </a:r>
            <a:r>
              <a:rPr lang="he-IL" dirty="0" err="1"/>
              <a:t>הליטרלים</a:t>
            </a:r>
            <a:r>
              <a:rPr lang="he-IL" dirty="0"/>
              <a:t> המקבלים את הערך 0 רק עבור צירוף אחד של ערכי </a:t>
            </a:r>
            <a:r>
              <a:rPr lang="he-IL" dirty="0" err="1"/>
              <a:t>הליטרלים</a:t>
            </a:r>
            <a:r>
              <a:rPr lang="he-IL" dirty="0"/>
              <a:t>.</a:t>
            </a:r>
          </a:p>
          <a:p>
            <a:pPr marL="0" indent="0">
              <a:buNone/>
            </a:pPr>
            <a:r>
              <a:rPr lang="he-IL" b="1" u="sng" dirty="0"/>
              <a:t>צורה קנונית של מכפלת סכומים –</a:t>
            </a:r>
            <a:r>
              <a:rPr lang="he-IL" dirty="0"/>
              <a:t> מכפלת כל הסכומים (</a:t>
            </a:r>
            <a:r>
              <a:rPr lang="en-US" dirty="0"/>
              <a:t>maxterm</a:t>
            </a:r>
            <a:r>
              <a:rPr lang="he-IL" dirty="0"/>
              <a:t>) המתאימים לשורות בטבלת האמת עבורן הפונקציה מקבלת 0.</a:t>
            </a:r>
            <a:endParaRPr lang="he-IL" b="1" u="sng" dirty="0"/>
          </a:p>
          <a:p>
            <a:pPr marL="0" indent="0">
              <a:buNone/>
            </a:pPr>
            <a:endParaRPr lang="he-IL" b="1" u="sng" dirty="0"/>
          </a:p>
        </p:txBody>
      </p:sp>
    </p:spTree>
    <p:extLst>
      <p:ext uri="{BB962C8B-B14F-4D97-AF65-F5344CB8AC3E}">
        <p14:creationId xmlns:p14="http://schemas.microsoft.com/office/powerpoint/2010/main" val="229085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e-IL" altLang="he-IL" sz="3200"/>
              <a:t>ארבע דרכים עיקריות לייצוג פונקציה :</a:t>
            </a:r>
          </a:p>
          <a:p>
            <a:pPr lvl="1" eaLnBrk="1" hangingPunct="1"/>
            <a:r>
              <a:rPr lang="he-IL" altLang="he-IL" sz="2800"/>
              <a:t>1. טבלת אמת</a:t>
            </a:r>
          </a:p>
          <a:p>
            <a:pPr lvl="1" eaLnBrk="1" hangingPunct="1"/>
            <a:r>
              <a:rPr lang="he-IL" altLang="he-IL" sz="2800"/>
              <a:t>2. סכום מכפלות (</a:t>
            </a:r>
            <a:r>
              <a:rPr lang="en-US" altLang="he-IL" sz="2800"/>
              <a:t>minterm</a:t>
            </a:r>
            <a:r>
              <a:rPr lang="he-IL" altLang="he-IL" sz="2800"/>
              <a:t>)</a:t>
            </a:r>
          </a:p>
          <a:p>
            <a:pPr lvl="1" eaLnBrk="1" hangingPunct="1"/>
            <a:r>
              <a:rPr lang="he-IL" altLang="he-IL" sz="2800"/>
              <a:t>3. מכפלת סכומים (</a:t>
            </a:r>
            <a:r>
              <a:rPr lang="en-US" altLang="he-IL" sz="2800"/>
              <a:t>maxterm</a:t>
            </a:r>
            <a:r>
              <a:rPr lang="he-IL" altLang="he-IL" sz="2800"/>
              <a:t>)</a:t>
            </a:r>
          </a:p>
          <a:p>
            <a:pPr lvl="1" eaLnBrk="1" hangingPunct="1"/>
            <a:r>
              <a:rPr lang="he-IL" altLang="he-IL" sz="2800"/>
              <a:t>4. דיאגרמת מעגל לוגי</a:t>
            </a:r>
            <a:endParaRPr lang="en-US" altLang="he-IL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פונקציות: 1. טבלת אמת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45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304800" y="1752600"/>
            <a:ext cx="8724900" cy="838200"/>
          </a:xfrm>
          <a:blipFill rotWithShape="0">
            <a:blip r:embed="rId3"/>
            <a:stretch>
              <a:fillRect t="-22628" r="-2516" b="-24088"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447800" y="2590800"/>
          <a:ext cx="6200775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669289" imgH="3538448" progId="Word.Document.8">
                  <p:embed/>
                </p:oleObj>
              </mc:Choice>
              <mc:Fallback>
                <p:oleObj name="Document" r:id="rId4" imgW="4669289" imgH="3538448" progId="Word.Document.8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90800"/>
                        <a:ext cx="6200775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פונקציות: 2. סכום מכפלות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3555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989138" y="1828800"/>
          <a:ext cx="5070475" cy="3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452946" imgH="2587171" progId="Word.Document.8">
                  <p:embed/>
                </p:oleObj>
              </mc:Choice>
              <mc:Fallback>
                <p:oleObj name="Document" r:id="rId3" imgW="3452946" imgH="2587171" progId="Word.Document.8">
                  <p:embed/>
                  <p:pic>
                    <p:nvPicPr>
                      <p:cNvPr id="23555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1828800"/>
                        <a:ext cx="5070475" cy="380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6"/>
          <p:cNvGraphicFramePr>
            <a:graphicFrameLocks noChangeAspect="1"/>
          </p:cNvGraphicFramePr>
          <p:nvPr/>
        </p:nvGraphicFramePr>
        <p:xfrm>
          <a:off x="685800" y="5453063"/>
          <a:ext cx="5570538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76500" imgH="368300" progId="Equation.DSMT4">
                  <p:embed/>
                </p:oleObj>
              </mc:Choice>
              <mc:Fallback>
                <p:oleObj name="Equation" r:id="rId5" imgW="2476500" imgH="368300" progId="Equation.DSMT4">
                  <p:embed/>
                  <p:pic>
                    <p:nvPicPr>
                      <p:cNvPr id="614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453063"/>
                        <a:ext cx="5570538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435100" y="3154363"/>
            <a:ext cx="1158875" cy="2114550"/>
            <a:chOff x="1435100" y="3154761"/>
            <a:chExt cx="1158875" cy="2113358"/>
          </a:xfrm>
        </p:grpSpPr>
        <p:sp>
          <p:nvSpPr>
            <p:cNvPr id="23559" name="Text Box 8"/>
            <p:cNvSpPr txBox="1">
              <a:spLocks noChangeArrowheads="1"/>
            </p:cNvSpPr>
            <p:nvPr/>
          </p:nvSpPr>
          <p:spPr bwMode="auto">
            <a:xfrm>
              <a:off x="1435100" y="3154761"/>
              <a:ext cx="463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he-IL"/>
                <a:t>(2)</a:t>
              </a:r>
            </a:p>
          </p:txBody>
        </p:sp>
        <p:sp>
          <p:nvSpPr>
            <p:cNvPr id="23560" name="Line 9"/>
            <p:cNvSpPr>
              <a:spLocks noChangeShapeType="1"/>
            </p:cNvSpPr>
            <p:nvPr/>
          </p:nvSpPr>
          <p:spPr bwMode="auto">
            <a:xfrm>
              <a:off x="1892300" y="3348436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3561" name="Text Box 10"/>
            <p:cNvSpPr txBox="1">
              <a:spLocks noChangeArrowheads="1"/>
            </p:cNvSpPr>
            <p:nvPr/>
          </p:nvSpPr>
          <p:spPr bwMode="auto">
            <a:xfrm>
              <a:off x="1441450" y="3865562"/>
              <a:ext cx="463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he-IL"/>
                <a:t>(4)</a:t>
              </a:r>
            </a:p>
          </p:txBody>
        </p:sp>
        <p:sp>
          <p:nvSpPr>
            <p:cNvPr id="23562" name="Line 11"/>
            <p:cNvSpPr>
              <a:spLocks noChangeShapeType="1"/>
            </p:cNvSpPr>
            <p:nvPr/>
          </p:nvSpPr>
          <p:spPr bwMode="auto">
            <a:xfrm>
              <a:off x="1898650" y="4059237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3563" name="Text Box 12"/>
            <p:cNvSpPr txBox="1">
              <a:spLocks noChangeArrowheads="1"/>
            </p:cNvSpPr>
            <p:nvPr/>
          </p:nvSpPr>
          <p:spPr bwMode="auto">
            <a:xfrm>
              <a:off x="1447800" y="4586682"/>
              <a:ext cx="463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he-IL"/>
                <a:t>(6)</a:t>
              </a:r>
            </a:p>
          </p:txBody>
        </p:sp>
        <p:sp>
          <p:nvSpPr>
            <p:cNvPr id="23564" name="Line 13"/>
            <p:cNvSpPr>
              <a:spLocks noChangeShapeType="1"/>
            </p:cNvSpPr>
            <p:nvPr/>
          </p:nvSpPr>
          <p:spPr bwMode="auto">
            <a:xfrm>
              <a:off x="1905000" y="4780357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3565" name="Text Box 14"/>
            <p:cNvSpPr txBox="1">
              <a:spLocks noChangeArrowheads="1"/>
            </p:cNvSpPr>
            <p:nvPr/>
          </p:nvSpPr>
          <p:spPr bwMode="auto">
            <a:xfrm>
              <a:off x="1450975" y="4901406"/>
              <a:ext cx="463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he-IL"/>
                <a:t>(7)</a:t>
              </a:r>
            </a:p>
          </p:txBody>
        </p:sp>
        <p:sp>
          <p:nvSpPr>
            <p:cNvPr id="23566" name="Line 15"/>
            <p:cNvSpPr>
              <a:spLocks noChangeShapeType="1"/>
            </p:cNvSpPr>
            <p:nvPr/>
          </p:nvSpPr>
          <p:spPr bwMode="auto">
            <a:xfrm>
              <a:off x="1908175" y="5095081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aphicFrame>
        <p:nvGraphicFramePr>
          <p:cNvPr id="13" name="Object 6"/>
          <p:cNvGraphicFramePr>
            <a:graphicFrameLocks noChangeAspect="1"/>
          </p:cNvGraphicFramePr>
          <p:nvPr/>
        </p:nvGraphicFramePr>
        <p:xfrm>
          <a:off x="6276975" y="5453063"/>
          <a:ext cx="20859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26698" imgH="253890" progId="Equation.DSMT4">
                  <p:embed/>
                </p:oleObj>
              </mc:Choice>
              <mc:Fallback>
                <p:oleObj name="Equation" r:id="rId7" imgW="926698" imgH="253890" progId="Equation.DSMT4">
                  <p:embed/>
                  <p:pic>
                    <p:nvPicPr>
                      <p:cNvPr id="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75" y="5453063"/>
                        <a:ext cx="20859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פונקציות: 3. מכפלת סכומים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4579" name="Object 6"/>
          <p:cNvGraphicFramePr>
            <a:graphicFrameLocks noChangeAspect="1"/>
          </p:cNvGraphicFramePr>
          <p:nvPr/>
        </p:nvGraphicFramePr>
        <p:xfrm>
          <a:off x="1752600" y="1955800"/>
          <a:ext cx="5365750" cy="383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452946" imgH="2587171" progId="Word.Document.8">
                  <p:embed/>
                </p:oleObj>
              </mc:Choice>
              <mc:Fallback>
                <p:oleObj name="Document" r:id="rId2" imgW="3452946" imgH="2587171" progId="Word.Document.8">
                  <p:embed/>
                  <p:pic>
                    <p:nvPicPr>
                      <p:cNvPr id="2457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955800"/>
                        <a:ext cx="5365750" cy="38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9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graphicFrame>
        <p:nvGraphicFramePr>
          <p:cNvPr id="7173" name="Object 8"/>
          <p:cNvGraphicFramePr>
            <a:graphicFrameLocks noChangeAspect="1"/>
          </p:cNvGraphicFramePr>
          <p:nvPr/>
        </p:nvGraphicFramePr>
        <p:xfrm>
          <a:off x="111125" y="5592763"/>
          <a:ext cx="7007225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08400" imgH="393700" progId="Equation.DSMT4">
                  <p:embed/>
                </p:oleObj>
              </mc:Choice>
              <mc:Fallback>
                <p:oleObj name="Equation" r:id="rId4" imgW="3708400" imgH="393700" progId="Equation.DSMT4">
                  <p:embed/>
                  <p:pic>
                    <p:nvPicPr>
                      <p:cNvPr id="717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" y="5592763"/>
                        <a:ext cx="7007225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371600" y="2565400"/>
            <a:ext cx="1149350" cy="2132013"/>
            <a:chOff x="1371600" y="2565400"/>
            <a:chExt cx="1149350" cy="2131220"/>
          </a:xfrm>
        </p:grpSpPr>
        <p:sp>
          <p:nvSpPr>
            <p:cNvPr id="24585" name="Text Box 8"/>
            <p:cNvSpPr txBox="1">
              <a:spLocks noChangeArrowheads="1"/>
            </p:cNvSpPr>
            <p:nvPr/>
          </p:nvSpPr>
          <p:spPr bwMode="auto">
            <a:xfrm>
              <a:off x="1371600" y="2565400"/>
              <a:ext cx="4667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he-IL"/>
                <a:t>(0)</a:t>
              </a:r>
            </a:p>
          </p:txBody>
        </p:sp>
        <p:sp>
          <p:nvSpPr>
            <p:cNvPr id="24586" name="Text Box 8"/>
            <p:cNvSpPr txBox="1">
              <a:spLocks noChangeArrowheads="1"/>
            </p:cNvSpPr>
            <p:nvPr/>
          </p:nvSpPr>
          <p:spPr bwMode="auto">
            <a:xfrm>
              <a:off x="1371600" y="2932115"/>
              <a:ext cx="4667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he-IL"/>
                <a:t>(1)</a:t>
              </a:r>
            </a:p>
          </p:txBody>
        </p:sp>
        <p:sp>
          <p:nvSpPr>
            <p:cNvPr id="24587" name="Text Box 8"/>
            <p:cNvSpPr txBox="1">
              <a:spLocks noChangeArrowheads="1"/>
            </p:cNvSpPr>
            <p:nvPr/>
          </p:nvSpPr>
          <p:spPr bwMode="auto">
            <a:xfrm>
              <a:off x="1371600" y="3632200"/>
              <a:ext cx="4667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he-IL"/>
                <a:t>(3)</a:t>
              </a:r>
            </a:p>
          </p:txBody>
        </p:sp>
        <p:sp>
          <p:nvSpPr>
            <p:cNvPr id="24588" name="Text Box 8"/>
            <p:cNvSpPr txBox="1">
              <a:spLocks noChangeArrowheads="1"/>
            </p:cNvSpPr>
            <p:nvPr/>
          </p:nvSpPr>
          <p:spPr bwMode="auto">
            <a:xfrm>
              <a:off x="1371600" y="4326733"/>
              <a:ext cx="4667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he-IL"/>
                <a:t>(5)</a:t>
              </a:r>
            </a:p>
          </p:txBody>
        </p:sp>
        <p:sp>
          <p:nvSpPr>
            <p:cNvPr id="24589" name="Line 9"/>
            <p:cNvSpPr>
              <a:spLocks noChangeShapeType="1"/>
            </p:cNvSpPr>
            <p:nvPr/>
          </p:nvSpPr>
          <p:spPr bwMode="auto">
            <a:xfrm>
              <a:off x="1828800" y="27940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4590" name="Line 9"/>
            <p:cNvSpPr>
              <a:spLocks noChangeShapeType="1"/>
            </p:cNvSpPr>
            <p:nvPr/>
          </p:nvSpPr>
          <p:spPr bwMode="auto">
            <a:xfrm>
              <a:off x="1828800" y="3146427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4591" name="Line 9"/>
            <p:cNvSpPr>
              <a:spLocks noChangeShapeType="1"/>
            </p:cNvSpPr>
            <p:nvPr/>
          </p:nvSpPr>
          <p:spPr bwMode="auto">
            <a:xfrm>
              <a:off x="1835150" y="4541045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4592" name="Line 9"/>
            <p:cNvSpPr>
              <a:spLocks noChangeShapeType="1"/>
            </p:cNvSpPr>
            <p:nvPr/>
          </p:nvSpPr>
          <p:spPr bwMode="auto">
            <a:xfrm>
              <a:off x="1828800" y="3846512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pic>
        <p:nvPicPr>
          <p:cNvPr id="24583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294438"/>
            <a:ext cx="19097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7072313" y="5588000"/>
          <a:ext cx="17287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254000" progId="Equation.DSMT4">
                  <p:embed/>
                </p:oleObj>
              </mc:Choice>
              <mc:Fallback>
                <p:oleObj name="Equation" r:id="rId7" imgW="914400" imgH="254000" progId="Equation.DSMT4">
                  <p:embed/>
                  <p:pic>
                    <p:nvPicPr>
                      <p:cNvPr id="1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5588000"/>
                        <a:ext cx="1728787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פונקציות: 4. דיאגרמה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60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5605" name="Rectangle 8"/>
          <p:cNvSpPr>
            <a:spLocks noChangeArrowheads="1"/>
          </p:cNvSpPr>
          <p:nvPr/>
        </p:nvSpPr>
        <p:spPr bwMode="auto">
          <a:xfrm>
            <a:off x="0" y="2243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pic>
        <p:nvPicPr>
          <p:cNvPr id="2560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55838"/>
            <a:ext cx="25908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59013"/>
            <a:ext cx="24765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96962" y="5486400"/>
            <a:ext cx="3140075" cy="369332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02212" y="5486400"/>
            <a:ext cx="3140075" cy="369332"/>
          </a:xfrm>
          <a:prstGeom prst="rect">
            <a:avLst/>
          </a:prstGeom>
          <a:blipFill rotWithShape="0">
            <a:blip r:embed="rId6"/>
            <a:stretch>
              <a:fillRect r="-6602"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פונקציות: 4. דיאגרמה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62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6628" name="Rectangle 6"/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6629" name="Rectangle 8"/>
          <p:cNvSpPr>
            <a:spLocks noChangeArrowheads="1"/>
          </p:cNvSpPr>
          <p:nvPr/>
        </p:nvSpPr>
        <p:spPr bwMode="auto">
          <a:xfrm>
            <a:off x="0" y="2243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pic>
        <p:nvPicPr>
          <p:cNvPr id="2663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55838"/>
            <a:ext cx="25908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59013"/>
            <a:ext cx="24765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2270125"/>
            <a:ext cx="22669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3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575" y="2270125"/>
            <a:ext cx="229552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02212" y="5486400"/>
            <a:ext cx="3140075" cy="369332"/>
          </a:xfrm>
          <a:prstGeom prst="rect">
            <a:avLst/>
          </a:prstGeom>
          <a:blipFill rotWithShape="0">
            <a:blip r:embed="rId7"/>
            <a:stretch>
              <a:fillRect r="-3883"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96962" y="5486400"/>
            <a:ext cx="3140075" cy="369332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פונקציות: 4. דיאגרמה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7653" name="Rectangle 8"/>
          <p:cNvSpPr>
            <a:spLocks noChangeArrowheads="1"/>
          </p:cNvSpPr>
          <p:nvPr/>
        </p:nvSpPr>
        <p:spPr bwMode="auto">
          <a:xfrm>
            <a:off x="0" y="2243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pic>
        <p:nvPicPr>
          <p:cNvPr id="2765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55838"/>
            <a:ext cx="25908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59013"/>
            <a:ext cx="24765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2270125"/>
            <a:ext cx="22669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7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575" y="2270125"/>
            <a:ext cx="229552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8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2265363"/>
            <a:ext cx="2238375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9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50" y="2260600"/>
            <a:ext cx="2200275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96962" y="5486400"/>
            <a:ext cx="3140075" cy="369332"/>
          </a:xfrm>
          <a:prstGeom prst="rect">
            <a:avLst/>
          </a:prstGeom>
          <a:blipFill rotWithShape="0">
            <a:blip r:embed="rId9"/>
            <a:stretch>
              <a:fillRect r="-7379" b="-1639"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p:sp>
        <p:nvSpPr>
          <p:cNvPr id="13" name="TextBox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00600" y="5486400"/>
            <a:ext cx="3341687" cy="369332"/>
          </a:xfrm>
          <a:prstGeom prst="rect">
            <a:avLst/>
          </a:prstGeom>
          <a:blipFill rotWithShape="0">
            <a:blip r:embed="rId10"/>
            <a:stretch>
              <a:fillRect b="-1639"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פונקציות: 4. דיאגרמה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67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8676" name="Rectangle 6"/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8677" name="Rectangle 8"/>
          <p:cNvSpPr>
            <a:spLocks noChangeArrowheads="1"/>
          </p:cNvSpPr>
          <p:nvPr/>
        </p:nvSpPr>
        <p:spPr bwMode="auto">
          <a:xfrm>
            <a:off x="0" y="2243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pic>
        <p:nvPicPr>
          <p:cNvPr id="2867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667000"/>
            <a:ext cx="19621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פונקציות: 4. דיאגרמה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47850"/>
            <a:ext cx="8229600" cy="838200"/>
          </a:xfrm>
        </p:spPr>
        <p:txBody>
          <a:bodyPr/>
          <a:lstStyle/>
          <a:p>
            <a:pPr eaLnBrk="1" hangingPunct="1"/>
            <a:r>
              <a:rPr lang="he-IL" altLang="he-IL" sz="2800"/>
              <a:t>לאחר צמצום: </a:t>
            </a:r>
            <a:endParaRPr lang="en-US" altLang="he-IL" sz="2800"/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graphicFrame>
        <p:nvGraphicFramePr>
          <p:cNvPr id="29701" name="Object 4"/>
          <p:cNvGraphicFramePr>
            <a:graphicFrameLocks noChangeAspect="1"/>
          </p:cNvGraphicFramePr>
          <p:nvPr/>
        </p:nvGraphicFramePr>
        <p:xfrm>
          <a:off x="2895600" y="1928813"/>
          <a:ext cx="31718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800" imgH="228600" progId="Equation.DSMT4">
                  <p:embed/>
                </p:oleObj>
              </mc:Choice>
              <mc:Fallback>
                <p:oleObj name="Equation" r:id="rId2" imgW="1574800" imgH="228600" progId="Equation.DSMT4">
                  <p:embed/>
                  <p:pic>
                    <p:nvPicPr>
                      <p:cNvPr id="2970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28813"/>
                        <a:ext cx="31718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0" y="2243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graphicFrame>
        <p:nvGraphicFramePr>
          <p:cNvPr id="29704" name="Object 7"/>
          <p:cNvGraphicFramePr>
            <a:graphicFrameLocks noChangeAspect="1"/>
          </p:cNvGraphicFramePr>
          <p:nvPr/>
        </p:nvGraphicFramePr>
        <p:xfrm>
          <a:off x="631825" y="2667000"/>
          <a:ext cx="7924800" cy="356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6961905" imgH="3134162" progId="Paint.Picture">
                  <p:embed/>
                </p:oleObj>
              </mc:Choice>
              <mc:Fallback>
                <p:oleObj name="Bitmap Image" r:id="rId4" imgW="6961905" imgH="3134162" progId="Paint.Picture">
                  <p:embed/>
                  <p:pic>
                    <p:nvPicPr>
                      <p:cNvPr id="2970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25" y="2667000"/>
                        <a:ext cx="7924800" cy="356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דוגמא נוספת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 eaLnBrk="1" hangingPunct="1">
              <a:buFontTx/>
              <a:buNone/>
            </a:pPr>
            <a:r>
              <a:rPr lang="pl-PL" altLang="he-IL" sz="3200" i="1" dirty="0"/>
              <a:t>f</a:t>
            </a:r>
            <a:r>
              <a:rPr lang="en-US" altLang="he-IL" sz="3200" i="1" baseline="-25000" dirty="0"/>
              <a:t>105</a:t>
            </a:r>
            <a:r>
              <a:rPr lang="pl-PL" altLang="he-IL" sz="3200" i="1" dirty="0"/>
              <a:t> </a:t>
            </a:r>
            <a:r>
              <a:rPr lang="en-US" altLang="he-IL" sz="3200" i="1" dirty="0"/>
              <a:t>	= </a:t>
            </a:r>
            <a:r>
              <a:rPr lang="pl-PL" altLang="he-IL" sz="3200" i="1" dirty="0"/>
              <a:t>XOR</a:t>
            </a:r>
            <a:r>
              <a:rPr lang="pl-PL" altLang="he-IL" sz="3200" dirty="0"/>
              <a:t>(</a:t>
            </a:r>
            <a:r>
              <a:rPr lang="pl-PL" altLang="he-IL" sz="3200" i="1" dirty="0"/>
              <a:t>x</a:t>
            </a:r>
            <a:r>
              <a:rPr lang="pl-PL" altLang="he-IL" sz="3200" dirty="0"/>
              <a:t>, </a:t>
            </a:r>
            <a:r>
              <a:rPr lang="pl-PL" altLang="he-IL" sz="3200" i="1" dirty="0"/>
              <a:t>y</a:t>
            </a:r>
            <a:r>
              <a:rPr lang="pl-PL" altLang="he-IL" sz="3200" dirty="0"/>
              <a:t>, </a:t>
            </a:r>
            <a:r>
              <a:rPr lang="pl-PL" altLang="he-IL" sz="3200" i="1" dirty="0"/>
              <a:t>z</a:t>
            </a:r>
            <a:r>
              <a:rPr lang="pl-PL" altLang="he-IL" sz="3200" dirty="0"/>
              <a:t>) </a:t>
            </a:r>
            <a:endParaRPr lang="en-US" altLang="he-IL" sz="3200" dirty="0"/>
          </a:p>
          <a:p>
            <a:pPr marL="0" indent="0" algn="l" rtl="0" eaLnBrk="1" hangingPunct="1">
              <a:buFontTx/>
              <a:buNone/>
            </a:pPr>
            <a:r>
              <a:rPr lang="en-US" altLang="he-IL" sz="3200" dirty="0"/>
              <a:t>	= </a:t>
            </a:r>
            <a:r>
              <a:rPr lang="pl-PL" altLang="he-IL" sz="3200" i="1" dirty="0"/>
              <a:t>XOR</a:t>
            </a:r>
            <a:r>
              <a:rPr lang="pl-PL" altLang="he-IL" sz="3200" dirty="0"/>
              <a:t>(</a:t>
            </a:r>
            <a:r>
              <a:rPr lang="pl-PL" altLang="he-IL" sz="3200" i="1" dirty="0"/>
              <a:t>XOR</a:t>
            </a:r>
            <a:r>
              <a:rPr lang="pl-PL" altLang="he-IL" sz="3200" dirty="0"/>
              <a:t>(</a:t>
            </a:r>
            <a:r>
              <a:rPr lang="pl-PL" altLang="he-IL" sz="3200" i="1" dirty="0"/>
              <a:t>x</a:t>
            </a:r>
            <a:r>
              <a:rPr lang="pl-PL" altLang="he-IL" sz="3200" dirty="0"/>
              <a:t>, </a:t>
            </a:r>
            <a:r>
              <a:rPr lang="pl-PL" altLang="he-IL" sz="3200" i="1" dirty="0"/>
              <a:t>y</a:t>
            </a:r>
            <a:r>
              <a:rPr lang="pl-PL" altLang="he-IL" sz="3200" dirty="0"/>
              <a:t>), </a:t>
            </a:r>
            <a:r>
              <a:rPr lang="pl-PL" altLang="he-IL" sz="3200" i="1" dirty="0"/>
              <a:t>z</a:t>
            </a:r>
            <a:r>
              <a:rPr lang="pl-PL" altLang="he-IL" sz="3200" dirty="0"/>
              <a:t>)</a:t>
            </a:r>
            <a:endParaRPr lang="en-US" altLang="he-IL" sz="3200" dirty="0"/>
          </a:p>
          <a:p>
            <a:pPr marL="0" indent="0" algn="l" rtl="0" eaLnBrk="1" hangingPunct="1">
              <a:buFontTx/>
              <a:buNone/>
            </a:pPr>
            <a:r>
              <a:rPr lang="en-US" altLang="he-IL" sz="3200" dirty="0"/>
              <a:t>	=XOR(</a:t>
            </a:r>
            <a:r>
              <a:rPr lang="en-US" altLang="he-IL" sz="3200" dirty="0" err="1"/>
              <a:t>x’y+xy</a:t>
            </a:r>
            <a:r>
              <a:rPr lang="en-US" altLang="he-IL" sz="3200" dirty="0"/>
              <a:t>’, z)</a:t>
            </a:r>
          </a:p>
          <a:p>
            <a:pPr marL="0" indent="0" algn="l" rtl="0" eaLnBrk="1" hangingPunct="1">
              <a:buFontTx/>
              <a:buNone/>
            </a:pPr>
            <a:r>
              <a:rPr lang="en-US" altLang="he-IL" sz="3200" dirty="0"/>
              <a:t>	=</a:t>
            </a:r>
            <a:r>
              <a:rPr lang="pl-PL" altLang="he-IL" sz="3200" dirty="0"/>
              <a:t> </a:t>
            </a:r>
            <a:r>
              <a:rPr lang="pl-PL" altLang="he-IL" sz="3200" i="1" dirty="0"/>
              <a:t>x</a:t>
            </a:r>
            <a:r>
              <a:rPr lang="pl-PL" altLang="he-IL" sz="3200" dirty="0"/>
              <a:t>'</a:t>
            </a:r>
            <a:r>
              <a:rPr lang="pl-PL" altLang="he-IL" sz="3200" i="1" dirty="0"/>
              <a:t>yz</a:t>
            </a:r>
            <a:r>
              <a:rPr lang="pl-PL" altLang="he-IL" sz="3200" dirty="0"/>
              <a:t>'</a:t>
            </a:r>
            <a:r>
              <a:rPr lang="en-US" altLang="he-IL" sz="3200" dirty="0"/>
              <a:t>+</a:t>
            </a:r>
            <a:r>
              <a:rPr lang="pl-PL" altLang="he-IL" sz="3200" i="1" dirty="0"/>
              <a:t>xy</a:t>
            </a:r>
            <a:r>
              <a:rPr lang="pl-PL" altLang="he-IL" sz="3200" dirty="0"/>
              <a:t>'</a:t>
            </a:r>
            <a:r>
              <a:rPr lang="pl-PL" altLang="he-IL" sz="3200" i="1" dirty="0"/>
              <a:t>z</a:t>
            </a:r>
            <a:r>
              <a:rPr lang="pl-PL" altLang="he-IL" sz="3200" dirty="0"/>
              <a:t>'</a:t>
            </a:r>
            <a:r>
              <a:rPr lang="en-US" altLang="he-IL" sz="3200" dirty="0"/>
              <a:t>+</a:t>
            </a:r>
            <a:r>
              <a:rPr lang="pl-PL" altLang="he-IL" sz="3200" i="1" dirty="0"/>
              <a:t>xyz</a:t>
            </a:r>
            <a:r>
              <a:rPr lang="en-US" altLang="he-IL" sz="3200" i="1" dirty="0"/>
              <a:t>+</a:t>
            </a:r>
            <a:r>
              <a:rPr lang="pl-PL" altLang="he-IL" sz="3200" i="1" dirty="0"/>
              <a:t>x</a:t>
            </a:r>
            <a:r>
              <a:rPr lang="pl-PL" altLang="he-IL" sz="3200" dirty="0"/>
              <a:t>'</a:t>
            </a:r>
            <a:r>
              <a:rPr lang="pl-PL" altLang="he-IL" sz="3200" i="1" dirty="0"/>
              <a:t>y</a:t>
            </a:r>
            <a:r>
              <a:rPr lang="pl-PL" altLang="he-IL" sz="3200" dirty="0"/>
              <a:t>'</a:t>
            </a:r>
            <a:r>
              <a:rPr lang="pl-PL" altLang="he-IL" sz="3200" i="1" dirty="0"/>
              <a:t>z</a:t>
            </a:r>
            <a:endParaRPr lang="en-US" altLang="he-IL" sz="3200" i="1" dirty="0"/>
          </a:p>
          <a:p>
            <a:pPr marL="0" indent="0" eaLnBrk="1" hangingPunct="1">
              <a:buFontTx/>
              <a:buNone/>
            </a:pPr>
            <a:endParaRPr lang="he-IL" altLang="he-IL" sz="3200" dirty="0"/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343400"/>
            <a:ext cx="4935538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מעבר לסכום מכפלות קנוני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747" name="Rectangle 5"/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-76200" y="5638800"/>
            <a:ext cx="9067800" cy="461665"/>
          </a:xfrm>
          <a:prstGeom prst="rect">
            <a:avLst/>
          </a:prstGeom>
          <a:blipFill rotWithShape="0">
            <a:blip r:embed="rId3"/>
            <a:stretch>
              <a:fillRect t="-9211" r="-1008" b="-30263"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990600" y="1846907"/>
                <a:ext cx="7543800" cy="4022725"/>
              </a:xfrm>
            </p:spPr>
            <p:txBody>
              <a:bodyPr/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𝒚</m:t>
                    </m:r>
                    <m:acc>
                      <m:accPr>
                        <m:chr m:val="̅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</m:oMath>
                </a14:m>
                <a:endParaRPr lang="en-US" sz="2800" dirty="0"/>
              </a:p>
              <a:p>
                <a:pPr algn="l" rtl="0"/>
                <a14:m>
                  <m:oMath xmlns:m="http://schemas.openxmlformats.org/officeDocument/2006/math">
                    <m:limLow>
                      <m:limLow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groupChr>
                      </m:e>
                      <m:lim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</m:acc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lim>
                    </m:limLow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𝒚𝒛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𝒙𝒚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</m:oMath>
                </a14:m>
                <a:endParaRPr lang="en-US" dirty="0"/>
              </a:p>
              <a:p>
                <a:pPr algn="l" rtl="0"/>
                <a14:m>
                  <m:oMath xmlns:m="http://schemas.openxmlformats.org/officeDocument/2006/math">
                    <m:limLow>
                      <m:limLow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groupChr>
                      </m:e>
                      <m:li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𝒆𝒓𝒂𝒔𝒆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𝒅𝒖𝒑𝒍𝒊𝒄𝒂𝒕𝒊𝒐𝒏𝒔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</m:lim>
                    </m:limLow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𝒚𝒛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𝒙𝒚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</m:oMath>
                </a14:m>
                <a:endParaRPr lang="en-US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d>
                      </m:e>
                    </m:nary>
                  </m:oMath>
                </a14:m>
                <a:endParaRPr lang="en-US" b="1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n"/>
                        <m:sup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1846907"/>
                <a:ext cx="7543800" cy="4022725"/>
              </a:xfrm>
              <a:blipFill rotWithShape="0">
                <a:blip r:embed="rId4"/>
                <a:stretch>
                  <a:fillRect l="-210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מעבר למכפלת סכומים קנונית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-76200" y="5638800"/>
            <a:ext cx="9067800" cy="461665"/>
          </a:xfrm>
          <a:prstGeom prst="rect">
            <a:avLst/>
          </a:prstGeom>
          <a:blipFill rotWithShape="0">
            <a:blip r:embed="rId3"/>
            <a:stretch>
              <a:fillRect t="-9211" r="-1008" b="-30263"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846263"/>
                <a:ext cx="8534399" cy="4022725"/>
              </a:xfrm>
            </p:spPr>
            <p:txBody>
              <a:bodyPr/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algn="l" rtl="0"/>
                <a14:m>
                  <m:oMath xmlns:m="http://schemas.openxmlformats.org/officeDocument/2006/math">
                    <m:limLow>
                      <m:limLowPr>
                        <m:ctrlP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groupChr>
                      </m:e>
                      <m:lim>
                        <m:d>
                          <m:dPr>
                            <m:ctrlP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acc>
                              <m:accPr>
                                <m:chr m:val="̅"/>
                                <m:ctrlPr>
                                  <a:rPr lang="en-US" b="1" i="1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</m:acc>
                          </m:e>
                        </m:d>
                        <m: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lim>
                    </m:limLow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0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  <m:r>
                      <a:rPr lang="en-US" b="0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404040"/>
                  </a:solidFill>
                </a:endParaRPr>
              </a:p>
              <a:p>
                <a:pPr algn="l" rtl="0"/>
                <a14:m>
                  <m:oMath xmlns:m="http://schemas.openxmlformats.org/officeDocument/2006/math">
                    <m:limLow>
                      <m:limLowPr>
                        <m:ctrlP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groupChr>
                      </m:e>
                      <m:lim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𝑩𝑪</m:t>
                        </m:r>
                        <m: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e>
                        </m:d>
                        <m:d>
                          <m:dPr>
                            <m:ctrlP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</m:d>
                      </m:lim>
                    </m:limLow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0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0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0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  <m:r>
                      <a:rPr lang="en-US" b="0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404040"/>
                  </a:solidFill>
                </a:endParaRPr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d>
                      <m:dPr>
                        <m:ctrlP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d>
                      <m:dPr>
                        <m:ctrlP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b="1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1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</m:d>
                  </m:oMath>
                </a14:m>
                <a:endParaRPr lang="en-US" b="1" dirty="0">
                  <a:solidFill>
                    <a:srgbClr val="404040"/>
                  </a:solidFill>
                </a:endParaRPr>
              </a:p>
              <a:p>
                <a:pPr algn="l" rtl="0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(2,4,5,6,7)</m:t>
                        </m:r>
                      </m:e>
                    </m:nary>
                  </m:oMath>
                </a14:m>
                <a:endParaRPr lang="en-US" dirty="0">
                  <a:solidFill>
                    <a:srgbClr val="404040"/>
                  </a:solidFill>
                </a:endParaRPr>
              </a:p>
              <a:p>
                <a:pPr algn="l" rtl="0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(0,1,3)</m:t>
                        </m:r>
                      </m:e>
                    </m:nary>
                  </m:oMath>
                </a14:m>
                <a:endParaRPr lang="en-US" b="0" dirty="0">
                  <a:solidFill>
                    <a:srgbClr val="404040"/>
                  </a:solidFill>
                </a:endParaRPr>
              </a:p>
              <a:p>
                <a:pPr algn="l" rtl="0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𝒚𝒛</m:t>
                    </m:r>
                  </m:oMath>
                </a14:m>
                <a:endParaRPr lang="he-IL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846263"/>
                <a:ext cx="8534399" cy="4022725"/>
              </a:xfrm>
              <a:blipFill rotWithShape="0">
                <a:blip r:embed="rId4"/>
                <a:stretch>
                  <a:fillRect l="-185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A58D23A-8779-4EE6-BA7A-964A0702C5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rtl="1"/>
            <a:r>
              <a:rPr lang="he-IL" altLang="en-US" dirty="0"/>
              <a:t>מערכת פעולות שלמה</a:t>
            </a:r>
            <a:endParaRPr lang="en-US" altLang="en-US" dirty="0"/>
          </a:p>
        </p:txBody>
      </p:sp>
      <p:sp>
        <p:nvSpPr>
          <p:cNvPr id="31748" name="Slide Number Placeholder 1">
            <a:extLst>
              <a:ext uri="{FF2B5EF4-FFF2-40B4-BE49-F238E27FC236}">
                <a16:creationId xmlns:a16="http://schemas.microsoft.com/office/drawing/2014/main" id="{9170B791-DC86-4C95-8F61-D79A5E75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8C1B69-4A13-423D-9F70-D234DE124ED2}" type="slidenum">
              <a:rPr lang="en-US" altLang="en-US" sz="105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0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491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מערכת פעולות שלמה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e-IL" altLang="he-IL" sz="2400" b="1"/>
              <a:t>הגדרה:</a:t>
            </a:r>
            <a:r>
              <a:rPr lang="he-IL" altLang="he-IL" sz="2400"/>
              <a:t> קבוצת פעולות נקראת שלמה אם ניתן להציג בעזרתה את כל הפונקציות הלוגיות.</a:t>
            </a:r>
            <a:r>
              <a:rPr lang="en-US" altLang="he-IL" sz="2400"/>
              <a:t> </a:t>
            </a:r>
            <a:endParaRPr lang="he-IL" altLang="he-IL" sz="2400"/>
          </a:p>
          <a:p>
            <a:pPr eaLnBrk="1" hangingPunct="1"/>
            <a:endParaRPr lang="he-IL" altLang="he-IL" sz="2400"/>
          </a:p>
          <a:p>
            <a:pPr eaLnBrk="1" hangingPunct="1"/>
            <a:endParaRPr lang="he-IL" altLang="he-IL" sz="2400"/>
          </a:p>
          <a:p>
            <a:pPr eaLnBrk="1" hangingPunct="1"/>
            <a:r>
              <a:rPr lang="he-IL" altLang="he-IL" sz="2400"/>
              <a:t>בעזרת דה-מורגן :</a:t>
            </a:r>
          </a:p>
          <a:p>
            <a:pPr eaLnBrk="1" hangingPunct="1"/>
            <a:endParaRPr lang="he-IL" altLang="he-IL" sz="2400"/>
          </a:p>
          <a:p>
            <a:pPr eaLnBrk="1" hangingPunct="1"/>
            <a:endParaRPr lang="he-IL" altLang="he-IL" sz="2400"/>
          </a:p>
          <a:p>
            <a:pPr eaLnBrk="1" hangingPunct="1"/>
            <a:endParaRPr lang="he-IL" altLang="he-IL" sz="2400"/>
          </a:p>
          <a:p>
            <a:pPr eaLnBrk="1" hangingPunct="1"/>
            <a:r>
              <a:rPr lang="he-IL" altLang="he-IL" sz="2400"/>
              <a:t>הפעולות </a:t>
            </a:r>
            <a:r>
              <a:rPr lang="en-US" altLang="he-IL" sz="2400"/>
              <a:t>NOR, NAND</a:t>
            </a:r>
            <a:r>
              <a:rPr lang="he-IL" altLang="he-IL" sz="2400"/>
              <a:t> הינן מערכות פעולות שלמות.</a:t>
            </a:r>
            <a:endParaRPr lang="en-US" altLang="he-IL" sz="2400"/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graphicFrame>
        <p:nvGraphicFramePr>
          <p:cNvPr id="32773" name="Object 4"/>
          <p:cNvGraphicFramePr>
            <a:graphicFrameLocks noChangeAspect="1"/>
          </p:cNvGraphicFramePr>
          <p:nvPr/>
        </p:nvGraphicFramePr>
        <p:xfrm>
          <a:off x="3276600" y="2695575"/>
          <a:ext cx="18288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22030" imgH="228501" progId="Equation.DSMT4">
                  <p:embed/>
                </p:oleObj>
              </mc:Choice>
              <mc:Fallback>
                <p:oleObj name="Equation" r:id="rId3" imgW="622030" imgH="228501" progId="Equation.DSMT4">
                  <p:embed/>
                  <p:pic>
                    <p:nvPicPr>
                      <p:cNvPr id="3277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695575"/>
                        <a:ext cx="18288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graphicFrame>
        <p:nvGraphicFramePr>
          <p:cNvPr id="32775" name="Object 6"/>
          <p:cNvGraphicFramePr>
            <a:graphicFrameLocks noChangeAspect="1"/>
          </p:cNvGraphicFramePr>
          <p:nvPr/>
        </p:nvGraphicFramePr>
        <p:xfrm>
          <a:off x="2743200" y="3848100"/>
          <a:ext cx="289560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600" imgH="228600" progId="Equation.DSMT4">
                  <p:embed/>
                </p:oleObj>
              </mc:Choice>
              <mc:Fallback>
                <p:oleObj name="Equation" r:id="rId5" imgW="990600" imgH="228600" progId="Equation.DSMT4">
                  <p:embed/>
                  <p:pic>
                    <p:nvPicPr>
                      <p:cNvPr id="327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848100"/>
                        <a:ext cx="289560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מערכת פעולות שלמה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e-IL" altLang="he-IL" sz="2400" dirty="0"/>
              <a:t>משפט ללא הוכחה:</a:t>
            </a:r>
            <a:br>
              <a:rPr lang="en-US" altLang="he-IL" sz="2400" dirty="0"/>
            </a:br>
            <a:r>
              <a:rPr lang="he-IL" altLang="he-IL" sz="2400" dirty="0"/>
              <a:t>אם הדבר הבא </a:t>
            </a:r>
            <a:r>
              <a:rPr lang="he-IL" altLang="he-IL" sz="2400" b="1" dirty="0"/>
              <a:t>לא</a:t>
            </a:r>
            <a:r>
              <a:rPr lang="he-IL" altLang="he-IL" sz="2400" dirty="0"/>
              <a:t> מתקיים :</a:t>
            </a:r>
            <a:br>
              <a:rPr lang="en-US" altLang="he-IL" sz="2400" dirty="0"/>
            </a:br>
            <a:br>
              <a:rPr lang="en-US" altLang="he-IL" sz="2400" dirty="0"/>
            </a:br>
            <a:r>
              <a:rPr lang="he-IL" altLang="he-IL" sz="2400" dirty="0"/>
              <a:t>אזי הפונקציה אינה מערכת פעולות שלמה.</a:t>
            </a:r>
            <a:br>
              <a:rPr lang="en-US" altLang="he-IL" sz="2400" dirty="0"/>
            </a:br>
            <a:endParaRPr lang="he-IL" altLang="he-IL" sz="2400" dirty="0"/>
          </a:p>
          <a:p>
            <a:pPr eaLnBrk="1" hangingPunct="1"/>
            <a:endParaRPr lang="he-IL" altLang="he-IL" sz="2400" b="1" dirty="0"/>
          </a:p>
          <a:p>
            <a:pPr eaLnBrk="1" hangingPunct="1"/>
            <a:endParaRPr lang="he-IL" altLang="he-IL" sz="2400" b="1" dirty="0"/>
          </a:p>
          <a:p>
            <a:pPr eaLnBrk="1" hangingPunct="1"/>
            <a:r>
              <a:rPr lang="he-IL" altLang="he-IL" sz="2400" b="1" dirty="0"/>
              <a:t>נכון רק לגבי מערכת שבה פונקציה יחידה.</a:t>
            </a:r>
            <a:endParaRPr lang="en-US" altLang="he-IL" sz="2400" b="1" dirty="0"/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2133600" y="2057400"/>
          <a:ext cx="236855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476" imgH="253890" progId="Equation.DSMT4">
                  <p:embed/>
                </p:oleObj>
              </mc:Choice>
              <mc:Fallback>
                <p:oleObj name="Equation" r:id="rId3" imgW="977476" imgH="253890" progId="Equation.DSMT4">
                  <p:embed/>
                  <p:pic>
                    <p:nvPicPr>
                      <p:cNvPr id="35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057400"/>
                        <a:ext cx="2368550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מערכת פעולות שלמה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91440" indent="-91440" eaLnBrk="1" fontAlgn="auto" hangingPunct="1">
              <a:defRPr/>
            </a:pPr>
            <a:r>
              <a:rPr lang="he-IL" altLang="he-IL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האם הפעולה  </a:t>
            </a:r>
            <a:r>
              <a:rPr lang="en-US" altLang="he-IL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f(</a:t>
            </a:r>
            <a:r>
              <a:rPr lang="en-US" altLang="he-IL" sz="28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a,b,c</a:t>
            </a:r>
            <a:r>
              <a:rPr lang="en-US" altLang="he-IL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)=a’+</a:t>
            </a:r>
            <a:r>
              <a:rPr lang="en-US" altLang="he-IL" sz="28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bc</a:t>
            </a:r>
            <a:r>
              <a:rPr lang="en-US" altLang="he-IL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’ </a:t>
            </a:r>
            <a:r>
              <a:rPr lang="he-IL" altLang="he-IL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היא מערכת פעולות שלמה?</a:t>
            </a:r>
            <a:br>
              <a:rPr lang="en-US" altLang="he-IL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altLang="he-IL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eaLnBrk="1" fontAlgn="auto" hangingPunct="1">
              <a:defRPr/>
            </a:pPr>
            <a:r>
              <a:rPr lang="he-IL" altLang="he-IL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האם הפעולה </a:t>
            </a:r>
            <a:r>
              <a:rPr lang="en-US" altLang="he-IL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f(</a:t>
            </a:r>
            <a:r>
              <a:rPr lang="en-US" altLang="he-IL" sz="28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a,b,c</a:t>
            </a:r>
            <a:r>
              <a:rPr lang="en-US" altLang="he-IL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)=a’+</a:t>
            </a:r>
            <a:r>
              <a:rPr lang="en-US" altLang="he-IL" sz="28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bc</a:t>
            </a:r>
            <a:r>
              <a:rPr lang="en-US" altLang="he-IL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he-IL" altLang="he-IL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היא מערכת פעולות שלמה?</a:t>
            </a:r>
            <a:endParaRPr lang="en-US" altLang="he-IL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buFontTx/>
              <a:buNone/>
              <a:defRPr/>
            </a:pPr>
            <a:r>
              <a:rPr lang="he-IL" altLang="he-IL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ואם נוסיף את הקבוע 0 ?</a:t>
            </a:r>
            <a:r>
              <a:rPr lang="en-US" altLang="he-IL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מערכת פעולות חצי שלמה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he-IL" altLang="he-IL" sz="2800" b="1" dirty="0"/>
          </a:p>
          <a:p>
            <a:pPr eaLnBrk="1" hangingPunct="1"/>
            <a:r>
              <a:rPr lang="he-IL" altLang="he-IL" sz="2800" b="1" dirty="0"/>
              <a:t>הגדרה</a:t>
            </a:r>
            <a:r>
              <a:rPr lang="he-IL" altLang="he-IL" sz="2800" dirty="0"/>
              <a:t>: מערכת פעולות תיקרא </a:t>
            </a:r>
            <a:r>
              <a:rPr lang="he-IL" altLang="he-IL" sz="2800" u="sng" dirty="0"/>
              <a:t>חצי שלמה</a:t>
            </a:r>
            <a:r>
              <a:rPr lang="he-IL" altLang="he-IL" sz="2800" dirty="0"/>
              <a:t>  אם הינה שלמה רק בתוספת קבועים ( 0 או 1 או שניהם).</a:t>
            </a:r>
            <a:endParaRPr lang="en-US" altLang="he-IL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1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891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905000"/>
            <a:ext cx="8496300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5CB0F-156D-E318-327D-218B44BA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BF95990-6A1D-758D-5401-7F09BEA15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1- </a:t>
            </a:r>
            <a:r>
              <a:rPr lang="he-IL" altLang="he-IL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פיתרון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52DB6EFE-E741-14ED-27A3-B57069B8502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22325" y="1846263"/>
                <a:ext cx="7543800" cy="4022725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he-IL" altLang="he-IL" sz="2800" dirty="0"/>
                  <a:t>נפשט את הפונקציה </a:t>
                </a:r>
                <a:r>
                  <a:rPr lang="en-US" altLang="he-IL" sz="2800" dirty="0"/>
                  <a:t>g</a:t>
                </a:r>
                <a:r>
                  <a:rPr lang="he-IL" altLang="he-IL" sz="2800" dirty="0"/>
                  <a:t>:</a:t>
                </a:r>
              </a:p>
              <a:p>
                <a:pPr marL="0" indent="0" algn="l" rtl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he-IL" sz="2800" b="0" dirty="0"/>
              </a:p>
              <a:p>
                <a:pPr marL="0" indent="0" algn="l" rtl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</m:oMath>
                  </m:oMathPara>
                </a14:m>
                <a:endParaRPr lang="en-US" altLang="he-IL" sz="2800" b="0" dirty="0"/>
              </a:p>
              <a:p>
                <a:pPr marL="0" indent="0" algn="l" rtl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he-IL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he-IL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he-IL" sz="2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he-IL" sz="2800" b="0" dirty="0"/>
              </a:p>
              <a:p>
                <a:pPr marL="0" indent="0" algn="l" rtl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′(</m:t>
                      </m:r>
                      <m:sSup>
                        <m:sSup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he-IL" sz="2800" b="0" dirty="0"/>
              </a:p>
              <a:p>
                <a:pPr marL="0" indent="0" algn="l" rtl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he-I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he-IL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he-IL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he-IL" sz="2800" b="0" dirty="0"/>
              </a:p>
              <a:p>
                <a:pPr marL="0" indent="0" eaLnBrk="1" hangingPunct="1">
                  <a:buNone/>
                </a:pPr>
                <a:r>
                  <a:rPr lang="he-IL" altLang="he-IL" sz="2800" dirty="0"/>
                  <a:t>נשים לב כי </a:t>
                </a:r>
                <a:r>
                  <a:rPr lang="en-US" altLang="he-IL" sz="2800" dirty="0"/>
                  <a:t>g</a:t>
                </a:r>
                <a:r>
                  <a:rPr lang="he-IL" altLang="he-IL" sz="2800" dirty="0"/>
                  <a:t> דורשת בהכרח שימוש בשער </a:t>
                </a:r>
                <a:r>
                  <a:rPr lang="en-US" altLang="he-IL" sz="2800" dirty="0"/>
                  <a:t>not</a:t>
                </a:r>
                <a:r>
                  <a:rPr lang="he-IL" altLang="he-IL" sz="2800" dirty="0"/>
                  <a:t> בעוד באמצעות </a:t>
                </a:r>
                <a:r>
                  <a:rPr lang="en-US" altLang="he-IL" sz="2800" dirty="0"/>
                  <a:t>f</a:t>
                </a:r>
                <a:r>
                  <a:rPr lang="he-IL" altLang="he-IL" sz="2800" dirty="0"/>
                  <a:t> לא ניתן לממש שער </a:t>
                </a:r>
                <a:r>
                  <a:rPr lang="en-US" altLang="he-IL" sz="2800" dirty="0"/>
                  <a:t>not</a:t>
                </a:r>
                <a:r>
                  <a:rPr lang="he-IL" altLang="he-IL" sz="2800" dirty="0"/>
                  <a:t> ולכן, לא ניתן לממש את </a:t>
                </a:r>
                <a:r>
                  <a:rPr lang="en-US" altLang="he-IL" sz="2800" dirty="0"/>
                  <a:t>g</a:t>
                </a:r>
                <a:r>
                  <a:rPr lang="he-IL" altLang="he-IL" sz="2800" dirty="0"/>
                  <a:t> באמצעות </a:t>
                </a:r>
                <a:r>
                  <a:rPr lang="en-US" altLang="he-IL" sz="2800" dirty="0"/>
                  <a:t>f</a:t>
                </a:r>
                <a:r>
                  <a:rPr lang="he-IL" altLang="he-IL" sz="2800" dirty="0"/>
                  <a:t>.</a:t>
                </a: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52DB6EFE-E741-14ED-27A3-B57069B850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325" y="1846263"/>
                <a:ext cx="7543800" cy="4022725"/>
              </a:xfrm>
              <a:blipFill>
                <a:blip r:embed="rId2"/>
                <a:stretch>
                  <a:fillRect t="-3030" r="-2829" b="-136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681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C52C2-2AC3-C46A-77F7-2E5DBFF7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7752D39-B525-33AA-B07B-3A745D9E9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2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9939" name="Picture 2">
            <a:extLst>
              <a:ext uri="{FF2B5EF4-FFF2-40B4-BE49-F238E27FC236}">
                <a16:creationId xmlns:a16="http://schemas.microsoft.com/office/drawing/2014/main" id="{17AACC4E-041C-6673-ABA2-C91214F47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2209800"/>
            <a:ext cx="8743950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8724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2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9939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2209800"/>
            <a:ext cx="8743950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4">
            <a:extLst>
              <a:ext uri="{FF2B5EF4-FFF2-40B4-BE49-F238E27FC236}">
                <a16:creationId xmlns:a16="http://schemas.microsoft.com/office/drawing/2014/main" id="{35383572-092D-C077-1D08-F90FD9AAAB2B}"/>
              </a:ext>
            </a:extLst>
          </p:cNvPr>
          <p:cNvSpPr/>
          <p:nvPr/>
        </p:nvSpPr>
        <p:spPr>
          <a:xfrm>
            <a:off x="7848600" y="3738562"/>
            <a:ext cx="441325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A8705-7CBF-5052-A679-4D69B5AD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2AE0430-817A-632F-AFAC-3085B1114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325" y="287339"/>
            <a:ext cx="7543800" cy="703262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2 - </a:t>
            </a:r>
            <a:r>
              <a:rPr lang="he-IL" altLang="he-IL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פיתרון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9812BA-92BB-9173-E524-A0FB6559FEC5}"/>
              </a:ext>
            </a:extLst>
          </p:cNvPr>
          <p:cNvSpPr txBox="1"/>
          <p:nvPr/>
        </p:nvSpPr>
        <p:spPr>
          <a:xfrm>
            <a:off x="914401" y="990601"/>
            <a:ext cx="74517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הקדמה: נבחן את כל הקומבינציות האפשריות של </a:t>
            </a:r>
            <a:r>
              <a:rPr lang="he-IL" dirty="0" err="1"/>
              <a:t>f</a:t>
            </a:r>
            <a:r>
              <a:rPr lang="he-IL" dirty="0"/>
              <a:t>:</a:t>
            </a:r>
          </a:p>
          <a:p>
            <a:pPr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b="1" dirty="0"/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b="1" dirty="0"/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b="1" dirty="0"/>
              <a:t>תשובה א: 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נפסלת, אי אפשר לייצג שער NOT עם </a:t>
            </a:r>
            <a:r>
              <a:rPr lang="en-US" dirty="0"/>
              <a:t>{f}</a:t>
            </a:r>
            <a:r>
              <a:rPr lang="he-IL" dirty="0"/>
              <a:t>.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dirty="0"/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b="1" dirty="0"/>
              <a:t>תשובה ב</a:t>
            </a:r>
            <a:r>
              <a:rPr lang="he-IL" dirty="0"/>
              <a:t>: 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נבחן מה אפשר לייצג עם התוספת של קבוע 0: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dirty="0"/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dirty="0"/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הצלחנו לייצר NOT וגם OR לכן </a:t>
            </a:r>
            <a:r>
              <a:rPr lang="en-US" dirty="0"/>
              <a:t>{f,0}</a:t>
            </a:r>
            <a:r>
              <a:rPr lang="he-IL" dirty="0"/>
              <a:t> היא מערכת פעולות שלמה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b="1" dirty="0"/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b="1" dirty="0"/>
              <a:t>תשובה ג: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 ראינו שאפשר לייצר קבוע ׳1׳ בעזרת </a:t>
            </a:r>
            <a:r>
              <a:rPr lang="he-IL" dirty="0" err="1"/>
              <a:t>f</a:t>
            </a:r>
            <a:r>
              <a:rPr lang="he-IL" dirty="0"/>
              <a:t> לבד לכן </a:t>
            </a:r>
            <a:r>
              <a:rPr lang="en-US" dirty="0"/>
              <a:t>{f,1}</a:t>
            </a:r>
            <a:r>
              <a:rPr lang="he-IL" dirty="0"/>
              <a:t> שקולה לתשובה א׳.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dirty="0"/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b="1" dirty="0"/>
              <a:t>תשובה ד: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ראינו ש </a:t>
            </a:r>
            <a:r>
              <a:rPr lang="en-US" dirty="0"/>
              <a:t>{f,0}</a:t>
            </a:r>
            <a:r>
              <a:rPr lang="he-IL" dirty="0"/>
              <a:t> היא כן מערכת שלמה, לכן גם תשובה ד׳ נפסלת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1F48EAA-F441-6018-05C5-2FDFF4192D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0456763"/>
                  </p:ext>
                </p:extLst>
              </p:nvPr>
            </p:nvGraphicFramePr>
            <p:xfrm>
              <a:off x="1524000" y="1371600"/>
              <a:ext cx="6096000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159769532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84550634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he-IL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he-IL" b="0" i="0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520785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+1=1 </m:t>
                                </m:r>
                              </m:oMath>
                            </m:oMathPara>
                          </a14:m>
                          <a:endParaRPr lang="he-IL" b="0" i="0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=0+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752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1F48EAA-F441-6018-05C5-2FDFF4192D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0456763"/>
                  </p:ext>
                </p:extLst>
              </p:nvPr>
            </p:nvGraphicFramePr>
            <p:xfrm>
              <a:off x="1524000" y="1371600"/>
              <a:ext cx="6096000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159769532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84550634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417" t="-6897" r="-100833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417" t="-6897" r="-833" b="-1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520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417" t="-106897" r="-100833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417" t="-106897" r="-833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47526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370DD07-C437-FA58-43E8-3B4974796E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3510382"/>
                  </p:ext>
                </p:extLst>
              </p:nvPr>
            </p:nvGraphicFramePr>
            <p:xfrm>
              <a:off x="1524000" y="3581400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852928455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761136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3635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370DD07-C437-FA58-43E8-3B4974796E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3510382"/>
                  </p:ext>
                </p:extLst>
              </p:nvPr>
            </p:nvGraphicFramePr>
            <p:xfrm>
              <a:off x="1524000" y="3581400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852928455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761136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417" t="-10000" r="-100833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100417" t="-10000" r="-833" b="-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3635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745945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8C9C5-D4DE-D563-D02F-EA51DFF2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7F5E9B8-734B-73C0-862A-22B4D003E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3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0963" name="Picture 1">
            <a:extLst>
              <a:ext uri="{FF2B5EF4-FFF2-40B4-BE49-F238E27FC236}">
                <a16:creationId xmlns:a16="http://schemas.microsoft.com/office/drawing/2014/main" id="{A63AD37A-0798-6CEF-2A74-E8F946C26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1"/>
          <a:stretch>
            <a:fillRect/>
          </a:stretch>
        </p:blipFill>
        <p:spPr bwMode="auto">
          <a:xfrm>
            <a:off x="2286000" y="1828800"/>
            <a:ext cx="6437313" cy="437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265595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3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096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1"/>
          <a:stretch>
            <a:fillRect/>
          </a:stretch>
        </p:blipFill>
        <p:spPr bwMode="auto">
          <a:xfrm>
            <a:off x="2286000" y="1828800"/>
            <a:ext cx="6437313" cy="437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4">
            <a:extLst>
              <a:ext uri="{FF2B5EF4-FFF2-40B4-BE49-F238E27FC236}">
                <a16:creationId xmlns:a16="http://schemas.microsoft.com/office/drawing/2014/main" id="{3B911A3F-2BD2-4D1F-E1F2-6733119BB1EC}"/>
              </a:ext>
            </a:extLst>
          </p:cNvPr>
          <p:cNvSpPr/>
          <p:nvPr/>
        </p:nvSpPr>
        <p:spPr>
          <a:xfrm>
            <a:off x="8001001" y="4419600"/>
            <a:ext cx="304800" cy="304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0B1C-9ECB-2C75-165C-0E4C49E8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758AB8C-0EE6-DF85-16F9-3259E5785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3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5E42ED74-C6B0-97B7-6FC3-1C65C899FB5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22325" y="1846263"/>
                <a:ext cx="7543800" cy="1049337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he-IL" altLang="he-IL" dirty="0"/>
                  <a:t>נרשום את כלל הפונקציות הניתנות למימוש ע"י </a:t>
                </a:r>
                <a14:m>
                  <m:oMath xmlns:m="http://schemas.openxmlformats.org/officeDocument/2006/math">
                    <m:r>
                      <a:rPr lang="he-IL" altLang="he-I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he-IL" altLang="he-IL" dirty="0"/>
                  <a:t>:</a:t>
                </a:r>
              </a:p>
              <a:p>
                <a:pPr marL="0" indent="0" eaLnBrk="1" hangingPunct="1">
                  <a:buNone/>
                </a:pPr>
                <a:r>
                  <a:rPr lang="he-IL" altLang="he-IL" dirty="0"/>
                  <a:t>יש סה"כ 4 פונקציות: </a:t>
                </a:r>
              </a:p>
              <a:p>
                <a:pPr marL="0" indent="0" eaLnBrk="1" hangingPunct="1">
                  <a:buNone/>
                </a:pPr>
                <a:endParaRPr lang="he-IL" altLang="he-IL" sz="2800" dirty="0"/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5E42ED74-C6B0-97B7-6FC3-1C65C899FB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325" y="1846263"/>
                <a:ext cx="7543800" cy="1049337"/>
              </a:xfrm>
              <a:blipFill>
                <a:blip r:embed="rId3"/>
                <a:stretch>
                  <a:fillRect t="-5814" r="-202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טבלה 2">
                <a:extLst>
                  <a:ext uri="{FF2B5EF4-FFF2-40B4-BE49-F238E27FC236}">
                    <a16:creationId xmlns:a16="http://schemas.microsoft.com/office/drawing/2014/main" id="{B262907A-E49C-4BEE-0AFE-314D5567E3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6442768"/>
                  </p:ext>
                </p:extLst>
              </p:nvPr>
            </p:nvGraphicFramePr>
            <p:xfrm>
              <a:off x="1012825" y="2687320"/>
              <a:ext cx="7162800" cy="1483360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1432560">
                      <a:extLst>
                        <a:ext uri="{9D8B030D-6E8A-4147-A177-3AD203B41FA5}">
                          <a16:colId xmlns:a16="http://schemas.microsoft.com/office/drawing/2014/main" val="3209432058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259118471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2108272701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4036983068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35450362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4748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5490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549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קבוע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𝑁𝑂𝑇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קבוע אפס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35960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טבלה 2">
                <a:extLst>
                  <a:ext uri="{FF2B5EF4-FFF2-40B4-BE49-F238E27FC236}">
                    <a16:creationId xmlns:a16="http://schemas.microsoft.com/office/drawing/2014/main" id="{B262907A-E49C-4BEE-0AFE-314D5567E3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6442768"/>
                  </p:ext>
                </p:extLst>
              </p:nvPr>
            </p:nvGraphicFramePr>
            <p:xfrm>
              <a:off x="1012825" y="2687320"/>
              <a:ext cx="7162800" cy="1483360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1432560">
                      <a:extLst>
                        <a:ext uri="{9D8B030D-6E8A-4147-A177-3AD203B41FA5}">
                          <a16:colId xmlns:a16="http://schemas.microsoft.com/office/drawing/2014/main" val="3209432058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259118471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2108272701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4036983068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35450362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426" t="-8197" r="-40212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100426" t="-8197" r="-30212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199576" t="-8197" r="-200847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300851" t="-8197" r="-10170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4748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5490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549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קבוע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100426" t="-309836" r="-30212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קבוע אפס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35960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958222A-7CFE-F827-ABEF-576F3F1705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9752" y="4343400"/>
                <a:ext cx="7543800" cy="190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45720" rIns="0" bIns="45720" numCol="1" anchor="t" anchorCtr="0" compatLnSpc="1">
                <a:prstTxWarp prst="textNoShape">
                  <a:avLst/>
                </a:prstTxWarp>
              </a:bodyPr>
              <a:lstStyle>
                <a:lvl1pPr marL="90488" indent="-90488" algn="r" rtl="1" eaLnBrk="0" fontAlgn="base" hangingPunct="0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382588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566738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749300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931863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Font typeface="Calibri" panose="020F0502020204030204" pitchFamily="34" charset="0"/>
                  <a:buNone/>
                </a:pPr>
                <a:r>
                  <a:rPr lang="he-IL" altLang="he-IL" dirty="0"/>
                  <a:t>כלומר חלק מהאופרטור כולל שער </a:t>
                </a:r>
                <a:r>
                  <a:rPr lang="en-US" altLang="he-IL" dirty="0"/>
                  <a:t>NOT</a:t>
                </a:r>
                <a:r>
                  <a:rPr lang="he-IL" altLang="he-IL" dirty="0"/>
                  <a:t> וקבועים. מכאן שתשובות </a:t>
                </a:r>
                <a:r>
                  <a:rPr lang="he-IL" altLang="he-IL" dirty="0" err="1"/>
                  <a:t>ב',ג',ה</a:t>
                </a:r>
                <a:r>
                  <a:rPr lang="he-IL" altLang="he-IL" dirty="0"/>
                  <a:t>' נפסלות. נבדוק האם באמצעות הקבועים ו</a:t>
                </a:r>
                <a:r>
                  <a:rPr lang="en-US" altLang="he-IL" dirty="0"/>
                  <a:t>NOT</a:t>
                </a:r>
                <a:r>
                  <a:rPr lang="he-IL" altLang="he-IL" dirty="0"/>
                  <a:t> ניתן לממש בפונקציה </a:t>
                </a:r>
                <a:r>
                  <a:rPr lang="en-US" altLang="he-IL" dirty="0"/>
                  <a:t>f</a:t>
                </a:r>
                <a:r>
                  <a:rPr lang="he-IL" altLang="he-IL" dirty="0"/>
                  <a:t> שער </a:t>
                </a:r>
                <a:r>
                  <a:rPr lang="en-US" altLang="he-IL" dirty="0"/>
                  <a:t>AND</a:t>
                </a:r>
                <a:r>
                  <a:rPr lang="he-IL" altLang="he-IL" dirty="0"/>
                  <a:t> או </a:t>
                </a:r>
                <a:r>
                  <a:rPr lang="en-US" altLang="he-IL" dirty="0"/>
                  <a:t>OR</a:t>
                </a:r>
                <a:r>
                  <a:rPr lang="he-IL" altLang="he-IL" dirty="0"/>
                  <a:t>:</a:t>
                </a:r>
              </a:p>
              <a:p>
                <a:pPr marL="0" indent="0" rtl="0" eaLnBrk="1" hangingPunct="1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he-I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he-I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he-IL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⋅0=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he-IL" b="0" dirty="0"/>
              </a:p>
              <a:p>
                <a:pPr marL="0" indent="0" eaLnBrk="1" hangingPunct="1">
                  <a:buFont typeface="Calibri" panose="020F0502020204030204" pitchFamily="34" charset="0"/>
                  <a:buNone/>
                </a:pPr>
                <a:r>
                  <a:rPr lang="he-IL" altLang="he-IL" dirty="0"/>
                  <a:t>מימשנו שער </a:t>
                </a:r>
                <a:r>
                  <a:rPr lang="en-US" altLang="he-IL" dirty="0"/>
                  <a:t>AND</a:t>
                </a:r>
                <a:r>
                  <a:rPr lang="he-IL" altLang="he-IL" dirty="0"/>
                  <a:t> ולכן מדובר במערכת פעולות שלמה.</a:t>
                </a:r>
                <a:endParaRPr lang="en-US" altLang="he-IL" b="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958222A-7CFE-F827-ABEF-576F3F170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9752" y="4343400"/>
                <a:ext cx="7543800" cy="1905000"/>
              </a:xfrm>
              <a:prstGeom prst="rect">
                <a:avLst/>
              </a:prstGeom>
              <a:blipFill>
                <a:blip r:embed="rId5"/>
                <a:stretch>
                  <a:fillRect t="-3846" r="-21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739134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AE82C-C34F-D85F-F52D-79C61B36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0677648-44FC-13F4-923C-E6F63B2D0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4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1987" name="Picture 1">
            <a:extLst>
              <a:ext uri="{FF2B5EF4-FFF2-40B4-BE49-F238E27FC236}">
                <a16:creationId xmlns:a16="http://schemas.microsoft.com/office/drawing/2014/main" id="{059B2537-028C-BD4F-E996-1EA9227D1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81200"/>
            <a:ext cx="8442325" cy="336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4041574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4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198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81200"/>
            <a:ext cx="8442325" cy="336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4">
            <a:extLst>
              <a:ext uri="{FF2B5EF4-FFF2-40B4-BE49-F238E27FC236}">
                <a16:creationId xmlns:a16="http://schemas.microsoft.com/office/drawing/2014/main" id="{4EB4395E-880A-75CB-6EAA-7B97349E8FB8}"/>
              </a:ext>
            </a:extLst>
          </p:cNvPr>
          <p:cNvSpPr/>
          <p:nvPr/>
        </p:nvSpPr>
        <p:spPr>
          <a:xfrm>
            <a:off x="7696200" y="4648200"/>
            <a:ext cx="304800" cy="304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1E6A1-ADF9-F13F-E658-7F1FD034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1B1DC5E-3685-4FA4-0B0C-D0A3D63D4B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alt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שאלה ממבחן 4</a:t>
            </a:r>
            <a:endParaRPr lang="en-US" altLang="he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4E9FBEF7-4B4A-89E8-41EA-80861217A03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13089" y="1828800"/>
                <a:ext cx="7543800" cy="23622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he-IL" altLang="he-IL" b="0" dirty="0"/>
                  <a:t>עבור 2 משתנה כניסה יש לנו 16 פונקציות אפשריות.</a:t>
                </a:r>
              </a:p>
              <a:p>
                <a:pPr marL="0" indent="0" eaLnBrk="1" hangingPunct="1">
                  <a:buNone/>
                </a:pPr>
                <a:r>
                  <a:rPr lang="he-IL" altLang="he-IL" dirty="0"/>
                  <a:t>אנחנו צריכים לבדוק אילו פונקציות מתוכן מקיימות את התנאי הנתון.</a:t>
                </a:r>
              </a:p>
              <a:p>
                <a:pPr marL="0" indent="0" eaLnBrk="1" hangingPunct="1">
                  <a:buNone/>
                </a:pPr>
                <a:r>
                  <a:rPr lang="he-IL" altLang="he-IL" dirty="0"/>
                  <a:t>נסמן את הפלטים הבאים לפי התנאי הנתון:</a:t>
                </a:r>
              </a:p>
              <a:p>
                <a:pPr marL="0" indent="0" algn="ctr" rtl="0" eaLnBrk="1" hangingPunct="1">
                  <a:buNone/>
                </a:pPr>
                <a:r>
                  <a:rPr lang="he-IL" altLang="he-IL" sz="2400" dirty="0"/>
                  <a:t> </a:t>
                </a:r>
                <a14:m>
                  <m:oMath xmlns:m="http://schemas.openxmlformats.org/officeDocument/2006/math">
                    <m:r>
                      <a:rPr lang="en-US" altLang="he-IL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he-I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he-IL" sz="2400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en-US" altLang="he-I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he-IL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he-I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he-IL" sz="2400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altLang="he-I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he-IL" sz="2400" b="0" dirty="0">
                  <a:ea typeface="Cambria Math" panose="02040503050406030204" pitchFamily="18" charset="0"/>
                </a:endParaRPr>
              </a:p>
              <a:p>
                <a:pPr marL="0" indent="0" algn="l" rtl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he-IL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he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he-IL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n-US" altLang="he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he-IL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he-IL" altLang="he-IL" sz="2400" dirty="0"/>
              </a:p>
              <a:p>
                <a:pPr marL="0" indent="0" eaLnBrk="1" hangingPunct="1">
                  <a:buNone/>
                </a:pPr>
                <a:endParaRPr lang="he-IL" altLang="he-IL" sz="2800" dirty="0"/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4E9FBEF7-4B4A-89E8-41EA-80861217A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3089" y="1828800"/>
                <a:ext cx="7543800" cy="2362200"/>
              </a:xfrm>
              <a:blipFill>
                <a:blip r:embed="rId3"/>
                <a:stretch>
                  <a:fillRect t="-2320" r="-20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35530C11-209C-07EA-8F8B-890E03C294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717157"/>
                  </p:ext>
                </p:extLst>
              </p:nvPr>
            </p:nvGraphicFramePr>
            <p:xfrm>
              <a:off x="411165" y="4008756"/>
              <a:ext cx="8366120" cy="2225040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1195160">
                      <a:extLst>
                        <a:ext uri="{9D8B030D-6E8A-4147-A177-3AD203B41FA5}">
                          <a16:colId xmlns:a16="http://schemas.microsoft.com/office/drawing/2014/main" val="3504395430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3271239789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3320460911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1377002662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1185909930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2536531621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2963691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b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a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4483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9481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he-IL" sz="18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53533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he-IL" sz="18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563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8114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XNOR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XOR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76055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35530C11-209C-07EA-8F8B-890E03C294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717157"/>
                  </p:ext>
                </p:extLst>
              </p:nvPr>
            </p:nvGraphicFramePr>
            <p:xfrm>
              <a:off x="411165" y="4008756"/>
              <a:ext cx="8366120" cy="2225040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1195160">
                      <a:extLst>
                        <a:ext uri="{9D8B030D-6E8A-4147-A177-3AD203B41FA5}">
                          <a16:colId xmlns:a16="http://schemas.microsoft.com/office/drawing/2014/main" val="3504395430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3271239789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3320460911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1377002662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1185909930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2536531621"/>
                        </a:ext>
                      </a:extLst>
                    </a:gridCol>
                    <a:gridCol w="1195160">
                      <a:extLst>
                        <a:ext uri="{9D8B030D-6E8A-4147-A177-3AD203B41FA5}">
                          <a16:colId xmlns:a16="http://schemas.microsoft.com/office/drawing/2014/main" val="2963691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510" t="-8197" r="-603061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100510" t="-8197" r="-503061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200510" t="-8197" r="-403061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298985" t="-8197" r="-301015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b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a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4483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401020" t="-108197" r="-202551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9481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401020" t="-208197" r="-202551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53533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401020" t="-308197" r="-20255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563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l="-401020" t="-408197" r="-20255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8114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1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XNOR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XOR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0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76055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3084088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E2B8D-DEF1-ACD9-9C4E-AFCB34B9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0159538-B9AB-815E-CDED-A426F5B6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שאלה ממבחן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933D944-1A81-6584-7812-2D9383E475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sz="1800" b="0" i="0" u="none" strike="noStrike" baseline="0" dirty="0">
                    <a:latin typeface="ArialMT"/>
                  </a:rPr>
                  <a:t>נתונה הפונקציה </a:t>
                </a:r>
                <a14:m>
                  <m:oMath xmlns:m="http://schemas.openxmlformats.org/officeDocument/2006/math"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l-GR" sz="1800" b="0" i="0" u="none" strike="noStrike" baseline="0" dirty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l-GR" sz="1800" b="0" i="1" u="none" strike="noStrike" baseline="0" dirty="0" smtClean="0">
                        <a:latin typeface="Cambria Math" panose="02040503050406030204" pitchFamily="18" charset="0"/>
                      </a:rPr>
                      <m:t>(8,9,10,11)</m:t>
                    </m:r>
                  </m:oMath>
                </a14:m>
                <a:endParaRPr lang="el-GR" sz="1800" b="0" i="0" u="none" strike="noStrike" baseline="0" dirty="0">
                  <a:latin typeface="CambriaMath"/>
                </a:endParaRPr>
              </a:p>
              <a:p>
                <a:r>
                  <a:rPr lang="he-IL" sz="1800" b="0" i="0" u="none" strike="noStrike" baseline="0" dirty="0">
                    <a:latin typeface="ArialMT"/>
                  </a:rPr>
                  <a:t>איזו קבוצה </a:t>
                </a:r>
                <a:r>
                  <a:rPr lang="he-IL" sz="1800" b="1" i="0" u="none" strike="noStrike" baseline="0" dirty="0">
                    <a:latin typeface="Arial-BoldMT"/>
                  </a:rPr>
                  <a:t>אינה </a:t>
                </a:r>
                <a:r>
                  <a:rPr lang="he-IL" sz="1800" b="0" i="0" u="none" strike="noStrike" baseline="0" dirty="0">
                    <a:latin typeface="ArialMT"/>
                  </a:rPr>
                  <a:t>מהווה מערכת פעולות שלמה?</a:t>
                </a:r>
              </a:p>
              <a:p>
                <a:r>
                  <a:rPr lang="he-IL" sz="1800" b="0" i="0" u="none" strike="noStrike" baseline="0" dirty="0">
                    <a:latin typeface="ArialMT"/>
                  </a:rPr>
                  <a:t>א .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 sz="1800" dirty="0">
                  <a:latin typeface="CambriaMath"/>
                </a:endParaRPr>
              </a:p>
              <a:p>
                <a:r>
                  <a:rPr lang="he-IL" sz="1800" b="0" i="0" u="none" strike="noStrike" baseline="0" dirty="0">
                    <a:latin typeface="ArialMT"/>
                  </a:rPr>
                  <a:t>ב .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{</m:t>
                    </m:r>
                    <m:acc>
                      <m:accPr>
                        <m:chr m:val="̅"/>
                        <m:ctrlP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 sz="1800" b="0" i="0" u="none" strike="noStrike" baseline="0" dirty="0">
                  <a:latin typeface="CambriaMath"/>
                </a:endParaRPr>
              </a:p>
              <a:p>
                <a:r>
                  <a:rPr lang="he-IL" sz="1800" b="0" i="0" u="none" strike="noStrike" baseline="0" dirty="0">
                    <a:latin typeface="ArialMT"/>
                  </a:rPr>
                  <a:t>ג .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,1}</m:t>
                    </m:r>
                  </m:oMath>
                </a14:m>
                <a:endParaRPr lang="he-IL" sz="1800" b="0" i="0" u="none" strike="noStrike" baseline="0" dirty="0">
                  <a:latin typeface="ArialMT"/>
                </a:endParaRPr>
              </a:p>
              <a:p>
                <a:r>
                  <a:rPr lang="he-IL" sz="1800" b="0" i="0" u="none" strike="noStrike" baseline="0" dirty="0">
                    <a:latin typeface="ArialMT"/>
                  </a:rPr>
                  <a:t>ד .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,0}</m:t>
                    </m:r>
                  </m:oMath>
                </a14:m>
                <a:endParaRPr lang="he-IL" sz="1800" dirty="0">
                  <a:latin typeface="CambriaMath"/>
                </a:endParaRPr>
              </a:p>
              <a:p>
                <a:r>
                  <a:rPr lang="he-IL" sz="1800" b="0" i="0" u="none" strike="noStrike" baseline="0" dirty="0">
                    <a:latin typeface="ArialMT"/>
                  </a:rPr>
                  <a:t>ה.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{</m:t>
                    </m:r>
                    <m:acc>
                      <m:accPr>
                        <m:chr m:val="̅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,1}</m:t>
                    </m:r>
                  </m:oMath>
                </a14:m>
                <a:endParaRPr lang="he-IL" sz="1800" dirty="0">
                  <a:latin typeface="CambriaMath"/>
                </a:endParaRPr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1213E11-09C2-0670-400B-0BF494286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667" r="-194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08924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01B1A4-E4C7-9C11-6934-AFEC066C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שאלה ממבחן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1213E11-09C2-0670-400B-0BF494286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sz="1800" b="0" i="0" u="none" strike="noStrike" baseline="0" dirty="0">
                    <a:latin typeface="ArialMT"/>
                  </a:rPr>
                  <a:t>נתונה הפונקציה </a:t>
                </a:r>
                <a14:m>
                  <m:oMath xmlns:m="http://schemas.openxmlformats.org/officeDocument/2006/math"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he-IL" sz="1800" b="0" i="1" u="none" strike="noStrike" baseline="0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l-GR" sz="1800" b="0" i="0" u="none" strike="noStrike" baseline="0" dirty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l-GR" sz="1800" b="0" i="1" u="none" strike="noStrike" baseline="0" dirty="0" smtClean="0">
                        <a:latin typeface="Cambria Math" panose="02040503050406030204" pitchFamily="18" charset="0"/>
                      </a:rPr>
                      <m:t>(8,9,10,11)</m:t>
                    </m:r>
                  </m:oMath>
                </a14:m>
                <a:endParaRPr lang="el-GR" sz="1800" b="0" i="0" u="none" strike="noStrike" baseline="0" dirty="0">
                  <a:latin typeface="CambriaMath"/>
                </a:endParaRPr>
              </a:p>
              <a:p>
                <a:r>
                  <a:rPr lang="he-IL" sz="1800" b="0" i="0" u="none" strike="noStrike" baseline="0" dirty="0">
                    <a:latin typeface="ArialMT"/>
                  </a:rPr>
                  <a:t>איזו קבוצה </a:t>
                </a:r>
                <a:r>
                  <a:rPr lang="he-IL" sz="1800" b="1" i="0" u="none" strike="noStrike" baseline="0" dirty="0">
                    <a:latin typeface="Arial-BoldMT"/>
                  </a:rPr>
                  <a:t>אינה </a:t>
                </a:r>
                <a:r>
                  <a:rPr lang="he-IL" sz="1800" b="0" i="0" u="none" strike="noStrike" baseline="0" dirty="0">
                    <a:latin typeface="ArialMT"/>
                  </a:rPr>
                  <a:t>מהווה מערכת פעולות שלמה?</a:t>
                </a:r>
              </a:p>
              <a:p>
                <a:r>
                  <a:rPr lang="he-IL" sz="1800" b="0" i="0" u="none" strike="noStrike" baseline="0" dirty="0">
                    <a:latin typeface="ArialMT"/>
                  </a:rPr>
                  <a:t>א .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 sz="1800" dirty="0">
                  <a:latin typeface="CambriaMath"/>
                </a:endParaRPr>
              </a:p>
              <a:p>
                <a:r>
                  <a:rPr lang="he-IL" sz="1800" b="0" i="0" u="none" strike="noStrike" baseline="0" dirty="0">
                    <a:latin typeface="ArialMT"/>
                  </a:rPr>
                  <a:t>ב .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{</m:t>
                    </m:r>
                    <m:acc>
                      <m:accPr>
                        <m:chr m:val="̅"/>
                        <m:ctrlP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 sz="1800" b="0" i="0" u="none" strike="noStrike" baseline="0" dirty="0">
                  <a:latin typeface="CambriaMath"/>
                </a:endParaRPr>
              </a:p>
              <a:p>
                <a:r>
                  <a:rPr lang="he-IL" sz="1800" b="0" i="0" u="none" strike="noStrike" baseline="0" dirty="0">
                    <a:latin typeface="ArialMT"/>
                  </a:rPr>
                  <a:t>ג .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,1}</m:t>
                    </m:r>
                  </m:oMath>
                </a14:m>
                <a:endParaRPr lang="he-IL" sz="1800" b="0" i="0" u="none" strike="noStrike" baseline="0" dirty="0">
                  <a:latin typeface="ArialMT"/>
                </a:endParaRPr>
              </a:p>
              <a:p>
                <a:r>
                  <a:rPr lang="he-IL" sz="1800" b="0" i="0" u="none" strike="noStrike" baseline="0" dirty="0">
                    <a:latin typeface="ArialMT"/>
                  </a:rPr>
                  <a:t>ד .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,0}</m:t>
                    </m:r>
                  </m:oMath>
                </a14:m>
                <a:endParaRPr lang="he-IL" sz="1800" dirty="0">
                  <a:latin typeface="CambriaMath"/>
                </a:endParaRPr>
              </a:p>
              <a:p>
                <a:r>
                  <a:rPr lang="he-IL" sz="1800" b="0" i="0" u="none" strike="noStrike" baseline="0" dirty="0">
                    <a:latin typeface="ArialMT"/>
                  </a:rPr>
                  <a:t>ה.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{</m:t>
                    </m:r>
                    <m:acc>
                      <m:accPr>
                        <m:chr m:val="̅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,1}</m:t>
                    </m:r>
                  </m:oMath>
                </a14:m>
                <a:endParaRPr lang="he-IL" sz="1800" dirty="0">
                  <a:latin typeface="CambriaMath"/>
                </a:endParaRPr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1213E11-09C2-0670-400B-0BF494286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667" r="-194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5AE842CF-C3D1-A941-F389-B5B9A6BE9D5D}"/>
              </a:ext>
            </a:extLst>
          </p:cNvPr>
          <p:cNvSpPr/>
          <p:nvPr/>
        </p:nvSpPr>
        <p:spPr>
          <a:xfrm>
            <a:off x="8043491" y="3552825"/>
            <a:ext cx="304800" cy="304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4649473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1026C442-D67F-921D-F6D4-71DECD46A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072627"/>
              </p:ext>
            </p:extLst>
          </p:nvPr>
        </p:nvGraphicFramePr>
        <p:xfrm>
          <a:off x="1551580" y="1143000"/>
          <a:ext cx="6096000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40974084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266208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5042658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180744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82409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Z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X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25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63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59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755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196223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39F0229F-4BE3-0577-0E98-08B4D69D7A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680" y="609600"/>
            <a:ext cx="7543800" cy="838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he-IL" altLang="he-IL" dirty="0"/>
              <a:t>נרשום את טבלת האמת בכל המקומות בהם הפונקציה מקבלת 0 לפי הנתון.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5B6BC3E-3314-EDDA-543D-5015A92D4A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7680" y="3200400"/>
                <a:ext cx="7543800" cy="304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45720" rIns="0" bIns="45720" numCol="1" anchor="t" anchorCtr="0" compatLnSpc="1">
                <a:prstTxWarp prst="textNoShape">
                  <a:avLst/>
                </a:prstTxWarp>
              </a:bodyPr>
              <a:lstStyle>
                <a:lvl1pPr marL="90488" indent="-90488" algn="r" rtl="1" eaLnBrk="0" fontAlgn="base" hangingPunct="0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382588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566738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749300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931863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Font typeface="Calibri" panose="020F0502020204030204" pitchFamily="34" charset="0"/>
                  <a:buNone/>
                </a:pPr>
                <a:r>
                  <a:rPr lang="he-IL" altLang="he-IL" dirty="0"/>
                  <a:t>נבחין כי הפונקציה הנתונה מתנהגת בצורה עקבית עבור שינוי של ערכי הליטרים </a:t>
                </a:r>
                <a:r>
                  <a:rPr lang="en-US" altLang="he-IL" dirty="0"/>
                  <a:t>Z</a:t>
                </a:r>
                <a:r>
                  <a:rPr lang="he-IL" altLang="he-IL" dirty="0"/>
                  <a:t> ו</a:t>
                </a:r>
                <a:r>
                  <a:rPr lang="en-US" altLang="he-IL" dirty="0"/>
                  <a:t>W</a:t>
                </a:r>
                <a:r>
                  <a:rPr lang="he-IL" altLang="he-IL" dirty="0"/>
                  <a:t> לכל </a:t>
                </a:r>
                <a:r>
                  <a:rPr lang="en-US" altLang="he-IL" dirty="0"/>
                  <a:t>X</a:t>
                </a:r>
                <a:r>
                  <a:rPr lang="he-IL" altLang="he-IL" dirty="0"/>
                  <a:t> ו</a:t>
                </a:r>
                <a:r>
                  <a:rPr lang="en-US" altLang="he-IL" dirty="0"/>
                  <a:t>Y</a:t>
                </a:r>
                <a:r>
                  <a:rPr lang="he-IL" altLang="he-IL" dirty="0"/>
                  <a:t> כפי שנתון בטבלה.</a:t>
                </a:r>
              </a:p>
              <a:p>
                <a:pPr marL="0" indent="0" eaLnBrk="1" hangingPunct="1">
                  <a:buFont typeface="Calibri" panose="020F0502020204030204" pitchFamily="34" charset="0"/>
                  <a:buNone/>
                </a:pPr>
                <a:r>
                  <a:rPr lang="he-IL" altLang="he-IL" dirty="0"/>
                  <a:t>מכאן שהביטוי המצומצם לפונקציה הינו: </a:t>
                </a:r>
                <a14:m>
                  <m:oMath xmlns:m="http://schemas.openxmlformats.org/officeDocument/2006/math"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he-I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he-I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he-I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he-I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he-I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he-IL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he-I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he-IL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he-I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he-I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he-IL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he-IL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he-IL" altLang="he-IL" dirty="0"/>
              </a:p>
              <a:p>
                <a:pPr marL="0" indent="0" eaLnBrk="1" hangingPunct="1">
                  <a:buFont typeface="Calibri" panose="020F0502020204030204" pitchFamily="34" charset="0"/>
                  <a:buNone/>
                </a:pPr>
                <a:r>
                  <a:rPr lang="he-IL" altLang="he-IL" dirty="0"/>
                  <a:t>לפי התנאי שנלמד במהלך התרגול, נבדוק האם הפונקציה מערכת פעולות שלמה:</a:t>
                </a:r>
              </a:p>
              <a:p>
                <a:pPr marL="0" indent="0" eaLnBrk="1" hangingPunct="1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he-IL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he-IL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he-IL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he-IL" b="0" dirty="0"/>
              </a:p>
              <a:p>
                <a:pPr marL="0" indent="0" eaLnBrk="1" hangingPunct="1">
                  <a:buFont typeface="Calibri" panose="020F0502020204030204" pitchFamily="34" charset="0"/>
                  <a:buNone/>
                </a:pPr>
                <a:r>
                  <a:rPr lang="he-IL" altLang="he-IL" dirty="0"/>
                  <a:t>מכאן שהצלחנו לייצר 1 ולפי התנאי ההכרחי, הפונקציה </a:t>
                </a:r>
                <a:r>
                  <a:rPr lang="en-US" altLang="he-IL" dirty="0"/>
                  <a:t>f</a:t>
                </a:r>
                <a:r>
                  <a:rPr lang="he-IL" altLang="he-IL" dirty="0"/>
                  <a:t> בהכרח איננה מערכת פעולות שלמה זאת מאחר והתוצאה לפי התנאי הנלמד שונה מ</a:t>
                </a:r>
                <a:r>
                  <a:rPr lang="en-US" altLang="he-IL" dirty="0"/>
                  <a:t>not</a:t>
                </a:r>
                <a:r>
                  <a:rPr lang="he-IL" altLang="he-IL" dirty="0"/>
                  <a:t>. מכאן שגם הפונקציה </a:t>
                </a:r>
                <a14:m>
                  <m:oMath xmlns:m="http://schemas.openxmlformats.org/officeDocument/2006/math"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,1}</m:t>
                    </m:r>
                  </m:oMath>
                </a14:m>
                <a:r>
                  <a:rPr lang="he-IL" altLang="he-IL" dirty="0"/>
                  <a:t> איננה מערכת פעולות.</a:t>
                </a:r>
              </a:p>
              <a:p>
                <a:pPr marL="0" indent="0" eaLnBrk="1" hangingPunct="1">
                  <a:buFont typeface="Calibri" panose="020F0502020204030204" pitchFamily="34" charset="0"/>
                  <a:buNone/>
                </a:pPr>
                <a:endParaRPr lang="he-IL" altLang="he-IL" dirty="0"/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5B6BC3E-3314-EDDA-543D-5015A92D4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680" y="3200400"/>
                <a:ext cx="7543800" cy="3048000"/>
              </a:xfrm>
              <a:prstGeom prst="rect">
                <a:avLst/>
              </a:prstGeom>
              <a:blipFill>
                <a:blip r:embed="rId3"/>
                <a:stretch>
                  <a:fillRect l="-2344" t="-1800" r="-2021" b="-6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5736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9159-C04D-F631-E6BA-63DD2125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822877E-5B5C-AAEC-48E0-B98F70A8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סיכום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797FD6F-C710-E3A8-802A-BF36034E8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</a:t>
            </a:r>
            <a:r>
              <a:rPr lang="en-US" sz="2400" dirty="0"/>
              <a:t> </a:t>
            </a:r>
            <a:r>
              <a:rPr lang="he-IL" sz="2400" dirty="0"/>
              <a:t>אלגברה בוליאנית 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פונקציות מיתוג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 err="1"/>
              <a:t>ליטרל</a:t>
            </a:r>
            <a:endParaRPr lang="he-IL" sz="2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 err="1"/>
              <a:t>Minterm</a:t>
            </a:r>
            <a:endParaRPr lang="he-IL" sz="2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 err="1"/>
              <a:t>Maxterm</a:t>
            </a:r>
            <a:endParaRPr lang="he-IL" sz="2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/>
              <a:t>צורה קנונית של סכום מכפלות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/>
              <a:t>צורה קנונית של מכפלת סכומים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מערכת פעולות שלמה וחצי שלמה</a:t>
            </a:r>
            <a:endParaRPr lang="en-US" sz="2400" dirty="0"/>
          </a:p>
          <a:p>
            <a:pPr algn="l" rtl="0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 rtl="0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872165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247D4-34A3-A7CE-EC17-FE5FAE9CA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AB8F705-A869-A96C-3610-07D13840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שבוע הבא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EA3B015-17B9-00D1-2A94-75BB51CF9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 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צמצום פונקציות מיתוג ע"י מפות קרנו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חישוב השהיה</a:t>
            </a:r>
            <a:endParaRPr lang="en-US" sz="2400" dirty="0"/>
          </a:p>
          <a:p>
            <a:pPr algn="l" rtl="0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921022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3365</TotalTime>
  <Words>1579</Words>
  <Application>Microsoft Macintosh PowerPoint</Application>
  <PresentationFormat>On-screen Show (4:3)</PresentationFormat>
  <Paragraphs>357</Paragraphs>
  <Slides>46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Arial</vt:lpstr>
      <vt:lpstr>Arial-BoldMT</vt:lpstr>
      <vt:lpstr>ArialMT</vt:lpstr>
      <vt:lpstr>Calibri</vt:lpstr>
      <vt:lpstr>Calibri Light</vt:lpstr>
      <vt:lpstr>Cambria Math</vt:lpstr>
      <vt:lpstr>CambriaMath</vt:lpstr>
      <vt:lpstr>Wingdings</vt:lpstr>
      <vt:lpstr>Retrospect</vt:lpstr>
      <vt:lpstr>Equation</vt:lpstr>
      <vt:lpstr>Document</vt:lpstr>
      <vt:lpstr>Bitmap Image</vt:lpstr>
      <vt:lpstr>   תרגול 3  אלגברה בוליאנית פונקציות מיתוג מערכת פעולות שלמה  </vt:lpstr>
      <vt:lpstr>שבוע שעבר (תזכורת)</vt:lpstr>
      <vt:lpstr>נושאים</vt:lpstr>
      <vt:lpstr>אלגברה בוליאנית</vt:lpstr>
      <vt:lpstr>מוטיבציה</vt:lpstr>
      <vt:lpstr>אלגברה בוליאנית  - זהויות שימושיות</vt:lpstr>
      <vt:lpstr>אלגברה בוליאנית  - זהויות שימושיות</vt:lpstr>
      <vt:lpstr>אלגברה בוליאנית</vt:lpstr>
      <vt:lpstr>אלגברה בוליאנית</vt:lpstr>
      <vt:lpstr>אלגברה בוליאנית</vt:lpstr>
      <vt:lpstr>פונקציות</vt:lpstr>
      <vt:lpstr>פונקציות - הגדרות</vt:lpstr>
      <vt:lpstr>הגדרות</vt:lpstr>
      <vt:lpstr>פונקציות</vt:lpstr>
      <vt:lpstr>פונקציות: 1. טבלת אמת</vt:lpstr>
      <vt:lpstr>פונקציות: 2. סכום מכפלות</vt:lpstr>
      <vt:lpstr>פונקציות: 3. מכפלת סכומים</vt:lpstr>
      <vt:lpstr>פונקציות: 4. דיאגרמה</vt:lpstr>
      <vt:lpstr>פונקציות: 4. דיאגרמה</vt:lpstr>
      <vt:lpstr>פונקציות: 4. דיאגרמה</vt:lpstr>
      <vt:lpstr>פונקציות: 4. דיאגרמה</vt:lpstr>
      <vt:lpstr>פונקציות: 4. דיאגרמה</vt:lpstr>
      <vt:lpstr>דוגמא נוספת</vt:lpstr>
      <vt:lpstr>מעבר לסכום מכפלות קנוני</vt:lpstr>
      <vt:lpstr>מעבר למכפלת סכומים קנונית</vt:lpstr>
      <vt:lpstr>מערכת פעולות שלמה</vt:lpstr>
      <vt:lpstr>מערכת פעולות שלמה</vt:lpstr>
      <vt:lpstr>מערכת פעולות שלמה</vt:lpstr>
      <vt:lpstr>מערכת פעולות שלמה</vt:lpstr>
      <vt:lpstr>מערכת פעולות חצי שלמה</vt:lpstr>
      <vt:lpstr>שאלה ממבחן 1</vt:lpstr>
      <vt:lpstr>שאלה ממבחן 1- פיתרון</vt:lpstr>
      <vt:lpstr>שאלה ממבחן 2</vt:lpstr>
      <vt:lpstr>שאלה ממבחן 2</vt:lpstr>
      <vt:lpstr>שאלה ממבחן 2 - פיתרון</vt:lpstr>
      <vt:lpstr>שאלה ממבחן 3</vt:lpstr>
      <vt:lpstr>שאלה ממבחן 3</vt:lpstr>
      <vt:lpstr>שאלה ממבחן 3</vt:lpstr>
      <vt:lpstr>שאלה ממבחן 4</vt:lpstr>
      <vt:lpstr>שאלה ממבחן 4</vt:lpstr>
      <vt:lpstr>שאלה ממבחן 4</vt:lpstr>
      <vt:lpstr>שאלה ממבחן 5</vt:lpstr>
      <vt:lpstr>שאלה ממבחן 5</vt:lpstr>
      <vt:lpstr>PowerPoint Presentation</vt:lpstr>
      <vt:lpstr>סיכום</vt:lpstr>
      <vt:lpstr>שבוע הבא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פונקציות מיתוג, מערכת פעולות שלמה</dc:title>
  <dc:creator>tnt</dc:creator>
  <cp:lastModifiedBy>Ben Hanuka</cp:lastModifiedBy>
  <cp:revision>168</cp:revision>
  <cp:lastPrinted>2019-04-01T11:18:56Z</cp:lastPrinted>
  <dcterms:created xsi:type="dcterms:W3CDTF">2007-04-06T10:06:29Z</dcterms:created>
  <dcterms:modified xsi:type="dcterms:W3CDTF">2025-12-23T07:17:02Z</dcterms:modified>
</cp:coreProperties>
</file>