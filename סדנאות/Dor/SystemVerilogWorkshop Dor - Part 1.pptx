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5"/>
  </p:notesMasterIdLst>
  <p:sldIdLst>
    <p:sldId id="256" r:id="rId2"/>
    <p:sldId id="577" r:id="rId3"/>
    <p:sldId id="353" r:id="rId4"/>
    <p:sldId id="460" r:id="rId5"/>
    <p:sldId id="289" r:id="rId6"/>
    <p:sldId id="383" r:id="rId7"/>
    <p:sldId id="320" r:id="rId8"/>
    <p:sldId id="321" r:id="rId9"/>
    <p:sldId id="384" r:id="rId10"/>
    <p:sldId id="461" r:id="rId11"/>
    <p:sldId id="336" r:id="rId12"/>
    <p:sldId id="385" r:id="rId13"/>
    <p:sldId id="462" r:id="rId14"/>
    <p:sldId id="267" r:id="rId15"/>
    <p:sldId id="471" r:id="rId16"/>
    <p:sldId id="411" r:id="rId17"/>
    <p:sldId id="452" r:id="rId18"/>
    <p:sldId id="463" r:id="rId19"/>
    <p:sldId id="454" r:id="rId20"/>
    <p:sldId id="455" r:id="rId21"/>
    <p:sldId id="413" r:id="rId22"/>
    <p:sldId id="453" r:id="rId23"/>
    <p:sldId id="576" r:id="rId24"/>
    <p:sldId id="333" r:id="rId25"/>
    <p:sldId id="456" r:id="rId26"/>
    <p:sldId id="464" r:id="rId27"/>
    <p:sldId id="326" r:id="rId28"/>
    <p:sldId id="466" r:id="rId29"/>
    <p:sldId id="480" r:id="rId30"/>
    <p:sldId id="580" r:id="rId31"/>
    <p:sldId id="581" r:id="rId32"/>
    <p:sldId id="459" r:id="rId33"/>
    <p:sldId id="473" r:id="rId34"/>
    <p:sldId id="396" r:id="rId35"/>
    <p:sldId id="457" r:id="rId36"/>
    <p:sldId id="458" r:id="rId37"/>
    <p:sldId id="324" r:id="rId38"/>
    <p:sldId id="578" r:id="rId39"/>
    <p:sldId id="579" r:id="rId40"/>
    <p:sldId id="388" r:id="rId41"/>
    <p:sldId id="401" r:id="rId42"/>
    <p:sldId id="465" r:id="rId43"/>
    <p:sldId id="472" r:id="rId44"/>
    <p:sldId id="374" r:id="rId45"/>
    <p:sldId id="375" r:id="rId46"/>
    <p:sldId id="373" r:id="rId47"/>
    <p:sldId id="474" r:id="rId48"/>
    <p:sldId id="582" r:id="rId49"/>
    <p:sldId id="479" r:id="rId50"/>
    <p:sldId id="475" r:id="rId51"/>
    <p:sldId id="476" r:id="rId52"/>
    <p:sldId id="477" r:id="rId53"/>
    <p:sldId id="478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6" autoAdjust="0"/>
    <p:restoredTop sz="88772" autoAdjust="0"/>
  </p:normalViewPr>
  <p:slideViewPr>
    <p:cSldViewPr snapToGrid="0">
      <p:cViewPr varScale="1">
        <p:scale>
          <a:sx n="157" d="100"/>
          <a:sy n="157" d="100"/>
        </p:scale>
        <p:origin x="12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9FD87-354B-4BF0-9E2E-80DD7324A6DD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335E8-FD18-4802-BD5E-02665AF9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78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6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76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97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05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8914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5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0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40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6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לדבר על </a:t>
            </a:r>
            <a:r>
              <a:rPr lang="en-US" dirty="0"/>
              <a:t>interface</a:t>
            </a:r>
            <a:r>
              <a:rPr lang="he-IL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13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54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93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86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מה זה </a:t>
            </a:r>
            <a:r>
              <a:rPr lang="en-US" dirty="0"/>
              <a:t>mux</a:t>
            </a:r>
            <a:r>
              <a:rPr lang="he-IL" dirty="0"/>
              <a:t>?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54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22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5214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5924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altLang="en-US" dirty="0"/>
          </a:p>
        </p:txBody>
      </p:sp>
    </p:spTree>
    <p:extLst>
      <p:ext uri="{BB962C8B-B14F-4D97-AF65-F5344CB8AC3E}">
        <p14:creationId xmlns:p14="http://schemas.microsoft.com/office/powerpoint/2010/main" val="1741164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e-IL" altLang="en-US" dirty="0"/>
          </a:p>
        </p:txBody>
      </p:sp>
    </p:spTree>
    <p:extLst>
      <p:ext uri="{BB962C8B-B14F-4D97-AF65-F5344CB8AC3E}">
        <p14:creationId xmlns:p14="http://schemas.microsoft.com/office/powerpoint/2010/main" val="4057376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090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095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46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7245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1325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08248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C2CF-2DDB-610F-E8F6-3C4189D1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218EFBB4-2D09-54A5-700C-C16539013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CC252C63-39DE-8D77-9FED-40C78800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60042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6EF2-1F0E-8F66-EAEA-AF09988D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44CE5228-54D0-428E-198D-57353B8F6F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4124AC7E-707A-CB80-5864-A0AD2DBE7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969591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766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28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39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23177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01098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D849-9189-D35C-2344-4D596604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A9C35BB9-6AA5-B48E-62AD-F2EC7519F2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D930EF9F-081F-E333-A025-996C8044A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9766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2053-2656-7651-2C2C-91477EE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C018C869-DBEB-D216-8E7C-AE20E419F1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1A16FBF8-00A4-A775-9D16-1E9AFD027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42079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5228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0064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822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7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AC5D-6072-4AAD-9544-C4B3DA7EFF74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24436-ED5A-4904-85C9-09E0A1AFF4F6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EB56A-A697-4C2A-92D5-83D6488A859E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8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55B7-AAE8-425B-BD2D-E860BCE55F23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5E85B-054A-4C3C-B9A6-6F5E6C33EF1A}" type="datetime1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3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1C43-D947-402B-AA82-AAB3AF8D60F9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2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89E-77A0-41E0-AEC4-F7539BAD0860}" type="datetime1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27111-823D-406B-93B8-5B255ADE7632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4A5E-AA9B-4EAD-9D86-04CBCA171B95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6EE2-9970-4E3E-B581-FA247C9AC65C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DF21-E758-47B6-B528-D87AF8630F03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0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BABFE-4577-4C91-AA0C-2DE1B2B74300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HDL</a:t>
            </a:r>
            <a:br>
              <a:rPr lang="en-US" dirty="0"/>
            </a:br>
            <a:r>
              <a:rPr lang="en-US" dirty="0"/>
              <a:t>Workshop #1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044252 - Digital Systems and Computer Structure</a:t>
            </a:r>
          </a:p>
        </p:txBody>
      </p:sp>
    </p:spTree>
    <p:extLst>
      <p:ext uri="{BB962C8B-B14F-4D97-AF65-F5344CB8AC3E}">
        <p14:creationId xmlns:p14="http://schemas.microsoft.com/office/powerpoint/2010/main" val="392109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843A7CB-FC5F-27CB-631E-BC0D9EE8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84CF88E-CA06-6E74-EFCA-E512AC38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909466-3A5A-C05B-EFA2-50E8C753C411}"/>
              </a:ext>
            </a:extLst>
          </p:cNvPr>
          <p:cNvSpPr txBox="1">
            <a:spLocks/>
          </p:cNvSpPr>
          <p:nvPr/>
        </p:nvSpPr>
        <p:spPr>
          <a:xfrm>
            <a:off x="628650" y="13652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Industry positions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8F6486-1794-F1D2-8F54-13EB7A450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RTL/Logic Design/Front end Engineer</a:t>
            </a:r>
          </a:p>
          <a:p>
            <a:r>
              <a:rPr lang="en-US" dirty="0"/>
              <a:t>Chip design verification</a:t>
            </a:r>
          </a:p>
          <a:p>
            <a:r>
              <a:rPr lang="en-US" dirty="0"/>
              <a:t>Clock Engineer</a:t>
            </a:r>
          </a:p>
          <a:p>
            <a:r>
              <a:rPr lang="en-US" dirty="0"/>
              <a:t>Integration Engineer</a:t>
            </a:r>
          </a:p>
          <a:p>
            <a:r>
              <a:rPr lang="en-US" dirty="0"/>
              <a:t>SDC timing Engineer (Backend)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5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Description Languages</a:t>
            </a:r>
          </a:p>
          <a:p>
            <a:r>
              <a:rPr lang="en-US" dirty="0" err="1"/>
              <a:t>SystemVerilog</a:t>
            </a:r>
            <a:r>
              <a:rPr lang="en-US" dirty="0"/>
              <a:t> Building Blocks:</a:t>
            </a:r>
          </a:p>
          <a:p>
            <a:pPr lvl="1"/>
            <a:r>
              <a:rPr lang="en-US" dirty="0"/>
              <a:t>Modules</a:t>
            </a:r>
          </a:p>
          <a:p>
            <a:pPr lvl="1"/>
            <a:r>
              <a:rPr lang="en-US" dirty="0"/>
              <a:t>The logic data type</a:t>
            </a:r>
          </a:p>
          <a:p>
            <a:pPr lvl="1"/>
            <a:r>
              <a:rPr lang="en-US" dirty="0"/>
              <a:t>Vectors</a:t>
            </a:r>
          </a:p>
          <a:p>
            <a:pPr lvl="1"/>
            <a:r>
              <a:rPr lang="en-US" dirty="0"/>
              <a:t>Module implementation</a:t>
            </a:r>
          </a:p>
          <a:p>
            <a:pPr lvl="2"/>
            <a:r>
              <a:rPr lang="en-US" dirty="0"/>
              <a:t>Module instantiation</a:t>
            </a:r>
          </a:p>
          <a:p>
            <a:r>
              <a:rPr lang="en-US" dirty="0"/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9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Description Languages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logic data type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Vectors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instantiation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8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5">
            <a:extLst>
              <a:ext uri="{FF2B5EF4-FFF2-40B4-BE49-F238E27FC236}">
                <a16:creationId xmlns:a16="http://schemas.microsoft.com/office/drawing/2014/main" id="{BC15A481-D8A8-4321-9DE0-0E483E4A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655045D9-5D60-4318-BD5C-FEE1F274B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sp>
        <p:nvSpPr>
          <p:cNvPr id="23557" name="Rectangle 8">
            <a:extLst>
              <a:ext uri="{FF2B5EF4-FFF2-40B4-BE49-F238E27FC236}">
                <a16:creationId xmlns:a16="http://schemas.microsoft.com/office/drawing/2014/main" id="{519AF246-BD20-4B2A-A45C-AB2D0878A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43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/>
          </a:p>
        </p:txBody>
      </p:sp>
      <p:pic>
        <p:nvPicPr>
          <p:cNvPr id="23558" name="Picture 1">
            <a:extLst>
              <a:ext uri="{FF2B5EF4-FFF2-40B4-BE49-F238E27FC236}">
                <a16:creationId xmlns:a16="http://schemas.microsoft.com/office/drawing/2014/main" id="{7ADA268E-3CB1-4438-81EE-723B0A591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55838"/>
            <a:ext cx="25908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2">
            <a:extLst>
              <a:ext uri="{FF2B5EF4-FFF2-40B4-BE49-F238E27FC236}">
                <a16:creationId xmlns:a16="http://schemas.microsoft.com/office/drawing/2014/main" id="{A68AD040-6498-458F-94F3-F660BADAF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59013"/>
            <a:ext cx="24765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3">
            <a:extLst>
              <a:ext uri="{FF2B5EF4-FFF2-40B4-BE49-F238E27FC236}">
                <a16:creationId xmlns:a16="http://schemas.microsoft.com/office/drawing/2014/main" id="{29A4047A-A1AD-4DE5-8E42-A9318DA491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270125"/>
            <a:ext cx="22669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4">
            <a:extLst>
              <a:ext uri="{FF2B5EF4-FFF2-40B4-BE49-F238E27FC236}">
                <a16:creationId xmlns:a16="http://schemas.microsoft.com/office/drawing/2014/main" id="{2D162652-E06A-445A-9BF0-FCBD68F9F6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5" y="2270125"/>
            <a:ext cx="229552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637982-0AE5-4A19-AAFD-8C6BD28B4D1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02212" y="5486400"/>
            <a:ext cx="3140075" cy="369332"/>
          </a:xfrm>
          <a:prstGeom prst="rect">
            <a:avLst/>
          </a:prstGeom>
          <a:blipFill rotWithShape="0">
            <a:blip r:embed="rId7"/>
            <a:stretch>
              <a:fillRect r="-3883"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ED819-10DC-4ACF-A014-CD1E3A58442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6962" y="5486400"/>
            <a:ext cx="3140075" cy="369332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he-IL">
                <a:noFill/>
              </a:rPr>
              <a:t> 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222F942-5490-476D-BBFA-22B5363F5007}"/>
              </a:ext>
            </a:extLst>
          </p:cNvPr>
          <p:cNvSpPr txBox="1">
            <a:spLocks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 Gates – A Reminder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567660" y="3590925"/>
            <a:ext cx="3852440" cy="26025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Hardware Description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235" y="3975011"/>
            <a:ext cx="2675680" cy="16092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Netlist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9110" y="1467064"/>
            <a:ext cx="2675680" cy="1857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Schematic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685" y="1467064"/>
            <a:ext cx="2675680" cy="1857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Truth table</a:t>
            </a:r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Ways to Represent Hardware: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6</a:t>
            </a:fld>
            <a:endParaRPr lang="en-US"/>
          </a:p>
        </p:txBody>
      </p:sp>
      <p:pic>
        <p:nvPicPr>
          <p:cNvPr id="3074" name="Picture 2" descr="Image result for hardware description language"/>
          <p:cNvPicPr>
            <a:picLocks noChangeAspect="1" noChangeArrowheads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435" y="1876074"/>
            <a:ext cx="2085030" cy="103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27">
            <a:extLst>
              <a:ext uri="{FF2B5EF4-FFF2-40B4-BE49-F238E27FC236}">
                <a16:creationId xmlns:a16="http://schemas.microsoft.com/office/drawing/2014/main" id="{434C8C6F-902D-42F8-A49A-7A1334A29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780" y="4489106"/>
            <a:ext cx="2508590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nand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(Z,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X, Y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Box 27">
            <a:extLst>
              <a:ext uri="{FF2B5EF4-FFF2-40B4-BE49-F238E27FC236}">
                <a16:creationId xmlns:a16="http://schemas.microsoft.com/office/drawing/2014/main" id="{434C8C6F-902D-42F8-A49A-7A1334A29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410" y="3982188"/>
            <a:ext cx="2999530" cy="70788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 eaLnBrk="0" hangingPunct="0">
              <a:defRPr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 eaLnBrk="0" hangingPunct="0">
              <a:defRPr sz="1400"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9pPr>
          </a:lstStyle>
          <a:p>
            <a:r>
              <a:rPr lang="en-US" dirty="0"/>
              <a:t>logic Z;</a:t>
            </a:r>
          </a:p>
          <a:p>
            <a:r>
              <a:rPr lang="en-US" dirty="0"/>
              <a:t>assign Z = X ~&amp; Y;</a:t>
            </a:r>
          </a:p>
        </p:txBody>
      </p:sp>
      <p:sp>
        <p:nvSpPr>
          <p:cNvPr id="9" name="Text Box 27">
            <a:extLst>
              <a:ext uri="{FF2B5EF4-FFF2-40B4-BE49-F238E27FC236}">
                <a16:creationId xmlns:a16="http://schemas.microsoft.com/office/drawing/2014/main" id="{434C8C6F-902D-42F8-A49A-7A1334A29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410" y="4779645"/>
            <a:ext cx="2999530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anchor="ctr">
            <a:spAutoFit/>
          </a:bodyPr>
          <a:lstStyle>
            <a:defPPr>
              <a:defRPr lang="en-US"/>
            </a:defPPr>
            <a:lvl1pPr eaLnBrk="0" hangingPunct="0">
              <a:defRPr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 eaLnBrk="0" hangingPunct="0">
              <a:defRPr sz="1400"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latin typeface="Arial" panose="020B0604020202020204" pitchFamily="34" charset="0"/>
              </a:defRPr>
            </a:lvl9pPr>
          </a:lstStyle>
          <a:p>
            <a:r>
              <a:rPr lang="en-US" dirty="0"/>
              <a:t>logic Z;</a:t>
            </a:r>
          </a:p>
          <a:p>
            <a:r>
              <a:rPr lang="en-US" dirty="0" err="1"/>
              <a:t>always_comb</a:t>
            </a:r>
            <a:endParaRPr lang="en-US" dirty="0"/>
          </a:p>
          <a:p>
            <a:r>
              <a:rPr lang="en-US" dirty="0"/>
              <a:t>    if (X) Z = ~Y;</a:t>
            </a:r>
          </a:p>
          <a:p>
            <a:r>
              <a:rPr lang="en-US" dirty="0"/>
              <a:t>	 else   Z = 1;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705120"/>
              </p:ext>
            </p:extLst>
          </p:nvPr>
        </p:nvGraphicFramePr>
        <p:xfrm>
          <a:off x="1225210" y="1994680"/>
          <a:ext cx="1514475" cy="116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235">
                <a:tc>
                  <a:txBody>
                    <a:bodyPr/>
                    <a:lstStyle/>
                    <a:p>
                      <a:r>
                        <a:rPr lang="en-US" sz="105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0</a:t>
                      </a:r>
                      <a:endParaRPr lang="en-US" sz="2800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6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3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Hardware Description Languages (HDLs)</a:t>
            </a:r>
          </a:p>
        </p:txBody>
      </p:sp>
      <p:sp>
        <p:nvSpPr>
          <p:cNvPr id="2816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Textual representation of digital circuits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HDLs are not “programming languages”</a:t>
            </a:r>
          </a:p>
          <a:p>
            <a:pPr lvl="1"/>
            <a:r>
              <a:rPr lang="en-US" altLang="en-US" dirty="0"/>
              <a:t>No, really. Even if they look like it, they are not.</a:t>
            </a:r>
          </a:p>
          <a:p>
            <a:pPr lvl="1"/>
            <a:endParaRPr lang="en-US" altLang="en-US" dirty="0">
              <a:solidFill>
                <a:srgbClr val="F7020B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Similar development chain to software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</a:rPr>
              <a:t>Software: Compiler</a:t>
            </a:r>
            <a:endParaRPr lang="en-US" altLang="en-US" dirty="0">
              <a:solidFill>
                <a:srgbClr val="000000"/>
              </a:solidFill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Source code 	</a:t>
            </a:r>
            <a:r>
              <a:rPr lang="en-US" altLang="en-US" dirty="0">
                <a:solidFill>
                  <a:srgbClr val="000000"/>
                </a:solidFill>
                <a:sym typeface="Wingdings" panose="05000000000000000000" pitchFamily="2" charset="2"/>
              </a:rPr>
              <a:t> Assembly code  Machine code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000000"/>
                </a:solidFill>
                <a:sym typeface="Wingdings" panose="05000000000000000000" pitchFamily="2" charset="2"/>
              </a:rPr>
              <a:t>Hardware: Synthesizer</a:t>
            </a:r>
            <a:endParaRPr lang="en-US" altLang="en-US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  <a:sym typeface="Wingdings" panose="05000000000000000000" pitchFamily="2" charset="2"/>
              </a:rPr>
              <a:t>HDL Source	 Netlist	 Hardware</a:t>
            </a:r>
            <a:endParaRPr lang="en-US" altLang="en-US" dirty="0">
              <a:solidFill>
                <a:srgbClr val="F7020B"/>
              </a:solidFill>
            </a:endParaRPr>
          </a:p>
          <a:p>
            <a:pPr lvl="1"/>
            <a:endParaRPr lang="en-US" altLang="en-US" dirty="0">
              <a:solidFill>
                <a:srgbClr val="F7020B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7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Use an HDL?</a:t>
            </a:r>
          </a:p>
        </p:txBody>
      </p:sp>
      <p:sp>
        <p:nvSpPr>
          <p:cNvPr id="3665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Easy to write and edit</a:t>
            </a:r>
          </a:p>
          <a:p>
            <a:r>
              <a:rPr lang="en-US" altLang="en-US" dirty="0"/>
              <a:t>Compact</a:t>
            </a:r>
          </a:p>
          <a:p>
            <a:r>
              <a:rPr lang="en-US" altLang="en-US" dirty="0"/>
              <a:t>Don’t have to follow a maze of lines</a:t>
            </a:r>
          </a:p>
          <a:p>
            <a:r>
              <a:rPr lang="en-US" altLang="en-US" dirty="0"/>
              <a:t>Easy to analyze with various tools</a:t>
            </a:r>
          </a:p>
          <a:p>
            <a:endParaRPr lang="en-US" altLang="en-US" dirty="0"/>
          </a:p>
          <a:p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8</a:t>
            </a:fld>
            <a:endParaRPr lang="en-US"/>
          </a:p>
        </p:txBody>
      </p:sp>
      <p:pic>
        <p:nvPicPr>
          <p:cNvPr id="4098" name="Picture 2" descr="Image result for sca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576" y="770660"/>
            <a:ext cx="2605921" cy="19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 result for block diagram viva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66" y="3797085"/>
            <a:ext cx="8083914" cy="252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9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SystemVerilog</a:t>
            </a:r>
            <a:endParaRPr lang="en-IN" alt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48235" y="1825625"/>
            <a:ext cx="806711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dirty="0"/>
              <a:t>Superset of Verilog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One of the two leading HDLs - VHDL is the other.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Most digital chips are designed in part using one of these two languages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47E239-4FF7-4B23-B64F-28EF6454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053" y="3661474"/>
            <a:ext cx="3220628" cy="266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3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Hardware Description Languages</a:t>
            </a:r>
          </a:p>
          <a:p>
            <a:r>
              <a:rPr lang="en-US" dirty="0" err="1"/>
              <a:t>SystemVerilog</a:t>
            </a:r>
            <a:r>
              <a:rPr lang="en-US" dirty="0"/>
              <a:t> Building Blocks:</a:t>
            </a:r>
          </a:p>
          <a:p>
            <a:pPr lvl="1"/>
            <a:r>
              <a:rPr lang="en-US" dirty="0"/>
              <a:t>Modules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logic data type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Vectors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instantiation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8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Modules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571624"/>
            <a:ext cx="8115300" cy="4230911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chemeClr val="hlink"/>
                </a:solidFill>
                <a:latin typeface="Courier" charset="0"/>
              </a:rPr>
              <a:t>module</a:t>
            </a:r>
            <a:r>
              <a:rPr lang="en-US" altLang="en-US" dirty="0"/>
              <a:t>:</a:t>
            </a:r>
            <a:r>
              <a:rPr lang="en-US" altLang="en-US" sz="2800" dirty="0"/>
              <a:t> fundamental building block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 dirty="0"/>
              <a:t>Describes a digita</a:t>
            </a:r>
            <a:r>
              <a:rPr lang="en-US" altLang="en-US" dirty="0"/>
              <a:t>l circuit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 dirty="0"/>
              <a:t>Hierarchical modules contain (instantiate) other modules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11</a:t>
            </a:fld>
            <a:endParaRPr lang="en-US"/>
          </a:p>
        </p:txBody>
      </p:sp>
      <p:grpSp>
        <p:nvGrpSpPr>
          <p:cNvPr id="7" name="Group 29">
            <a:extLst>
              <a:ext uri="{FF2B5EF4-FFF2-40B4-BE49-F238E27FC236}">
                <a16:creationId xmlns:a16="http://schemas.microsoft.com/office/drawing/2014/main" id="{4C947E3A-4975-40A8-A035-6644FD84BAD4}"/>
              </a:ext>
            </a:extLst>
          </p:cNvPr>
          <p:cNvGrpSpPr>
            <a:grpSpLocks/>
          </p:cNvGrpSpPr>
          <p:nvPr/>
        </p:nvGrpSpPr>
        <p:grpSpPr bwMode="auto">
          <a:xfrm>
            <a:off x="1736190" y="2874052"/>
            <a:ext cx="5671620" cy="2659007"/>
            <a:chOff x="318" y="1344"/>
            <a:chExt cx="2633" cy="1344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45167A67-4BEE-4AF3-B9B8-206142B0B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440"/>
              <a:ext cx="1632" cy="1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IN" sz="1800">
                <a:latin typeface="Arial" charset="0"/>
              </a:endParaRPr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3A17249B-071B-4C68-A1D1-86FB3A1BA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63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A082F877-0BC8-4F95-B267-2BC556BF2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87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0F69AA47-2481-482B-8625-EAA4AE4A2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B4732958-F907-44B3-87E4-8C163FDAD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80"/>
              <a:ext cx="432" cy="7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2800"/>
                <a:t>f</a:t>
              </a:r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73B9A50B-02C5-43EB-97CC-3AA185E0C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632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48F81FE7-690E-44CF-B11D-2091C0990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872"/>
              <a:ext cx="57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2588DAC2-3147-4A1A-A946-4410DB751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2304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6C3EB0E4-43B3-4F85-916B-1286AB3BE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872B2550-B025-4166-A401-60C2FBD4E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2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44242ED-5A05-4CB8-A071-8BA91A3BA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D01505EB-4EB3-455E-8740-6F3DB24E56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584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CE104190-9F6F-4E6A-8D38-265BBB231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824"/>
              <a:ext cx="62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78877C8C-DF02-4EE0-B8B9-297E7F2D9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2304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07F8DBB5-CD62-4B85-B302-CEB5AC8A7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92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in1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C1E3AB4E-6EE2-4F16-A525-CD2366A76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632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in2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A2D6D523-5DBA-405B-A045-549005468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" y="225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inN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A2D7EFAA-598C-4FFA-B079-FAB4AB6D3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1344"/>
              <a:ext cx="4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out1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314E52AD-7B65-4717-AA49-0938EC2E5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1584"/>
              <a:ext cx="4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out2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368099DA-389C-4B61-A722-73BDE6813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" y="2256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outM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30B000C0-F53B-4165-9089-077F8CA38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92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my_module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FDD8B1-65A7-4A58-9C8B-94D6C4C1F94B}"/>
              </a:ext>
            </a:extLst>
          </p:cNvPr>
          <p:cNvSpPr/>
          <p:nvPr/>
        </p:nvSpPr>
        <p:spPr>
          <a:xfrm>
            <a:off x="956442" y="5674676"/>
            <a:ext cx="7049224" cy="6572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32EBD14B-57D1-4625-A85B-AAAD2E72B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36" y="5837737"/>
            <a:ext cx="72122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b="1" dirty="0"/>
              <a:t>Everything you write in </a:t>
            </a:r>
            <a:r>
              <a:rPr lang="en-US" altLang="en-US" sz="1800" b="1" dirty="0"/>
              <a:t>System</a:t>
            </a:r>
            <a:r>
              <a:rPr lang="el-GR" altLang="en-US" sz="1800" b="1" dirty="0"/>
              <a:t>Verilog must be inside a module</a:t>
            </a:r>
            <a:r>
              <a:rPr lang="en-US" altLang="en-US" sz="1800" b="1" dirty="0"/>
              <a:t>!</a:t>
            </a:r>
            <a:endParaRPr lang="el-G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695612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27"/>
          <p:cNvSpPr txBox="1">
            <a:spLocks noChangeArrowheads="1"/>
          </p:cNvSpPr>
          <p:nvPr/>
        </p:nvSpPr>
        <p:spPr bwMode="auto">
          <a:xfrm>
            <a:off x="1966814" y="1848137"/>
            <a:ext cx="5223231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en-US" sz="1600" b="1" dirty="0">
                <a:latin typeface="Courier New" panose="02070309020205020404" pitchFamily="49" charset="0"/>
              </a:rPr>
              <a:t>module</a:t>
            </a:r>
            <a:r>
              <a:rPr lang="el-GR" altLang="en-US" sz="1600" dirty="0">
                <a:latin typeface="Courier New" panose="02070309020205020404" pitchFamily="49" charset="0"/>
              </a:rPr>
              <a:t> my_module(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output logic out1,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output logic out2,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</a:t>
            </a:r>
            <a:r>
              <a:rPr lang="el-GR" altLang="en-US" sz="1600" dirty="0">
                <a:latin typeface="Courier New" panose="02070309020205020404" pitchFamily="49" charset="0"/>
              </a:rPr>
              <a:t>..,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input logic </a:t>
            </a:r>
            <a:r>
              <a:rPr lang="en-US" altLang="en-US" sz="1600" dirty="0" err="1">
                <a:latin typeface="Courier New" panose="02070309020205020404" pitchFamily="49" charset="0"/>
              </a:rPr>
              <a:t>inN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l-GR" altLang="en-US" sz="1600" dirty="0">
                <a:latin typeface="Courier New" panose="02070309020205020404" pitchFamily="49" charset="0"/>
              </a:rPr>
              <a:t>);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endParaRPr lang="el-GR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.</a:t>
            </a:r>
            <a:r>
              <a:rPr lang="el-GR" altLang="en-US" sz="1600" dirty="0">
                <a:latin typeface="Courier New" panose="02070309020205020404" pitchFamily="49" charset="0"/>
              </a:rPr>
              <a:t>.. // declarations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.</a:t>
            </a:r>
            <a:r>
              <a:rPr lang="el-GR" altLang="en-US" sz="1600" dirty="0">
                <a:latin typeface="Courier New" panose="02070309020205020404" pitchFamily="49" charset="0"/>
              </a:rPr>
              <a:t>.. // description of f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endParaRPr lang="el-GR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l-GR" altLang="en-US" sz="1600" b="1" dirty="0">
                <a:latin typeface="Courier New" panose="02070309020205020404" pitchFamily="49" charset="0"/>
              </a:rPr>
              <a:t>endmodule</a:t>
            </a:r>
            <a:endParaRPr lang="el-GR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59" name="Arrow: Left 58">
            <a:extLst>
              <a:ext uri="{FF2B5EF4-FFF2-40B4-BE49-F238E27FC236}">
                <a16:creationId xmlns:a16="http://schemas.microsoft.com/office/drawing/2014/main" id="{0E889D57-4B25-4855-B2B5-667F5D423482}"/>
              </a:ext>
            </a:extLst>
          </p:cNvPr>
          <p:cNvSpPr/>
          <p:nvPr/>
        </p:nvSpPr>
        <p:spPr>
          <a:xfrm rot="7633936">
            <a:off x="890679" y="2753865"/>
            <a:ext cx="1828623" cy="23064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n-US" dirty="0"/>
              <a:t>Module</a:t>
            </a:r>
            <a:r>
              <a:rPr lang="en-US" altLang="en-US" dirty="0"/>
              <a:t>s</a:t>
            </a:r>
            <a:endParaRPr lang="el-GR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12</a:t>
            </a:fld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86B4B9EC-6E91-4F08-A1B3-DF14442A1921}"/>
              </a:ext>
            </a:extLst>
          </p:cNvPr>
          <p:cNvSpPr/>
          <p:nvPr/>
        </p:nvSpPr>
        <p:spPr>
          <a:xfrm rot="5018849">
            <a:off x="2916236" y="6030653"/>
            <a:ext cx="749297" cy="251823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2CB532E4-3E7B-4236-8EFF-FDAEE7353931}"/>
              </a:ext>
            </a:extLst>
          </p:cNvPr>
          <p:cNvSpPr/>
          <p:nvPr/>
        </p:nvSpPr>
        <p:spPr>
          <a:xfrm rot="18609902">
            <a:off x="3247052" y="1470212"/>
            <a:ext cx="846544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5B6D99-E715-457F-876E-2937BE09D97E}"/>
              </a:ext>
            </a:extLst>
          </p:cNvPr>
          <p:cNvSpPr/>
          <p:nvPr/>
        </p:nvSpPr>
        <p:spPr>
          <a:xfrm>
            <a:off x="3248025" y="813475"/>
            <a:ext cx="1567543" cy="4937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Name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198CCDA-B639-49FF-80F4-3F33363D67C0}"/>
              </a:ext>
            </a:extLst>
          </p:cNvPr>
          <p:cNvSpPr/>
          <p:nvPr/>
        </p:nvSpPr>
        <p:spPr>
          <a:xfrm>
            <a:off x="4815568" y="2310068"/>
            <a:ext cx="298579" cy="1244863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D5A2EF3-1C48-43B7-8F2E-28AB0A7D76C2}"/>
              </a:ext>
            </a:extLst>
          </p:cNvPr>
          <p:cNvSpPr/>
          <p:nvPr/>
        </p:nvSpPr>
        <p:spPr>
          <a:xfrm>
            <a:off x="5630878" y="2253936"/>
            <a:ext cx="1567543" cy="135712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Input and Output Declaration</a:t>
            </a:r>
          </a:p>
        </p:txBody>
      </p:sp>
      <p:grpSp>
        <p:nvGrpSpPr>
          <p:cNvPr id="36" name="Group 29">
            <a:extLst>
              <a:ext uri="{FF2B5EF4-FFF2-40B4-BE49-F238E27FC236}">
                <a16:creationId xmlns:a16="http://schemas.microsoft.com/office/drawing/2014/main" id="{B9BC84B4-EAF6-4E79-8D4A-5B0CBF7C6FF2}"/>
              </a:ext>
            </a:extLst>
          </p:cNvPr>
          <p:cNvGrpSpPr>
            <a:grpSpLocks/>
          </p:cNvGrpSpPr>
          <p:nvPr/>
        </p:nvGrpSpPr>
        <p:grpSpPr bwMode="auto">
          <a:xfrm>
            <a:off x="5366765" y="4857088"/>
            <a:ext cx="3620841" cy="1499263"/>
            <a:chOff x="318" y="1344"/>
            <a:chExt cx="2633" cy="1344"/>
          </a:xfrm>
        </p:grpSpPr>
        <p:sp>
          <p:nvSpPr>
            <p:cNvPr id="37" name="Rectangle 3">
              <a:extLst>
                <a:ext uri="{FF2B5EF4-FFF2-40B4-BE49-F238E27FC236}">
                  <a16:creationId xmlns:a16="http://schemas.microsoft.com/office/drawing/2014/main" id="{41F1AC30-79B4-495F-9478-B3F3FABC8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440"/>
              <a:ext cx="1632" cy="1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IN" sz="1800">
                <a:latin typeface="Arial" charset="0"/>
              </a:endParaRPr>
            </a:p>
          </p:txBody>
        </p:sp>
        <p:sp>
          <p:nvSpPr>
            <p:cNvPr id="38" name="Line 4">
              <a:extLst>
                <a:ext uri="{FF2B5EF4-FFF2-40B4-BE49-F238E27FC236}">
                  <a16:creationId xmlns:a16="http://schemas.microsoft.com/office/drawing/2014/main" id="{8C954718-453D-4635-92C6-017D19614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63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5E8765A5-658E-4940-B8C9-75719ABFE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87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4DBD31B5-12AE-48CB-B581-690364BAC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7">
              <a:extLst>
                <a:ext uri="{FF2B5EF4-FFF2-40B4-BE49-F238E27FC236}">
                  <a16:creationId xmlns:a16="http://schemas.microsoft.com/office/drawing/2014/main" id="{B0A23001-12C5-4B40-975E-0212D69F9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80"/>
              <a:ext cx="432" cy="7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2800"/>
                <a:t>f</a:t>
              </a:r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326A1837-22D9-4170-9FA5-3E582C29C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632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BB6DFB0E-F4C8-47A2-AF2B-A9431CCC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872"/>
              <a:ext cx="57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103CF5EC-278B-4F08-9446-89708A707B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2304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9058F6FC-BA77-4B35-A3BA-825A09339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14">
              <a:extLst>
                <a:ext uri="{FF2B5EF4-FFF2-40B4-BE49-F238E27FC236}">
                  <a16:creationId xmlns:a16="http://schemas.microsoft.com/office/drawing/2014/main" id="{E41BC551-9279-42F5-9CCD-B14EC4FBF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2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15">
              <a:extLst>
                <a:ext uri="{FF2B5EF4-FFF2-40B4-BE49-F238E27FC236}">
                  <a16:creationId xmlns:a16="http://schemas.microsoft.com/office/drawing/2014/main" id="{E5F0DBDC-0473-48AF-B5BA-445BDF709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16">
              <a:extLst>
                <a:ext uri="{FF2B5EF4-FFF2-40B4-BE49-F238E27FC236}">
                  <a16:creationId xmlns:a16="http://schemas.microsoft.com/office/drawing/2014/main" id="{2E888BE9-C6D6-4E53-AE27-808C83F90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584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0ACF1456-C08D-4A67-B3CB-DB7B7760A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1824"/>
              <a:ext cx="62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710F9A03-89B0-452B-ADE8-13B11BF3F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2304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E29F2604-CA15-4503-9425-102D76A92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92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in1</a:t>
              </a:r>
            </a:p>
          </p:txBody>
        </p:sp>
        <p:sp>
          <p:nvSpPr>
            <p:cNvPr id="52" name="Text Box 20">
              <a:extLst>
                <a:ext uri="{FF2B5EF4-FFF2-40B4-BE49-F238E27FC236}">
                  <a16:creationId xmlns:a16="http://schemas.microsoft.com/office/drawing/2014/main" id="{25C28088-B7EF-4979-88B5-63789D82F0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632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in2</a:t>
              </a:r>
            </a:p>
          </p:txBody>
        </p:sp>
        <p:sp>
          <p:nvSpPr>
            <p:cNvPr id="53" name="Text Box 21">
              <a:extLst>
                <a:ext uri="{FF2B5EF4-FFF2-40B4-BE49-F238E27FC236}">
                  <a16:creationId xmlns:a16="http://schemas.microsoft.com/office/drawing/2014/main" id="{76266EA1-16D3-4C2C-BFF9-8CB4059C1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" y="225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inN</a:t>
              </a:r>
            </a:p>
          </p:txBody>
        </p:sp>
        <p:sp>
          <p:nvSpPr>
            <p:cNvPr id="54" name="Text Box 22">
              <a:extLst>
                <a:ext uri="{FF2B5EF4-FFF2-40B4-BE49-F238E27FC236}">
                  <a16:creationId xmlns:a16="http://schemas.microsoft.com/office/drawing/2014/main" id="{DFE37DC0-C701-4AE6-B229-B70A53C25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1344"/>
              <a:ext cx="4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out1</a:t>
              </a:r>
            </a:p>
          </p:txBody>
        </p:sp>
        <p:sp>
          <p:nvSpPr>
            <p:cNvPr id="55" name="Text Box 23">
              <a:extLst>
                <a:ext uri="{FF2B5EF4-FFF2-40B4-BE49-F238E27FC236}">
                  <a16:creationId xmlns:a16="http://schemas.microsoft.com/office/drawing/2014/main" id="{34C8AD01-E78F-4D97-8BCA-8B374F6F5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1584"/>
              <a:ext cx="4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out2</a:t>
              </a:r>
            </a:p>
          </p:txBody>
        </p:sp>
        <p:sp>
          <p:nvSpPr>
            <p:cNvPr id="56" name="Text Box 24">
              <a:extLst>
                <a:ext uri="{FF2B5EF4-FFF2-40B4-BE49-F238E27FC236}">
                  <a16:creationId xmlns:a16="http://schemas.microsoft.com/office/drawing/2014/main" id="{054EBE16-2A59-47C3-BB20-FABB06BCB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" y="2256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outM</a:t>
              </a:r>
            </a:p>
          </p:txBody>
        </p:sp>
        <p:sp>
          <p:nvSpPr>
            <p:cNvPr id="57" name="Text Box 26">
              <a:extLst>
                <a:ext uri="{FF2B5EF4-FFF2-40B4-BE49-F238E27FC236}">
                  <a16:creationId xmlns:a16="http://schemas.microsoft.com/office/drawing/2014/main" id="{3B8407CF-E1CB-4C6A-B352-8A69BAB42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392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l-GR" altLang="en-US" sz="1800"/>
                <a:t>my_module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1DBE61-EC54-4871-B891-3B946E4BFA16}"/>
              </a:ext>
            </a:extLst>
          </p:cNvPr>
          <p:cNvSpPr/>
          <p:nvPr/>
        </p:nvSpPr>
        <p:spPr>
          <a:xfrm>
            <a:off x="3040203" y="6094189"/>
            <a:ext cx="1567543" cy="49370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 ; !</a:t>
            </a:r>
          </a:p>
        </p:txBody>
      </p:sp>
      <p:sp>
        <p:nvSpPr>
          <p:cNvPr id="60" name="Arrow: Left 59">
            <a:extLst>
              <a:ext uri="{FF2B5EF4-FFF2-40B4-BE49-F238E27FC236}">
                <a16:creationId xmlns:a16="http://schemas.microsoft.com/office/drawing/2014/main" id="{F810F088-2E7C-45D3-9850-92A70FE9D8AC}"/>
              </a:ext>
            </a:extLst>
          </p:cNvPr>
          <p:cNvSpPr/>
          <p:nvPr/>
        </p:nvSpPr>
        <p:spPr>
          <a:xfrm rot="14070448">
            <a:off x="849103" y="4608930"/>
            <a:ext cx="1961962" cy="24702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9D58C21-F81F-423B-A51B-BA74EB046197}"/>
              </a:ext>
            </a:extLst>
          </p:cNvPr>
          <p:cNvSpPr/>
          <p:nvPr/>
        </p:nvSpPr>
        <p:spPr>
          <a:xfrm>
            <a:off x="139570" y="3530627"/>
            <a:ext cx="1567543" cy="4937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Start &amp; End</a:t>
            </a:r>
          </a:p>
        </p:txBody>
      </p:sp>
    </p:spTree>
    <p:extLst>
      <p:ext uri="{BB962C8B-B14F-4D97-AF65-F5344CB8AC3E}">
        <p14:creationId xmlns:p14="http://schemas.microsoft.com/office/powerpoint/2010/main" val="26560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" grpId="0" animBg="1"/>
      <p:bldP spid="33" grpId="0" animBg="1"/>
      <p:bldP spid="32" grpId="0" animBg="1"/>
      <p:bldP spid="7" grpId="0" animBg="1"/>
      <p:bldP spid="35" grpId="0" animBg="1"/>
      <p:bldP spid="5" grpId="0" animBg="1"/>
      <p:bldP spid="60" grpId="0" animBg="1"/>
      <p:bldP spid="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Hardware Description Languages</a:t>
            </a:r>
          </a:p>
          <a:p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Modules</a:t>
            </a:r>
          </a:p>
          <a:p>
            <a:pPr lvl="1"/>
            <a:r>
              <a:rPr lang="en-US" dirty="0"/>
              <a:t>The logic data type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Vectors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instantiation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22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E750C19-6A68-45D6-AF51-9AF8B64DE78C}"/>
              </a:ext>
            </a:extLst>
          </p:cNvPr>
          <p:cNvGrpSpPr/>
          <p:nvPr/>
        </p:nvGrpSpPr>
        <p:grpSpPr>
          <a:xfrm>
            <a:off x="6493427" y="2397609"/>
            <a:ext cx="1713486" cy="850719"/>
            <a:chOff x="2034547" y="4985217"/>
            <a:chExt cx="1713486" cy="850719"/>
          </a:xfrm>
        </p:grpSpPr>
        <p:pic>
          <p:nvPicPr>
            <p:cNvPr id="21" name="Picture 2" descr="Image result for hardware description language">
              <a:extLst>
                <a:ext uri="{FF2B5EF4-FFF2-40B4-BE49-F238E27FC236}">
                  <a16:creationId xmlns:a16="http://schemas.microsoft.com/office/drawing/2014/main" id="{FBDB1F2A-8AC1-4C55-87FA-3BDB797AD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4547" y="4985217"/>
              <a:ext cx="1706609" cy="850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725A71-FD2A-4D35-8123-F101EC796E9B}"/>
                </a:ext>
              </a:extLst>
            </p:cNvPr>
            <p:cNvSpPr/>
            <p:nvPr/>
          </p:nvSpPr>
          <p:spPr>
            <a:xfrm>
              <a:off x="2036190" y="5109328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218E22B-D355-4926-8B64-C05199F14604}"/>
                </a:ext>
              </a:extLst>
            </p:cNvPr>
            <p:cNvSpPr/>
            <p:nvPr/>
          </p:nvSpPr>
          <p:spPr>
            <a:xfrm>
              <a:off x="2037759" y="5478546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0496FA2-BE36-4361-840A-EB016FF6F23B}"/>
                </a:ext>
              </a:extLst>
            </p:cNvPr>
            <p:cNvSpPr/>
            <p:nvPr/>
          </p:nvSpPr>
          <p:spPr>
            <a:xfrm>
              <a:off x="3559497" y="5307276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6C5ED-3C67-4DE0-969E-7F2F352808F4}"/>
              </a:ext>
            </a:extLst>
          </p:cNvPr>
          <p:cNvGrpSpPr/>
          <p:nvPr/>
        </p:nvGrpSpPr>
        <p:grpSpPr>
          <a:xfrm>
            <a:off x="4319764" y="2193574"/>
            <a:ext cx="1713486" cy="850719"/>
            <a:chOff x="2034547" y="4985217"/>
            <a:chExt cx="1713486" cy="850719"/>
          </a:xfrm>
        </p:grpSpPr>
        <p:pic>
          <p:nvPicPr>
            <p:cNvPr id="9" name="Picture 2" descr="Image result for hardware description language">
              <a:extLst>
                <a:ext uri="{FF2B5EF4-FFF2-40B4-BE49-F238E27FC236}">
                  <a16:creationId xmlns:a16="http://schemas.microsoft.com/office/drawing/2014/main" id="{D11E3B5D-4DB7-4014-A79A-4A7F79219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4547" y="4985217"/>
              <a:ext cx="1706609" cy="850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F57D65-B74C-4EE0-9968-1BBFF6EC3806}"/>
                </a:ext>
              </a:extLst>
            </p:cNvPr>
            <p:cNvSpPr/>
            <p:nvPr/>
          </p:nvSpPr>
          <p:spPr>
            <a:xfrm>
              <a:off x="2036190" y="5109328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A40EEB-1445-4BAB-9A62-4B4379BCA09D}"/>
                </a:ext>
              </a:extLst>
            </p:cNvPr>
            <p:cNvSpPr/>
            <p:nvPr/>
          </p:nvSpPr>
          <p:spPr>
            <a:xfrm>
              <a:off x="2037759" y="5478546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2D94A1-524C-426A-B0F1-7B473BFCF3D3}"/>
                </a:ext>
              </a:extLst>
            </p:cNvPr>
            <p:cNvSpPr/>
            <p:nvPr/>
          </p:nvSpPr>
          <p:spPr>
            <a:xfrm>
              <a:off x="3559497" y="5307276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Logic Data Type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00265"/>
            <a:ext cx="7886700" cy="4351338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>
                <a:latin typeface="Courier" charset="0"/>
              </a:rPr>
              <a:t>	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FF0000"/>
                </a:solidFill>
              </a:rPr>
              <a:t>logic</a:t>
            </a:r>
            <a:r>
              <a:rPr lang="en-US" altLang="en-US" sz="2400" b="1" dirty="0"/>
              <a:t> </a:t>
            </a:r>
            <a:r>
              <a:rPr lang="en-US" altLang="en-US" sz="2400" dirty="0"/>
              <a:t>data type represents a wire (1 bit)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b="1" dirty="0"/>
          </a:p>
          <a:p>
            <a:pPr eaLnBrk="1" hangingPunct="1">
              <a:lnSpc>
                <a:spcPct val="80000"/>
              </a:lnSpc>
            </a:pPr>
            <a:endParaRPr lang="en-US" altLang="en-US" sz="2400" b="1" dirty="0"/>
          </a:p>
          <a:p>
            <a:pPr eaLnBrk="1" hangingPunct="1">
              <a:lnSpc>
                <a:spcPct val="80000"/>
              </a:lnSpc>
            </a:pPr>
            <a:endParaRPr lang="en-US" altLang="en-US" sz="2400" b="1" dirty="0"/>
          </a:p>
          <a:p>
            <a:pPr eaLnBrk="1" hangingPunct="1">
              <a:lnSpc>
                <a:spcPct val="80000"/>
              </a:lnSpc>
            </a:pPr>
            <a:endParaRPr lang="en-US" altLang="en-US" sz="2400" b="1" dirty="0"/>
          </a:p>
          <a:p>
            <a:pPr>
              <a:lnSpc>
                <a:spcPct val="80000"/>
              </a:lnSpc>
            </a:pPr>
            <a:r>
              <a:rPr lang="en-US" altLang="en-US" sz="2400" b="1" dirty="0"/>
              <a:t>Declaring a logic variable: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14</a:t>
            </a:fld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97872F9-7CC0-4199-A968-2DF7F59E0C6C}"/>
              </a:ext>
            </a:extLst>
          </p:cNvPr>
          <p:cNvCxnSpPr/>
          <p:nvPr/>
        </p:nvCxnSpPr>
        <p:spPr>
          <a:xfrm rot="10800000" flipV="1">
            <a:off x="4507284" y="3011789"/>
            <a:ext cx="2207172" cy="504498"/>
          </a:xfrm>
          <a:prstGeom prst="bentConnector3">
            <a:avLst>
              <a:gd name="adj1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27C7D-9CAB-44A6-96E2-15E2E629B615}"/>
              </a:ext>
            </a:extLst>
          </p:cNvPr>
          <p:cNvCxnSpPr/>
          <p:nvPr/>
        </p:nvCxnSpPr>
        <p:spPr>
          <a:xfrm>
            <a:off x="4202482" y="2395721"/>
            <a:ext cx="3363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BBA445-1B24-4D0A-8C8B-B476FA99A854}"/>
              </a:ext>
            </a:extLst>
          </p:cNvPr>
          <p:cNvCxnSpPr/>
          <p:nvPr/>
        </p:nvCxnSpPr>
        <p:spPr>
          <a:xfrm>
            <a:off x="5820551" y="2603510"/>
            <a:ext cx="9364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A6A19D-F0AC-4921-B876-128BE729F782}"/>
              </a:ext>
            </a:extLst>
          </p:cNvPr>
          <p:cNvCxnSpPr/>
          <p:nvPr/>
        </p:nvCxnSpPr>
        <p:spPr>
          <a:xfrm>
            <a:off x="4199197" y="2810878"/>
            <a:ext cx="3363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5B031E-ABDA-4D61-BEB1-46153ED95045}"/>
              </a:ext>
            </a:extLst>
          </p:cNvPr>
          <p:cNvCxnSpPr/>
          <p:nvPr/>
        </p:nvCxnSpPr>
        <p:spPr>
          <a:xfrm>
            <a:off x="7991613" y="2826647"/>
            <a:ext cx="3363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35996" y="2085789"/>
            <a:ext cx="295274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8890" y="2496948"/>
            <a:ext cx="306494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1411" y="2259109"/>
            <a:ext cx="282450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9389" y="3163638"/>
            <a:ext cx="306494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1827" y="2496947"/>
            <a:ext cx="306494" cy="276999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dirty="0"/>
              <a:t>e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E9E2CC3-D3FA-4CE9-900C-2AEAC4D19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277144"/>
              </p:ext>
            </p:extLst>
          </p:nvPr>
        </p:nvGraphicFramePr>
        <p:xfrm>
          <a:off x="1335633" y="4312920"/>
          <a:ext cx="6096000" cy="64008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678762009"/>
                    </a:ext>
                  </a:extLst>
                </a:gridCol>
              </a:tblGrid>
              <a:tr h="341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a, b, c, d</a:t>
                      </a:r>
                      <a:r>
                        <a:rPr lang="en-US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e</a:t>
                      </a:r>
                      <a:r>
                        <a:rPr lang="en-US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898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8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Logic Data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In this course, we will use the </a:t>
            </a:r>
            <a:r>
              <a:rPr lang="en-US" altLang="en-US" b="1" dirty="0">
                <a:solidFill>
                  <a:srgbClr val="FF0000"/>
                </a:solidFill>
              </a:rPr>
              <a:t>logic</a:t>
            </a:r>
            <a:r>
              <a:rPr lang="en-US" altLang="en-US" dirty="0"/>
              <a:t> data type</a:t>
            </a:r>
          </a:p>
          <a:p>
            <a:endParaRPr lang="en-US" altLang="en-US" dirty="0"/>
          </a:p>
          <a:p>
            <a:r>
              <a:rPr lang="en-US" altLang="en-US" dirty="0"/>
              <a:t>More data types in </a:t>
            </a:r>
            <a:r>
              <a:rPr lang="en-US" altLang="en-US" dirty="0" err="1"/>
              <a:t>SystemVerilog</a:t>
            </a:r>
            <a:r>
              <a:rPr lang="en-US" altLang="en-US" dirty="0"/>
              <a:t> (</a:t>
            </a:r>
            <a:r>
              <a:rPr lang="en-US" altLang="en-US" sz="2200" dirty="0">
                <a:solidFill>
                  <a:srgbClr val="FF0000"/>
                </a:solidFill>
              </a:rPr>
              <a:t>not recommended!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wire</a:t>
            </a:r>
          </a:p>
          <a:p>
            <a:pPr lvl="1"/>
            <a:r>
              <a:rPr lang="en-US" altLang="en-US" dirty="0" err="1">
                <a:solidFill>
                  <a:srgbClr val="0070C0"/>
                </a:solidFill>
              </a:rPr>
              <a:t>reg</a:t>
            </a:r>
            <a:endParaRPr lang="en-US" altLang="en-US" dirty="0">
              <a:solidFill>
                <a:srgbClr val="0070C0"/>
              </a:solidFill>
            </a:endParaRP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integer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time</a:t>
            </a:r>
            <a:endParaRPr lang="en-US" altLang="en-US" dirty="0"/>
          </a:p>
          <a:p>
            <a:pPr lvl="1"/>
            <a:r>
              <a:rPr lang="en-US" altLang="en-US" dirty="0"/>
              <a:t>More…</a:t>
            </a:r>
          </a:p>
          <a:p>
            <a:pPr lvl="1"/>
            <a:endParaRPr lang="en-US" altLang="en-US" dirty="0"/>
          </a:p>
          <a:p>
            <a:r>
              <a:rPr lang="en-US" altLang="en-US" dirty="0">
                <a:solidFill>
                  <a:srgbClr val="0070C0"/>
                </a:solidFill>
              </a:rPr>
              <a:t>logic</a:t>
            </a:r>
            <a:r>
              <a:rPr lang="en-US" altLang="en-US" dirty="0"/>
              <a:t> type replaces both </a:t>
            </a:r>
            <a:r>
              <a:rPr lang="en-US" altLang="en-US" dirty="0">
                <a:solidFill>
                  <a:srgbClr val="0070C0"/>
                </a:solidFill>
              </a:rPr>
              <a:t>wire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0070C0"/>
                </a:solidFill>
              </a:rPr>
              <a:t>reg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47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SystemVerilog</a:t>
            </a:r>
            <a:r>
              <a:rPr lang="en-US" altLang="en-US" dirty="0"/>
              <a:t> Logic Values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0</a:t>
            </a:r>
            <a:r>
              <a:rPr lang="en-US" altLang="en-US" dirty="0"/>
              <a:t>: zero / logic low / false / ground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: one / logic high / true / power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x</a:t>
            </a:r>
            <a:r>
              <a:rPr lang="en-US" altLang="en-US" dirty="0"/>
              <a:t>: not initialized or collision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z</a:t>
            </a:r>
            <a:r>
              <a:rPr lang="en-US" altLang="en-US" dirty="0"/>
              <a:t>: unconnected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1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91">
            <a:extLst>
              <a:ext uri="{FF2B5EF4-FFF2-40B4-BE49-F238E27FC236}">
                <a16:creationId xmlns:a16="http://schemas.microsoft.com/office/drawing/2014/main" id="{ED719864-71CD-4782-A0A3-42D2BFC22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29844"/>
              </p:ext>
            </p:extLst>
          </p:nvPr>
        </p:nvGraphicFramePr>
        <p:xfrm>
          <a:off x="3143249" y="2317311"/>
          <a:ext cx="4653773" cy="2439959"/>
        </p:xfrm>
        <a:graphic>
          <a:graphicData uri="http://schemas.openxmlformats.org/drawingml/2006/table">
            <a:tbl>
              <a:tblPr/>
              <a:tblGrid>
                <a:gridCol w="13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4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Input:</a:t>
                      </a:r>
                    </a:p>
                  </a:txBody>
                  <a:tcPr marL="68580" marR="68580" marT="34294" marB="34294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2 Control inputs</a:t>
                      </a:r>
                      <a:r>
                        <a:rPr kumimoji="0" lang="he-IL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	</a:t>
                      </a:r>
                      <a:r>
                        <a:rPr kumimoji="0" lang="he-IL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68580" marR="68580" marT="34294" marB="34294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4" marB="34294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Data inputs</a:t>
                      </a:r>
                    </a:p>
                  </a:txBody>
                  <a:tcPr marL="68580" marR="68580" marT="34294" marB="3429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4" marB="34294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Enable input</a:t>
                      </a:r>
                    </a:p>
                  </a:txBody>
                  <a:tcPr marL="68580" marR="68580" marT="34294" marB="3429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Output:</a:t>
                      </a:r>
                    </a:p>
                  </a:txBody>
                  <a:tcPr marL="68580" marR="68580" marT="34294" marB="34294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if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E=0 then ‘0’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imes New Roman" pitchFamily="18" charset="0"/>
                      </a:endParaRPr>
                    </a:p>
                  </a:txBody>
                  <a:tcPr marL="68580" marR="68580" marT="34294" marB="3429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4" marB="34294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else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he-IL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34294" marB="34294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23" name="Rectangle 35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 eaLnBrk="1" hangingPunct="1"/>
            <a:r>
              <a:rPr lang="en-US" altLang="en-US" dirty="0"/>
              <a:t>Reminder:</a:t>
            </a:r>
            <a:br>
              <a:rPr lang="he-IL" altLang="en-US" dirty="0"/>
            </a:br>
            <a:r>
              <a:rPr lang="en-US" altLang="en-US" dirty="0"/>
              <a:t>4</a:t>
            </a:r>
            <a:r>
              <a:rPr lang="en-US" altLang="en-US" dirty="0">
                <a:sym typeface="Wingdings" panose="05000000000000000000" pitchFamily="2" charset="2"/>
              </a:rPr>
              <a:t>1 </a:t>
            </a:r>
            <a:r>
              <a:rPr lang="en-US" altLang="en-US" dirty="0"/>
              <a:t>Selector /Multiplexer / Mux</a:t>
            </a:r>
          </a:p>
        </p:txBody>
      </p:sp>
      <p:graphicFrame>
        <p:nvGraphicFramePr>
          <p:cNvPr id="9220" name="Object 3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714102"/>
              </p:ext>
            </p:extLst>
          </p:nvPr>
        </p:nvGraphicFramePr>
        <p:xfrm>
          <a:off x="5959475" y="2455863"/>
          <a:ext cx="771525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304560" progId="Equation.DSMT4">
                  <p:embed/>
                </p:oleObj>
              </mc:Choice>
              <mc:Fallback>
                <p:oleObj name="Equation" r:id="rId3" imgW="774360" imgH="304560" progId="Equation.DSMT4">
                  <p:embed/>
                  <p:pic>
                    <p:nvPicPr>
                      <p:cNvPr id="9220" name="Object 3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2455863"/>
                        <a:ext cx="771525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3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035525"/>
              </p:ext>
            </p:extLst>
          </p:nvPr>
        </p:nvGraphicFramePr>
        <p:xfrm>
          <a:off x="5948363" y="2897188"/>
          <a:ext cx="111125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520" imgH="253800" progId="Equation.DSMT4">
                  <p:embed/>
                </p:oleObj>
              </mc:Choice>
              <mc:Fallback>
                <p:oleObj name="Equation" r:id="rId5" imgW="1028520" imgH="253800" progId="Equation.DSMT4">
                  <p:embed/>
                  <p:pic>
                    <p:nvPicPr>
                      <p:cNvPr id="9221" name="Object 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2897188"/>
                        <a:ext cx="1111250" cy="249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1" name="Rectangle 389"/>
          <p:cNvSpPr>
            <a:spLocks noChangeArrowheads="1"/>
          </p:cNvSpPr>
          <p:nvPr/>
        </p:nvSpPr>
        <p:spPr bwMode="auto">
          <a:xfrm>
            <a:off x="5913212" y="3334092"/>
            <a:ext cx="30168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en-US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05DD6-8E61-468C-8E5E-99F8F64A5B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50" y="2255441"/>
            <a:ext cx="2681238" cy="24804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2E8D2C-6287-4DCD-97ED-9E7D013919A2}"/>
              </a:ext>
            </a:extLst>
          </p:cNvPr>
          <p:cNvSpPr/>
          <p:nvPr/>
        </p:nvSpPr>
        <p:spPr>
          <a:xfrm>
            <a:off x="1860302" y="4201548"/>
            <a:ext cx="740415" cy="6292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9F701-49B9-4C93-8DF0-9FF82EF85201}"/>
              </a:ext>
            </a:extLst>
          </p:cNvPr>
          <p:cNvSpPr txBox="1"/>
          <p:nvPr/>
        </p:nvSpPr>
        <p:spPr>
          <a:xfrm>
            <a:off x="720725" y="5110451"/>
            <a:ext cx="353695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to represent several bits?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1227F110-B96D-420C-9B31-52730D2B5028}"/>
              </a:ext>
            </a:extLst>
          </p:cNvPr>
          <p:cNvSpPr/>
          <p:nvPr/>
        </p:nvSpPr>
        <p:spPr>
          <a:xfrm rot="10800000">
            <a:off x="4377901" y="4001457"/>
            <a:ext cx="107460" cy="693995"/>
          </a:xfrm>
          <a:prstGeom prst="rightBrace">
            <a:avLst>
              <a:gd name="adj1" fmla="val 58340"/>
              <a:gd name="adj2" fmla="val 4884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01295-5169-4990-848F-3714D759D30B}"/>
              </a:ext>
            </a:extLst>
          </p:cNvPr>
          <p:cNvSpPr txBox="1"/>
          <p:nvPr/>
        </p:nvSpPr>
        <p:spPr>
          <a:xfrm>
            <a:off x="2166321" y="3287925"/>
            <a:ext cx="2997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dirty="0"/>
              <a:t>O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2314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Hardware Description Languages</a:t>
            </a:r>
          </a:p>
          <a:p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logic data type</a:t>
            </a:r>
          </a:p>
          <a:p>
            <a:pPr lvl="1"/>
            <a:r>
              <a:rPr lang="en-US" dirty="0"/>
              <a:t>Vectors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instantiation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6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Vectors</a:t>
            </a:r>
          </a:p>
        </p:txBody>
      </p:sp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3243" y="1478783"/>
            <a:ext cx="7886700" cy="4877567"/>
          </a:xfrm>
        </p:spPr>
        <p:txBody>
          <a:bodyPr>
            <a:normAutofit/>
          </a:bodyPr>
          <a:lstStyle/>
          <a:p>
            <a:r>
              <a:rPr lang="en-US" altLang="en-US" dirty="0"/>
              <a:t>Declaration of an 8-bit logic vector:</a:t>
            </a:r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  <a:p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  <a:p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  <a:p>
            <a:r>
              <a:rPr lang="en-US" altLang="en-US" dirty="0"/>
              <a:t>Exercise: write a mux module declaration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322023-CE95-4E3B-8EBF-DA94E001B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646001"/>
              </p:ext>
            </p:extLst>
          </p:nvPr>
        </p:nvGraphicFramePr>
        <p:xfrm>
          <a:off x="1067128" y="2179693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l-PL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l-PL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pl-PL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pl-PL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pl-PL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pl-PL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w1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pl-PL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pl-PL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w1[7] is </a:t>
                      </a:r>
                      <a:r>
                        <a:rPr lang="en-US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</a:t>
                      </a:r>
                      <a:r>
                        <a:rPr lang="pl-PL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51A7047-2E84-4D0A-8EE4-C7C07AA7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509" y="3303191"/>
            <a:ext cx="2681238" cy="248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50F940-1852-4C35-BE0E-7AB5DFCCC955}"/>
              </a:ext>
            </a:extLst>
          </p:cNvPr>
          <p:cNvSpPr txBox="1"/>
          <p:nvPr/>
        </p:nvSpPr>
        <p:spPr>
          <a:xfrm>
            <a:off x="4488432" y="4358759"/>
            <a:ext cx="2997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dirty="0"/>
              <a:t>O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3528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Mux Module Declaration - Solution</a:t>
            </a:r>
          </a:p>
        </p:txBody>
      </p:sp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3243" y="1478783"/>
            <a:ext cx="7886700" cy="4877567"/>
          </a:xfrm>
        </p:spPr>
        <p:txBody>
          <a:bodyPr>
            <a:normAutofit/>
          </a:bodyPr>
          <a:lstStyle/>
          <a:p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  <a:p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1A7047-2E84-4D0A-8EE4-C7C07AA7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219" y="3429000"/>
            <a:ext cx="2681238" cy="2480469"/>
          </a:xfrm>
          <a:prstGeom prst="rect">
            <a:avLst/>
          </a:prstGeom>
        </p:spPr>
      </p:pic>
      <p:sp>
        <p:nvSpPr>
          <p:cNvPr id="8" name="Text Box 27">
            <a:extLst>
              <a:ext uri="{FF2B5EF4-FFF2-40B4-BE49-F238E27FC236}">
                <a16:creationId xmlns:a16="http://schemas.microsoft.com/office/drawing/2014/main" id="{EF2ACA52-61A7-41C2-A1E0-CB604B785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990" y="2376915"/>
            <a:ext cx="5223231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mux4to1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O,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D3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...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declarations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...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description of a mux</a:t>
            </a: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l-GR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B67A0-AA92-4F55-B3B9-8C14D903FCD4}"/>
              </a:ext>
            </a:extLst>
          </p:cNvPr>
          <p:cNvSpPr txBox="1"/>
          <p:nvPr/>
        </p:nvSpPr>
        <p:spPr>
          <a:xfrm>
            <a:off x="8083616" y="4484568"/>
            <a:ext cx="2997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dirty="0"/>
              <a:t>O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48015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Vector Operations</a:t>
            </a:r>
          </a:p>
        </p:txBody>
      </p:sp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3243" y="1040633"/>
            <a:ext cx="7886700" cy="48775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Bit select:</a:t>
            </a:r>
            <a:endParaRPr lang="en-US" altLang="en-US" dirty="0">
              <a:solidFill>
                <a:srgbClr val="FF3100"/>
              </a:solidFill>
            </a:endParaRPr>
          </a:p>
          <a:p>
            <a:pPr marL="457200" lvl="1" indent="0">
              <a:buNone/>
            </a:pPr>
            <a:endParaRPr lang="en-US" altLang="en-US" dirty="0">
              <a:solidFill>
                <a:srgbClr val="FF3100"/>
              </a:solidFill>
            </a:endParaRP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Range select: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Pack:</a:t>
            </a:r>
          </a:p>
          <a:p>
            <a:pPr marL="457200" lvl="1" indent="0">
              <a:buNone/>
            </a:pPr>
            <a:endParaRPr lang="en-US" altLang="en-US" b="1" dirty="0">
              <a:solidFill>
                <a:srgbClr val="FF3300"/>
              </a:solidFill>
              <a:latin typeface="Courier" charset="0"/>
            </a:endParaRPr>
          </a:p>
          <a:p>
            <a:pPr marL="457200" lvl="1" indent="0">
              <a:buNone/>
            </a:pPr>
            <a:endParaRPr lang="en-US" altLang="en-US" b="1" dirty="0">
              <a:solidFill>
                <a:srgbClr val="FF3300"/>
              </a:solidFill>
              <a:latin typeface="Courier" charset="0"/>
            </a:endParaRPr>
          </a:p>
          <a:p>
            <a:pPr lvl="1"/>
            <a:r>
              <a:rPr lang="en-US" altLang="en-US" dirty="0"/>
              <a:t>Unpack:</a:t>
            </a:r>
          </a:p>
          <a:p>
            <a:pPr lvl="1"/>
            <a:endParaRPr lang="en-US" altLang="en-US" b="1" dirty="0">
              <a:solidFill>
                <a:srgbClr val="FF3300"/>
              </a:solidFill>
              <a:latin typeface="Courier" charset="0"/>
            </a:endParaRPr>
          </a:p>
          <a:p>
            <a:pPr marL="457200" lvl="1" indent="0">
              <a:buNone/>
            </a:pP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F85267-4C23-4DBD-B7AE-6F674A219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252282"/>
              </p:ext>
            </p:extLst>
          </p:nvPr>
        </p:nvGraphicFramePr>
        <p:xfrm>
          <a:off x="1524000" y="4212219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z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5E9EAD-4819-4B74-99BB-A5517C328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60294"/>
              </p:ext>
            </p:extLst>
          </p:nvPr>
        </p:nvGraphicFramePr>
        <p:xfrm>
          <a:off x="1524000" y="5441447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carry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sum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0DF732-6F5B-4090-9A5C-E432A2F23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781297"/>
              </p:ext>
            </p:extLst>
          </p:nvPr>
        </p:nvGraphicFramePr>
        <p:xfrm>
          <a:off x="1524000" y="1858832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871DB6-C19B-4201-9DA2-40FD2452B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81443"/>
              </p:ext>
            </p:extLst>
          </p:nvPr>
        </p:nvGraphicFramePr>
        <p:xfrm>
          <a:off x="1524000" y="3069894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he-IL" dirty="0"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01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Vectors - Exercise</a:t>
            </a:r>
          </a:p>
        </p:txBody>
      </p:sp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3243" y="1478783"/>
            <a:ext cx="7886700" cy="4877567"/>
          </a:xfrm>
        </p:spPr>
        <p:txBody>
          <a:bodyPr>
            <a:normAutofit/>
          </a:bodyPr>
          <a:lstStyle/>
          <a:p>
            <a:r>
              <a:rPr lang="en-US" altLang="en-US" dirty="0"/>
              <a:t>Swap high and low nibbles of w1 into w2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Solution: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006DEB-D6A3-4E69-8252-EA3F81DBA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26723"/>
              </p:ext>
            </p:extLst>
          </p:nvPr>
        </p:nvGraphicFramePr>
        <p:xfrm>
          <a:off x="1019175" y="2062782"/>
          <a:ext cx="6096000" cy="64008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he-IL" sz="1800" b="1" dirty="0">
                        <a:solidFill>
                          <a:srgbClr val="00008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w2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90C7FA2-C85D-4A41-BBF4-7DF5B545B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047932"/>
              </p:ext>
            </p:extLst>
          </p:nvPr>
        </p:nvGraphicFramePr>
        <p:xfrm>
          <a:off x="1019175" y="3961164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w2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]};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44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ABF4-D2D7-4619-9E37-C3D98DCE3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3941"/>
          </a:xfrm>
        </p:spPr>
        <p:txBody>
          <a:bodyPr>
            <a:normAutofit fontScale="90000"/>
          </a:bodyPr>
          <a:lstStyle/>
          <a:p>
            <a:r>
              <a:rPr lang="en-US" dirty="0"/>
              <a:t>Intro – 2’s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3FED-3A19-4E8D-96A2-8CE665D7D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4282"/>
            <a:ext cx="7886700" cy="4940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N-bit Unsigned binary: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N-bit Signed binary: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The only difference is the MSB changes to a negative value!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 1010			Example: 11010</a:t>
            </a:r>
          </a:p>
          <a:p>
            <a:pPr marL="0" indent="0">
              <a:buNone/>
            </a:pPr>
            <a:r>
              <a:rPr lang="en-US" sz="2400" dirty="0"/>
              <a:t>Unsigned: 8+2 = 10		Unsigned: 16+8+2 = 26</a:t>
            </a:r>
          </a:p>
          <a:p>
            <a:pPr marL="0" indent="0">
              <a:buNone/>
            </a:pPr>
            <a:r>
              <a:rPr lang="en-US" sz="2400" dirty="0"/>
              <a:t>Signed: -8+2 = -6</a:t>
            </a:r>
            <a:r>
              <a:rPr lang="en-US" dirty="0"/>
              <a:t> 		</a:t>
            </a:r>
            <a:r>
              <a:rPr lang="en-US" sz="2400" dirty="0"/>
              <a:t>Signed: -16+8+1 = -6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1B45B-8081-478F-9EDB-02871FA5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D0E2B-E6E8-4F3A-B660-0718B2B0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3933D05-DBEC-4096-9BC3-93468F591231}"/>
              </a:ext>
            </a:extLst>
          </p:cNvPr>
          <p:cNvGraphicFramePr>
            <a:graphicFrameLocks noGrp="1"/>
          </p:cNvGraphicFramePr>
          <p:nvPr/>
        </p:nvGraphicFramePr>
        <p:xfrm>
          <a:off x="4054480" y="1778872"/>
          <a:ext cx="44608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087">
                  <a:extLst>
                    <a:ext uri="{9D8B030D-6E8A-4147-A177-3AD203B41FA5}">
                      <a16:colId xmlns:a16="http://schemas.microsoft.com/office/drawing/2014/main" val="651435947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620225577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609292583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04414244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866084938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68790316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429328305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3591313712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377698569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4201878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082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B62B958-795C-42D5-AB62-778366FBED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74060" y="1366038"/>
              <a:ext cx="4441290" cy="37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4129">
                      <a:extLst>
                        <a:ext uri="{9D8B030D-6E8A-4147-A177-3AD203B41FA5}">
                          <a16:colId xmlns:a16="http://schemas.microsoft.com/office/drawing/2014/main" val="65143594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2022557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09292583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04414244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866084938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268790316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93283050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591313712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77698569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01878896"/>
                        </a:ext>
                      </a:extLst>
                    </a:gridCol>
                  </a:tblGrid>
                  <a:tr h="3651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4108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B62B958-795C-42D5-AB62-778366FBED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74060" y="1366038"/>
              <a:ext cx="4441290" cy="37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4129">
                      <a:extLst>
                        <a:ext uri="{9D8B030D-6E8A-4147-A177-3AD203B41FA5}">
                          <a16:colId xmlns:a16="http://schemas.microsoft.com/office/drawing/2014/main" val="65143594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2022557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09292583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04414244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866084938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268790316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93283050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591313712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77698569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01878896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98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798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698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8630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863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98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410821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F9DBA5B-582A-4D58-97C7-1F46931982FD}"/>
              </a:ext>
            </a:extLst>
          </p:cNvPr>
          <p:cNvGraphicFramePr>
            <a:graphicFrameLocks noGrp="1"/>
          </p:cNvGraphicFramePr>
          <p:nvPr/>
        </p:nvGraphicFramePr>
        <p:xfrm>
          <a:off x="3874825" y="2846804"/>
          <a:ext cx="44608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087">
                  <a:extLst>
                    <a:ext uri="{9D8B030D-6E8A-4147-A177-3AD203B41FA5}">
                      <a16:colId xmlns:a16="http://schemas.microsoft.com/office/drawing/2014/main" val="651435947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620225577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609292583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04414244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1866084938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268790316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429328305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3591313712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3776985695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val="4201878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082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27F20764-D2F4-436E-8A28-DCEE9338E7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25075" y="2433970"/>
              <a:ext cx="4657879" cy="37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718">
                      <a:extLst>
                        <a:ext uri="{9D8B030D-6E8A-4147-A177-3AD203B41FA5}">
                          <a16:colId xmlns:a16="http://schemas.microsoft.com/office/drawing/2014/main" val="65143594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2022557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09292583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04414244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866084938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268790316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93283050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591313712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77698569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01878896"/>
                        </a:ext>
                      </a:extLst>
                    </a:gridCol>
                  </a:tblGrid>
                  <a:tr h="3651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4108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27F20764-D2F4-436E-8A28-DCEE9338E7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25075" y="2433970"/>
              <a:ext cx="4657879" cy="37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718">
                      <a:extLst>
                        <a:ext uri="{9D8B030D-6E8A-4147-A177-3AD203B41FA5}">
                          <a16:colId xmlns:a16="http://schemas.microsoft.com/office/drawing/2014/main" val="65143594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20225577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609292583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04414244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1866084938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268790316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93283050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591313712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3776985695"/>
                        </a:ext>
                      </a:extLst>
                    </a:gridCol>
                    <a:gridCol w="444129">
                      <a:extLst>
                        <a:ext uri="{9D8B030D-6E8A-4147-A177-3AD203B41FA5}">
                          <a16:colId xmlns:a16="http://schemas.microsoft.com/office/drawing/2014/main" val="4201878896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6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1389" r="-8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47945" r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47945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47945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79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41082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49066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Repeated Signals</a:t>
            </a:r>
          </a:p>
        </p:txBody>
      </p:sp>
      <p:sp>
        <p:nvSpPr>
          <p:cNvPr id="3471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Previously we discussed vector concatenation:</a:t>
            </a:r>
          </a:p>
          <a:p>
            <a:pPr>
              <a:buFontTx/>
              <a:buNone/>
            </a:pPr>
            <a:r>
              <a:rPr lang="en-US" altLang="en-US" sz="2600" b="1" dirty="0">
                <a:solidFill>
                  <a:srgbClr val="FF3100"/>
                </a:solidFill>
                <a:latin typeface="Courier" charset="0"/>
              </a:rPr>
              <a:t>		</a:t>
            </a:r>
            <a:endParaRPr lang="en-US" altLang="en-US" b="1" dirty="0">
              <a:solidFill>
                <a:srgbClr val="FF3100"/>
              </a:solidFill>
              <a:latin typeface="Courier" charset="0"/>
            </a:endParaRPr>
          </a:p>
          <a:p>
            <a:r>
              <a:rPr lang="en-US" altLang="en-US" dirty="0"/>
              <a:t>We can also repeat a signal n times:</a:t>
            </a:r>
          </a:p>
          <a:p>
            <a:pPr>
              <a:buFontTx/>
              <a:buNone/>
            </a:pPr>
            <a:r>
              <a:rPr lang="en-US" altLang="en-US" sz="2600" b="1" dirty="0">
                <a:solidFill>
                  <a:srgbClr val="FF3100"/>
                </a:solidFill>
                <a:latin typeface="Courier" charset="0"/>
              </a:rPr>
              <a:t>		</a:t>
            </a:r>
          </a:p>
          <a:p>
            <a:endParaRPr lang="en-US" altLang="en-US" b="1" dirty="0">
              <a:solidFill>
                <a:srgbClr val="FF3100"/>
              </a:solidFill>
              <a:latin typeface="Courier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5C6D06-387A-4AD3-B6C8-F51E742A1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138389"/>
              </p:ext>
            </p:extLst>
          </p:nvPr>
        </p:nvGraphicFramePr>
        <p:xfrm>
          <a:off x="1019175" y="2269119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pl-PL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z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DF9810-4246-4E10-8240-06EDEEE98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536999"/>
              </p:ext>
            </p:extLst>
          </p:nvPr>
        </p:nvGraphicFramePr>
        <p:xfrm>
          <a:off x="1019175" y="342900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}};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16 copies of x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92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Repeated Signals - Example</a:t>
            </a:r>
          </a:p>
        </p:txBody>
      </p:sp>
      <p:sp>
        <p:nvSpPr>
          <p:cNvPr id="3471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Question: What does this do?</a:t>
            </a:r>
          </a:p>
          <a:p>
            <a:pPr>
              <a:buFontTx/>
              <a:buNone/>
            </a:pPr>
            <a:r>
              <a:rPr lang="en-US" altLang="en-US" b="1" dirty="0">
                <a:solidFill>
                  <a:srgbClr val="FF3100"/>
                </a:solidFill>
                <a:latin typeface="Courier" charset="0"/>
              </a:rPr>
              <a:t>		</a:t>
            </a:r>
            <a:endParaRPr lang="en-US" altLang="en-US" sz="2600" b="1" dirty="0">
              <a:solidFill>
                <a:srgbClr val="FF3100"/>
              </a:solidFill>
              <a:latin typeface="Courier" charset="0"/>
            </a:endParaRPr>
          </a:p>
          <a:p>
            <a:pPr>
              <a:buFontTx/>
              <a:buNone/>
            </a:pPr>
            <a:r>
              <a:rPr lang="en-US" altLang="en-US" sz="2600" b="1" dirty="0">
                <a:solidFill>
                  <a:srgbClr val="FF3100"/>
                </a:solidFill>
                <a:latin typeface="Courier" charset="0"/>
              </a:rPr>
              <a:t>     	</a:t>
            </a:r>
            <a:endParaRPr lang="en-US" altLang="en-US" sz="2600" dirty="0"/>
          </a:p>
          <a:p>
            <a:pPr>
              <a:buFontTx/>
              <a:buNone/>
            </a:pPr>
            <a:r>
              <a:rPr lang="en-US" altLang="en-US" sz="2600" b="1" dirty="0">
                <a:solidFill>
                  <a:srgbClr val="FF3100"/>
                </a:solidFill>
                <a:latin typeface="Courier" charset="0"/>
              </a:rPr>
              <a:t>	</a:t>
            </a:r>
            <a:r>
              <a:rPr lang="en-US" altLang="en-US" dirty="0"/>
              <a:t>Answer: Unsigned extension	</a:t>
            </a:r>
          </a:p>
          <a:p>
            <a:r>
              <a:rPr lang="en-US" altLang="en-US" dirty="0"/>
              <a:t>Question: What about this?</a:t>
            </a:r>
          </a:p>
          <a:p>
            <a:pPr>
              <a:buFontTx/>
              <a:buNone/>
            </a:pPr>
            <a:r>
              <a:rPr lang="en-US" altLang="en-US" sz="2600" b="1" dirty="0">
                <a:solidFill>
                  <a:srgbClr val="FF3100"/>
                </a:solidFill>
                <a:latin typeface="Courier" charset="0"/>
              </a:rPr>
              <a:t>	</a:t>
            </a:r>
          </a:p>
          <a:p>
            <a:pPr>
              <a:buFontTx/>
              <a:buNone/>
            </a:pPr>
            <a:r>
              <a:rPr lang="en-US" altLang="en-US" sz="2600" b="1" dirty="0">
                <a:solidFill>
                  <a:srgbClr val="FF3100"/>
                </a:solidFill>
                <a:latin typeface="Courier" charset="0"/>
              </a:rPr>
              <a:t> </a:t>
            </a:r>
            <a:r>
              <a:rPr lang="en-US" altLang="en-US" dirty="0"/>
              <a:t>Answer: Signed extension </a:t>
            </a:r>
            <a:r>
              <a:rPr lang="en-US" altLang="en-US" sz="2600" b="1" dirty="0">
                <a:latin typeface="Courier" charset="0"/>
              </a:rPr>
              <a:t>	</a:t>
            </a:r>
            <a:endParaRPr lang="en-US" altLang="en-US" b="1" dirty="0">
              <a:latin typeface="Courier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9027B4-3274-4B95-9E38-225C54E32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362"/>
              </p:ext>
            </p:extLst>
          </p:nvPr>
        </p:nvGraphicFramePr>
        <p:xfrm>
          <a:off x="914400" y="2372546"/>
          <a:ext cx="6096000" cy="91440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out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{{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{1’b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}},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]};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18B420-F0FD-4CCC-8B41-86C4E574D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73879"/>
              </p:ext>
            </p:extLst>
          </p:nvPr>
        </p:nvGraphicFramePr>
        <p:xfrm>
          <a:off x="914400" y="4361114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{{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]}},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]};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75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Hardware Description Languages</a:t>
            </a:r>
          </a:p>
          <a:p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logic data type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Vectors</a:t>
            </a:r>
          </a:p>
          <a:p>
            <a:pPr lvl="1"/>
            <a:r>
              <a:rPr lang="en-US" dirty="0"/>
              <a:t>Module implementation</a:t>
            </a:r>
          </a:p>
          <a:p>
            <a:pPr lvl="2"/>
            <a:r>
              <a:rPr lang="en-US" dirty="0"/>
              <a:t>Module instantiation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81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8336674" cy="1325563"/>
          </a:xfrm>
        </p:spPr>
        <p:txBody>
          <a:bodyPr/>
          <a:lstStyle/>
          <a:p>
            <a:r>
              <a:rPr lang="en-US" altLang="en-US" dirty="0"/>
              <a:t>Module Implementation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dirty="0"/>
              <a:t>There are 3 ways to implement hardware inside a module: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Module instantiation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Concurrent assignments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Procedural blocks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27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1D0328-6E91-47C0-87B8-0B46DD3DD0C5}"/>
              </a:ext>
            </a:extLst>
          </p:cNvPr>
          <p:cNvSpPr/>
          <p:nvPr/>
        </p:nvSpPr>
        <p:spPr>
          <a:xfrm>
            <a:off x="762000" y="2447925"/>
            <a:ext cx="4295775" cy="390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386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8336674" cy="1325563"/>
          </a:xfrm>
        </p:spPr>
        <p:txBody>
          <a:bodyPr/>
          <a:lstStyle/>
          <a:p>
            <a:r>
              <a:rPr lang="en-US" altLang="en-US" dirty="0"/>
              <a:t>Module Instantiation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dirty="0"/>
              <a:t>Implementing a module using other modules as building blocks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28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42945B-42F8-4F47-AC97-529E249C58AC}"/>
              </a:ext>
            </a:extLst>
          </p:cNvPr>
          <p:cNvSpPr/>
          <p:nvPr/>
        </p:nvSpPr>
        <p:spPr>
          <a:xfrm>
            <a:off x="2370681" y="2540234"/>
            <a:ext cx="4852612" cy="34230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698171-5753-4AF5-8EC8-A7B2465B6F55}"/>
              </a:ext>
            </a:extLst>
          </p:cNvPr>
          <p:cNvSpPr/>
          <p:nvPr/>
        </p:nvSpPr>
        <p:spPr>
          <a:xfrm>
            <a:off x="2711668" y="3351475"/>
            <a:ext cx="1852236" cy="142275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DDE2B-8DE4-4ED5-9F74-B9B371310319}"/>
              </a:ext>
            </a:extLst>
          </p:cNvPr>
          <p:cNvSpPr txBox="1"/>
          <p:nvPr/>
        </p:nvSpPr>
        <p:spPr>
          <a:xfrm>
            <a:off x="2666999" y="2706813"/>
            <a:ext cx="24669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My Module</a:t>
            </a:r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FDF1DB-6015-4941-A38E-B6130EC478AC}"/>
              </a:ext>
            </a:extLst>
          </p:cNvPr>
          <p:cNvSpPr txBox="1"/>
          <p:nvPr/>
        </p:nvSpPr>
        <p:spPr>
          <a:xfrm>
            <a:off x="2404298" y="3653102"/>
            <a:ext cx="246697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Module </a:t>
            </a:r>
          </a:p>
          <a:p>
            <a:pPr algn="ctr"/>
            <a:r>
              <a:rPr lang="en-US" dirty="0"/>
              <a:t>Building Block #1</a:t>
            </a:r>
            <a:endParaRPr lang="he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0E984B-D48C-42D0-8F36-3053B53E4B88}"/>
              </a:ext>
            </a:extLst>
          </p:cNvPr>
          <p:cNvSpPr/>
          <p:nvPr/>
        </p:nvSpPr>
        <p:spPr>
          <a:xfrm>
            <a:off x="4914589" y="3373041"/>
            <a:ext cx="1852236" cy="142275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C319C-7A87-4518-ADE6-F2EE21556FC7}"/>
              </a:ext>
            </a:extLst>
          </p:cNvPr>
          <p:cNvSpPr txBox="1"/>
          <p:nvPr/>
        </p:nvSpPr>
        <p:spPr>
          <a:xfrm>
            <a:off x="4660111" y="3653101"/>
            <a:ext cx="246697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Module </a:t>
            </a:r>
          </a:p>
          <a:p>
            <a:pPr algn="ctr"/>
            <a:r>
              <a:rPr lang="en-US" dirty="0"/>
              <a:t>Building Block #2</a:t>
            </a:r>
            <a:endParaRPr lang="he-I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71EBB5-ACBD-44AD-93F4-B2E3999DF446}"/>
              </a:ext>
            </a:extLst>
          </p:cNvPr>
          <p:cNvCxnSpPr>
            <a:cxnSpLocks/>
          </p:cNvCxnSpPr>
          <p:nvPr/>
        </p:nvCxnSpPr>
        <p:spPr>
          <a:xfrm>
            <a:off x="1604683" y="3976267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F67374-FE81-4C0C-880A-1FA01095BC63}"/>
              </a:ext>
            </a:extLst>
          </p:cNvPr>
          <p:cNvSpPr txBox="1"/>
          <p:nvPr/>
        </p:nvSpPr>
        <p:spPr>
          <a:xfrm>
            <a:off x="687219" y="3501471"/>
            <a:ext cx="24669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input1</a:t>
            </a:r>
            <a:endParaRPr lang="he-IL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ACEB2B-3B0A-43FD-89A0-03284F1E89C9}"/>
              </a:ext>
            </a:extLst>
          </p:cNvPr>
          <p:cNvCxnSpPr>
            <a:cxnSpLocks/>
          </p:cNvCxnSpPr>
          <p:nvPr/>
        </p:nvCxnSpPr>
        <p:spPr>
          <a:xfrm>
            <a:off x="2379023" y="3976267"/>
            <a:ext cx="3573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18773E-9C24-477F-890E-9D440A24EF52}"/>
              </a:ext>
            </a:extLst>
          </p:cNvPr>
          <p:cNvCxnSpPr>
            <a:cxnSpLocks/>
          </p:cNvCxnSpPr>
          <p:nvPr/>
        </p:nvCxnSpPr>
        <p:spPr>
          <a:xfrm>
            <a:off x="4588823" y="4033417"/>
            <a:ext cx="3573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4A9F81-22CF-4B8A-8347-856FF0C92AAE}"/>
              </a:ext>
            </a:extLst>
          </p:cNvPr>
          <p:cNvCxnSpPr>
            <a:cxnSpLocks/>
          </p:cNvCxnSpPr>
          <p:nvPr/>
        </p:nvCxnSpPr>
        <p:spPr>
          <a:xfrm>
            <a:off x="6808148" y="4052467"/>
            <a:ext cx="3573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FEE8F5-8BD8-468D-AFC4-C10A1923121B}"/>
              </a:ext>
            </a:extLst>
          </p:cNvPr>
          <p:cNvCxnSpPr>
            <a:cxnSpLocks/>
          </p:cNvCxnSpPr>
          <p:nvPr/>
        </p:nvCxnSpPr>
        <p:spPr>
          <a:xfrm>
            <a:off x="7257954" y="4063426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EB125B-F6E5-4D10-AFD3-4856A654FB80}"/>
              </a:ext>
            </a:extLst>
          </p:cNvPr>
          <p:cNvSpPr txBox="1"/>
          <p:nvPr/>
        </p:nvSpPr>
        <p:spPr>
          <a:xfrm>
            <a:off x="6430129" y="3588630"/>
            <a:ext cx="24669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output1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73859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8336674" cy="1325563"/>
          </a:xfrm>
        </p:spPr>
        <p:txBody>
          <a:bodyPr/>
          <a:lstStyle/>
          <a:p>
            <a:r>
              <a:rPr lang="en-US" altLang="en-US" dirty="0"/>
              <a:t>Module Instantiation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dirty="0"/>
              <a:t>Implementing a module using other modules as building blocks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29</a:t>
            </a:fld>
            <a:endParaRPr lang="en-US"/>
          </a:p>
        </p:txBody>
      </p:sp>
      <p:pic>
        <p:nvPicPr>
          <p:cNvPr id="27" name="Picture 2" descr="Image result for verilog memes">
            <a:extLst>
              <a:ext uri="{FF2B5EF4-FFF2-40B4-BE49-F238E27FC236}">
                <a16:creationId xmlns:a16="http://schemas.microsoft.com/office/drawing/2014/main" id="{77EF3EC9-1CAE-4333-ADB5-8BEB78791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361" y="2636379"/>
            <a:ext cx="4483252" cy="298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988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4B921-A49E-BCF2-8FCB-41F611D8E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094E697A-4E89-230C-7DDA-A4D0EA780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489" y="373077"/>
            <a:ext cx="8754388" cy="1325563"/>
          </a:xfrm>
        </p:spPr>
        <p:txBody>
          <a:bodyPr/>
          <a:lstStyle/>
          <a:p>
            <a:r>
              <a:rPr lang="en-US" altLang="en-US" dirty="0"/>
              <a:t>Module Instantiation – Interview question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08F2277-AD29-DA87-C490-E8790EE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D310E99-D95B-F2C7-713D-35AC4F98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30</a:t>
            </a:fld>
            <a:endParaRPr lang="en-US"/>
          </a:p>
        </p:txBody>
      </p:sp>
      <p:sp>
        <p:nvSpPr>
          <p:cNvPr id="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099554F-AF3D-5792-0D6D-B8A29B66F801}"/>
              </a:ext>
            </a:extLst>
          </p:cNvPr>
          <p:cNvSpPr txBox="1">
            <a:spLocks noChangeArrowheads="1"/>
          </p:cNvSpPr>
          <p:nvPr/>
        </p:nvSpPr>
        <p:spPr>
          <a:xfrm>
            <a:off x="475129" y="1698641"/>
            <a:ext cx="8193741" cy="742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Given Module MAX(A,B):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E3E6E1A-F388-41CC-A60A-B11503B3F53D}"/>
              </a:ext>
            </a:extLst>
          </p:cNvPr>
          <p:cNvSpPr txBox="1"/>
          <p:nvPr/>
        </p:nvSpPr>
        <p:spPr>
          <a:xfrm>
            <a:off x="273840" y="4087257"/>
            <a:ext cx="84780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800" dirty="0"/>
              <a:t>implement a device which finds the value order of 4 numbers A,B,C,D using minimal number of Modules.</a:t>
            </a:r>
          </a:p>
          <a:p>
            <a:pPr marL="0" indent="0">
              <a:buNone/>
            </a:pPr>
            <a:r>
              <a:rPr lang="en-US" altLang="en-US" sz="2800" dirty="0"/>
              <a:t>The maximum will be located on the lowest wire</a:t>
            </a:r>
          </a:p>
        </p:txBody>
      </p:sp>
      <p:grpSp>
        <p:nvGrpSpPr>
          <p:cNvPr id="12" name="קבוצה 11">
            <a:extLst>
              <a:ext uri="{FF2B5EF4-FFF2-40B4-BE49-F238E27FC236}">
                <a16:creationId xmlns:a16="http://schemas.microsoft.com/office/drawing/2014/main" id="{2DC79BFA-C289-F8B9-A096-9BBF281EC1D9}"/>
              </a:ext>
            </a:extLst>
          </p:cNvPr>
          <p:cNvGrpSpPr/>
          <p:nvPr/>
        </p:nvGrpSpPr>
        <p:grpSpPr>
          <a:xfrm>
            <a:off x="1381872" y="2441051"/>
            <a:ext cx="1758893" cy="1325563"/>
            <a:chOff x="753719" y="2007496"/>
            <a:chExt cx="1758893" cy="1325563"/>
          </a:xfrm>
        </p:grpSpPr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340D9C71-67F5-E228-E0EA-B566E5C36E9C}"/>
                </a:ext>
              </a:extLst>
            </p:cNvPr>
            <p:cNvSpPr/>
            <p:nvPr/>
          </p:nvSpPr>
          <p:spPr>
            <a:xfrm>
              <a:off x="753719" y="2007496"/>
              <a:ext cx="1758893" cy="13255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2">
                  <a:extLst>
                    <a:ext uri="{FF2B5EF4-FFF2-40B4-BE49-F238E27FC236}">
                      <a16:creationId xmlns:a16="http://schemas.microsoft.com/office/drawing/2014/main" id="{079FD66B-C497-14CC-9D8A-C10C847048D6}"/>
                    </a:ext>
                  </a:extLst>
                </p:cNvPr>
                <p:cNvSpPr txBox="1"/>
                <p:nvPr/>
              </p:nvSpPr>
              <p:spPr>
                <a:xfrm>
                  <a:off x="891373" y="2485611"/>
                  <a:ext cx="1483583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𝑀𝐴𝑋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4" name="TextBox 2">
                  <a:extLst>
                    <a:ext uri="{FF2B5EF4-FFF2-40B4-BE49-F238E27FC236}">
                      <a16:creationId xmlns:a16="http://schemas.microsoft.com/office/drawing/2014/main" id="{079FD66B-C497-14CC-9D8A-C10C84704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73" y="2485611"/>
                  <a:ext cx="148358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53BEF4F0-1A44-0A63-B142-ED487C351643}"/>
              </a:ext>
            </a:extLst>
          </p:cNvPr>
          <p:cNvCxnSpPr>
            <a:cxnSpLocks/>
          </p:cNvCxnSpPr>
          <p:nvPr/>
        </p:nvCxnSpPr>
        <p:spPr>
          <a:xfrm>
            <a:off x="615874" y="2823749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B8F862CF-4553-E671-3FC0-DDC5DD4BD217}"/>
              </a:ext>
            </a:extLst>
          </p:cNvPr>
          <p:cNvCxnSpPr>
            <a:cxnSpLocks/>
          </p:cNvCxnSpPr>
          <p:nvPr/>
        </p:nvCxnSpPr>
        <p:spPr>
          <a:xfrm>
            <a:off x="631777" y="3356487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">
            <a:extLst>
              <a:ext uri="{FF2B5EF4-FFF2-40B4-BE49-F238E27FC236}">
                <a16:creationId xmlns:a16="http://schemas.microsoft.com/office/drawing/2014/main" id="{F409E01F-6D2B-E58D-6A1A-B335B98B204F}"/>
              </a:ext>
            </a:extLst>
          </p:cNvPr>
          <p:cNvSpPr txBox="1"/>
          <p:nvPr/>
        </p:nvSpPr>
        <p:spPr>
          <a:xfrm>
            <a:off x="794670" y="2480266"/>
            <a:ext cx="3606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73C2B4E2-4E9B-E25A-952F-5A707FF705CD}"/>
              </a:ext>
            </a:extLst>
          </p:cNvPr>
          <p:cNvSpPr txBox="1"/>
          <p:nvPr/>
        </p:nvSpPr>
        <p:spPr>
          <a:xfrm>
            <a:off x="794670" y="2987155"/>
            <a:ext cx="3606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</a:t>
            </a:r>
            <a:endParaRPr lang="he-IL" dirty="0"/>
          </a:p>
        </p:txBody>
      </p: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27B5D2C8-A739-C27C-396E-5AFC5D158AD3}"/>
              </a:ext>
            </a:extLst>
          </p:cNvPr>
          <p:cNvCxnSpPr>
            <a:cxnSpLocks/>
          </p:cNvCxnSpPr>
          <p:nvPr/>
        </p:nvCxnSpPr>
        <p:spPr>
          <a:xfrm>
            <a:off x="3124862" y="2823749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4">
            <a:extLst>
              <a:ext uri="{FF2B5EF4-FFF2-40B4-BE49-F238E27FC236}">
                <a16:creationId xmlns:a16="http://schemas.microsoft.com/office/drawing/2014/main" id="{643B88E8-0515-B292-769B-4FEF2E7EE6F4}"/>
              </a:ext>
            </a:extLst>
          </p:cNvPr>
          <p:cNvCxnSpPr>
            <a:cxnSpLocks/>
          </p:cNvCxnSpPr>
          <p:nvPr/>
        </p:nvCxnSpPr>
        <p:spPr>
          <a:xfrm>
            <a:off x="3140765" y="3356487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">
                <a:extLst>
                  <a:ext uri="{FF2B5EF4-FFF2-40B4-BE49-F238E27FC236}">
                    <a16:creationId xmlns:a16="http://schemas.microsoft.com/office/drawing/2014/main" id="{41B2EE08-1141-3E58-BB65-DCDC55BD6679}"/>
                  </a:ext>
                </a:extLst>
              </p:cNvPr>
              <p:cNvSpPr txBox="1"/>
              <p:nvPr/>
            </p:nvSpPr>
            <p:spPr>
              <a:xfrm>
                <a:off x="3771070" y="3171821"/>
                <a:ext cx="148358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3" name="TextBox 2">
                <a:extLst>
                  <a:ext uri="{FF2B5EF4-FFF2-40B4-BE49-F238E27FC236}">
                    <a16:creationId xmlns:a16="http://schemas.microsoft.com/office/drawing/2014/main" id="{41B2EE08-1141-3E58-BB65-DCDC55BD6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070" y="3171821"/>
                <a:ext cx="1483583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">
                <a:extLst>
                  <a:ext uri="{FF2B5EF4-FFF2-40B4-BE49-F238E27FC236}">
                    <a16:creationId xmlns:a16="http://schemas.microsoft.com/office/drawing/2014/main" id="{1FB3C885-7D13-7653-6834-033D867009CF}"/>
                  </a:ext>
                </a:extLst>
              </p:cNvPr>
              <p:cNvSpPr txBox="1"/>
              <p:nvPr/>
            </p:nvSpPr>
            <p:spPr>
              <a:xfrm>
                <a:off x="3771069" y="2646447"/>
                <a:ext cx="148358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𝑀𝐼𝑁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4" name="TextBox 2">
                <a:extLst>
                  <a:ext uri="{FF2B5EF4-FFF2-40B4-BE49-F238E27FC236}">
                    <a16:creationId xmlns:a16="http://schemas.microsoft.com/office/drawing/2014/main" id="{1FB3C885-7D13-7653-6834-033D86700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069" y="2646447"/>
                <a:ext cx="148358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00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8B20-FF9A-523E-0F11-F4459401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A0084C54-D00B-5C21-155B-1FA962EC2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489" y="373077"/>
            <a:ext cx="8754388" cy="1325563"/>
          </a:xfrm>
        </p:spPr>
        <p:txBody>
          <a:bodyPr/>
          <a:lstStyle/>
          <a:p>
            <a:r>
              <a:rPr lang="en-US" altLang="en-US" dirty="0"/>
              <a:t>Module Instantiation – Interview question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F8C09F3-FB2F-9353-773D-705D9732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4CC473B-53DA-E993-CF70-CB8ECA5E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31</a:t>
            </a:fld>
            <a:endParaRPr lang="en-US"/>
          </a:p>
        </p:txBody>
      </p:sp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C9BFA65C-35DA-6FA3-92B8-83E4E908419A}"/>
              </a:ext>
            </a:extLst>
          </p:cNvPr>
          <p:cNvGrpSpPr/>
          <p:nvPr/>
        </p:nvGrpSpPr>
        <p:grpSpPr>
          <a:xfrm>
            <a:off x="1000209" y="2007496"/>
            <a:ext cx="1758893" cy="1325563"/>
            <a:chOff x="753719" y="2007496"/>
            <a:chExt cx="1758893" cy="1325563"/>
          </a:xfrm>
        </p:grpSpPr>
        <p:sp>
          <p:nvSpPr>
            <p:cNvPr id="2" name="Rectangle: Rounded Corners 6">
              <a:extLst>
                <a:ext uri="{FF2B5EF4-FFF2-40B4-BE49-F238E27FC236}">
                  <a16:creationId xmlns:a16="http://schemas.microsoft.com/office/drawing/2014/main" id="{576845FC-2E45-B7FB-B7C9-38666418C69D}"/>
                </a:ext>
              </a:extLst>
            </p:cNvPr>
            <p:cNvSpPr/>
            <p:nvPr/>
          </p:nvSpPr>
          <p:spPr>
            <a:xfrm>
              <a:off x="753719" y="2007496"/>
              <a:ext cx="1758893" cy="13255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F0F456A-B628-DF40-B827-688FDD240872}"/>
                    </a:ext>
                  </a:extLst>
                </p:cNvPr>
                <p:cNvSpPr txBox="1"/>
                <p:nvPr/>
              </p:nvSpPr>
              <p:spPr>
                <a:xfrm>
                  <a:off x="891373" y="2485611"/>
                  <a:ext cx="1483583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𝑀𝐴𝑋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F0F456A-B628-DF40-B827-688FDD240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73" y="2485611"/>
                  <a:ext cx="148358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75FD2154-3107-0CE8-14E0-4C596E13E7C2}"/>
              </a:ext>
            </a:extLst>
          </p:cNvPr>
          <p:cNvGrpSpPr/>
          <p:nvPr/>
        </p:nvGrpSpPr>
        <p:grpSpPr>
          <a:xfrm>
            <a:off x="1016112" y="4257715"/>
            <a:ext cx="1758893" cy="1325563"/>
            <a:chOff x="753719" y="2007496"/>
            <a:chExt cx="1758893" cy="132556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38EDFB8-A05A-ECDF-5957-B725025E6A3F}"/>
                </a:ext>
              </a:extLst>
            </p:cNvPr>
            <p:cNvSpPr/>
            <p:nvPr/>
          </p:nvSpPr>
          <p:spPr>
            <a:xfrm>
              <a:off x="753719" y="2007496"/>
              <a:ext cx="1758893" cy="13255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2">
                  <a:extLst>
                    <a:ext uri="{FF2B5EF4-FFF2-40B4-BE49-F238E27FC236}">
                      <a16:creationId xmlns:a16="http://schemas.microsoft.com/office/drawing/2014/main" id="{78E68B92-04D5-25DC-ED2F-C136146F1B69}"/>
                    </a:ext>
                  </a:extLst>
                </p:cNvPr>
                <p:cNvSpPr txBox="1"/>
                <p:nvPr/>
              </p:nvSpPr>
              <p:spPr>
                <a:xfrm>
                  <a:off x="891373" y="2485611"/>
                  <a:ext cx="1483583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𝑀𝐴𝑋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8" name="TextBox 2">
                  <a:extLst>
                    <a:ext uri="{FF2B5EF4-FFF2-40B4-BE49-F238E27FC236}">
                      <a16:creationId xmlns:a16="http://schemas.microsoft.com/office/drawing/2014/main" id="{78E68B92-04D5-25DC-ED2F-C136146F1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73" y="2485611"/>
                  <a:ext cx="148358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A1AA53BD-1A81-D85F-F77D-F32F7AF2F9D4}"/>
              </a:ext>
            </a:extLst>
          </p:cNvPr>
          <p:cNvSpPr/>
          <p:nvPr/>
        </p:nvSpPr>
        <p:spPr>
          <a:xfrm>
            <a:off x="4356157" y="4257715"/>
            <a:ext cx="175889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: Rounded Corners 6">
            <a:extLst>
              <a:ext uri="{FF2B5EF4-FFF2-40B4-BE49-F238E27FC236}">
                <a16:creationId xmlns:a16="http://schemas.microsoft.com/office/drawing/2014/main" id="{218C0411-553F-F35B-AD80-B418E4C69D4E}"/>
              </a:ext>
            </a:extLst>
          </p:cNvPr>
          <p:cNvSpPr/>
          <p:nvPr/>
        </p:nvSpPr>
        <p:spPr>
          <a:xfrm>
            <a:off x="3692553" y="2007495"/>
            <a:ext cx="175889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8" name="Straight Arrow Connector 4">
            <a:extLst>
              <a:ext uri="{FF2B5EF4-FFF2-40B4-BE49-F238E27FC236}">
                <a16:creationId xmlns:a16="http://schemas.microsoft.com/office/drawing/2014/main" id="{42F3680B-2010-F02E-90D2-6900CA43221E}"/>
              </a:ext>
            </a:extLst>
          </p:cNvPr>
          <p:cNvCxnSpPr>
            <a:cxnSpLocks/>
          </p:cNvCxnSpPr>
          <p:nvPr/>
        </p:nvCxnSpPr>
        <p:spPr>
          <a:xfrm>
            <a:off x="234211" y="2390194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6F73C11B-4275-D56D-12AC-3756CA1B5252}"/>
              </a:ext>
            </a:extLst>
          </p:cNvPr>
          <p:cNvCxnSpPr>
            <a:cxnSpLocks/>
          </p:cNvCxnSpPr>
          <p:nvPr/>
        </p:nvCxnSpPr>
        <p:spPr>
          <a:xfrm>
            <a:off x="250114" y="2922932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4">
            <a:extLst>
              <a:ext uri="{FF2B5EF4-FFF2-40B4-BE49-F238E27FC236}">
                <a16:creationId xmlns:a16="http://schemas.microsoft.com/office/drawing/2014/main" id="{39D2C31A-BAFB-CC69-F161-12793054A2BD}"/>
              </a:ext>
            </a:extLst>
          </p:cNvPr>
          <p:cNvCxnSpPr>
            <a:cxnSpLocks/>
          </p:cNvCxnSpPr>
          <p:nvPr/>
        </p:nvCxnSpPr>
        <p:spPr>
          <a:xfrm>
            <a:off x="234211" y="4664267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4">
            <a:extLst>
              <a:ext uri="{FF2B5EF4-FFF2-40B4-BE49-F238E27FC236}">
                <a16:creationId xmlns:a16="http://schemas.microsoft.com/office/drawing/2014/main" id="{34BD1D47-6859-C985-0FA3-2AB1A2D502F6}"/>
              </a:ext>
            </a:extLst>
          </p:cNvPr>
          <p:cNvCxnSpPr>
            <a:cxnSpLocks/>
          </p:cNvCxnSpPr>
          <p:nvPr/>
        </p:nvCxnSpPr>
        <p:spPr>
          <a:xfrm>
            <a:off x="250114" y="5197005"/>
            <a:ext cx="765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">
            <a:extLst>
              <a:ext uri="{FF2B5EF4-FFF2-40B4-BE49-F238E27FC236}">
                <a16:creationId xmlns:a16="http://schemas.microsoft.com/office/drawing/2014/main" id="{B2DEFBA9-E025-013D-DAFE-856ECB94C7F1}"/>
              </a:ext>
            </a:extLst>
          </p:cNvPr>
          <p:cNvSpPr txBox="1"/>
          <p:nvPr/>
        </p:nvSpPr>
        <p:spPr>
          <a:xfrm>
            <a:off x="413007" y="2046711"/>
            <a:ext cx="3606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73227A3E-31D4-CC4E-8BAD-9292A8C64E89}"/>
              </a:ext>
            </a:extLst>
          </p:cNvPr>
          <p:cNvSpPr txBox="1"/>
          <p:nvPr/>
        </p:nvSpPr>
        <p:spPr>
          <a:xfrm>
            <a:off x="413007" y="2553600"/>
            <a:ext cx="3606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</a:t>
            </a:r>
            <a:endParaRPr lang="he-IL" dirty="0"/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D48BE8C2-899E-58E5-B872-E43D31561036}"/>
              </a:ext>
            </a:extLst>
          </p:cNvPr>
          <p:cNvSpPr txBox="1"/>
          <p:nvPr/>
        </p:nvSpPr>
        <p:spPr>
          <a:xfrm>
            <a:off x="397232" y="4320784"/>
            <a:ext cx="3606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</a:t>
            </a:r>
            <a:endParaRPr lang="he-IL" dirty="0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8C3A3E2D-2245-891B-4709-72B652D79680}"/>
              </a:ext>
            </a:extLst>
          </p:cNvPr>
          <p:cNvSpPr txBox="1"/>
          <p:nvPr/>
        </p:nvSpPr>
        <p:spPr>
          <a:xfrm>
            <a:off x="397232" y="4827673"/>
            <a:ext cx="3606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</a:t>
            </a:r>
            <a:endParaRPr lang="he-IL" dirty="0"/>
          </a:p>
        </p:txBody>
      </p:sp>
      <p:cxnSp>
        <p:nvCxnSpPr>
          <p:cNvPr id="28" name="Straight Arrow Connector 4">
            <a:extLst>
              <a:ext uri="{FF2B5EF4-FFF2-40B4-BE49-F238E27FC236}">
                <a16:creationId xmlns:a16="http://schemas.microsoft.com/office/drawing/2014/main" id="{F2739DB5-0246-8823-C2F4-1D2BBD9FEE59}"/>
              </a:ext>
            </a:extLst>
          </p:cNvPr>
          <p:cNvCxnSpPr>
            <a:cxnSpLocks/>
          </p:cNvCxnSpPr>
          <p:nvPr/>
        </p:nvCxnSpPr>
        <p:spPr>
          <a:xfrm>
            <a:off x="2775005" y="5078159"/>
            <a:ext cx="15811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4">
            <a:extLst>
              <a:ext uri="{FF2B5EF4-FFF2-40B4-BE49-F238E27FC236}">
                <a16:creationId xmlns:a16="http://schemas.microsoft.com/office/drawing/2014/main" id="{ECD5BCE4-6F16-4D3A-B826-33A215327E56}"/>
              </a:ext>
            </a:extLst>
          </p:cNvPr>
          <p:cNvCxnSpPr>
            <a:cxnSpLocks/>
          </p:cNvCxnSpPr>
          <p:nvPr/>
        </p:nvCxnSpPr>
        <p:spPr>
          <a:xfrm flipV="1">
            <a:off x="3028950" y="4653589"/>
            <a:ext cx="132720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מחבר: מרפקי 38">
            <a:extLst>
              <a:ext uri="{FF2B5EF4-FFF2-40B4-BE49-F238E27FC236}">
                <a16:creationId xmlns:a16="http://schemas.microsoft.com/office/drawing/2014/main" id="{CD9603CE-9686-DAEA-E61C-F134201AFF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6313" y="3600952"/>
            <a:ext cx="1851331" cy="253942"/>
          </a:xfrm>
          <a:prstGeom prst="bentConnector3">
            <a:avLst>
              <a:gd name="adj1" fmla="val -9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">
            <a:extLst>
              <a:ext uri="{FF2B5EF4-FFF2-40B4-BE49-F238E27FC236}">
                <a16:creationId xmlns:a16="http://schemas.microsoft.com/office/drawing/2014/main" id="{D130BDFA-1C68-5F9B-69AB-AE647EBA025D}"/>
              </a:ext>
            </a:extLst>
          </p:cNvPr>
          <p:cNvCxnSpPr>
            <a:cxnSpLocks/>
          </p:cNvCxnSpPr>
          <p:nvPr/>
        </p:nvCxnSpPr>
        <p:spPr>
          <a:xfrm>
            <a:off x="2759102" y="2416043"/>
            <a:ext cx="9334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2">
                <a:extLst>
                  <a:ext uri="{FF2B5EF4-FFF2-40B4-BE49-F238E27FC236}">
                    <a16:creationId xmlns:a16="http://schemas.microsoft.com/office/drawing/2014/main" id="{4E0ED147-F9A2-7621-7CF0-71F5E690E394}"/>
                  </a:ext>
                </a:extLst>
              </p:cNvPr>
              <p:cNvSpPr txBox="1"/>
              <p:nvPr/>
            </p:nvSpPr>
            <p:spPr>
              <a:xfrm>
                <a:off x="2950762" y="4241917"/>
                <a:ext cx="148358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6" name="TextBox 2">
                <a:extLst>
                  <a:ext uri="{FF2B5EF4-FFF2-40B4-BE49-F238E27FC236}">
                    <a16:creationId xmlns:a16="http://schemas.microsoft.com/office/drawing/2014/main" id="{4E0ED147-F9A2-7621-7CF0-71F5E690E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762" y="4241917"/>
                <a:ext cx="1483583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2">
                <a:extLst>
                  <a:ext uri="{FF2B5EF4-FFF2-40B4-BE49-F238E27FC236}">
                    <a16:creationId xmlns:a16="http://schemas.microsoft.com/office/drawing/2014/main" id="{48F8BD02-AA1E-C419-1513-1D3C2564FBAE}"/>
                  </a:ext>
                </a:extLst>
              </p:cNvPr>
              <p:cNvSpPr txBox="1"/>
              <p:nvPr/>
            </p:nvSpPr>
            <p:spPr>
              <a:xfrm>
                <a:off x="2759102" y="4735471"/>
                <a:ext cx="148358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8" name="TextBox 2">
                <a:extLst>
                  <a:ext uri="{FF2B5EF4-FFF2-40B4-BE49-F238E27FC236}">
                    <a16:creationId xmlns:a16="http://schemas.microsoft.com/office/drawing/2014/main" id="{48F8BD02-AA1E-C419-1513-1D3C2564F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102" y="4735471"/>
                <a:ext cx="1483583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4">
            <a:extLst>
              <a:ext uri="{FF2B5EF4-FFF2-40B4-BE49-F238E27FC236}">
                <a16:creationId xmlns:a16="http://schemas.microsoft.com/office/drawing/2014/main" id="{A547C594-FCF6-3940-5ACE-7A1CE234459F}"/>
              </a:ext>
            </a:extLst>
          </p:cNvPr>
          <p:cNvCxnSpPr>
            <a:cxnSpLocks/>
          </p:cNvCxnSpPr>
          <p:nvPr/>
        </p:nvCxnSpPr>
        <p:spPr>
          <a:xfrm>
            <a:off x="6115050" y="5104803"/>
            <a:ext cx="27947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2">
                <a:extLst>
                  <a:ext uri="{FF2B5EF4-FFF2-40B4-BE49-F238E27FC236}">
                    <a16:creationId xmlns:a16="http://schemas.microsoft.com/office/drawing/2014/main" id="{0ABE75ED-394E-9543-87E0-26D0FF93BC9A}"/>
                  </a:ext>
                </a:extLst>
              </p:cNvPr>
              <p:cNvSpPr txBox="1"/>
              <p:nvPr/>
            </p:nvSpPr>
            <p:spPr>
              <a:xfrm>
                <a:off x="7426206" y="4690116"/>
                <a:ext cx="148358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3" name="TextBox 2">
                <a:extLst>
                  <a:ext uri="{FF2B5EF4-FFF2-40B4-BE49-F238E27FC236}">
                    <a16:creationId xmlns:a16="http://schemas.microsoft.com/office/drawing/2014/main" id="{0ABE75ED-394E-9543-87E0-26D0FF93B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206" y="4690116"/>
                <a:ext cx="1483583" cy="369332"/>
              </a:xfrm>
              <a:prstGeom prst="rect">
                <a:avLst/>
              </a:prstGeom>
              <a:blipFill>
                <a:blip r:embed="rId7"/>
                <a:stretch>
                  <a:fillRect r="-18443"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מחבר: מרפקי 53">
            <a:extLst>
              <a:ext uri="{FF2B5EF4-FFF2-40B4-BE49-F238E27FC236}">
                <a16:creationId xmlns:a16="http://schemas.microsoft.com/office/drawing/2014/main" id="{82D0F454-4AB8-7EA3-90D1-2A9D8FFFC87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12806" y="3943674"/>
            <a:ext cx="1008182" cy="411651"/>
          </a:xfrm>
          <a:prstGeom prst="bentConnector3">
            <a:avLst>
              <a:gd name="adj1" fmla="val 1023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מחבר: מרפקי 57">
            <a:extLst>
              <a:ext uri="{FF2B5EF4-FFF2-40B4-BE49-F238E27FC236}">
                <a16:creationId xmlns:a16="http://schemas.microsoft.com/office/drawing/2014/main" id="{3E6E5AD7-D3EA-CA76-34CC-25B21A14C4B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04146" y="3591633"/>
            <a:ext cx="1759787" cy="364122"/>
          </a:xfrm>
          <a:prstGeom prst="bentConnector3">
            <a:avLst>
              <a:gd name="adj1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1840" name="Straight Arrow Connector 4">
            <a:extLst>
              <a:ext uri="{FF2B5EF4-FFF2-40B4-BE49-F238E27FC236}">
                <a16:creationId xmlns:a16="http://schemas.microsoft.com/office/drawing/2014/main" id="{784213B8-B781-9A38-C915-D97869C704E0}"/>
              </a:ext>
            </a:extLst>
          </p:cNvPr>
          <p:cNvCxnSpPr>
            <a:cxnSpLocks/>
          </p:cNvCxnSpPr>
          <p:nvPr/>
        </p:nvCxnSpPr>
        <p:spPr>
          <a:xfrm flipV="1">
            <a:off x="3248701" y="2893800"/>
            <a:ext cx="443852" cy="20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844" name="מחבר: מרפקי 291843">
            <a:extLst>
              <a:ext uri="{FF2B5EF4-FFF2-40B4-BE49-F238E27FC236}">
                <a16:creationId xmlns:a16="http://schemas.microsoft.com/office/drawing/2014/main" id="{3AA6DF38-2C5A-E800-5440-86E1AA3CF016}"/>
              </a:ext>
            </a:extLst>
          </p:cNvPr>
          <p:cNvCxnSpPr>
            <a:cxnSpLocks/>
          </p:cNvCxnSpPr>
          <p:nvPr/>
        </p:nvCxnSpPr>
        <p:spPr>
          <a:xfrm>
            <a:off x="2755111" y="4661768"/>
            <a:ext cx="146865" cy="2499"/>
          </a:xfrm>
          <a:prstGeom prst="bentConnector3">
            <a:avLst>
              <a:gd name="adj1" fmla="val 50000"/>
            </a:avLst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1847" name="Straight Arrow Connector 4">
            <a:extLst>
              <a:ext uri="{FF2B5EF4-FFF2-40B4-BE49-F238E27FC236}">
                <a16:creationId xmlns:a16="http://schemas.microsoft.com/office/drawing/2014/main" id="{FFBCBEB9-7B61-4F1F-B6FA-119DFDD61581}"/>
              </a:ext>
            </a:extLst>
          </p:cNvPr>
          <p:cNvCxnSpPr>
            <a:cxnSpLocks/>
          </p:cNvCxnSpPr>
          <p:nvPr/>
        </p:nvCxnSpPr>
        <p:spPr>
          <a:xfrm>
            <a:off x="5451446" y="2239924"/>
            <a:ext cx="34583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849" name="Rectangle: Rounded Corners 6">
            <a:extLst>
              <a:ext uri="{FF2B5EF4-FFF2-40B4-BE49-F238E27FC236}">
                <a16:creationId xmlns:a16="http://schemas.microsoft.com/office/drawing/2014/main" id="{1D720933-82EC-771F-4DD6-9FF1CDD75BB8}"/>
              </a:ext>
            </a:extLst>
          </p:cNvPr>
          <p:cNvSpPr/>
          <p:nvPr/>
        </p:nvSpPr>
        <p:spPr>
          <a:xfrm>
            <a:off x="6803898" y="2716101"/>
            <a:ext cx="175889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91858" name="Straight Arrow Connector 4">
            <a:extLst>
              <a:ext uri="{FF2B5EF4-FFF2-40B4-BE49-F238E27FC236}">
                <a16:creationId xmlns:a16="http://schemas.microsoft.com/office/drawing/2014/main" id="{4A826EC6-9541-0F1D-F930-AAE8E1AFF58A}"/>
              </a:ext>
            </a:extLst>
          </p:cNvPr>
          <p:cNvCxnSpPr>
            <a:cxnSpLocks/>
          </p:cNvCxnSpPr>
          <p:nvPr/>
        </p:nvCxnSpPr>
        <p:spPr>
          <a:xfrm>
            <a:off x="6498339" y="3645408"/>
            <a:ext cx="30555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861" name="Straight Arrow Connector 4">
            <a:extLst>
              <a:ext uri="{FF2B5EF4-FFF2-40B4-BE49-F238E27FC236}">
                <a16:creationId xmlns:a16="http://schemas.microsoft.com/office/drawing/2014/main" id="{B6874598-0009-8C2E-23CB-3C20DBD85264}"/>
              </a:ext>
            </a:extLst>
          </p:cNvPr>
          <p:cNvCxnSpPr>
            <a:cxnSpLocks/>
          </p:cNvCxnSpPr>
          <p:nvPr/>
        </p:nvCxnSpPr>
        <p:spPr>
          <a:xfrm>
            <a:off x="5451449" y="2995828"/>
            <a:ext cx="13524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865" name="Straight Arrow Connector 4">
            <a:extLst>
              <a:ext uri="{FF2B5EF4-FFF2-40B4-BE49-F238E27FC236}">
                <a16:creationId xmlns:a16="http://schemas.microsoft.com/office/drawing/2014/main" id="{E1B2988D-CAED-0ECB-BF9A-3ECD51B27983}"/>
              </a:ext>
            </a:extLst>
          </p:cNvPr>
          <p:cNvCxnSpPr>
            <a:cxnSpLocks/>
          </p:cNvCxnSpPr>
          <p:nvPr/>
        </p:nvCxnSpPr>
        <p:spPr>
          <a:xfrm>
            <a:off x="8585792" y="3112670"/>
            <a:ext cx="3239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866" name="Straight Arrow Connector 4">
            <a:extLst>
              <a:ext uri="{FF2B5EF4-FFF2-40B4-BE49-F238E27FC236}">
                <a16:creationId xmlns:a16="http://schemas.microsoft.com/office/drawing/2014/main" id="{147D89E0-94EF-7644-3233-242577A95CE0}"/>
              </a:ext>
            </a:extLst>
          </p:cNvPr>
          <p:cNvCxnSpPr>
            <a:cxnSpLocks/>
          </p:cNvCxnSpPr>
          <p:nvPr/>
        </p:nvCxnSpPr>
        <p:spPr>
          <a:xfrm>
            <a:off x="8601695" y="3645408"/>
            <a:ext cx="3080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1870" name="TextBox 2">
                <a:extLst>
                  <a:ext uri="{FF2B5EF4-FFF2-40B4-BE49-F238E27FC236}">
                    <a16:creationId xmlns:a16="http://schemas.microsoft.com/office/drawing/2014/main" id="{063B4055-F16D-622D-2CC7-A972B901BC1F}"/>
                  </a:ext>
                </a:extLst>
              </p:cNvPr>
              <p:cNvSpPr txBox="1"/>
              <p:nvPr/>
            </p:nvSpPr>
            <p:spPr>
              <a:xfrm>
                <a:off x="7118112" y="1837518"/>
                <a:ext cx="148358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𝑀𝐼𝑁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91870" name="TextBox 2">
                <a:extLst>
                  <a:ext uri="{FF2B5EF4-FFF2-40B4-BE49-F238E27FC236}">
                    <a16:creationId xmlns:a16="http://schemas.microsoft.com/office/drawing/2014/main" id="{063B4055-F16D-622D-2CC7-A972B901B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112" y="1837518"/>
                <a:ext cx="1483583" cy="369332"/>
              </a:xfrm>
              <a:prstGeom prst="rect">
                <a:avLst/>
              </a:prstGeom>
              <a:blipFill>
                <a:blip r:embed="rId8"/>
                <a:stretch>
                  <a:fillRect r="-16049"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873" name="TextBox 2">
                <a:extLst>
                  <a:ext uri="{FF2B5EF4-FFF2-40B4-BE49-F238E27FC236}">
                    <a16:creationId xmlns:a16="http://schemas.microsoft.com/office/drawing/2014/main" id="{837E8677-C620-1ADD-352C-619C81096926}"/>
                  </a:ext>
                </a:extLst>
              </p:cNvPr>
              <p:cNvSpPr txBox="1"/>
              <p:nvPr/>
            </p:nvSpPr>
            <p:spPr>
              <a:xfrm>
                <a:off x="3614365" y="2547821"/>
                <a:ext cx="1483583" cy="2616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𝑀𝐼𝑁</m:t>
                      </m:r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𝑀𝐼𝑁</m:t>
                      </m:r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291873" name="TextBox 2">
                <a:extLst>
                  <a:ext uri="{FF2B5EF4-FFF2-40B4-BE49-F238E27FC236}">
                    <a16:creationId xmlns:a16="http://schemas.microsoft.com/office/drawing/2014/main" id="{837E8677-C620-1ADD-352C-619C81096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365" y="2547821"/>
                <a:ext cx="1483583" cy="261610"/>
              </a:xfrm>
              <a:prstGeom prst="rect">
                <a:avLst/>
              </a:prstGeom>
              <a:blipFill>
                <a:blip r:embed="rId9"/>
                <a:stretch>
                  <a:fillRect r="-28395" b="-465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874" name="TextBox 2">
                <a:extLst>
                  <a:ext uri="{FF2B5EF4-FFF2-40B4-BE49-F238E27FC236}">
                    <a16:creationId xmlns:a16="http://schemas.microsoft.com/office/drawing/2014/main" id="{9198590E-96C4-6144-FD15-2F5809846FE4}"/>
                  </a:ext>
                </a:extLst>
              </p:cNvPr>
              <p:cNvSpPr txBox="1"/>
              <p:nvPr/>
            </p:nvSpPr>
            <p:spPr>
              <a:xfrm>
                <a:off x="4293031" y="4830907"/>
                <a:ext cx="1885132" cy="2616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d>
                        <m:dPr>
                          <m:ctrlP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𝑀𝐴𝑋</m:t>
                      </m:r>
                      <m:d>
                        <m:dPr>
                          <m:ctrlP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1050" dirty="0"/>
              </a:p>
            </p:txBody>
          </p:sp>
        </mc:Choice>
        <mc:Fallback xmlns="">
          <p:sp>
            <p:nvSpPr>
              <p:cNvPr id="291874" name="TextBox 2">
                <a:extLst>
                  <a:ext uri="{FF2B5EF4-FFF2-40B4-BE49-F238E27FC236}">
                    <a16:creationId xmlns:a16="http://schemas.microsoft.com/office/drawing/2014/main" id="{9198590E-96C4-6144-FD15-2F5809846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031" y="4830907"/>
                <a:ext cx="1885132" cy="261610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86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27">
            <a:extLst>
              <a:ext uri="{FF2B5EF4-FFF2-40B4-BE49-F238E27FC236}">
                <a16:creationId xmlns:a16="http://schemas.microsoft.com/office/drawing/2014/main" id="{DCD9810A-0538-4B70-B721-659EBE13C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566" y="1491306"/>
            <a:ext cx="5223231" cy="21852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m</a:t>
            </a:r>
            <a:r>
              <a:rPr lang="el-GR" altLang="en-US" sz="1600" dirty="0">
                <a:latin typeface="Courier New" panose="02070309020205020404" pitchFamily="49" charset="0"/>
              </a:rPr>
              <a:t>odule</a:t>
            </a:r>
            <a:r>
              <a:rPr lang="en-US" altLang="en-US" sz="1600" dirty="0">
                <a:latin typeface="Courier New" panose="02070309020205020404" pitchFamily="49" charset="0"/>
              </a:rPr>
              <a:t>_name instance_name1 </a:t>
            </a:r>
            <a:r>
              <a:rPr lang="el-GR" altLang="en-US" sz="1600" dirty="0">
                <a:latin typeface="Courier New" panose="02070309020205020404" pitchFamily="49" charset="0"/>
              </a:rPr>
              <a:t>(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my_out1,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my_out2</a:t>
            </a:r>
            <a:r>
              <a:rPr lang="el-GR" altLang="en-US" sz="1600" dirty="0">
                <a:latin typeface="Courier New" panose="02070309020205020404" pitchFamily="49" charset="0"/>
              </a:rPr>
              <a:t>,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.</a:t>
            </a:r>
            <a:r>
              <a:rPr lang="el-GR" altLang="en-US" sz="1600" dirty="0">
                <a:latin typeface="Courier New" panose="02070309020205020404" pitchFamily="49" charset="0"/>
              </a:rPr>
              <a:t>..,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my_inN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l-GR" altLang="en-US" sz="1600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-13449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Module Instantiation Syntax</a:t>
            </a:r>
            <a:endParaRPr lang="en-US" altLang="en-US" dirty="0"/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3844" y="989012"/>
            <a:ext cx="7886700" cy="48799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Positional association: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Named association: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32</a:t>
            </a:fld>
            <a:endParaRPr lang="en-US"/>
          </a:p>
        </p:txBody>
      </p:sp>
      <p:sp>
        <p:nvSpPr>
          <p:cNvPr id="6" name="Text Box 27">
            <a:extLst>
              <a:ext uri="{FF2B5EF4-FFF2-40B4-BE49-F238E27FC236}">
                <a16:creationId xmlns:a16="http://schemas.microsoft.com/office/drawing/2014/main" id="{52B06BB7-A12E-41A4-BCBE-7EDE98284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566" y="4598650"/>
            <a:ext cx="5223231" cy="21852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m</a:t>
            </a:r>
            <a:r>
              <a:rPr lang="el-GR" altLang="en-US" sz="1600" dirty="0">
                <a:latin typeface="Courier New" panose="02070309020205020404" pitchFamily="49" charset="0"/>
              </a:rPr>
              <a:t>odule</a:t>
            </a:r>
            <a:r>
              <a:rPr lang="en-US" altLang="en-US" sz="1600" dirty="0">
                <a:latin typeface="Courier New" panose="02070309020205020404" pitchFamily="49" charset="0"/>
              </a:rPr>
              <a:t>_name instance_name2 </a:t>
            </a:r>
            <a:r>
              <a:rPr lang="el-GR" altLang="en-US" sz="1600" dirty="0">
                <a:latin typeface="Courier New" panose="02070309020205020404" pitchFamily="49" charset="0"/>
              </a:rPr>
              <a:t>(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.out1(my_out1),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.out2(my_out2),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</a:t>
            </a:r>
            <a:r>
              <a:rPr lang="el-GR" altLang="en-US" sz="1600" dirty="0">
                <a:latin typeface="Courier New" panose="02070309020205020404" pitchFamily="49" charset="0"/>
              </a:rPr>
              <a:t>..,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</a:t>
            </a:r>
            <a:r>
              <a:rPr lang="el-GR" altLang="en-US" sz="1600" dirty="0">
                <a:latin typeface="Courier New" panose="02070309020205020404" pitchFamily="49" charset="0"/>
              </a:rPr>
              <a:t>in</a:t>
            </a:r>
            <a:r>
              <a:rPr lang="en-US" altLang="en-US" sz="1600" dirty="0">
                <a:latin typeface="Courier New" panose="02070309020205020404" pitchFamily="49" charset="0"/>
              </a:rPr>
              <a:t>N(my_in1)</a:t>
            </a:r>
          </a:p>
          <a:p>
            <a:pPr eaLnBrk="1" hangingPunct="1">
              <a:spcBef>
                <a:spcPct val="50000"/>
              </a:spcBef>
            </a:pPr>
            <a:r>
              <a:rPr lang="el-GR" altLang="en-US" sz="1600" dirty="0">
                <a:latin typeface="Courier New" panose="02070309020205020404" pitchFamily="49" charset="0"/>
              </a:rPr>
              <a:t>);</a:t>
            </a:r>
            <a:endParaRPr lang="en-US" altLang="en-US" sz="1600" dirty="0">
              <a:latin typeface="Courier New" panose="02070309020205020404" pitchFamily="49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708D04F4-9ECA-4AAE-A27D-78D6F8884BB4}"/>
              </a:ext>
            </a:extLst>
          </p:cNvPr>
          <p:cNvSpPr/>
          <p:nvPr/>
        </p:nvSpPr>
        <p:spPr>
          <a:xfrm rot="11348666">
            <a:off x="1014244" y="1489074"/>
            <a:ext cx="838195" cy="230647"/>
          </a:xfrm>
          <a:prstGeom prst="leftArrow">
            <a:avLst>
              <a:gd name="adj1" fmla="val 50001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F3DE027-99E9-49E6-A4B0-3452B2F1A5F4}"/>
              </a:ext>
            </a:extLst>
          </p:cNvPr>
          <p:cNvSpPr txBox="1">
            <a:spLocks/>
          </p:cNvSpPr>
          <p:nvPr/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76A6A57-7C9E-4FED-8E79-86E4DC7A2F71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F9015D-2E86-4A98-A269-2CCB378563E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B452BDD4-2E8E-495E-8727-342EBB6180DB}"/>
              </a:ext>
            </a:extLst>
          </p:cNvPr>
          <p:cNvSpPr/>
          <p:nvPr/>
        </p:nvSpPr>
        <p:spPr>
          <a:xfrm rot="19953516">
            <a:off x="4569648" y="1238983"/>
            <a:ext cx="1088998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DC2310-5EDC-4E33-A8F7-64B66AE2A005}"/>
              </a:ext>
            </a:extLst>
          </p:cNvPr>
          <p:cNvSpPr/>
          <p:nvPr/>
        </p:nvSpPr>
        <p:spPr>
          <a:xfrm>
            <a:off x="5507309" y="900109"/>
            <a:ext cx="1748387" cy="4937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Instance name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4C4B895-4CA0-4AC2-848B-BEE8D8FC2FAD}"/>
              </a:ext>
            </a:extLst>
          </p:cNvPr>
          <p:cNvSpPr/>
          <p:nvPr/>
        </p:nvSpPr>
        <p:spPr>
          <a:xfrm>
            <a:off x="3345907" y="1987523"/>
            <a:ext cx="298579" cy="1244863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B7E177-00E8-4259-9338-A93FF1E25EF0}"/>
              </a:ext>
            </a:extLst>
          </p:cNvPr>
          <p:cNvSpPr/>
          <p:nvPr/>
        </p:nvSpPr>
        <p:spPr>
          <a:xfrm>
            <a:off x="3931973" y="2048924"/>
            <a:ext cx="1567543" cy="135712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Input and Output port assignments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876F84C-0E0D-4636-BF1E-350E7E9F9933}"/>
              </a:ext>
            </a:extLst>
          </p:cNvPr>
          <p:cNvSpPr/>
          <p:nvPr/>
        </p:nvSpPr>
        <p:spPr>
          <a:xfrm>
            <a:off x="56572" y="1406809"/>
            <a:ext cx="1567543" cy="4937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name</a:t>
            </a:r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F3123FE0-A096-4A7C-A5D6-45755DEFD8C3}"/>
              </a:ext>
            </a:extLst>
          </p:cNvPr>
          <p:cNvSpPr/>
          <p:nvPr/>
        </p:nvSpPr>
        <p:spPr>
          <a:xfrm rot="8716876">
            <a:off x="1288747" y="5321596"/>
            <a:ext cx="1153386" cy="251823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201AA47-F59F-4362-B75C-B2639C02D642}"/>
              </a:ext>
            </a:extLst>
          </p:cNvPr>
          <p:cNvSpPr/>
          <p:nvPr/>
        </p:nvSpPr>
        <p:spPr>
          <a:xfrm>
            <a:off x="147156" y="5679962"/>
            <a:ext cx="1567543" cy="49370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port name</a:t>
            </a:r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id="{15242CD7-7FBC-4723-B752-2A9045EA7DD4}"/>
              </a:ext>
            </a:extLst>
          </p:cNvPr>
          <p:cNvSpPr/>
          <p:nvPr/>
        </p:nvSpPr>
        <p:spPr>
          <a:xfrm rot="21410869">
            <a:off x="3936129" y="4913128"/>
            <a:ext cx="3659448" cy="251823"/>
          </a:xfrm>
          <a:prstGeom prst="leftArrow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2E2877E-E008-4251-9771-36833640121B}"/>
              </a:ext>
            </a:extLst>
          </p:cNvPr>
          <p:cNvSpPr/>
          <p:nvPr/>
        </p:nvSpPr>
        <p:spPr>
          <a:xfrm>
            <a:off x="7143138" y="4678767"/>
            <a:ext cx="1567543" cy="49370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Wire name</a:t>
            </a:r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EF570E64-353B-4E09-9E3D-0EE086502343}"/>
              </a:ext>
            </a:extLst>
          </p:cNvPr>
          <p:cNvSpPr/>
          <p:nvPr/>
        </p:nvSpPr>
        <p:spPr>
          <a:xfrm rot="11348666">
            <a:off x="1001935" y="4610968"/>
            <a:ext cx="838195" cy="230647"/>
          </a:xfrm>
          <a:prstGeom prst="leftArrow">
            <a:avLst>
              <a:gd name="adj1" fmla="val 50001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DB2E30E-6D72-4362-A217-689378E9A38B}"/>
              </a:ext>
            </a:extLst>
          </p:cNvPr>
          <p:cNvSpPr/>
          <p:nvPr/>
        </p:nvSpPr>
        <p:spPr>
          <a:xfrm>
            <a:off x="44263" y="4528703"/>
            <a:ext cx="1567543" cy="4937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name</a:t>
            </a: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510536AB-3A0D-4773-A0E7-C5C6DC367EEB}"/>
              </a:ext>
            </a:extLst>
          </p:cNvPr>
          <p:cNvSpPr/>
          <p:nvPr/>
        </p:nvSpPr>
        <p:spPr>
          <a:xfrm rot="19953516">
            <a:off x="4303195" y="4315632"/>
            <a:ext cx="1088998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42F9D00-B480-457F-A0A0-46E77F61232C}"/>
              </a:ext>
            </a:extLst>
          </p:cNvPr>
          <p:cNvSpPr/>
          <p:nvPr/>
        </p:nvSpPr>
        <p:spPr>
          <a:xfrm>
            <a:off x="5240856" y="3976758"/>
            <a:ext cx="1748387" cy="4937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Instance name</a:t>
            </a:r>
          </a:p>
        </p:txBody>
      </p:sp>
    </p:spTree>
    <p:extLst>
      <p:ext uri="{BB962C8B-B14F-4D97-AF65-F5344CB8AC3E}">
        <p14:creationId xmlns:p14="http://schemas.microsoft.com/office/powerpoint/2010/main" val="951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3" grpId="0" animBg="1"/>
      <p:bldP spid="14" grpId="0" animBg="1"/>
      <p:bldP spid="15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36846"/>
            <a:ext cx="7886700" cy="1325563"/>
          </a:xfrm>
        </p:spPr>
        <p:txBody>
          <a:bodyPr/>
          <a:lstStyle/>
          <a:p>
            <a:r>
              <a:rPr lang="en-US" altLang="zh-TW" dirty="0"/>
              <a:t>Module Instantiation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33</a:t>
            </a:fld>
            <a:endParaRPr lang="en-US"/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3342945B-42F8-4F47-AC97-529E249C58AC}"/>
              </a:ext>
            </a:extLst>
          </p:cNvPr>
          <p:cNvSpPr/>
          <p:nvPr/>
        </p:nvSpPr>
        <p:spPr>
          <a:xfrm>
            <a:off x="505513" y="1790356"/>
            <a:ext cx="3736287" cy="28353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b" anchorCtr="0"/>
          <a:lstStyle/>
          <a:p>
            <a:pPr algn="r"/>
            <a:r>
              <a:rPr lang="en-US" sz="2400" dirty="0"/>
              <a:t>top</a:t>
            </a:r>
            <a:endParaRPr lang="he-IL" sz="24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800697" y="2329241"/>
            <a:ext cx="1306150" cy="878780"/>
            <a:chOff x="984847" y="2589591"/>
            <a:chExt cx="1306150" cy="878780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C9698171-5753-4AF5-8EC8-A7B2465B6F55}"/>
                </a:ext>
              </a:extLst>
            </p:cNvPr>
            <p:cNvSpPr/>
            <p:nvPr/>
          </p:nvSpPr>
          <p:spPr>
            <a:xfrm>
              <a:off x="984847" y="2589591"/>
              <a:ext cx="1306150" cy="87878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 err="1"/>
                <a:t>mymodule</a:t>
              </a:r>
              <a:endParaRPr lang="he-IL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90625" y="2599116"/>
              <a:ext cx="2551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98625" y="2592766"/>
              <a:ext cx="2551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8145" y="3237539"/>
              <a:ext cx="2551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588222" y="2363081"/>
            <a:ext cx="1306150" cy="878780"/>
            <a:chOff x="984847" y="2589591"/>
            <a:chExt cx="1306150" cy="878780"/>
          </a:xfrm>
        </p:grpSpPr>
        <p:sp>
          <p:nvSpPr>
            <p:cNvPr id="19" name="Rectangle: Rounded Corners 7">
              <a:extLst>
                <a:ext uri="{FF2B5EF4-FFF2-40B4-BE49-F238E27FC236}">
                  <a16:creationId xmlns:a16="http://schemas.microsoft.com/office/drawing/2014/main" id="{C9698171-5753-4AF5-8EC8-A7B2465B6F55}"/>
                </a:ext>
              </a:extLst>
            </p:cNvPr>
            <p:cNvSpPr/>
            <p:nvPr/>
          </p:nvSpPr>
          <p:spPr>
            <a:xfrm>
              <a:off x="984847" y="2589591"/>
              <a:ext cx="1306150" cy="87878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 err="1"/>
                <a:t>mymodule</a:t>
              </a:r>
              <a:endParaRPr lang="he-IL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90625" y="2599116"/>
              <a:ext cx="2551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98625" y="2592766"/>
              <a:ext cx="2551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58145" y="3237539"/>
              <a:ext cx="2551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642074" y="3186131"/>
            <a:ext cx="489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inst1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0784" y="3204813"/>
            <a:ext cx="489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inst2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1134074" y="1978025"/>
            <a:ext cx="0" cy="354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1633148" y="1974245"/>
            <a:ext cx="0" cy="354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931723" y="2126645"/>
            <a:ext cx="1" cy="2459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429599" y="2008690"/>
            <a:ext cx="0" cy="354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401594" y="3195470"/>
            <a:ext cx="0" cy="354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202418" y="3241861"/>
            <a:ext cx="0" cy="354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80099" y="1902799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net1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4325" y="1902799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0127" y="1902799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net3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1642074" y="2126645"/>
            <a:ext cx="128965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48910" y="3337872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net4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41829" y="3355121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net5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5732" y="1522945"/>
            <a:ext cx="2489200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module </a:t>
            </a:r>
            <a:r>
              <a:rPr lang="en-US" dirty="0" err="1"/>
              <a:t>mymodule</a:t>
            </a:r>
            <a:r>
              <a:rPr lang="en-US" dirty="0"/>
              <a:t> (</a:t>
            </a:r>
          </a:p>
          <a:p>
            <a:r>
              <a:rPr lang="en-US" dirty="0"/>
              <a:t>   output logic C,</a:t>
            </a:r>
          </a:p>
          <a:p>
            <a:r>
              <a:rPr lang="en-US" dirty="0"/>
              <a:t>   input logic A,</a:t>
            </a:r>
          </a:p>
          <a:p>
            <a:r>
              <a:rPr lang="en-US" dirty="0"/>
              <a:t>   input logic B</a:t>
            </a:r>
          </a:p>
          <a:p>
            <a:r>
              <a:rPr lang="en-US" dirty="0"/>
              <a:t>);</a:t>
            </a:r>
          </a:p>
          <a:p>
            <a:r>
              <a:rPr lang="en-US" dirty="0"/>
              <a:t>   …</a:t>
            </a:r>
          </a:p>
          <a:p>
            <a:r>
              <a:rPr lang="en-US" dirty="0"/>
              <a:t>   …</a:t>
            </a:r>
          </a:p>
          <a:p>
            <a:r>
              <a:rPr lang="en-US" dirty="0" err="1"/>
              <a:t>endmodule</a:t>
            </a:r>
            <a:endParaRPr lang="en-US" dirty="0"/>
          </a:p>
        </p:txBody>
      </p:sp>
      <p:sp>
        <p:nvSpPr>
          <p:cNvPr id="43" name="Left Arrow 42"/>
          <p:cNvSpPr/>
          <p:nvPr/>
        </p:nvSpPr>
        <p:spPr>
          <a:xfrm>
            <a:off x="3894372" y="2544603"/>
            <a:ext cx="1441360" cy="417553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 Arrow 43"/>
          <p:cNvSpPr/>
          <p:nvPr/>
        </p:nvSpPr>
        <p:spPr>
          <a:xfrm rot="1012518">
            <a:off x="4058844" y="4415437"/>
            <a:ext cx="2513024" cy="417553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318000" y="4782698"/>
            <a:ext cx="47244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module top;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logic net1, net2, net3, net4, net5;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inst1 (net4, net1, net2);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mymodule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inst2 (.C(net5), .A(net2), .B(net3));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5513" y="5403273"/>
            <a:ext cx="1826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Connect by name</a:t>
            </a:r>
          </a:p>
          <a:p>
            <a:r>
              <a:rPr lang="en-US" dirty="0">
                <a:solidFill>
                  <a:srgbClr val="FF0000"/>
                </a:solidFill>
              </a:rPr>
              <a:t>Use this only!</a:t>
            </a:r>
          </a:p>
        </p:txBody>
      </p:sp>
      <p:cxnSp>
        <p:nvCxnSpPr>
          <p:cNvPr id="47" name="Straight Arrow Connector 46"/>
          <p:cNvCxnSpPr>
            <a:stCxn id="45" idx="3"/>
          </p:cNvCxnSpPr>
          <p:nvPr/>
        </p:nvCxnSpPr>
        <p:spPr>
          <a:xfrm flipV="1">
            <a:off x="2332103" y="5680364"/>
            <a:ext cx="2350733" cy="460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9373" y="4992277"/>
            <a:ext cx="2054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Connect by position</a:t>
            </a:r>
          </a:p>
        </p:txBody>
      </p:sp>
      <p:cxnSp>
        <p:nvCxnSpPr>
          <p:cNvPr id="49" name="Straight Arrow Connector 48"/>
          <p:cNvCxnSpPr>
            <a:stCxn id="48" idx="3"/>
          </p:cNvCxnSpPr>
          <p:nvPr/>
        </p:nvCxnSpPr>
        <p:spPr>
          <a:xfrm>
            <a:off x="2573590" y="5176943"/>
            <a:ext cx="2109246" cy="2982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173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Built-in </a:t>
            </a:r>
            <a:r>
              <a:rPr lang="en-US" altLang="zh-TW" dirty="0" err="1"/>
              <a:t>SystemVerilog</a:t>
            </a:r>
            <a:r>
              <a:rPr lang="en-US" altLang="zh-TW" dirty="0"/>
              <a:t> Modules</a:t>
            </a:r>
            <a:endParaRPr lang="en-US" altLang="en-US" dirty="0"/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28650" y="1492250"/>
            <a:ext cx="7886700" cy="48799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Basic logic gates available for direct instantiation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not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err="1">
                <a:solidFill>
                  <a:srgbClr val="009900"/>
                </a:solidFill>
                <a:ea typeface="新細明體" pitchFamily="18" charset="-120"/>
              </a:rPr>
              <a:t>xor</a:t>
            </a:r>
            <a:endParaRPr lang="en-US" altLang="zh-TW" sz="2400" dirty="0">
              <a:solidFill>
                <a:srgbClr val="009900"/>
              </a:solidFill>
              <a:ea typeface="新細明體" pitchFamily="18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err="1">
                <a:solidFill>
                  <a:srgbClr val="009900"/>
                </a:solidFill>
                <a:ea typeface="新細明體" pitchFamily="18" charset="-120"/>
              </a:rPr>
              <a:t>nand</a:t>
            </a:r>
            <a:endParaRPr lang="en-US" altLang="zh-TW" sz="2400" dirty="0">
              <a:solidFill>
                <a:srgbClr val="009900"/>
              </a:solidFill>
              <a:ea typeface="新細明體" pitchFamily="18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nor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err="1">
                <a:solidFill>
                  <a:srgbClr val="009900"/>
                </a:solidFill>
                <a:ea typeface="新細明體" pitchFamily="18" charset="-120"/>
              </a:rPr>
              <a:t>x</a:t>
            </a:r>
            <a:r>
              <a:rPr lang="en-US" altLang="zh-TW" sz="2400" dirty="0" err="1">
                <a:solidFill>
                  <a:srgbClr val="009900"/>
                </a:solidFill>
                <a:ea typeface="新細明體" pitchFamily="18" charset="-120"/>
              </a:rPr>
              <a:t>nor</a:t>
            </a:r>
            <a:endParaRPr lang="en-US" altLang="zh-TW" sz="2400" dirty="0">
              <a:solidFill>
                <a:srgbClr val="009900"/>
              </a:solidFill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Syntax: </a:t>
            </a:r>
            <a:r>
              <a:rPr lang="en-US" altLang="zh-TW" dirty="0" err="1">
                <a:ea typeface="新細明體" pitchFamily="18" charset="-120"/>
              </a:rPr>
              <a:t>gateName</a:t>
            </a:r>
            <a:r>
              <a:rPr lang="en-US" altLang="zh-TW" dirty="0">
                <a:ea typeface="新細明體" pitchFamily="18" charset="-120"/>
              </a:rPr>
              <a:t>(output, input1, &lt;input2&gt;)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400" dirty="0">
              <a:solidFill>
                <a:srgbClr val="009900"/>
              </a:solidFill>
              <a:ea typeface="新細明體" pitchFamily="18" charset="-12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34</a:t>
            </a:fld>
            <a:endParaRPr lang="en-US"/>
          </a:p>
        </p:txBody>
      </p:sp>
      <p:sp>
        <p:nvSpPr>
          <p:cNvPr id="6" name="Text Box 27">
            <a:extLst>
              <a:ext uri="{FF2B5EF4-FFF2-40B4-BE49-F238E27FC236}">
                <a16:creationId xmlns:a16="http://schemas.microsoft.com/office/drawing/2014/main" id="{434C8C6F-902D-42F8-A49A-7A1334A29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860" y="5365750"/>
            <a:ext cx="362653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A,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68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Example – Half Adder Implementation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2" descr="Image result for half adder">
            <a:extLst>
              <a:ext uri="{FF2B5EF4-FFF2-40B4-BE49-F238E27FC236}">
                <a16:creationId xmlns:a16="http://schemas.microsoft.com/office/drawing/2014/main" id="{D0CB7045-4E94-45D1-AEA1-555A53069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150505"/>
            <a:ext cx="59817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732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23243" y="1478783"/>
            <a:ext cx="7886700" cy="4877567"/>
          </a:xfrm>
        </p:spPr>
        <p:txBody>
          <a:bodyPr>
            <a:normAutofit/>
          </a:bodyPr>
          <a:lstStyle/>
          <a:p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  <a:p>
            <a:endParaRPr lang="en-US" altLang="en-US" sz="2000" b="1" dirty="0">
              <a:solidFill>
                <a:srgbClr val="FF3300"/>
              </a:solidFill>
              <a:latin typeface="Courier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36</a:t>
            </a:fld>
            <a:endParaRPr lang="en-US"/>
          </a:p>
        </p:txBody>
      </p:sp>
      <p:sp>
        <p:nvSpPr>
          <p:cNvPr id="8" name="Text Box 27">
            <a:extLst>
              <a:ext uri="{FF2B5EF4-FFF2-40B4-BE49-F238E27FC236}">
                <a16:creationId xmlns:a16="http://schemas.microsoft.com/office/drawing/2014/main" id="{EF2ACA52-61A7-41C2-A1E0-CB604B785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20" y="2028616"/>
            <a:ext cx="3626530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C,</a:t>
            </a:r>
          </a:p>
          <a:p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B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B6EEA4D-8427-4C93-98FC-6CDB583620B0}"/>
              </a:ext>
            </a:extLst>
          </p:cNvPr>
          <p:cNvSpPr txBox="1">
            <a:spLocks noChangeArrowheads="1"/>
          </p:cNvSpPr>
          <p:nvPr/>
        </p:nvSpPr>
        <p:spPr>
          <a:xfrm>
            <a:off x="781050" y="5175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/>
              <a:t>Example – Half Adder Implementation</a:t>
            </a:r>
            <a:endParaRPr lang="en-US" altLang="en-US" dirty="0"/>
          </a:p>
        </p:txBody>
      </p:sp>
      <p:pic>
        <p:nvPicPr>
          <p:cNvPr id="11" name="Picture 2" descr="Image result for half adder">
            <a:extLst>
              <a:ext uri="{FF2B5EF4-FFF2-40B4-BE49-F238E27FC236}">
                <a16:creationId xmlns:a16="http://schemas.microsoft.com/office/drawing/2014/main" id="{936A2626-FD76-4AA6-9577-B009D9F2F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302" y="2295525"/>
            <a:ext cx="3984292" cy="243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880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altLang="en-US" dirty="0"/>
              <a:t>Module Instantiation Example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37</a:t>
            </a:fld>
            <a:endParaRPr lang="en-US"/>
          </a:p>
        </p:txBody>
      </p:sp>
      <p:pic>
        <p:nvPicPr>
          <p:cNvPr id="5122" name="Picture 2" descr="Image result for mux">
            <a:extLst>
              <a:ext uri="{FF2B5EF4-FFF2-40B4-BE49-F238E27FC236}">
                <a16:creationId xmlns:a16="http://schemas.microsoft.com/office/drawing/2014/main" id="{204BA42A-261C-42B6-87B4-F9AF2287C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3069638"/>
            <a:ext cx="2433461" cy="21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BC989-13F0-4C8B-94AC-8F1391DAC6EE}"/>
              </a:ext>
            </a:extLst>
          </p:cNvPr>
          <p:cNvSpPr txBox="1"/>
          <p:nvPr/>
        </p:nvSpPr>
        <p:spPr>
          <a:xfrm>
            <a:off x="3097740" y="2392609"/>
            <a:ext cx="243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have:</a:t>
            </a:r>
          </a:p>
        </p:txBody>
      </p:sp>
      <p:sp>
        <p:nvSpPr>
          <p:cNvPr id="28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304800" y="1489749"/>
            <a:ext cx="85344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Build complex modules using simpler modules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D9F6D0-1324-4E43-940B-2AE1EBDA7C81}"/>
              </a:ext>
            </a:extLst>
          </p:cNvPr>
          <p:cNvSpPr txBox="1"/>
          <p:nvPr/>
        </p:nvSpPr>
        <p:spPr>
          <a:xfrm>
            <a:off x="4064102" y="4578029"/>
            <a:ext cx="4452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/>
              <a:t>S</a:t>
            </a:r>
            <a:endParaRPr lang="he-IL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C3AEAD-EA69-435D-AEB8-0649A12C3771}"/>
              </a:ext>
            </a:extLst>
          </p:cNvPr>
          <p:cNvSpPr txBox="1"/>
          <p:nvPr/>
        </p:nvSpPr>
        <p:spPr>
          <a:xfrm>
            <a:off x="3295055" y="4707068"/>
            <a:ext cx="60892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328581-265C-40F1-B0E7-A7941525ED09}"/>
              </a:ext>
            </a:extLst>
          </p:cNvPr>
          <p:cNvSpPr txBox="1"/>
          <p:nvPr/>
        </p:nvSpPr>
        <p:spPr>
          <a:xfrm>
            <a:off x="4578628" y="3542376"/>
            <a:ext cx="5110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dirty="0"/>
              <a:t>O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29620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BE356-1889-75CE-A4F2-02DD28BF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97B57200-6DAB-730C-330A-39A15B0AF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altLang="en-US" dirty="0"/>
              <a:t>Module Instantiation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3B3303-46ED-001D-6DB2-594BF694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216962-63AF-4ED2-C9F4-8BC25014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FA4A7-BADA-FBC2-32D0-467127440535}"/>
              </a:ext>
            </a:extLst>
          </p:cNvPr>
          <p:cNvSpPr txBox="1"/>
          <p:nvPr/>
        </p:nvSpPr>
        <p:spPr>
          <a:xfrm>
            <a:off x="2894857" y="2540471"/>
            <a:ext cx="252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 need:</a:t>
            </a:r>
          </a:p>
        </p:txBody>
      </p:sp>
      <p:pic>
        <p:nvPicPr>
          <p:cNvPr id="13" name="Picture 2" descr="Image result for mux">
            <a:extLst>
              <a:ext uri="{FF2B5EF4-FFF2-40B4-BE49-F238E27FC236}">
                <a16:creationId xmlns:a16="http://schemas.microsoft.com/office/drawing/2014/main" id="{0D82494A-D8CF-2154-799F-CA8E5AF25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938" y="3259251"/>
            <a:ext cx="2433461" cy="21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D0D95F-D453-2524-5897-D0F3E6572173}"/>
              </a:ext>
            </a:extLst>
          </p:cNvPr>
          <p:cNvSpPr/>
          <p:nvPr/>
        </p:nvSpPr>
        <p:spPr>
          <a:xfrm>
            <a:off x="3681589" y="3528353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DAD747-862E-A935-585B-30D339704326}"/>
              </a:ext>
            </a:extLst>
          </p:cNvPr>
          <p:cNvSpPr/>
          <p:nvPr/>
        </p:nvSpPr>
        <p:spPr>
          <a:xfrm>
            <a:off x="3715455" y="4269248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2C2BD-30A0-BCC3-649E-6BEBA6567933}"/>
              </a:ext>
            </a:extLst>
          </p:cNvPr>
          <p:cNvSpPr txBox="1"/>
          <p:nvPr/>
        </p:nvSpPr>
        <p:spPr>
          <a:xfrm>
            <a:off x="3336766" y="3545682"/>
            <a:ext cx="88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5213192-A7BA-63E0-FAB7-CDD534F862AF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489749"/>
            <a:ext cx="85344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Implement 4-&gt;1 Mux using minimal number of 2-&gt;1 mux.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9F2FD3-1104-8A6B-D871-3740341AFBB6}"/>
              </a:ext>
            </a:extLst>
          </p:cNvPr>
          <p:cNvSpPr txBox="1"/>
          <p:nvPr/>
        </p:nvSpPr>
        <p:spPr>
          <a:xfrm>
            <a:off x="4523921" y="4894817"/>
            <a:ext cx="4452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/>
              <a:t>S0</a:t>
            </a:r>
            <a:endParaRPr lang="he-IL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8A8D30-DFCE-E4F9-D4E2-D55C58B79ECE}"/>
              </a:ext>
            </a:extLst>
          </p:cNvPr>
          <p:cNvSpPr txBox="1"/>
          <p:nvPr/>
        </p:nvSpPr>
        <p:spPr>
          <a:xfrm>
            <a:off x="3766618" y="4895005"/>
            <a:ext cx="626169" cy="25777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D3F591-34AF-BA15-FA43-E16840B74D2E}"/>
              </a:ext>
            </a:extLst>
          </p:cNvPr>
          <p:cNvSpPr txBox="1"/>
          <p:nvPr/>
        </p:nvSpPr>
        <p:spPr>
          <a:xfrm>
            <a:off x="5880715" y="3929111"/>
            <a:ext cx="9865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dirty="0"/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FF31368E-908B-CD8F-585F-3DBD605DDF32}"/>
              </a:ext>
            </a:extLst>
          </p:cNvPr>
          <p:cNvCxnSpPr/>
          <p:nvPr/>
        </p:nvCxnSpPr>
        <p:spPr>
          <a:xfrm>
            <a:off x="3715455" y="3980873"/>
            <a:ext cx="533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D6890FE5-BE1D-F614-A127-6605CD277D16}"/>
              </a:ext>
            </a:extLst>
          </p:cNvPr>
          <p:cNvCxnSpPr/>
          <p:nvPr/>
        </p:nvCxnSpPr>
        <p:spPr>
          <a:xfrm>
            <a:off x="3708464" y="4255394"/>
            <a:ext cx="533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7">
            <a:extLst>
              <a:ext uri="{FF2B5EF4-FFF2-40B4-BE49-F238E27FC236}">
                <a16:creationId xmlns:a16="http://schemas.microsoft.com/office/drawing/2014/main" id="{198F71C8-9545-861C-32E4-9E7CC34C7EEA}"/>
              </a:ext>
            </a:extLst>
          </p:cNvPr>
          <p:cNvSpPr txBox="1"/>
          <p:nvPr/>
        </p:nvSpPr>
        <p:spPr>
          <a:xfrm>
            <a:off x="3341386" y="3790445"/>
            <a:ext cx="53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29C076C7-2D5F-C207-09B0-D852D34ADE9B}"/>
              </a:ext>
            </a:extLst>
          </p:cNvPr>
          <p:cNvSpPr txBox="1"/>
          <p:nvPr/>
        </p:nvSpPr>
        <p:spPr>
          <a:xfrm>
            <a:off x="3341387" y="4058296"/>
            <a:ext cx="53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C9C5EA17-F99F-C7D9-6836-6FBDFE1C734B}"/>
              </a:ext>
            </a:extLst>
          </p:cNvPr>
          <p:cNvSpPr txBox="1"/>
          <p:nvPr/>
        </p:nvSpPr>
        <p:spPr>
          <a:xfrm>
            <a:off x="3341388" y="4298443"/>
            <a:ext cx="88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A3D222F8-E094-97D5-9F7C-38953FE1C0C8}"/>
              </a:ext>
            </a:extLst>
          </p:cNvPr>
          <p:cNvCxnSpPr>
            <a:cxnSpLocks/>
          </p:cNvCxnSpPr>
          <p:nvPr/>
        </p:nvCxnSpPr>
        <p:spPr>
          <a:xfrm flipV="1">
            <a:off x="4392787" y="4756727"/>
            <a:ext cx="0" cy="474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31">
            <a:extLst>
              <a:ext uri="{FF2B5EF4-FFF2-40B4-BE49-F238E27FC236}">
                <a16:creationId xmlns:a16="http://schemas.microsoft.com/office/drawing/2014/main" id="{0A2EC22D-4BBB-E7A0-82AA-2B1416A18F04}"/>
              </a:ext>
            </a:extLst>
          </p:cNvPr>
          <p:cNvSpPr txBox="1"/>
          <p:nvPr/>
        </p:nvSpPr>
        <p:spPr>
          <a:xfrm>
            <a:off x="3947580" y="4905997"/>
            <a:ext cx="4452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/>
              <a:t>S1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888214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B43F-EEE4-F292-764C-D5C02177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844EF052-6C68-D937-AE4A-FBE524412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altLang="en-US" dirty="0"/>
              <a:t>Module Instantiation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4FB547-AC9F-EC95-6E9B-FE5E8F94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E6A02D-87FC-424C-7C80-A9E5100F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39</a:t>
            </a:fld>
            <a:endParaRPr lang="en-US"/>
          </a:p>
        </p:txBody>
      </p:sp>
      <p:sp>
        <p:nvSpPr>
          <p:cNvPr id="2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A90973E-058A-31CB-E68A-7CD67D204D83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489749"/>
            <a:ext cx="85344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Implement 4-&gt;1 Mux using minimal number of 2-&gt;1 mux.</a:t>
            </a:r>
          </a:p>
        </p:txBody>
      </p:sp>
      <p:pic>
        <p:nvPicPr>
          <p:cNvPr id="6" name="Picture 2" descr="Image result for mux">
            <a:extLst>
              <a:ext uri="{FF2B5EF4-FFF2-40B4-BE49-F238E27FC236}">
                <a16:creationId xmlns:a16="http://schemas.microsoft.com/office/drawing/2014/main" id="{3257BC62-43AA-5270-3F0A-7FF7BB822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83" y="2501869"/>
            <a:ext cx="2433461" cy="21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63911B3-2068-54BF-318A-C35AE894316E}"/>
              </a:ext>
            </a:extLst>
          </p:cNvPr>
          <p:cNvSpPr/>
          <p:nvPr/>
        </p:nvSpPr>
        <p:spPr>
          <a:xfrm>
            <a:off x="873734" y="2770971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152102A-818F-D1F4-DFDB-E28208DE96E3}"/>
              </a:ext>
            </a:extLst>
          </p:cNvPr>
          <p:cNvSpPr/>
          <p:nvPr/>
        </p:nvSpPr>
        <p:spPr>
          <a:xfrm>
            <a:off x="907600" y="3511866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96E15877-9F5D-B8EB-D6B4-ECAD3AE33146}"/>
              </a:ext>
            </a:extLst>
          </p:cNvPr>
          <p:cNvSpPr txBox="1"/>
          <p:nvPr/>
        </p:nvSpPr>
        <p:spPr>
          <a:xfrm>
            <a:off x="528911" y="2788300"/>
            <a:ext cx="88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31">
            <a:extLst>
              <a:ext uri="{FF2B5EF4-FFF2-40B4-BE49-F238E27FC236}">
                <a16:creationId xmlns:a16="http://schemas.microsoft.com/office/drawing/2014/main" id="{DE8C21E9-CA74-3658-DD82-A94EC5B3F116}"/>
              </a:ext>
            </a:extLst>
          </p:cNvPr>
          <p:cNvSpPr txBox="1"/>
          <p:nvPr/>
        </p:nvSpPr>
        <p:spPr>
          <a:xfrm>
            <a:off x="1716066" y="4137435"/>
            <a:ext cx="4452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/>
              <a:t>S0</a:t>
            </a:r>
            <a:endParaRPr lang="he-IL" sz="2000" dirty="0"/>
          </a:p>
        </p:txBody>
      </p:sp>
      <p:sp>
        <p:nvSpPr>
          <p:cNvPr id="22" name="TextBox 32">
            <a:extLst>
              <a:ext uri="{FF2B5EF4-FFF2-40B4-BE49-F238E27FC236}">
                <a16:creationId xmlns:a16="http://schemas.microsoft.com/office/drawing/2014/main" id="{A94FECB1-D524-A74B-D722-BB4DE68E9DD1}"/>
              </a:ext>
            </a:extLst>
          </p:cNvPr>
          <p:cNvSpPr txBox="1"/>
          <p:nvPr/>
        </p:nvSpPr>
        <p:spPr>
          <a:xfrm>
            <a:off x="958763" y="4137623"/>
            <a:ext cx="626169" cy="25777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2000" dirty="0"/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880803D5-5D69-B19D-FEF1-1F6D295B8F24}"/>
              </a:ext>
            </a:extLst>
          </p:cNvPr>
          <p:cNvSpPr txBox="1"/>
          <p:nvPr/>
        </p:nvSpPr>
        <p:spPr>
          <a:xfrm>
            <a:off x="533533" y="3541061"/>
            <a:ext cx="88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6" name="Picture 2" descr="Image result for mux">
            <a:extLst>
              <a:ext uri="{FF2B5EF4-FFF2-40B4-BE49-F238E27FC236}">
                <a16:creationId xmlns:a16="http://schemas.microsoft.com/office/drawing/2014/main" id="{5782186A-BABB-9165-6263-CB19C504B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83" y="4476424"/>
            <a:ext cx="2433461" cy="21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6">
            <a:extLst>
              <a:ext uri="{FF2B5EF4-FFF2-40B4-BE49-F238E27FC236}">
                <a16:creationId xmlns:a16="http://schemas.microsoft.com/office/drawing/2014/main" id="{1B2AA875-E7E1-3E23-D5A2-B7B965531499}"/>
              </a:ext>
            </a:extLst>
          </p:cNvPr>
          <p:cNvSpPr/>
          <p:nvPr/>
        </p:nvSpPr>
        <p:spPr>
          <a:xfrm>
            <a:off x="873734" y="4745526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7E7A5CA-A9C2-416C-45A0-B4C59C79DA5D}"/>
              </a:ext>
            </a:extLst>
          </p:cNvPr>
          <p:cNvSpPr/>
          <p:nvPr/>
        </p:nvSpPr>
        <p:spPr>
          <a:xfrm>
            <a:off x="907600" y="5486421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0A72B4DF-757A-C9B4-476F-2C9DD5576ADC}"/>
              </a:ext>
            </a:extLst>
          </p:cNvPr>
          <p:cNvSpPr txBox="1"/>
          <p:nvPr/>
        </p:nvSpPr>
        <p:spPr>
          <a:xfrm>
            <a:off x="528911" y="4762855"/>
            <a:ext cx="88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84C2A589-7B96-5523-88D8-016DB95576A6}"/>
              </a:ext>
            </a:extLst>
          </p:cNvPr>
          <p:cNvSpPr txBox="1"/>
          <p:nvPr/>
        </p:nvSpPr>
        <p:spPr>
          <a:xfrm>
            <a:off x="1716066" y="6111990"/>
            <a:ext cx="4452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/>
              <a:t>S0</a:t>
            </a:r>
            <a:endParaRPr lang="he-IL" sz="2000" dirty="0"/>
          </a:p>
        </p:txBody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5C058FC5-AFC2-EB21-F77B-340970AE017A}"/>
              </a:ext>
            </a:extLst>
          </p:cNvPr>
          <p:cNvSpPr txBox="1"/>
          <p:nvPr/>
        </p:nvSpPr>
        <p:spPr>
          <a:xfrm>
            <a:off x="958763" y="6112178"/>
            <a:ext cx="626169" cy="25777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2000" dirty="0"/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6843D9EC-93AF-E92B-E56D-E54AB3EDA5A8}"/>
              </a:ext>
            </a:extLst>
          </p:cNvPr>
          <p:cNvSpPr txBox="1"/>
          <p:nvPr/>
        </p:nvSpPr>
        <p:spPr>
          <a:xfrm>
            <a:off x="533533" y="5515616"/>
            <a:ext cx="88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6" name="Picture 2" descr="Image result for mux">
            <a:extLst>
              <a:ext uri="{FF2B5EF4-FFF2-40B4-BE49-F238E27FC236}">
                <a16:creationId xmlns:a16="http://schemas.microsoft.com/office/drawing/2014/main" id="{73E6709E-0CDF-C348-5FCF-EB3B2A1B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999" y="3591910"/>
            <a:ext cx="2433461" cy="21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6">
            <a:extLst>
              <a:ext uri="{FF2B5EF4-FFF2-40B4-BE49-F238E27FC236}">
                <a16:creationId xmlns:a16="http://schemas.microsoft.com/office/drawing/2014/main" id="{6EA8E096-7C8A-1ED9-5B9C-D26AE33711F1}"/>
              </a:ext>
            </a:extLst>
          </p:cNvPr>
          <p:cNvSpPr/>
          <p:nvPr/>
        </p:nvSpPr>
        <p:spPr>
          <a:xfrm>
            <a:off x="3979650" y="3861012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14">
            <a:extLst>
              <a:ext uri="{FF2B5EF4-FFF2-40B4-BE49-F238E27FC236}">
                <a16:creationId xmlns:a16="http://schemas.microsoft.com/office/drawing/2014/main" id="{CEA795FE-862D-5FE8-CB7F-57677FA9F25C}"/>
              </a:ext>
            </a:extLst>
          </p:cNvPr>
          <p:cNvSpPr/>
          <p:nvPr/>
        </p:nvSpPr>
        <p:spPr>
          <a:xfrm>
            <a:off x="4013516" y="4601907"/>
            <a:ext cx="293511" cy="214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31">
            <a:extLst>
              <a:ext uri="{FF2B5EF4-FFF2-40B4-BE49-F238E27FC236}">
                <a16:creationId xmlns:a16="http://schemas.microsoft.com/office/drawing/2014/main" id="{C2968CD2-5134-B6F2-B2C6-237AF02788A6}"/>
              </a:ext>
            </a:extLst>
          </p:cNvPr>
          <p:cNvSpPr txBox="1"/>
          <p:nvPr/>
        </p:nvSpPr>
        <p:spPr>
          <a:xfrm>
            <a:off x="4821982" y="5227476"/>
            <a:ext cx="4452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2000" dirty="0"/>
              <a:t>S1</a:t>
            </a:r>
            <a:endParaRPr lang="he-IL" sz="2000" dirty="0"/>
          </a:p>
        </p:txBody>
      </p:sp>
      <p:sp>
        <p:nvSpPr>
          <p:cNvPr id="51" name="TextBox 32">
            <a:extLst>
              <a:ext uri="{FF2B5EF4-FFF2-40B4-BE49-F238E27FC236}">
                <a16:creationId xmlns:a16="http://schemas.microsoft.com/office/drawing/2014/main" id="{B0129644-2A6D-2DE6-55AE-C694B7414C0D}"/>
              </a:ext>
            </a:extLst>
          </p:cNvPr>
          <p:cNvSpPr txBox="1"/>
          <p:nvPr/>
        </p:nvSpPr>
        <p:spPr>
          <a:xfrm>
            <a:off x="4064679" y="5227664"/>
            <a:ext cx="626169" cy="25777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2000" dirty="0"/>
          </a:p>
        </p:txBody>
      </p:sp>
      <p:cxnSp>
        <p:nvCxnSpPr>
          <p:cNvPr id="62" name="מחבר: מרפקי 61">
            <a:extLst>
              <a:ext uri="{FF2B5EF4-FFF2-40B4-BE49-F238E27FC236}">
                <a16:creationId xmlns:a16="http://schemas.microsoft.com/office/drawing/2014/main" id="{B7595E5B-B837-E111-A481-4B77868A0AAA}"/>
              </a:ext>
            </a:extLst>
          </p:cNvPr>
          <p:cNvCxnSpPr/>
          <p:nvPr/>
        </p:nvCxnSpPr>
        <p:spPr>
          <a:xfrm flipV="1">
            <a:off x="2941320" y="4816396"/>
            <a:ext cx="1072196" cy="522684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472" name="מחבר: מרפקי 233471">
            <a:extLst>
              <a:ext uri="{FF2B5EF4-FFF2-40B4-BE49-F238E27FC236}">
                <a16:creationId xmlns:a16="http://schemas.microsoft.com/office/drawing/2014/main" id="{0CE98ED0-36B9-9840-0767-3C1F4D6FCE64}"/>
              </a:ext>
            </a:extLst>
          </p:cNvPr>
          <p:cNvCxnSpPr/>
          <p:nvPr/>
        </p:nvCxnSpPr>
        <p:spPr>
          <a:xfrm>
            <a:off x="2941320" y="3368040"/>
            <a:ext cx="1038330" cy="707461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48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altLang="en-US" dirty="0"/>
              <a:t>Module Instantiation Example</a:t>
            </a:r>
          </a:p>
        </p:txBody>
      </p:sp>
      <p:sp>
        <p:nvSpPr>
          <p:cNvPr id="2334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965641"/>
          </a:xfrm>
        </p:spPr>
        <p:txBody>
          <a:bodyPr/>
          <a:lstStyle/>
          <a:p>
            <a:r>
              <a:rPr lang="en-US" altLang="en-US" dirty="0"/>
              <a:t>2-bit wide mux from two 1-bit </a:t>
            </a:r>
            <a:r>
              <a:rPr lang="en-US" altLang="en-US" dirty="0" err="1"/>
              <a:t>muxes</a:t>
            </a:r>
            <a:endParaRPr lang="en-US" altLang="en-US" dirty="0"/>
          </a:p>
          <a:p>
            <a:pPr lvl="1"/>
            <a:r>
              <a:rPr lang="en-US" altLang="en-US" dirty="0"/>
              <a:t>Just “drawing” boxes and wires</a:t>
            </a:r>
          </a:p>
        </p:txBody>
      </p:sp>
      <p:sp>
        <p:nvSpPr>
          <p:cNvPr id="233476" name="Rectangle 4"/>
          <p:cNvSpPr>
            <a:spLocks noChangeArrowheads="1"/>
          </p:cNvSpPr>
          <p:nvPr/>
        </p:nvSpPr>
        <p:spPr bwMode="auto">
          <a:xfrm>
            <a:off x="-523231" y="2156047"/>
            <a:ext cx="9417963" cy="477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mux2to1_2 (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 logic [1:0] O,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input  logic [1:0] A,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input  logic [1:0] B,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  logic 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" charset="0"/>
              </a:rPr>
              <a:t>	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endParaRPr lang="en-US" altLang="en-US" sz="2000" b="1" dirty="0">
              <a:solidFill>
                <a:srgbClr val="000000"/>
              </a:solidFill>
              <a:latin typeface="Courier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mux2to1 mux0 (.O(O[0]), .S(S), .A(A[0]), .B(B[0]));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mux2to1 mux1 (.O(O[1]), .S(S), .A(A[1]), .B(B[1]));	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40</a:t>
            </a:fld>
            <a:endParaRPr lang="en-US"/>
          </a:p>
        </p:txBody>
      </p:sp>
      <p:sp>
        <p:nvSpPr>
          <p:cNvPr id="7" name="Arrow: Left 32">
            <a:extLst>
              <a:ext uri="{FF2B5EF4-FFF2-40B4-BE49-F238E27FC236}">
                <a16:creationId xmlns:a16="http://schemas.microsoft.com/office/drawing/2014/main" id="{2CB532E4-3E7B-4236-8EFF-FDAEE7353931}"/>
              </a:ext>
            </a:extLst>
          </p:cNvPr>
          <p:cNvSpPr/>
          <p:nvPr/>
        </p:nvSpPr>
        <p:spPr>
          <a:xfrm rot="16200000">
            <a:off x="687491" y="5010516"/>
            <a:ext cx="846544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31">
            <a:extLst>
              <a:ext uri="{FF2B5EF4-FFF2-40B4-BE49-F238E27FC236}">
                <a16:creationId xmlns:a16="http://schemas.microsoft.com/office/drawing/2014/main" id="{825B6D99-E715-457F-876E-2937BE09D97E}"/>
              </a:ext>
            </a:extLst>
          </p:cNvPr>
          <p:cNvSpPr/>
          <p:nvPr/>
        </p:nvSpPr>
        <p:spPr>
          <a:xfrm>
            <a:off x="520023" y="4632578"/>
            <a:ext cx="1204019" cy="4937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Name</a:t>
            </a:r>
          </a:p>
        </p:txBody>
      </p:sp>
      <p:sp>
        <p:nvSpPr>
          <p:cNvPr id="9" name="Arrow: Left 32">
            <a:extLst>
              <a:ext uri="{FF2B5EF4-FFF2-40B4-BE49-F238E27FC236}">
                <a16:creationId xmlns:a16="http://schemas.microsoft.com/office/drawing/2014/main" id="{2CB532E4-3E7B-4236-8EFF-FDAEE7353931}"/>
              </a:ext>
            </a:extLst>
          </p:cNvPr>
          <p:cNvSpPr/>
          <p:nvPr/>
        </p:nvSpPr>
        <p:spPr>
          <a:xfrm rot="16200000">
            <a:off x="1659982" y="5023704"/>
            <a:ext cx="846544" cy="23152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31">
            <a:extLst>
              <a:ext uri="{FF2B5EF4-FFF2-40B4-BE49-F238E27FC236}">
                <a16:creationId xmlns:a16="http://schemas.microsoft.com/office/drawing/2014/main" id="{825B6D99-E715-457F-876E-2937BE09D97E}"/>
              </a:ext>
            </a:extLst>
          </p:cNvPr>
          <p:cNvSpPr/>
          <p:nvPr/>
        </p:nvSpPr>
        <p:spPr>
          <a:xfrm>
            <a:off x="1741744" y="4622705"/>
            <a:ext cx="1204019" cy="4937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Instance Name</a:t>
            </a:r>
          </a:p>
        </p:txBody>
      </p:sp>
      <p:sp>
        <p:nvSpPr>
          <p:cNvPr id="11" name="Arrow: Left 32">
            <a:extLst>
              <a:ext uri="{FF2B5EF4-FFF2-40B4-BE49-F238E27FC236}">
                <a16:creationId xmlns:a16="http://schemas.microsoft.com/office/drawing/2014/main" id="{2CB532E4-3E7B-4236-8EFF-FDAEE7353931}"/>
              </a:ext>
            </a:extLst>
          </p:cNvPr>
          <p:cNvSpPr/>
          <p:nvPr/>
        </p:nvSpPr>
        <p:spPr>
          <a:xfrm rot="12783795">
            <a:off x="3500198" y="5220434"/>
            <a:ext cx="846544" cy="231528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31">
            <a:extLst>
              <a:ext uri="{FF2B5EF4-FFF2-40B4-BE49-F238E27FC236}">
                <a16:creationId xmlns:a16="http://schemas.microsoft.com/office/drawing/2014/main" id="{825B6D99-E715-457F-876E-2937BE09D97E}"/>
              </a:ext>
            </a:extLst>
          </p:cNvPr>
          <p:cNvSpPr/>
          <p:nvPr/>
        </p:nvSpPr>
        <p:spPr>
          <a:xfrm>
            <a:off x="3263846" y="4260839"/>
            <a:ext cx="1204019" cy="96609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Input Port Name</a:t>
            </a:r>
          </a:p>
        </p:txBody>
      </p:sp>
      <p:sp>
        <p:nvSpPr>
          <p:cNvPr id="13" name="Arrow: Left 32">
            <a:extLst>
              <a:ext uri="{FF2B5EF4-FFF2-40B4-BE49-F238E27FC236}">
                <a16:creationId xmlns:a16="http://schemas.microsoft.com/office/drawing/2014/main" id="{2CB532E4-3E7B-4236-8EFF-FDAEE7353931}"/>
              </a:ext>
            </a:extLst>
          </p:cNvPr>
          <p:cNvSpPr/>
          <p:nvPr/>
        </p:nvSpPr>
        <p:spPr>
          <a:xfrm rot="18296732">
            <a:off x="4486069" y="5112847"/>
            <a:ext cx="846544" cy="231528"/>
          </a:xfrm>
          <a:prstGeom prst="lef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31">
            <a:extLst>
              <a:ext uri="{FF2B5EF4-FFF2-40B4-BE49-F238E27FC236}">
                <a16:creationId xmlns:a16="http://schemas.microsoft.com/office/drawing/2014/main" id="{825B6D99-E715-457F-876E-2937BE09D97E}"/>
              </a:ext>
            </a:extLst>
          </p:cNvPr>
          <p:cNvSpPr/>
          <p:nvPr/>
        </p:nvSpPr>
        <p:spPr>
          <a:xfrm>
            <a:off x="4764624" y="4660008"/>
            <a:ext cx="1412267" cy="49370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Input Port Assignment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4781352" y="1877466"/>
            <a:ext cx="4556630" cy="3114571"/>
            <a:chOff x="4781352" y="1877466"/>
            <a:chExt cx="4556630" cy="3114571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4902758" y="2427890"/>
              <a:ext cx="637723" cy="105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/>
            <p:cNvGrpSpPr/>
            <p:nvPr/>
          </p:nvGrpSpPr>
          <p:grpSpPr>
            <a:xfrm>
              <a:off x="4781352" y="1877466"/>
              <a:ext cx="4556630" cy="3114571"/>
              <a:chOff x="4781352" y="1877466"/>
              <a:chExt cx="4556630" cy="3114571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5603984" y="1877466"/>
                <a:ext cx="2911366" cy="2337181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V="1">
                <a:off x="4908013" y="2906109"/>
                <a:ext cx="637723" cy="105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4781352" y="2549465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dirty="0">
                    <a:solidFill>
                      <a:srgbClr val="FF0000"/>
                    </a:solidFill>
                  </a:rPr>
                  <a:t>[1:0]</a:t>
                </a: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flipH="1" flipV="1">
                <a:off x="6916913" y="4255149"/>
                <a:ext cx="30364" cy="44785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6831415" y="4622705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8457449" y="2473520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:r>
                  <a:rPr lang="en-US" dirty="0">
                    <a:solidFill>
                      <a:srgbClr val="FF0000"/>
                    </a:solidFill>
                  </a:rPr>
                  <a:t>[1:0]</a:t>
                </a:r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V="1">
                <a:off x="8551294" y="2834431"/>
                <a:ext cx="579748" cy="105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4821103" y="2083615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dirty="0">
                    <a:solidFill>
                      <a:srgbClr val="FF0000"/>
                    </a:solidFill>
                  </a:rPr>
                  <a:t>[1:0]</a:t>
                </a:r>
              </a:p>
            </p:txBody>
          </p:sp>
        </p:grpSp>
      </p:grpSp>
      <p:grpSp>
        <p:nvGrpSpPr>
          <p:cNvPr id="58" name="Group 57"/>
          <p:cNvGrpSpPr/>
          <p:nvPr/>
        </p:nvGrpSpPr>
        <p:grpSpPr>
          <a:xfrm>
            <a:off x="5603985" y="1946836"/>
            <a:ext cx="2853465" cy="1135284"/>
            <a:chOff x="5603985" y="1946836"/>
            <a:chExt cx="2853465" cy="1135284"/>
          </a:xfrm>
        </p:grpSpPr>
        <p:grpSp>
          <p:nvGrpSpPr>
            <p:cNvPr id="56" name="Group 55"/>
            <p:cNvGrpSpPr/>
            <p:nvPr/>
          </p:nvGrpSpPr>
          <p:grpSpPr>
            <a:xfrm>
              <a:off x="5603985" y="1946836"/>
              <a:ext cx="2066033" cy="1135284"/>
              <a:chOff x="5603984" y="1946835"/>
              <a:chExt cx="2066033" cy="113528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5919807" y="1950996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</a:t>
                </a:r>
                <a:r>
                  <a:rPr lang="he-IL" sz="1400" dirty="0">
                    <a:solidFill>
                      <a:srgbClr val="0070C0"/>
                    </a:solidFill>
                  </a:rPr>
                  <a:t>]</a:t>
                </a:r>
                <a:r>
                  <a:rPr lang="en-US" sz="1400" dirty="0">
                    <a:solidFill>
                      <a:srgbClr val="0070C0"/>
                    </a:solidFill>
                  </a:rPr>
                  <a:t>0</a:t>
                </a:r>
                <a:r>
                  <a:rPr lang="he-IL" sz="1400" dirty="0">
                    <a:solidFill>
                      <a:srgbClr val="0070C0"/>
                    </a:solidFill>
                  </a:rPr>
                  <a:t>[</a:t>
                </a:r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  <p:pic>
            <p:nvPicPr>
              <p:cNvPr id="30" name="Picture 2" descr="Image result for mux">
                <a:extLst>
                  <a:ext uri="{FF2B5EF4-FFF2-40B4-BE49-F238E27FC236}">
                    <a16:creationId xmlns:a16="http://schemas.microsoft.com/office/drawing/2014/main" id="{204BA42A-261C-42B6-87B4-F9AF2287CF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60074" y="1946835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1" name="Elbow Connector 20"/>
              <p:cNvCxnSpPr/>
              <p:nvPr/>
            </p:nvCxnSpPr>
            <p:spPr>
              <a:xfrm flipV="1">
                <a:off x="5603984" y="2222576"/>
                <a:ext cx="805592" cy="205314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Elbow Connector 36"/>
              <p:cNvCxnSpPr/>
              <p:nvPr/>
            </p:nvCxnSpPr>
            <p:spPr>
              <a:xfrm flipV="1">
                <a:off x="5603984" y="2616146"/>
                <a:ext cx="805592" cy="247923"/>
              </a:xfrm>
              <a:prstGeom prst="bentConnector3">
                <a:avLst>
                  <a:gd name="adj1" fmla="val 31735"/>
                </a:avLst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6000388" y="2355940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]</a:t>
                </a: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0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[</a:t>
                </a:r>
                <a:endParaRPr lang="en-US" sz="1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45" name="Elbow Connector 44"/>
            <p:cNvCxnSpPr/>
            <p:nvPr/>
          </p:nvCxnSpPr>
          <p:spPr>
            <a:xfrm>
              <a:off x="7549813" y="2427890"/>
              <a:ext cx="907637" cy="414962"/>
            </a:xfrm>
            <a:prstGeom prst="bentConnector3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5866266" y="2438401"/>
            <a:ext cx="2123086" cy="1714570"/>
            <a:chOff x="5866266" y="2438401"/>
            <a:chExt cx="2123086" cy="1714570"/>
          </a:xfrm>
        </p:grpSpPr>
        <p:grpSp>
          <p:nvGrpSpPr>
            <p:cNvPr id="57" name="Group 56"/>
            <p:cNvGrpSpPr/>
            <p:nvPr/>
          </p:nvGrpSpPr>
          <p:grpSpPr>
            <a:xfrm>
              <a:off x="5866266" y="2438401"/>
              <a:ext cx="1823213" cy="1714570"/>
              <a:chOff x="5864776" y="2438401"/>
              <a:chExt cx="1823213" cy="1714570"/>
            </a:xfrm>
          </p:grpSpPr>
          <p:pic>
            <p:nvPicPr>
              <p:cNvPr id="32" name="Picture 2" descr="Image result for mux">
                <a:extLst>
                  <a:ext uri="{FF2B5EF4-FFF2-40B4-BE49-F238E27FC236}">
                    <a16:creationId xmlns:a16="http://schemas.microsoft.com/office/drawing/2014/main" id="{204BA42A-261C-42B6-87B4-F9AF2287CF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78046" y="3017687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4" name="Elbow Connector 33"/>
              <p:cNvCxnSpPr/>
              <p:nvPr/>
            </p:nvCxnSpPr>
            <p:spPr>
              <a:xfrm rot="16200000" flipH="1">
                <a:off x="5801444" y="2643738"/>
                <a:ext cx="861844" cy="451170"/>
              </a:xfrm>
              <a:prstGeom prst="bentConnector3">
                <a:avLst>
                  <a:gd name="adj1" fmla="val 9756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/>
              <p:cNvCxnSpPr/>
              <p:nvPr/>
            </p:nvCxnSpPr>
            <p:spPr>
              <a:xfrm rot="16200000" flipH="1">
                <a:off x="5738323" y="2990524"/>
                <a:ext cx="846083" cy="593178"/>
              </a:xfrm>
              <a:prstGeom prst="bentConnector3">
                <a:avLst>
                  <a:gd name="adj1" fmla="val 95963"/>
                </a:avLst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5969311" y="3019833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</a:t>
                </a:r>
                <a:r>
                  <a:rPr lang="he-IL" sz="1400" dirty="0">
                    <a:solidFill>
                      <a:srgbClr val="0070C0"/>
                    </a:solidFill>
                  </a:rPr>
                  <a:t>]</a:t>
                </a:r>
                <a:r>
                  <a:rPr lang="en-US" sz="1400" dirty="0">
                    <a:solidFill>
                      <a:srgbClr val="0070C0"/>
                    </a:solidFill>
                  </a:rPr>
                  <a:t>1</a:t>
                </a:r>
                <a:r>
                  <a:rPr lang="he-IL" sz="1400" dirty="0">
                    <a:solidFill>
                      <a:srgbClr val="0070C0"/>
                    </a:solidFill>
                  </a:rPr>
                  <a:t>[</a:t>
                </a:r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5959635" y="3402193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]</a:t>
                </a: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1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[</a:t>
                </a:r>
                <a:endParaRPr lang="en-US" sz="1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52" name="Elbow Connector 51"/>
            <p:cNvCxnSpPr/>
            <p:nvPr/>
          </p:nvCxnSpPr>
          <p:spPr>
            <a:xfrm rot="5400000" flipH="1" flipV="1">
              <a:off x="7468363" y="2948727"/>
              <a:ext cx="621412" cy="420567"/>
            </a:xfrm>
            <a:prstGeom prst="bentConnector3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0024632-E3D6-4439-9B09-27BBBB8543C4}"/>
              </a:ext>
            </a:extLst>
          </p:cNvPr>
          <p:cNvSpPr txBox="1"/>
          <p:nvPr/>
        </p:nvSpPr>
        <p:spPr>
          <a:xfrm>
            <a:off x="7539361" y="2129587"/>
            <a:ext cx="880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O</a:t>
            </a:r>
            <a:r>
              <a:rPr lang="he-IL" sz="1400" dirty="0">
                <a:solidFill>
                  <a:srgbClr val="00B050"/>
                </a:solidFill>
              </a:rPr>
              <a:t>]</a:t>
            </a:r>
            <a:r>
              <a:rPr lang="en-US" sz="1400" dirty="0">
                <a:solidFill>
                  <a:srgbClr val="00B050"/>
                </a:solidFill>
              </a:rPr>
              <a:t>0</a:t>
            </a:r>
            <a:r>
              <a:rPr lang="he-IL" sz="1400" dirty="0">
                <a:solidFill>
                  <a:srgbClr val="00B050"/>
                </a:solidFill>
              </a:rPr>
              <a:t>[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35536-29FE-422D-9391-FA1B42982413}"/>
              </a:ext>
            </a:extLst>
          </p:cNvPr>
          <p:cNvSpPr txBox="1"/>
          <p:nvPr/>
        </p:nvSpPr>
        <p:spPr>
          <a:xfrm>
            <a:off x="7617210" y="3178279"/>
            <a:ext cx="880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O</a:t>
            </a:r>
            <a:r>
              <a:rPr lang="he-IL" sz="1400" dirty="0">
                <a:solidFill>
                  <a:srgbClr val="00B050"/>
                </a:solidFill>
              </a:rPr>
              <a:t>]</a:t>
            </a:r>
            <a:r>
              <a:rPr lang="en-US" sz="1400" dirty="0">
                <a:solidFill>
                  <a:srgbClr val="00B050"/>
                </a:solidFill>
              </a:rPr>
              <a:t>1</a:t>
            </a:r>
            <a:r>
              <a:rPr lang="he-IL" sz="1400" dirty="0">
                <a:solidFill>
                  <a:srgbClr val="00B050"/>
                </a:solidFill>
              </a:rPr>
              <a:t>[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72EA07-83BC-4EA7-AFAE-13F3819CAD07}"/>
              </a:ext>
            </a:extLst>
          </p:cNvPr>
          <p:cNvSpPr txBox="1"/>
          <p:nvPr/>
        </p:nvSpPr>
        <p:spPr>
          <a:xfrm>
            <a:off x="7060395" y="3165307"/>
            <a:ext cx="4841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400" dirty="0"/>
              <a:t>O</a:t>
            </a:r>
            <a:endParaRPr lang="he-IL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4D5414-1116-481A-A8D5-382740684751}"/>
              </a:ext>
            </a:extLst>
          </p:cNvPr>
          <p:cNvSpPr txBox="1"/>
          <p:nvPr/>
        </p:nvSpPr>
        <p:spPr>
          <a:xfrm>
            <a:off x="7048897" y="2101209"/>
            <a:ext cx="42056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400" dirty="0"/>
              <a:t>O</a:t>
            </a:r>
            <a:endParaRPr lang="he-IL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92792B-3B35-44DC-BF08-0ACD4877A4D2}"/>
              </a:ext>
            </a:extLst>
          </p:cNvPr>
          <p:cNvSpPr txBox="1"/>
          <p:nvPr/>
        </p:nvSpPr>
        <p:spPr>
          <a:xfrm>
            <a:off x="6939662" y="3783950"/>
            <a:ext cx="2073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400" dirty="0"/>
              <a:t>S</a:t>
            </a:r>
            <a:endParaRPr lang="he-IL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1DFE06-FDFD-49E0-8206-B34D16BD0683}"/>
              </a:ext>
            </a:extLst>
          </p:cNvPr>
          <p:cNvSpPr txBox="1"/>
          <p:nvPr/>
        </p:nvSpPr>
        <p:spPr>
          <a:xfrm>
            <a:off x="6904373" y="2776381"/>
            <a:ext cx="2073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400" dirty="0"/>
              <a:t>S</a:t>
            </a:r>
            <a:endParaRPr lang="he-IL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729624-3B50-4411-A679-E20F5B4CC761}"/>
              </a:ext>
            </a:extLst>
          </p:cNvPr>
          <p:cNvSpPr txBox="1"/>
          <p:nvPr/>
        </p:nvSpPr>
        <p:spPr>
          <a:xfrm>
            <a:off x="6373892" y="3882902"/>
            <a:ext cx="47744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39A1AB-AE8F-45DF-A1E9-B4F99E3554D1}"/>
              </a:ext>
            </a:extLst>
          </p:cNvPr>
          <p:cNvSpPr txBox="1"/>
          <p:nvPr/>
        </p:nvSpPr>
        <p:spPr>
          <a:xfrm>
            <a:off x="6383623" y="2819387"/>
            <a:ext cx="47744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endParaRPr lang="he-IL" sz="1050" dirty="0"/>
          </a:p>
        </p:txBody>
      </p:sp>
    </p:spTree>
    <p:extLst>
      <p:ext uri="{BB962C8B-B14F-4D97-AF65-F5344CB8AC3E}">
        <p14:creationId xmlns:p14="http://schemas.microsoft.com/office/powerpoint/2010/main" val="357420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42" grpId="0"/>
      <p:bldP spid="44" grpId="0"/>
      <p:bldP spid="46" grpId="0" animBg="1"/>
      <p:bldP spid="48" grpId="0" animBg="1"/>
      <p:bldP spid="53" grpId="0" animBg="1"/>
      <p:bldP spid="6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altLang="en-US" dirty="0"/>
              <a:t>The generate Command</a:t>
            </a:r>
          </a:p>
        </p:txBody>
      </p:sp>
      <p:sp>
        <p:nvSpPr>
          <p:cNvPr id="2334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370310"/>
            <a:ext cx="8534400" cy="965641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Implementation of a 32-bit wide mux from 32 1-bit </a:t>
            </a:r>
            <a:r>
              <a:rPr lang="en-US" altLang="en-US" dirty="0" err="1"/>
              <a:t>muxes</a:t>
            </a:r>
            <a:r>
              <a:rPr lang="en-US" altLang="en-US" dirty="0"/>
              <a:t> using regular instantiation is long and exhausting…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70C0"/>
                </a:solidFill>
              </a:rPr>
              <a:t>generate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2988" y="2459935"/>
            <a:ext cx="8787539" cy="424731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mux2to1_32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O,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Output bits O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input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Input bits A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Input bits B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S  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Select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endParaRPr lang="en-US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genvar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</a:rPr>
              <a:t>	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generate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for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mux2to1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mux_inst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         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endgenerate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endmodule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0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Hardware Description Languages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logic data type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Vectors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implementation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Module instantiation</a:t>
            </a:r>
          </a:p>
          <a:p>
            <a:r>
              <a:rPr lang="en-US" dirty="0"/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52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: design vs.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= a way to test the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750C19-6A68-45D6-AF51-9AF8B64DE78C}"/>
              </a:ext>
            </a:extLst>
          </p:cNvPr>
          <p:cNvGrpSpPr/>
          <p:nvPr/>
        </p:nvGrpSpPr>
        <p:grpSpPr>
          <a:xfrm>
            <a:off x="4257526" y="3488515"/>
            <a:ext cx="1713486" cy="850719"/>
            <a:chOff x="2034547" y="4985217"/>
            <a:chExt cx="1713486" cy="850719"/>
          </a:xfrm>
        </p:grpSpPr>
        <p:pic>
          <p:nvPicPr>
            <p:cNvPr id="7" name="Picture 2" descr="Image result for hardware description language">
              <a:extLst>
                <a:ext uri="{FF2B5EF4-FFF2-40B4-BE49-F238E27FC236}">
                  <a16:creationId xmlns:a16="http://schemas.microsoft.com/office/drawing/2014/main" id="{FBDB1F2A-8AC1-4C55-87FA-3BDB797AD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4547" y="4985217"/>
              <a:ext cx="1706609" cy="850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725A71-FD2A-4D35-8123-F101EC796E9B}"/>
                </a:ext>
              </a:extLst>
            </p:cNvPr>
            <p:cNvSpPr/>
            <p:nvPr/>
          </p:nvSpPr>
          <p:spPr>
            <a:xfrm>
              <a:off x="2036190" y="5109328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18E22B-D355-4926-8B64-C05199F14604}"/>
                </a:ext>
              </a:extLst>
            </p:cNvPr>
            <p:cNvSpPr/>
            <p:nvPr/>
          </p:nvSpPr>
          <p:spPr>
            <a:xfrm>
              <a:off x="2037759" y="5478546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96FA2-BE36-4361-840A-EB016FF6F23B}"/>
                </a:ext>
              </a:extLst>
            </p:cNvPr>
            <p:cNvSpPr/>
            <p:nvPr/>
          </p:nvSpPr>
          <p:spPr>
            <a:xfrm>
              <a:off x="3559497" y="5307276"/>
              <a:ext cx="188536" cy="1979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cxnSp>
        <p:nvCxnSpPr>
          <p:cNvPr id="12" name="Elbow Connector 11"/>
          <p:cNvCxnSpPr/>
          <p:nvPr/>
        </p:nvCxnSpPr>
        <p:spPr>
          <a:xfrm flipV="1">
            <a:off x="3319660" y="3488516"/>
            <a:ext cx="681037" cy="223084"/>
          </a:xfrm>
          <a:prstGeom prst="bentConnector3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H="1" flipV="1">
            <a:off x="3914305" y="3488515"/>
            <a:ext cx="514350" cy="223085"/>
          </a:xfrm>
          <a:prstGeom prst="bentConnector3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flipV="1">
            <a:off x="3229172" y="3937443"/>
            <a:ext cx="514350" cy="223085"/>
          </a:xfrm>
          <a:prstGeom prst="bentConnector3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H="1" flipV="1">
            <a:off x="3657130" y="3937443"/>
            <a:ext cx="514350" cy="223085"/>
          </a:xfrm>
          <a:prstGeom prst="bentConnector3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 flipV="1">
            <a:off x="4000697" y="3937443"/>
            <a:ext cx="395288" cy="223086"/>
          </a:xfrm>
          <a:prstGeom prst="bentConnector3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5876744" y="3756326"/>
            <a:ext cx="1230502" cy="225518"/>
            <a:chOff x="7630129" y="2536447"/>
            <a:chExt cx="1230502" cy="225518"/>
          </a:xfrm>
        </p:grpSpPr>
        <p:cxnSp>
          <p:nvCxnSpPr>
            <p:cNvPr id="25" name="Elbow Connector 24"/>
            <p:cNvCxnSpPr/>
            <p:nvPr/>
          </p:nvCxnSpPr>
          <p:spPr>
            <a:xfrm>
              <a:off x="7630129" y="2536447"/>
              <a:ext cx="485775" cy="225518"/>
            </a:xfrm>
            <a:prstGeom prst="bentConnector3">
              <a:avLst/>
            </a:prstGeom>
            <a:ln w="38100">
              <a:solidFill>
                <a:srgbClr val="00B05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/>
            <p:nvPr/>
          </p:nvCxnSpPr>
          <p:spPr>
            <a:xfrm flipV="1">
              <a:off x="8001604" y="2536447"/>
              <a:ext cx="859027" cy="223084"/>
            </a:xfrm>
            <a:prstGeom prst="bentConnector3">
              <a:avLst>
                <a:gd name="adj1" fmla="val 17567"/>
              </a:avLst>
            </a:prstGeom>
            <a:ln w="38100">
              <a:solidFill>
                <a:srgbClr val="00B05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4" name="Vertical Scroll 53"/>
          <p:cNvSpPr/>
          <p:nvPr/>
        </p:nvSpPr>
        <p:spPr>
          <a:xfrm>
            <a:off x="2367160" y="3275670"/>
            <a:ext cx="952500" cy="1267756"/>
          </a:xfrm>
          <a:prstGeom prst="vertic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Initial</a:t>
            </a:r>
            <a:br>
              <a:rPr lang="en-US" sz="1000" dirty="0"/>
            </a:br>
            <a:r>
              <a:rPr lang="en-US" sz="1000" dirty="0"/>
              <a:t>begin</a:t>
            </a:r>
          </a:p>
          <a:p>
            <a:r>
              <a:rPr lang="en-US" sz="1000" dirty="0"/>
              <a:t>  #1 a = 1;</a:t>
            </a:r>
          </a:p>
          <a:p>
            <a:r>
              <a:rPr lang="en-US" sz="1000" dirty="0"/>
              <a:t>  #3 b = 1;</a:t>
            </a:r>
          </a:p>
          <a:p>
            <a:r>
              <a:rPr lang="en-US" sz="1000" dirty="0"/>
              <a:t>  #5 a = 0;</a:t>
            </a:r>
          </a:p>
          <a:p>
            <a:r>
              <a:rPr lang="en-US" sz="1000" dirty="0"/>
              <a:t>   …</a:t>
            </a:r>
          </a:p>
          <a:p>
            <a:r>
              <a:rPr lang="en-US" sz="10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98932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5F64CA-9241-4CC9-A84A-3DFE3548B9FA}"/>
              </a:ext>
            </a:extLst>
          </p:cNvPr>
          <p:cNvSpPr/>
          <p:nvPr/>
        </p:nvSpPr>
        <p:spPr>
          <a:xfrm>
            <a:off x="814763" y="2813869"/>
            <a:ext cx="7259053" cy="2420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Are Simulators Used?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Testbench </a:t>
            </a:r>
            <a:r>
              <a:rPr lang="en-US" altLang="en-US" b="1" dirty="0"/>
              <a:t>generates stimuli </a:t>
            </a:r>
            <a:r>
              <a:rPr lang="en-US" altLang="en-US" dirty="0"/>
              <a:t>and checks response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44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59BDF-04F6-465D-9F04-F3207EA601E9}"/>
              </a:ext>
            </a:extLst>
          </p:cNvPr>
          <p:cNvSpPr txBox="1"/>
          <p:nvPr/>
        </p:nvSpPr>
        <p:spPr>
          <a:xfrm>
            <a:off x="974934" y="2828074"/>
            <a:ext cx="133639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Testbench</a:t>
            </a:r>
            <a:endParaRPr lang="he-IL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8782A-86BB-477A-B875-FB4BE9D2D38E}"/>
              </a:ext>
            </a:extLst>
          </p:cNvPr>
          <p:cNvSpPr txBox="1"/>
          <p:nvPr/>
        </p:nvSpPr>
        <p:spPr>
          <a:xfrm>
            <a:off x="6926152" y="3888852"/>
            <a:ext cx="123467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Response</a:t>
            </a:r>
            <a:endParaRPr lang="he-IL" sz="20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B25007-0DE6-4E6B-A0BC-79EE8D1D53C0}"/>
              </a:ext>
            </a:extLst>
          </p:cNvPr>
          <p:cNvCxnSpPr>
            <a:cxnSpLocks/>
          </p:cNvCxnSpPr>
          <p:nvPr/>
        </p:nvCxnSpPr>
        <p:spPr>
          <a:xfrm flipV="1">
            <a:off x="5553281" y="3840799"/>
            <a:ext cx="1073094" cy="109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11A968-12D1-4689-B81D-662DA8B2BCDF}"/>
              </a:ext>
            </a:extLst>
          </p:cNvPr>
          <p:cNvSpPr/>
          <p:nvPr/>
        </p:nvSpPr>
        <p:spPr>
          <a:xfrm>
            <a:off x="3647119" y="3044230"/>
            <a:ext cx="1931167" cy="200347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Module Instance</a:t>
            </a:r>
          </a:p>
          <a:p>
            <a:pPr algn="ctr"/>
            <a:r>
              <a:rPr lang="en-US" dirty="0"/>
              <a:t>(UUT)</a:t>
            </a:r>
            <a:endParaRPr lang="he-IL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37DA2C-A56E-4CCF-AFD5-0BD8BBEA98A9}"/>
              </a:ext>
            </a:extLst>
          </p:cNvPr>
          <p:cNvCxnSpPr>
            <a:cxnSpLocks/>
          </p:cNvCxnSpPr>
          <p:nvPr/>
        </p:nvCxnSpPr>
        <p:spPr>
          <a:xfrm flipV="1">
            <a:off x="2365881" y="3823862"/>
            <a:ext cx="1284679" cy="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05EEC0-558D-4E77-9C19-815EB7DBA55C}"/>
              </a:ext>
            </a:extLst>
          </p:cNvPr>
          <p:cNvSpPr txBox="1"/>
          <p:nvPr/>
        </p:nvSpPr>
        <p:spPr>
          <a:xfrm>
            <a:off x="3212200" y="3785853"/>
            <a:ext cx="2382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  <a:endParaRPr lang="he-IL" sz="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CC6FDC-478D-47AB-88FA-FC135ECC11AE}"/>
              </a:ext>
            </a:extLst>
          </p:cNvPr>
          <p:cNvSpPr txBox="1"/>
          <p:nvPr/>
        </p:nvSpPr>
        <p:spPr>
          <a:xfrm>
            <a:off x="2459743" y="3975376"/>
            <a:ext cx="10953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InputN</a:t>
            </a:r>
            <a:endParaRPr lang="he-IL" sz="1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25417E-A9DA-4ECE-A580-5F7F9427E7A6}"/>
              </a:ext>
            </a:extLst>
          </p:cNvPr>
          <p:cNvCxnSpPr>
            <a:cxnSpLocks/>
          </p:cNvCxnSpPr>
          <p:nvPr/>
        </p:nvCxnSpPr>
        <p:spPr>
          <a:xfrm flipV="1">
            <a:off x="2365881" y="4314986"/>
            <a:ext cx="1284679" cy="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F0D628-BCBF-40B6-87E7-9A8A0A1E2343}"/>
              </a:ext>
            </a:extLst>
          </p:cNvPr>
          <p:cNvCxnSpPr>
            <a:cxnSpLocks/>
          </p:cNvCxnSpPr>
          <p:nvPr/>
        </p:nvCxnSpPr>
        <p:spPr>
          <a:xfrm>
            <a:off x="5588354" y="4394517"/>
            <a:ext cx="1038021" cy="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90C7B9A-13B3-4543-ABB4-443957E08CE0}"/>
              </a:ext>
            </a:extLst>
          </p:cNvPr>
          <p:cNvSpPr txBox="1"/>
          <p:nvPr/>
        </p:nvSpPr>
        <p:spPr>
          <a:xfrm>
            <a:off x="2490712" y="3550298"/>
            <a:ext cx="10953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Input1</a:t>
            </a:r>
            <a:endParaRPr lang="he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F0E89A-9165-475F-A187-590CB00E13DA}"/>
              </a:ext>
            </a:extLst>
          </p:cNvPr>
          <p:cNvSpPr txBox="1"/>
          <p:nvPr/>
        </p:nvSpPr>
        <p:spPr>
          <a:xfrm>
            <a:off x="5553281" y="3804604"/>
            <a:ext cx="26369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</a:p>
          <a:p>
            <a:r>
              <a:rPr lang="en-US" sz="800" b="1" dirty="0"/>
              <a:t>.</a:t>
            </a:r>
            <a:endParaRPr lang="he-IL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BBF2E4-DCC8-4225-AEBC-F754F8EA6F87}"/>
              </a:ext>
            </a:extLst>
          </p:cNvPr>
          <p:cNvSpPr txBox="1"/>
          <p:nvPr/>
        </p:nvSpPr>
        <p:spPr>
          <a:xfrm>
            <a:off x="5670320" y="4045968"/>
            <a:ext cx="99862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OutputM</a:t>
            </a:r>
            <a:endParaRPr lang="he-IL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85D9A-CD3D-4379-BE91-C6AFF1FF0904}"/>
              </a:ext>
            </a:extLst>
          </p:cNvPr>
          <p:cNvSpPr txBox="1"/>
          <p:nvPr/>
        </p:nvSpPr>
        <p:spPr>
          <a:xfrm>
            <a:off x="5670321" y="3526391"/>
            <a:ext cx="99862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Output1</a:t>
            </a:r>
            <a:endParaRPr lang="he-IL" sz="1600" dirty="0"/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49734A05-AAB2-4059-A01F-76B5BDA8823A}"/>
              </a:ext>
            </a:extLst>
          </p:cNvPr>
          <p:cNvSpPr/>
          <p:nvPr/>
        </p:nvSpPr>
        <p:spPr>
          <a:xfrm rot="10800000">
            <a:off x="6668942" y="3793912"/>
            <a:ext cx="170197" cy="637845"/>
          </a:xfrm>
          <a:prstGeom prst="lef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577538A-B2F2-44AB-BC62-363060B8ACD5}"/>
              </a:ext>
            </a:extLst>
          </p:cNvPr>
          <p:cNvSpPr/>
          <p:nvPr/>
        </p:nvSpPr>
        <p:spPr>
          <a:xfrm>
            <a:off x="1054869" y="3383186"/>
            <a:ext cx="1298325" cy="1325564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Stimuli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0458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/>
      <p:bldP spid="34" grpId="0"/>
      <p:bldP spid="16" grpId="0" animBg="1"/>
      <p:bldP spid="22" grpId="0"/>
      <p:bldP spid="23" grpId="0"/>
      <p:bldP spid="29" grpId="0"/>
      <p:bldP spid="30" grpId="0"/>
      <p:bldP spid="31" grpId="0"/>
      <p:bldP spid="32" grpId="0"/>
      <p:bldP spid="48" grpId="0" animBg="1"/>
      <p:bldP spid="5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Test Bench - Generating Stimuli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59859"/>
            <a:ext cx="5029200" cy="4574242"/>
          </a:xfrm>
        </p:spPr>
        <p:txBody>
          <a:bodyPr>
            <a:normAutofit/>
          </a:bodyPr>
          <a:lstStyle/>
          <a:p>
            <a:r>
              <a:rPr lang="en-US" altLang="en-US" dirty="0"/>
              <a:t>Data: A sequence of values</a:t>
            </a:r>
            <a:endParaRPr lang="en-US" altLang="en-US" sz="2100" dirty="0">
              <a:solidFill>
                <a:srgbClr val="0099CC"/>
              </a:solidFill>
            </a:endParaRPr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623" y="1932268"/>
            <a:ext cx="4057650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ABD73-4818-4475-B4DC-E760CAAE0F96}"/>
              </a:ext>
            </a:extLst>
          </p:cNvPr>
          <p:cNvSpPr txBox="1"/>
          <p:nvPr/>
        </p:nvSpPr>
        <p:spPr>
          <a:xfrm>
            <a:off x="628650" y="2020731"/>
            <a:ext cx="3819525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data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data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data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endParaRPr lang="en-US" dirty="0">
              <a:solidFill>
                <a:srgbClr val="FF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data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3458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 altLang="en-US" sz="3800"/>
              <a:t>Test Bench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4694518" y="269876"/>
            <a:ext cx="444948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HA_tb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ha_a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ha_b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ha_sum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ha_carry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HA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uut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ha_a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ha_b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ha_sum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carry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ha_carry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);</a:t>
            </a:r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he-IL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he-I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      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he-I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       </a:t>
            </a:r>
            <a:endParaRPr lang="he-IL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</a:p>
          <a:p>
            <a:r>
              <a:rPr lang="he-IL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20</a:t>
            </a:r>
            <a:r>
              <a:rPr lang="he-IL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      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ha_b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46</a:t>
            </a:fld>
            <a:endParaRPr lang="en-US"/>
          </a:p>
        </p:txBody>
      </p:sp>
      <p:sp>
        <p:nvSpPr>
          <p:cNvPr id="8" name="Arrow: Left 32">
            <a:extLst>
              <a:ext uri="{FF2B5EF4-FFF2-40B4-BE49-F238E27FC236}">
                <a16:creationId xmlns:a16="http://schemas.microsoft.com/office/drawing/2014/main" id="{E724297D-0A8C-4710-AE37-BF42203E0138}"/>
              </a:ext>
            </a:extLst>
          </p:cNvPr>
          <p:cNvSpPr/>
          <p:nvPr/>
        </p:nvSpPr>
        <p:spPr>
          <a:xfrm>
            <a:off x="6900059" y="959668"/>
            <a:ext cx="846544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31">
            <a:extLst>
              <a:ext uri="{FF2B5EF4-FFF2-40B4-BE49-F238E27FC236}">
                <a16:creationId xmlns:a16="http://schemas.microsoft.com/office/drawing/2014/main" id="{B116BDD1-2EF5-4043-B2AB-79C1988B7E4A}"/>
              </a:ext>
            </a:extLst>
          </p:cNvPr>
          <p:cNvSpPr/>
          <p:nvPr/>
        </p:nvSpPr>
        <p:spPr>
          <a:xfrm>
            <a:off x="7168264" y="560833"/>
            <a:ext cx="1204019" cy="9443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Stimuli Signals Creation</a:t>
            </a:r>
          </a:p>
        </p:txBody>
      </p:sp>
      <p:sp>
        <p:nvSpPr>
          <p:cNvPr id="10" name="Arrow: Left 32">
            <a:extLst>
              <a:ext uri="{FF2B5EF4-FFF2-40B4-BE49-F238E27FC236}">
                <a16:creationId xmlns:a16="http://schemas.microsoft.com/office/drawing/2014/main" id="{004117BE-BEC2-4D21-8D6A-0161440FE62E}"/>
              </a:ext>
            </a:extLst>
          </p:cNvPr>
          <p:cNvSpPr/>
          <p:nvPr/>
        </p:nvSpPr>
        <p:spPr>
          <a:xfrm>
            <a:off x="6923729" y="1981823"/>
            <a:ext cx="846544" cy="23152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31">
            <a:extLst>
              <a:ext uri="{FF2B5EF4-FFF2-40B4-BE49-F238E27FC236}">
                <a16:creationId xmlns:a16="http://schemas.microsoft.com/office/drawing/2014/main" id="{EEA2971D-D60F-4C69-9EF0-C406D68D124C}"/>
              </a:ext>
            </a:extLst>
          </p:cNvPr>
          <p:cNvSpPr/>
          <p:nvPr/>
        </p:nvSpPr>
        <p:spPr>
          <a:xfrm>
            <a:off x="7240902" y="1698752"/>
            <a:ext cx="1564966" cy="104118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Tested Module Instantiation</a:t>
            </a:r>
          </a:p>
        </p:txBody>
      </p:sp>
      <p:sp>
        <p:nvSpPr>
          <p:cNvPr id="12" name="Arrow: Left 32">
            <a:extLst>
              <a:ext uri="{FF2B5EF4-FFF2-40B4-BE49-F238E27FC236}">
                <a16:creationId xmlns:a16="http://schemas.microsoft.com/office/drawing/2014/main" id="{808034A5-6D38-4EBF-B5D1-76AB4FD9D0E4}"/>
              </a:ext>
            </a:extLst>
          </p:cNvPr>
          <p:cNvSpPr/>
          <p:nvPr/>
        </p:nvSpPr>
        <p:spPr>
          <a:xfrm>
            <a:off x="7063378" y="4010907"/>
            <a:ext cx="846544" cy="231528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31">
            <a:extLst>
              <a:ext uri="{FF2B5EF4-FFF2-40B4-BE49-F238E27FC236}">
                <a16:creationId xmlns:a16="http://schemas.microsoft.com/office/drawing/2014/main" id="{665383CD-B4CA-4B70-8C95-3FDCB257EB79}"/>
              </a:ext>
            </a:extLst>
          </p:cNvPr>
          <p:cNvSpPr/>
          <p:nvPr/>
        </p:nvSpPr>
        <p:spPr>
          <a:xfrm>
            <a:off x="7443437" y="3632843"/>
            <a:ext cx="1464557" cy="96609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Stimuli Generation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F715E7-CAB4-4E79-B178-E1F324A20CF1}"/>
              </a:ext>
            </a:extLst>
          </p:cNvPr>
          <p:cNvSpPr/>
          <p:nvPr/>
        </p:nvSpPr>
        <p:spPr>
          <a:xfrm>
            <a:off x="69963" y="2813869"/>
            <a:ext cx="4893243" cy="178506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0D8EA-0C23-45F2-80C9-7B6E0BF35846}"/>
              </a:ext>
            </a:extLst>
          </p:cNvPr>
          <p:cNvSpPr txBox="1"/>
          <p:nvPr/>
        </p:nvSpPr>
        <p:spPr>
          <a:xfrm>
            <a:off x="69963" y="2828074"/>
            <a:ext cx="133639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Testbench</a:t>
            </a:r>
            <a:endParaRPr lang="he-IL" sz="20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BC4915-A3FB-4BA4-A15D-96F499AA6E65}"/>
              </a:ext>
            </a:extLst>
          </p:cNvPr>
          <p:cNvCxnSpPr>
            <a:cxnSpLocks/>
          </p:cNvCxnSpPr>
          <p:nvPr/>
        </p:nvCxnSpPr>
        <p:spPr>
          <a:xfrm flipV="1">
            <a:off x="3677348" y="3661689"/>
            <a:ext cx="1073094" cy="109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4DE799E-D21E-468D-A680-9E3AD46CF56C}"/>
              </a:ext>
            </a:extLst>
          </p:cNvPr>
          <p:cNvSpPr/>
          <p:nvPr/>
        </p:nvSpPr>
        <p:spPr>
          <a:xfrm>
            <a:off x="2316706" y="3228171"/>
            <a:ext cx="1262993" cy="115286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Module Instance</a:t>
            </a:r>
          </a:p>
          <a:p>
            <a:pPr algn="ctr"/>
            <a:r>
              <a:rPr lang="en-US" dirty="0"/>
              <a:t>(UUT)</a:t>
            </a:r>
            <a:endParaRPr lang="he-I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9C23E0-F81D-4366-90AF-DB752F4AE2B3}"/>
              </a:ext>
            </a:extLst>
          </p:cNvPr>
          <p:cNvCxnSpPr>
            <a:cxnSpLocks/>
          </p:cNvCxnSpPr>
          <p:nvPr/>
        </p:nvCxnSpPr>
        <p:spPr>
          <a:xfrm flipV="1">
            <a:off x="980139" y="3635326"/>
            <a:ext cx="1284679" cy="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7A0F9E-E9B1-4EE5-9C53-86EF1383BC99}"/>
              </a:ext>
            </a:extLst>
          </p:cNvPr>
          <p:cNvSpPr txBox="1"/>
          <p:nvPr/>
        </p:nvSpPr>
        <p:spPr>
          <a:xfrm>
            <a:off x="1826458" y="3597317"/>
            <a:ext cx="238296" cy="6001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/>
              <a:t>.</a:t>
            </a:r>
          </a:p>
          <a:p>
            <a:r>
              <a:rPr lang="en-US" sz="1100" b="1" dirty="0"/>
              <a:t>.</a:t>
            </a:r>
          </a:p>
          <a:p>
            <a:r>
              <a:rPr lang="en-US" sz="1100" b="1" dirty="0"/>
              <a:t>.</a:t>
            </a:r>
            <a:endParaRPr lang="he-IL" sz="11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8F507C-D5F9-4CEB-8A3E-DE7096273373}"/>
              </a:ext>
            </a:extLst>
          </p:cNvPr>
          <p:cNvSpPr txBox="1"/>
          <p:nvPr/>
        </p:nvSpPr>
        <p:spPr>
          <a:xfrm>
            <a:off x="1074001" y="3786840"/>
            <a:ext cx="10953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InputN</a:t>
            </a:r>
            <a:endParaRPr lang="he-IL" sz="16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D73A03-62A5-40C5-9E26-B61FF9123C89}"/>
              </a:ext>
            </a:extLst>
          </p:cNvPr>
          <p:cNvCxnSpPr>
            <a:cxnSpLocks/>
          </p:cNvCxnSpPr>
          <p:nvPr/>
        </p:nvCxnSpPr>
        <p:spPr>
          <a:xfrm flipV="1">
            <a:off x="980139" y="4126450"/>
            <a:ext cx="1284679" cy="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2EF275-19C7-4EF0-AC2E-D5A866E6197F}"/>
              </a:ext>
            </a:extLst>
          </p:cNvPr>
          <p:cNvCxnSpPr>
            <a:cxnSpLocks/>
          </p:cNvCxnSpPr>
          <p:nvPr/>
        </p:nvCxnSpPr>
        <p:spPr>
          <a:xfrm>
            <a:off x="3712421" y="4215407"/>
            <a:ext cx="1038021" cy="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7BEB6D2-6448-4891-A314-BA2DCC98D756}"/>
              </a:ext>
            </a:extLst>
          </p:cNvPr>
          <p:cNvSpPr txBox="1"/>
          <p:nvPr/>
        </p:nvSpPr>
        <p:spPr>
          <a:xfrm>
            <a:off x="1104970" y="3361762"/>
            <a:ext cx="109534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Input1</a:t>
            </a:r>
            <a:endParaRPr lang="he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76D4C-C85E-4236-80EE-D30D692D97FD}"/>
              </a:ext>
            </a:extLst>
          </p:cNvPr>
          <p:cNvSpPr txBox="1"/>
          <p:nvPr/>
        </p:nvSpPr>
        <p:spPr>
          <a:xfrm>
            <a:off x="3677348" y="3625494"/>
            <a:ext cx="263693" cy="6001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b="1" dirty="0"/>
              <a:t>.</a:t>
            </a:r>
          </a:p>
          <a:p>
            <a:r>
              <a:rPr lang="en-US" sz="1100" b="1" dirty="0"/>
              <a:t>.</a:t>
            </a:r>
          </a:p>
          <a:p>
            <a:r>
              <a:rPr lang="en-US" sz="1100" b="1" dirty="0"/>
              <a:t>.</a:t>
            </a:r>
            <a:endParaRPr lang="he-IL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5568A-B2D8-4813-B4F6-728D7ED02FD2}"/>
              </a:ext>
            </a:extLst>
          </p:cNvPr>
          <p:cNvSpPr txBox="1"/>
          <p:nvPr/>
        </p:nvSpPr>
        <p:spPr>
          <a:xfrm>
            <a:off x="3794387" y="3866858"/>
            <a:ext cx="99862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err="1"/>
              <a:t>OutputM</a:t>
            </a:r>
            <a:endParaRPr lang="he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44B435-A989-451F-91F9-3073FD560780}"/>
              </a:ext>
            </a:extLst>
          </p:cNvPr>
          <p:cNvSpPr txBox="1"/>
          <p:nvPr/>
        </p:nvSpPr>
        <p:spPr>
          <a:xfrm>
            <a:off x="3794388" y="3347281"/>
            <a:ext cx="998621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/>
              <a:t>Output1</a:t>
            </a:r>
            <a:endParaRPr lang="he-IL" sz="16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A9B4863-3BD4-43A3-8DB2-AB7315520460}"/>
              </a:ext>
            </a:extLst>
          </p:cNvPr>
          <p:cNvSpPr/>
          <p:nvPr/>
        </p:nvSpPr>
        <p:spPr>
          <a:xfrm>
            <a:off x="149898" y="3383186"/>
            <a:ext cx="833273" cy="7645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/>
              <a:t>Stimuli</a:t>
            </a: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291937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Wet Exercise 0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76462"/>
            <a:ext cx="7886700" cy="4700501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You will </a:t>
            </a:r>
            <a:r>
              <a:rPr lang="en-US" altLang="zh-TW" dirty="0">
                <a:ea typeface="新細明體" pitchFamily="18" charset="-120"/>
              </a:rPr>
              <a:t>be required to: 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Get to know </a:t>
            </a:r>
            <a:r>
              <a:rPr lang="en-US" altLang="zh-TW" dirty="0" err="1">
                <a:ea typeface="新細明體" pitchFamily="18" charset="-120"/>
              </a:rPr>
              <a:t>ModelSim</a:t>
            </a:r>
            <a:endParaRPr lang="en-US" altLang="zh-TW" dirty="0">
              <a:ea typeface="新細明體" pitchFamily="18" charset="-120"/>
            </a:endParaRP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Fix bugs in a HA implementation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Test it using a simulation</a:t>
            </a:r>
          </a:p>
          <a:p>
            <a:pPr>
              <a:lnSpc>
                <a:spcPct val="80000"/>
              </a:lnSpc>
            </a:pPr>
            <a:r>
              <a:rPr lang="en-US" altLang="zh-TW" b="1" dirty="0">
                <a:ea typeface="新細明體" pitchFamily="18" charset="-120"/>
              </a:rPr>
              <a:t>The videos are recommended</a:t>
            </a: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The workshops cover all the syntax needed to solve the wet exercise</a:t>
            </a: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47</a:t>
            </a:fld>
            <a:endParaRPr lang="en-US"/>
          </a:p>
        </p:txBody>
      </p:sp>
      <p:pic>
        <p:nvPicPr>
          <p:cNvPr id="4098" name="Picture 2" descr="Image result for wet exercise">
            <a:extLst>
              <a:ext uri="{FF2B5EF4-FFF2-40B4-BE49-F238E27FC236}">
                <a16:creationId xmlns:a16="http://schemas.microsoft.com/office/drawing/2014/main" id="{592CFD5A-2C2E-4D0E-8ADE-96838AFDB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17" y="3902474"/>
            <a:ext cx="3552733" cy="236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0844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E0F143-0003-53D2-0888-D31582A6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169" y="2575589"/>
            <a:ext cx="3154556" cy="1325563"/>
          </a:xfrm>
        </p:spPr>
        <p:txBody>
          <a:bodyPr>
            <a:noAutofit/>
          </a:bodyPr>
          <a:lstStyle/>
          <a:p>
            <a:r>
              <a:rPr lang="en-US" sz="6000" dirty="0"/>
              <a:t>Summary</a:t>
            </a:r>
            <a:endParaRPr lang="he-IL" sz="5400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2ACBB10-BE01-83E7-58E2-B1C022EA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9F1720E-CF21-F480-84B2-08918BC9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35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C7D-15B9-484D-A47F-2DEB6FB8F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17015"/>
            <a:ext cx="7772400" cy="934695"/>
          </a:xfrm>
        </p:spPr>
        <p:txBody>
          <a:bodyPr/>
          <a:lstStyle/>
          <a:p>
            <a:r>
              <a:rPr lang="en-US" dirty="0"/>
              <a:t>Questions?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6A771-0480-40AF-8FD9-BC21348EF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Image result for android nandroid">
            <a:extLst>
              <a:ext uri="{FF2B5EF4-FFF2-40B4-BE49-F238E27FC236}">
                <a16:creationId xmlns:a16="http://schemas.microsoft.com/office/drawing/2014/main" id="{B14AAFC5-1D3B-4285-A434-66CAC015D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63"/>
            <a:ext cx="9144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384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#1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55632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Module: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TW" dirty="0">
              <a:ea typeface="新細明體" pitchFamily="18" charset="-12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Logic: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Logic values: 0, 1, x, z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Vector: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50</a:t>
            </a:fld>
            <a:endParaRPr lang="en-US"/>
          </a:p>
        </p:txBody>
      </p:sp>
      <p:sp>
        <p:nvSpPr>
          <p:cNvPr id="7" name="Text Box 27">
            <a:extLst>
              <a:ext uri="{FF2B5EF4-FFF2-40B4-BE49-F238E27FC236}">
                <a16:creationId xmlns:a16="http://schemas.microsoft.com/office/drawing/2014/main" id="{5F4B4EBE-5311-4108-BB22-55D85F927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82" y="1830983"/>
            <a:ext cx="5223231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...,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...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declarations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...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description of a mux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l-GR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2A453C-0CE3-4F8B-BBAF-C4B62017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147904"/>
              </p:ext>
            </p:extLst>
          </p:nvPr>
        </p:nvGraphicFramePr>
        <p:xfrm>
          <a:off x="698882" y="4313113"/>
          <a:ext cx="5223231" cy="36576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5223231">
                  <a:extLst>
                    <a:ext uri="{9D8B030D-6E8A-4147-A177-3AD203B41FA5}">
                      <a16:colId xmlns:a16="http://schemas.microsoft.com/office/drawing/2014/main" val="678762009"/>
                    </a:ext>
                  </a:extLst>
                </a:gridCol>
              </a:tblGrid>
              <a:tr h="3419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a, b, c, d</a:t>
                      </a:r>
                      <a:r>
                        <a:rPr lang="en-US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8987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27A4642-FB4D-4BBA-85BD-512E4D0B7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000800"/>
              </p:ext>
            </p:extLst>
          </p:nvPr>
        </p:nvGraphicFramePr>
        <p:xfrm>
          <a:off x="698882" y="5614926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l-PL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l-PL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pl-PL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pl-PL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pl-PL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pl-PL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w1</a:t>
                      </a:r>
                      <a:r>
                        <a:rPr lang="pl-P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r>
                        <a:rPr lang="pl-PL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pl-PL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w1[7] is </a:t>
                      </a:r>
                      <a:r>
                        <a:rPr lang="en-US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</a:t>
                      </a:r>
                      <a:r>
                        <a:rPr lang="pl-PL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862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#1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84855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Vector operations: 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Bit select</a:t>
            </a:r>
          </a:p>
          <a:p>
            <a:pPr lvl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Range select</a:t>
            </a:r>
          </a:p>
          <a:p>
            <a:pPr lvl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Pack</a:t>
            </a:r>
          </a:p>
          <a:p>
            <a:pPr lvl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Unpack</a:t>
            </a:r>
          </a:p>
          <a:p>
            <a:pPr lvl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Repeated signals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A04548-99A2-4C59-81E2-A73B89F13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336874"/>
              </p:ext>
            </p:extLst>
          </p:nvPr>
        </p:nvGraphicFramePr>
        <p:xfrm>
          <a:off x="1390650" y="361363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z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3FB15B-75D1-490C-8647-1C6DF44A3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579213"/>
              </p:ext>
            </p:extLst>
          </p:nvPr>
        </p:nvGraphicFramePr>
        <p:xfrm>
          <a:off x="1390650" y="4329508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carry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sum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];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21B24F-BD82-4278-BD1F-B381127C2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704949"/>
              </p:ext>
            </p:extLst>
          </p:nvPr>
        </p:nvGraphicFramePr>
        <p:xfrm>
          <a:off x="1390650" y="2233350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AA35311-DC93-4A9B-B376-AE6EC055B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75044"/>
              </p:ext>
            </p:extLst>
          </p:nvPr>
        </p:nvGraphicFramePr>
        <p:xfrm>
          <a:off x="1390650" y="2905642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he-IL" dirty="0"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2DAE2D-98DD-4790-ABEB-A69B52D7F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365023"/>
              </p:ext>
            </p:extLst>
          </p:nvPr>
        </p:nvGraphicFramePr>
        <p:xfrm>
          <a:off x="1390650" y="5052456"/>
          <a:ext cx="6096000" cy="3708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759560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}};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800" b="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 16 copies of x</a:t>
                      </a:r>
                      <a:endParaRPr lang="en-US" altLang="en-US" b="1" dirty="0">
                        <a:solidFill>
                          <a:srgbClr val="FF31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27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5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#1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84855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Module instantiation: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Built-in logic gates: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52</a:t>
            </a:fld>
            <a:endParaRPr lang="en-US"/>
          </a:p>
        </p:txBody>
      </p:sp>
      <p:sp>
        <p:nvSpPr>
          <p:cNvPr id="14" name="Text Box 27">
            <a:extLst>
              <a:ext uri="{FF2B5EF4-FFF2-40B4-BE49-F238E27FC236}">
                <a16:creationId xmlns:a16="http://schemas.microsoft.com/office/drawing/2014/main" id="{4F153D92-77CC-41F6-9CF4-5F607B8A8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19" y="1799256"/>
            <a:ext cx="5223231" cy="21852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m</a:t>
            </a:r>
            <a:r>
              <a:rPr lang="el-GR" altLang="en-US" sz="1600" dirty="0">
                <a:latin typeface="Courier New" panose="02070309020205020404" pitchFamily="49" charset="0"/>
              </a:rPr>
              <a:t>odule</a:t>
            </a:r>
            <a:r>
              <a:rPr lang="en-US" altLang="en-US" sz="1600" dirty="0">
                <a:latin typeface="Courier New" panose="02070309020205020404" pitchFamily="49" charset="0"/>
              </a:rPr>
              <a:t>_name instance_name1 </a:t>
            </a:r>
            <a:r>
              <a:rPr lang="el-GR" altLang="en-US" sz="1600" dirty="0">
                <a:latin typeface="Courier New" panose="02070309020205020404" pitchFamily="49" charset="0"/>
              </a:rPr>
              <a:t>(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	.out1(my_out1),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.out2(my_out2),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</a:t>
            </a:r>
            <a:r>
              <a:rPr lang="el-GR" altLang="en-US" sz="1600" dirty="0">
                <a:latin typeface="Courier New" panose="02070309020205020404" pitchFamily="49" charset="0"/>
              </a:rPr>
              <a:t>..,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urier New" panose="02070309020205020404" pitchFamily="49" charset="0"/>
              </a:rPr>
              <a:t>    .</a:t>
            </a:r>
            <a:r>
              <a:rPr lang="el-GR" altLang="en-US" sz="1600" dirty="0">
                <a:latin typeface="Courier New" panose="02070309020205020404" pitchFamily="49" charset="0"/>
              </a:rPr>
              <a:t>in</a:t>
            </a:r>
            <a:r>
              <a:rPr lang="en-US" altLang="en-US" sz="1600" dirty="0">
                <a:latin typeface="Courier New" panose="02070309020205020404" pitchFamily="49" charset="0"/>
              </a:rPr>
              <a:t>N(my_in1)</a:t>
            </a:r>
          </a:p>
          <a:p>
            <a:pPr eaLnBrk="1" hangingPunct="1">
              <a:spcBef>
                <a:spcPct val="50000"/>
              </a:spcBef>
            </a:pPr>
            <a:r>
              <a:rPr lang="el-GR" altLang="en-US" sz="1600" dirty="0">
                <a:latin typeface="Courier New" panose="02070309020205020404" pitchFamily="49" charset="0"/>
              </a:rPr>
              <a:t>);</a:t>
            </a:r>
            <a:endParaRPr lang="en-US" altLang="en-US" sz="1600" dirty="0">
              <a:latin typeface="Courier New" panose="02070309020205020404" pitchFamily="49" charset="0"/>
            </a:endParaRPr>
          </a:p>
        </p:txBody>
      </p:sp>
      <p:sp>
        <p:nvSpPr>
          <p:cNvPr id="15" name="Text Box 27">
            <a:extLst>
              <a:ext uri="{FF2B5EF4-FFF2-40B4-BE49-F238E27FC236}">
                <a16:creationId xmlns:a16="http://schemas.microsoft.com/office/drawing/2014/main" id="{5524B17A-261D-47A2-B7C5-8A74BC100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19" y="4756654"/>
            <a:ext cx="362653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A,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53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#1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84855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Generate: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dirty="0">
              <a:ea typeface="新細明體" pitchFamily="18" charset="-12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zh-TW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9B25C-A12C-45F4-B58E-6BCF4B96401B}"/>
              </a:ext>
            </a:extLst>
          </p:cNvPr>
          <p:cNvSpPr txBox="1"/>
          <p:nvPr/>
        </p:nvSpPr>
        <p:spPr>
          <a:xfrm>
            <a:off x="178230" y="1863057"/>
            <a:ext cx="8787539" cy="2308324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genvar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</a:rPr>
              <a:t>	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generate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for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mux2to1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mux_inst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),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         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endgenerate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1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43053</TotalTime>
  <Words>3007</Words>
  <Application>Microsoft Macintosh PowerPoint</Application>
  <PresentationFormat>On-screen Show (4:3)</PresentationFormat>
  <Paragraphs>782</Paragraphs>
  <Slides>53</Slides>
  <Notes>39</Notes>
  <HiddenSlides>2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新細明體</vt:lpstr>
      <vt:lpstr>Arial</vt:lpstr>
      <vt:lpstr>Calibri</vt:lpstr>
      <vt:lpstr>Calibri Light</vt:lpstr>
      <vt:lpstr>Cambria Math</vt:lpstr>
      <vt:lpstr>Courier</vt:lpstr>
      <vt:lpstr>Courier New</vt:lpstr>
      <vt:lpstr>Tahoma</vt:lpstr>
      <vt:lpstr>Times New Roman</vt:lpstr>
      <vt:lpstr>Wingdings</vt:lpstr>
      <vt:lpstr>Office Theme</vt:lpstr>
      <vt:lpstr>Equation</vt:lpstr>
      <vt:lpstr>SystemVerilog HDL Workshop #1</vt:lpstr>
      <vt:lpstr>PowerPoint Presentation</vt:lpstr>
      <vt:lpstr>Agenda</vt:lpstr>
      <vt:lpstr>Agenda</vt:lpstr>
      <vt:lpstr>PowerPoint Presentation</vt:lpstr>
      <vt:lpstr>Ways to Represent Hardware:</vt:lpstr>
      <vt:lpstr>Hardware Description Languages (HDLs)</vt:lpstr>
      <vt:lpstr>Why Use an HDL?</vt:lpstr>
      <vt:lpstr>SystemVerilog</vt:lpstr>
      <vt:lpstr>Agenda</vt:lpstr>
      <vt:lpstr>Modules</vt:lpstr>
      <vt:lpstr>Modules</vt:lpstr>
      <vt:lpstr>Agenda</vt:lpstr>
      <vt:lpstr>The Logic Data Type</vt:lpstr>
      <vt:lpstr>The Logic Data Type</vt:lpstr>
      <vt:lpstr>SystemVerilog Logic Values</vt:lpstr>
      <vt:lpstr>Reminder: 41 Selector /Multiplexer / Mux</vt:lpstr>
      <vt:lpstr>Agenda</vt:lpstr>
      <vt:lpstr>Vectors</vt:lpstr>
      <vt:lpstr>Mux Module Declaration - Solution</vt:lpstr>
      <vt:lpstr>Vector Operations</vt:lpstr>
      <vt:lpstr>Vectors - Exercise</vt:lpstr>
      <vt:lpstr>Intro – 2’s complement</vt:lpstr>
      <vt:lpstr>Repeated Signals</vt:lpstr>
      <vt:lpstr>Repeated Signals - Example</vt:lpstr>
      <vt:lpstr>Agenda</vt:lpstr>
      <vt:lpstr>Module Implementation</vt:lpstr>
      <vt:lpstr>Module Instantiation</vt:lpstr>
      <vt:lpstr>Module Instantiation</vt:lpstr>
      <vt:lpstr>Module Instantiation – Interview question</vt:lpstr>
      <vt:lpstr>Module Instantiation – Interview question</vt:lpstr>
      <vt:lpstr>Module Instantiation Syntax</vt:lpstr>
      <vt:lpstr>Module Instantiation Example</vt:lpstr>
      <vt:lpstr>Built-in SystemVerilog Modules</vt:lpstr>
      <vt:lpstr>Example – Half Adder Implementation</vt:lpstr>
      <vt:lpstr>PowerPoint Presentation</vt:lpstr>
      <vt:lpstr>Module Instantiation Example</vt:lpstr>
      <vt:lpstr>Module Instantiation Example</vt:lpstr>
      <vt:lpstr>Module Instantiation Example</vt:lpstr>
      <vt:lpstr>Module Instantiation Example</vt:lpstr>
      <vt:lpstr>The generate Command</vt:lpstr>
      <vt:lpstr>Agenda</vt:lpstr>
      <vt:lpstr>SystemVerilog: design vs. simulation</vt:lpstr>
      <vt:lpstr>How Are Simulators Used?</vt:lpstr>
      <vt:lpstr>Test Bench - Generating Stimuli</vt:lpstr>
      <vt:lpstr>Test Bench</vt:lpstr>
      <vt:lpstr>Wet Exercise 0</vt:lpstr>
      <vt:lpstr>Summary</vt:lpstr>
      <vt:lpstr>Questions?</vt:lpstr>
      <vt:lpstr>Workshop #1 Cheat Sheet</vt:lpstr>
      <vt:lpstr>Workshop #1 Cheat Sheet</vt:lpstr>
      <vt:lpstr>Workshop #1 Cheat Sheet</vt:lpstr>
      <vt:lpstr>Workshop #1 Cheat 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</dc:title>
  <dc:creator>Nimrod Wald</dc:creator>
  <cp:lastModifiedBy>Dor Malka</cp:lastModifiedBy>
  <cp:revision>603</cp:revision>
  <dcterms:created xsi:type="dcterms:W3CDTF">2017-12-31T12:50:52Z</dcterms:created>
  <dcterms:modified xsi:type="dcterms:W3CDTF">2025-11-16T09:36:18Z</dcterms:modified>
</cp:coreProperties>
</file>