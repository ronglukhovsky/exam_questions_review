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78" r:id="rId1"/>
  </p:sldMasterIdLst>
  <p:notesMasterIdLst>
    <p:notesMasterId r:id="rId55"/>
  </p:notesMasterIdLst>
  <p:sldIdLst>
    <p:sldId id="320" r:id="rId2"/>
    <p:sldId id="321" r:id="rId3"/>
    <p:sldId id="318" r:id="rId4"/>
    <p:sldId id="303" r:id="rId5"/>
    <p:sldId id="304" r:id="rId6"/>
    <p:sldId id="305" r:id="rId7"/>
    <p:sldId id="306" r:id="rId8"/>
    <p:sldId id="307" r:id="rId9"/>
    <p:sldId id="308" r:id="rId10"/>
    <p:sldId id="309" r:id="rId11"/>
    <p:sldId id="319" r:id="rId12"/>
    <p:sldId id="310" r:id="rId13"/>
    <p:sldId id="311" r:id="rId14"/>
    <p:sldId id="312" r:id="rId15"/>
    <p:sldId id="313" r:id="rId16"/>
    <p:sldId id="316" r:id="rId17"/>
    <p:sldId id="314" r:id="rId18"/>
    <p:sldId id="338" r:id="rId19"/>
    <p:sldId id="339" r:id="rId20"/>
    <p:sldId id="315" r:id="rId21"/>
    <p:sldId id="301" r:id="rId22"/>
    <p:sldId id="293" r:id="rId23"/>
    <p:sldId id="294" r:id="rId24"/>
    <p:sldId id="295" r:id="rId25"/>
    <p:sldId id="279" r:id="rId26"/>
    <p:sldId id="300" r:id="rId27"/>
    <p:sldId id="257" r:id="rId28"/>
    <p:sldId id="302" r:id="rId29"/>
    <p:sldId id="258" r:id="rId30"/>
    <p:sldId id="259" r:id="rId31"/>
    <p:sldId id="260" r:id="rId32"/>
    <p:sldId id="261" r:id="rId33"/>
    <p:sldId id="262" r:id="rId34"/>
    <p:sldId id="263" r:id="rId35"/>
    <p:sldId id="264" r:id="rId36"/>
    <p:sldId id="265" r:id="rId37"/>
    <p:sldId id="266" r:id="rId38"/>
    <p:sldId id="267" r:id="rId39"/>
    <p:sldId id="268" r:id="rId40"/>
    <p:sldId id="271" r:id="rId41"/>
    <p:sldId id="269" r:id="rId42"/>
    <p:sldId id="270" r:id="rId43"/>
    <p:sldId id="272" r:id="rId44"/>
    <p:sldId id="276" r:id="rId45"/>
    <p:sldId id="273" r:id="rId46"/>
    <p:sldId id="274" r:id="rId47"/>
    <p:sldId id="275" r:id="rId48"/>
    <p:sldId id="296" r:id="rId49"/>
    <p:sldId id="297" r:id="rId50"/>
    <p:sldId id="298" r:id="rId51"/>
    <p:sldId id="317" r:id="rId52"/>
    <p:sldId id="340" r:id="rId53"/>
    <p:sldId id="341" r:id="rId54"/>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323B50-7C6D-E04D-883E-5827EEB45815}" v="7" dt="2026-04-18T14:11:54.2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07" autoAdjust="0"/>
    <p:restoredTop sz="88929" autoAdjust="0"/>
  </p:normalViewPr>
  <p:slideViewPr>
    <p:cSldViewPr snapToGrid="0" showGuides="1">
      <p:cViewPr varScale="1">
        <p:scale>
          <a:sx n="126" d="100"/>
          <a:sy n="126" d="100"/>
        </p:scale>
        <p:origin x="368" y="192"/>
      </p:cViewPr>
      <p:guideLst>
        <p:guide orient="horz" pos="2137"/>
        <p:guide pos="3840"/>
      </p:guideLst>
    </p:cSldViewPr>
  </p:slideViewPr>
  <p:notesTextViewPr>
    <p:cViewPr>
      <p:scale>
        <a:sx n="95" d="100"/>
        <a:sy n="9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Hanuka" userId="8fcfd652-4ae7-4605-9bfd-5ff0d9da73a0" providerId="ADAL" clId="{E64352B5-F0D7-55D7-BDA8-47CEA1D5C864}"/>
    <pc:docChg chg="undo custSel addSld delSld modSld sldOrd">
      <pc:chgData name="Ben Hanuka" userId="8fcfd652-4ae7-4605-9bfd-5ff0d9da73a0" providerId="ADAL" clId="{E64352B5-F0D7-55D7-BDA8-47CEA1D5C864}" dt="2026-04-18T14:11:54.212" v="1208" actId="20577"/>
      <pc:docMkLst>
        <pc:docMk/>
      </pc:docMkLst>
      <pc:sldChg chg="modSp">
        <pc:chgData name="Ben Hanuka" userId="8fcfd652-4ae7-4605-9bfd-5ff0d9da73a0" providerId="ADAL" clId="{E64352B5-F0D7-55D7-BDA8-47CEA1D5C864}" dt="2026-04-18T14:11:54.212" v="1208" actId="20577"/>
        <pc:sldMkLst>
          <pc:docMk/>
          <pc:sldMk cId="787746381" sldId="259"/>
        </pc:sldMkLst>
        <pc:spChg chg="mod">
          <ac:chgData name="Ben Hanuka" userId="8fcfd652-4ae7-4605-9bfd-5ff0d9da73a0" providerId="ADAL" clId="{E64352B5-F0D7-55D7-BDA8-47CEA1D5C864}" dt="2026-04-18T14:11:54.212" v="1208" actId="20577"/>
          <ac:spMkLst>
            <pc:docMk/>
            <pc:sldMk cId="787746381" sldId="259"/>
            <ac:spMk id="9" creationId="{0704F4D6-2429-A11C-AB47-6ADE059C17A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Date Placeholder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6649E0C9-EA06-4193-A41B-DBCD28AA148A}" type="datetimeFigureOut">
              <a:rPr lang="he-IL" smtClean="0"/>
              <a:t>א'.אייר.תשפ"ו</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Slide Number Placeholder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358B0CD-5217-4696-8B1B-E3D4DC7A5A53}" type="slidenum">
              <a:rPr lang="he-IL" smtClean="0"/>
              <a:t>‹#›</a:t>
            </a:fld>
            <a:endParaRPr lang="he-IL"/>
          </a:p>
        </p:txBody>
      </p:sp>
    </p:spTree>
    <p:extLst>
      <p:ext uri="{BB962C8B-B14F-4D97-AF65-F5344CB8AC3E}">
        <p14:creationId xmlns:p14="http://schemas.microsoft.com/office/powerpoint/2010/main" val="90448128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6E31ED46-7FB7-4668-A144-D0CF08306A14}" type="slidenum">
              <a:rPr lang="he-IL" smtClean="0"/>
              <a:t>1</a:t>
            </a:fld>
            <a:endParaRPr lang="he-IL"/>
          </a:p>
        </p:txBody>
      </p:sp>
    </p:spTree>
    <p:extLst>
      <p:ext uri="{BB962C8B-B14F-4D97-AF65-F5344CB8AC3E}">
        <p14:creationId xmlns:p14="http://schemas.microsoft.com/office/powerpoint/2010/main" val="3323368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5358B0CD-5217-4696-8B1B-E3D4DC7A5A53}" type="slidenum">
              <a:rPr lang="he-IL" smtClean="0"/>
              <a:t>4</a:t>
            </a:fld>
            <a:endParaRPr lang="he-IL"/>
          </a:p>
        </p:txBody>
      </p:sp>
    </p:spTree>
    <p:extLst>
      <p:ext uri="{BB962C8B-B14F-4D97-AF65-F5344CB8AC3E}">
        <p14:creationId xmlns:p14="http://schemas.microsoft.com/office/powerpoint/2010/main" val="2741134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להדגיש: מרחק </a:t>
            </a:r>
            <a:r>
              <a:rPr lang="he-IL" dirty="0" err="1"/>
              <a:t>המינג</a:t>
            </a:r>
            <a:r>
              <a:rPr lang="he-IL" dirty="0"/>
              <a:t> – המרחק בין 2 מילות קוד נתונות</a:t>
            </a:r>
          </a:p>
          <a:p>
            <a:r>
              <a:rPr lang="he-IL" dirty="0"/>
              <a:t>מרחק קוד – המרחק הכי קטן שקיים בקוד נתון</a:t>
            </a:r>
          </a:p>
        </p:txBody>
      </p:sp>
      <p:sp>
        <p:nvSpPr>
          <p:cNvPr id="4" name="Slide Number Placeholder 3"/>
          <p:cNvSpPr>
            <a:spLocks noGrp="1"/>
          </p:cNvSpPr>
          <p:nvPr>
            <p:ph type="sldNum" sz="quarter" idx="5"/>
          </p:nvPr>
        </p:nvSpPr>
        <p:spPr/>
        <p:txBody>
          <a:bodyPr/>
          <a:lstStyle/>
          <a:p>
            <a:fld id="{5358B0CD-5217-4696-8B1B-E3D4DC7A5A53}" type="slidenum">
              <a:rPr lang="he-IL" smtClean="0"/>
              <a:t>7</a:t>
            </a:fld>
            <a:endParaRPr lang="he-IL"/>
          </a:p>
        </p:txBody>
      </p:sp>
    </p:spTree>
    <p:extLst>
      <p:ext uri="{BB962C8B-B14F-4D97-AF65-F5344CB8AC3E}">
        <p14:creationId xmlns:p14="http://schemas.microsoft.com/office/powerpoint/2010/main" val="3544048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5358B0CD-5217-4696-8B1B-E3D4DC7A5A53}" type="slidenum">
              <a:rPr lang="he-IL" smtClean="0"/>
              <a:t>10</a:t>
            </a:fld>
            <a:endParaRPr lang="he-IL"/>
          </a:p>
        </p:txBody>
      </p:sp>
    </p:spTree>
    <p:extLst>
      <p:ext uri="{BB962C8B-B14F-4D97-AF65-F5344CB8AC3E}">
        <p14:creationId xmlns:p14="http://schemas.microsoft.com/office/powerpoint/2010/main" val="1794366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להסביר את הרציונל: אם אנחנו יודעים לקבוע למי המילה הלא חוקית ״הכי קרובה״ אז אפשר לשחזר את המילה החוקית שממנה התחלנו</a:t>
            </a:r>
            <a:endParaRPr lang="en-IL" dirty="0"/>
          </a:p>
        </p:txBody>
      </p:sp>
      <p:sp>
        <p:nvSpPr>
          <p:cNvPr id="4" name="Slide Number Placeholder 3"/>
          <p:cNvSpPr>
            <a:spLocks noGrp="1"/>
          </p:cNvSpPr>
          <p:nvPr>
            <p:ph type="sldNum" sz="quarter" idx="5"/>
          </p:nvPr>
        </p:nvSpPr>
        <p:spPr/>
        <p:txBody>
          <a:bodyPr/>
          <a:lstStyle/>
          <a:p>
            <a:fld id="{5358B0CD-5217-4696-8B1B-E3D4DC7A5A53}" type="slidenum">
              <a:rPr lang="he-IL" smtClean="0"/>
              <a:t>13</a:t>
            </a:fld>
            <a:endParaRPr lang="he-IL"/>
          </a:p>
        </p:txBody>
      </p:sp>
    </p:spTree>
    <p:extLst>
      <p:ext uri="{BB962C8B-B14F-4D97-AF65-F5344CB8AC3E}">
        <p14:creationId xmlns:p14="http://schemas.microsoft.com/office/powerpoint/2010/main" val="847740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Even parity</a:t>
            </a:r>
            <a:r>
              <a:rPr lang="he-IL" dirty="0"/>
              <a:t> מספר אחדים במילת קוד</a:t>
            </a:r>
          </a:p>
          <a:p>
            <a:r>
              <a:rPr lang="en-US" dirty="0"/>
              <a:t>Odd parity</a:t>
            </a:r>
            <a:r>
              <a:rPr lang="he-IL" dirty="0"/>
              <a:t> מספר אפסים במילת קוד</a:t>
            </a:r>
          </a:p>
          <a:p>
            <a:r>
              <a:rPr lang="he-IL" dirty="0"/>
              <a:t>מה המוטיבציה?</a:t>
            </a:r>
            <a:r>
              <a:rPr lang="en-US" dirty="0"/>
              <a:t> </a:t>
            </a:r>
            <a:r>
              <a:rPr lang="he-IL" dirty="0"/>
              <a:t> </a:t>
            </a:r>
          </a:p>
          <a:p>
            <a:r>
              <a:rPr lang="he-IL" dirty="0"/>
              <a:t>המוטיבציה היא להגדיל את מרחק הקוד המינימלי ובכך להגדיל את היכולת לגלות שגיאות</a:t>
            </a:r>
          </a:p>
        </p:txBody>
      </p:sp>
      <p:sp>
        <p:nvSpPr>
          <p:cNvPr id="4" name="מציין מיקום של מספר שקופית 3"/>
          <p:cNvSpPr>
            <a:spLocks noGrp="1"/>
          </p:cNvSpPr>
          <p:nvPr>
            <p:ph type="sldNum" sz="quarter" idx="5"/>
          </p:nvPr>
        </p:nvSpPr>
        <p:spPr/>
        <p:txBody>
          <a:bodyPr/>
          <a:lstStyle/>
          <a:p>
            <a:fld id="{5358B0CD-5217-4696-8B1B-E3D4DC7A5A53}" type="slidenum">
              <a:rPr lang="he-IL" smtClean="0"/>
              <a:t>14</a:t>
            </a:fld>
            <a:endParaRPr lang="he-IL"/>
          </a:p>
        </p:txBody>
      </p:sp>
    </p:spTree>
    <p:extLst>
      <p:ext uri="{BB962C8B-B14F-4D97-AF65-F5344CB8AC3E}">
        <p14:creationId xmlns:p14="http://schemas.microsoft.com/office/powerpoint/2010/main" val="3801940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כאשר </a:t>
            </a:r>
            <a:r>
              <a:rPr lang="en-US" dirty="0"/>
              <a:t>r=4</a:t>
            </a:r>
            <a:r>
              <a:rPr lang="he-IL" dirty="0"/>
              <a:t> ניתן לתקן עד שגיאה אחת ולגלות עד 3 שגיאות.</a:t>
            </a:r>
            <a:endParaRPr lang="en-US" dirty="0"/>
          </a:p>
        </p:txBody>
      </p:sp>
      <p:sp>
        <p:nvSpPr>
          <p:cNvPr id="4" name="Slide Number Placeholder 3"/>
          <p:cNvSpPr>
            <a:spLocks noGrp="1"/>
          </p:cNvSpPr>
          <p:nvPr>
            <p:ph type="sldNum" sz="quarter" idx="10"/>
          </p:nvPr>
        </p:nvSpPr>
        <p:spPr/>
        <p:txBody>
          <a:bodyPr/>
          <a:lstStyle/>
          <a:p>
            <a:fld id="{6E31ED46-7FB7-4668-A144-D0CF08306A14}" type="slidenum">
              <a:rPr lang="he-IL" smtClean="0"/>
              <a:t>15</a:t>
            </a:fld>
            <a:endParaRPr lang="he-IL"/>
          </a:p>
        </p:txBody>
      </p:sp>
    </p:spTree>
    <p:extLst>
      <p:ext uri="{BB962C8B-B14F-4D97-AF65-F5344CB8AC3E}">
        <p14:creationId xmlns:p14="http://schemas.microsoft.com/office/powerpoint/2010/main" val="1408432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5358B0CD-5217-4696-8B1B-E3D4DC7A5A53}" type="slidenum">
              <a:rPr lang="he-IL" smtClean="0"/>
              <a:t>16</a:t>
            </a:fld>
            <a:endParaRPr lang="he-IL"/>
          </a:p>
        </p:txBody>
      </p:sp>
    </p:spTree>
    <p:extLst>
      <p:ext uri="{BB962C8B-B14F-4D97-AF65-F5344CB8AC3E}">
        <p14:creationId xmlns:p14="http://schemas.microsoft.com/office/powerpoint/2010/main" val="1400500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5358B0CD-5217-4696-8B1B-E3D4DC7A5A53}" type="slidenum">
              <a:rPr lang="he-IL" smtClean="0"/>
              <a:t>17</a:t>
            </a:fld>
            <a:endParaRPr lang="he-IL"/>
          </a:p>
        </p:txBody>
      </p:sp>
    </p:spTree>
    <p:extLst>
      <p:ext uri="{BB962C8B-B14F-4D97-AF65-F5344CB8AC3E}">
        <p14:creationId xmlns:p14="http://schemas.microsoft.com/office/powerpoint/2010/main" val="2150405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פתרון לוח</a:t>
            </a:r>
          </a:p>
        </p:txBody>
      </p:sp>
      <p:sp>
        <p:nvSpPr>
          <p:cNvPr id="4" name="מציין מיקום של מספר שקופית 3"/>
          <p:cNvSpPr>
            <a:spLocks noGrp="1"/>
          </p:cNvSpPr>
          <p:nvPr>
            <p:ph type="sldNum" sz="quarter" idx="5"/>
          </p:nvPr>
        </p:nvSpPr>
        <p:spPr/>
        <p:txBody>
          <a:bodyPr/>
          <a:lstStyle/>
          <a:p>
            <a:fld id="{1B4FCEAC-E4D0-46C2-94BC-978C9ADF3686}" type="slidenum">
              <a:rPr lang="he-IL" smtClean="0"/>
              <a:t>18</a:t>
            </a:fld>
            <a:endParaRPr lang="he-IL"/>
          </a:p>
        </p:txBody>
      </p:sp>
    </p:spTree>
    <p:extLst>
      <p:ext uri="{BB962C8B-B14F-4D97-AF65-F5344CB8AC3E}">
        <p14:creationId xmlns:p14="http://schemas.microsoft.com/office/powerpoint/2010/main" val="9971270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להסביר שרגיסטרים הם משאב חומרתי יקר והוא המשאב היחיד שעליו ניתן לבצע פ]עולות כמו חיבור וחיסור ולכן כל המשחק הוא איך מנהלים את הרגיסטרים האלה נכון</a:t>
            </a:r>
            <a:endParaRPr lang="en-IL" dirty="0"/>
          </a:p>
        </p:txBody>
      </p:sp>
      <p:sp>
        <p:nvSpPr>
          <p:cNvPr id="4" name="Slide Number Placeholder 3"/>
          <p:cNvSpPr>
            <a:spLocks noGrp="1"/>
          </p:cNvSpPr>
          <p:nvPr>
            <p:ph type="sldNum" sz="quarter" idx="5"/>
          </p:nvPr>
        </p:nvSpPr>
        <p:spPr/>
        <p:txBody>
          <a:bodyPr/>
          <a:lstStyle/>
          <a:p>
            <a:fld id="{5358B0CD-5217-4696-8B1B-E3D4DC7A5A53}" type="slidenum">
              <a:rPr lang="he-IL" smtClean="0"/>
              <a:t>22</a:t>
            </a:fld>
            <a:endParaRPr lang="he-IL"/>
          </a:p>
        </p:txBody>
      </p:sp>
    </p:spTree>
    <p:extLst>
      <p:ext uri="{BB962C8B-B14F-4D97-AF65-F5344CB8AC3E}">
        <p14:creationId xmlns:p14="http://schemas.microsoft.com/office/powerpoint/2010/main" val="67628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he-IL" dirty="0"/>
              <a:t>הסבר לשקף:</a:t>
            </a:r>
          </a:p>
          <a:p>
            <a:pPr marL="171450" indent="-171450">
              <a:buFontTx/>
              <a:buChar char="-"/>
            </a:pPr>
            <a:r>
              <a:rPr lang="he-IL" dirty="0"/>
              <a:t>ארכיטקטורת פון-נוימן</a:t>
            </a:r>
          </a:p>
          <a:p>
            <a:pPr marL="171450" indent="-171450">
              <a:buFontTx/>
              <a:buChar char="-"/>
            </a:pPr>
            <a:r>
              <a:rPr lang="he-IL" b="1" dirty="0"/>
              <a:t>מעבד:</a:t>
            </a:r>
            <a:r>
              <a:rPr lang="he-IL" dirty="0"/>
              <a:t> </a:t>
            </a:r>
            <a:r>
              <a:rPr lang="en-US" dirty="0"/>
              <a:t>C</a:t>
            </a:r>
            <a:r>
              <a:rPr lang="he-IL" dirty="0" err="1"/>
              <a:t>ontrol</a:t>
            </a:r>
            <a:r>
              <a:rPr lang="he-IL" dirty="0"/>
              <a:t> בהמשך הקורס, PC להסביר בקצרה שמראה איזה שורת קוד קוראים. רגיסטרים זה היחידות שדיברנו עליהם בשקף קודם. ALU זה איפה שעושים חישובים</a:t>
            </a:r>
          </a:p>
          <a:p>
            <a:pPr marL="171450" indent="-171450">
              <a:buFontTx/>
              <a:buChar char="-"/>
            </a:pPr>
            <a:r>
              <a:rPr lang="he-IL" b="1" dirty="0"/>
              <a:t>זיכרון:</a:t>
            </a:r>
            <a:r>
              <a:rPr lang="he-IL" b="0" dirty="0"/>
              <a:t> כאן מוחזקים משתנים, מערכים </a:t>
            </a:r>
            <a:r>
              <a:rPr lang="he-IL" b="0" dirty="0" err="1"/>
              <a:t>וכ׳ו</a:t>
            </a:r>
            <a:r>
              <a:rPr lang="he-IL" b="0" dirty="0"/>
              <a:t> (</a:t>
            </a:r>
            <a:r>
              <a:rPr lang="he-IL" b="0" dirty="0" err="1"/>
              <a:t>Program</a:t>
            </a:r>
            <a:r>
              <a:rPr lang="he-IL" b="0" dirty="0"/>
              <a:t>) וגם דאטה כללי (למשל קבצים)</a:t>
            </a:r>
          </a:p>
          <a:p>
            <a:pPr marL="171450" indent="-171450">
              <a:buFontTx/>
              <a:buChar char="-"/>
            </a:pPr>
            <a:r>
              <a:rPr lang="he-IL" b="0" dirty="0"/>
              <a:t>לדבר על הממשק בין זיכרון למעבד (צריך לקרוא משתנים מהזיכרון לרגיסטרים)</a:t>
            </a:r>
          </a:p>
          <a:p>
            <a:pPr marL="171450" indent="-171450">
              <a:buFontTx/>
              <a:buChar char="-"/>
            </a:pPr>
            <a:r>
              <a:rPr lang="he-IL" b="0" dirty="0"/>
              <a:t>ממשק עם </a:t>
            </a:r>
            <a:r>
              <a:rPr lang="en-US" b="0" dirty="0"/>
              <a:t>I/O</a:t>
            </a:r>
            <a:r>
              <a:rPr lang="he-IL" b="0" dirty="0"/>
              <a:t> לא ממש נוגעים בקורס אבל כן קיים, כן להכיר</a:t>
            </a:r>
            <a:endParaRPr lang="he-IL" b="1" dirty="0"/>
          </a:p>
        </p:txBody>
      </p:sp>
      <p:sp>
        <p:nvSpPr>
          <p:cNvPr id="4" name="Slide Number Placeholder 3"/>
          <p:cNvSpPr>
            <a:spLocks noGrp="1"/>
          </p:cNvSpPr>
          <p:nvPr>
            <p:ph type="sldNum" sz="quarter" idx="10"/>
          </p:nvPr>
        </p:nvSpPr>
        <p:spPr/>
        <p:txBody>
          <a:bodyPr/>
          <a:lstStyle/>
          <a:p>
            <a:fld id="{EF97FDFF-7B9F-7D4D-BFC0-AAD1F3D3D3CB}" type="slidenum">
              <a:rPr lang="en-US" smtClean="0"/>
              <a:pPr/>
              <a:t>23</a:t>
            </a:fld>
            <a:endParaRPr lang="en-US"/>
          </a:p>
        </p:txBody>
      </p:sp>
    </p:spTree>
    <p:extLst>
      <p:ext uri="{BB962C8B-B14F-4D97-AF65-F5344CB8AC3E}">
        <p14:creationId xmlns:p14="http://schemas.microsoft.com/office/powerpoint/2010/main" val="13528074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5358B0CD-5217-4696-8B1B-E3D4DC7A5A53}" type="slidenum">
              <a:rPr lang="he-IL" smtClean="0"/>
              <a:t>24</a:t>
            </a:fld>
            <a:endParaRPr lang="he-IL"/>
          </a:p>
        </p:txBody>
      </p:sp>
    </p:spTree>
    <p:extLst>
      <p:ext uri="{BB962C8B-B14F-4D97-AF65-F5344CB8AC3E}">
        <p14:creationId xmlns:p14="http://schemas.microsoft.com/office/powerpoint/2010/main" val="17053452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הרגיסטרים המשמעותיים שעליהם לדבר: </a:t>
            </a:r>
            <a:r>
              <a:rPr lang="en-US" dirty="0" err="1"/>
              <a:t>ra</a:t>
            </a:r>
            <a:r>
              <a:rPr lang="he-IL" dirty="0"/>
              <a:t>, רגיסטר האפס, </a:t>
            </a:r>
            <a:r>
              <a:rPr lang="en-US" dirty="0"/>
              <a:t>S</a:t>
            </a:r>
            <a:r>
              <a:rPr lang="he-IL" dirty="0"/>
              <a:t> רגיסטרים </a:t>
            </a:r>
            <a:r>
              <a:rPr lang="he-IL" dirty="0" err="1"/>
              <a:t>ארכיטקטונים</a:t>
            </a:r>
            <a:r>
              <a:rPr lang="he-IL" dirty="0"/>
              <a:t> של המעבד והמשמעות של מי שאחראי לשמור את הרגיסטרים האלה</a:t>
            </a:r>
          </a:p>
          <a:p>
            <a:r>
              <a:rPr lang="en-US" dirty="0"/>
              <a:t>Caller</a:t>
            </a:r>
            <a:r>
              <a:rPr lang="he-IL" dirty="0"/>
              <a:t> הקוד שקורא לפונקציה, </a:t>
            </a:r>
            <a:r>
              <a:rPr lang="en-US" dirty="0"/>
              <a:t>callee</a:t>
            </a:r>
            <a:r>
              <a:rPr lang="he-IL" dirty="0"/>
              <a:t> הפונקציה אליה אנחנו קוראים</a:t>
            </a:r>
          </a:p>
        </p:txBody>
      </p:sp>
      <p:sp>
        <p:nvSpPr>
          <p:cNvPr id="4" name="מציין מיקום של מספר שקופית 3"/>
          <p:cNvSpPr>
            <a:spLocks noGrp="1"/>
          </p:cNvSpPr>
          <p:nvPr>
            <p:ph type="sldNum" sz="quarter" idx="5"/>
          </p:nvPr>
        </p:nvSpPr>
        <p:spPr/>
        <p:txBody>
          <a:bodyPr/>
          <a:lstStyle/>
          <a:p>
            <a:fld id="{5358B0CD-5217-4696-8B1B-E3D4DC7A5A53}" type="slidenum">
              <a:rPr lang="he-IL" smtClean="0"/>
              <a:t>25</a:t>
            </a:fld>
            <a:endParaRPr lang="he-IL"/>
          </a:p>
        </p:txBody>
      </p:sp>
    </p:spTree>
    <p:extLst>
      <p:ext uri="{BB962C8B-B14F-4D97-AF65-F5344CB8AC3E}">
        <p14:creationId xmlns:p14="http://schemas.microsoft.com/office/powerpoint/2010/main" val="41401716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focus memory</a:t>
            </a:r>
          </a:p>
        </p:txBody>
      </p:sp>
      <p:sp>
        <p:nvSpPr>
          <p:cNvPr id="4" name="Slide Number Placeholder 3"/>
          <p:cNvSpPr>
            <a:spLocks noGrp="1"/>
          </p:cNvSpPr>
          <p:nvPr>
            <p:ph type="sldNum" sz="quarter" idx="10"/>
          </p:nvPr>
        </p:nvSpPr>
        <p:spPr/>
        <p:txBody>
          <a:bodyPr/>
          <a:lstStyle/>
          <a:p>
            <a:fld id="{EF97FDFF-7B9F-7D4D-BFC0-AAD1F3D3D3CB}" type="slidenum">
              <a:rPr lang="en-US" smtClean="0"/>
              <a:pPr/>
              <a:t>26</a:t>
            </a:fld>
            <a:endParaRPr lang="en-US"/>
          </a:p>
        </p:txBody>
      </p:sp>
    </p:spTree>
    <p:extLst>
      <p:ext uri="{BB962C8B-B14F-4D97-AF65-F5344CB8AC3E}">
        <p14:creationId xmlns:p14="http://schemas.microsoft.com/office/powerpoint/2010/main" val="27134546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מה מכיל </a:t>
            </a:r>
            <a:r>
              <a:rPr lang="en-US" dirty="0"/>
              <a:t>S0</a:t>
            </a:r>
            <a:r>
              <a:rPr lang="he-IL" dirty="0"/>
              <a:t> ? כתובת ה</a:t>
            </a:r>
            <a:r>
              <a:rPr lang="en-US" dirty="0" err="1"/>
              <a:t>arr</a:t>
            </a:r>
            <a:r>
              <a:rPr lang="he-IL" dirty="0"/>
              <a:t> </a:t>
            </a:r>
          </a:p>
        </p:txBody>
      </p:sp>
      <p:sp>
        <p:nvSpPr>
          <p:cNvPr id="4" name="מציין מיקום של מספר שקופית 3"/>
          <p:cNvSpPr>
            <a:spLocks noGrp="1"/>
          </p:cNvSpPr>
          <p:nvPr>
            <p:ph type="sldNum" sz="quarter" idx="5"/>
          </p:nvPr>
        </p:nvSpPr>
        <p:spPr/>
        <p:txBody>
          <a:bodyPr/>
          <a:lstStyle/>
          <a:p>
            <a:fld id="{5358B0CD-5217-4696-8B1B-E3D4DC7A5A53}" type="slidenum">
              <a:rPr lang="he-IL" smtClean="0"/>
              <a:t>27</a:t>
            </a:fld>
            <a:endParaRPr lang="he-IL"/>
          </a:p>
        </p:txBody>
      </p:sp>
    </p:spTree>
    <p:extLst>
      <p:ext uri="{BB962C8B-B14F-4D97-AF65-F5344CB8AC3E}">
        <p14:creationId xmlns:p14="http://schemas.microsoft.com/office/powerpoint/2010/main" val="1562707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5358B0CD-5217-4696-8B1B-E3D4DC7A5A53}" type="slidenum">
              <a:rPr lang="he-IL" smtClean="0"/>
              <a:t>28</a:t>
            </a:fld>
            <a:endParaRPr lang="he-IL"/>
          </a:p>
        </p:txBody>
      </p:sp>
    </p:spTree>
    <p:extLst>
      <p:ext uri="{BB962C8B-B14F-4D97-AF65-F5344CB8AC3E}">
        <p14:creationId xmlns:p14="http://schemas.microsoft.com/office/powerpoint/2010/main" val="3303038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algn="ctr" defTabSz="914400" rtl="1" eaLnBrk="1" latinLnBrk="0" hangingPunct="1"/>
                <a14:m>
                  <m:oMathPara xmlns:m="http://schemas.openxmlformats.org/officeDocument/2006/math">
                    <m:oMathParaPr>
                      <m:jc m:val="right"/>
                    </m:oMathParaPr>
                    <m:oMath xmlns:m="http://schemas.openxmlformats.org/officeDocument/2006/math">
                      <m:d>
                        <m:dPr>
                          <m:begChr m:val="⟨"/>
                          <m:endChr m:val="⟩"/>
                          <m:ctrlPr>
                            <a:rPr lang="en-IL"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m:t>
                              </m:r>
                            </m:sub>
                          </m:sSub>
                        </m:e>
                      </m:d>
                      <m:r>
                        <a:rPr lang="en-US" b="0" i="1" smtClean="0">
                          <a:latin typeface="Cambria Math" panose="02040503050406030204" pitchFamily="18" charset="0"/>
                        </a:rPr>
                        <m:t>=4</m:t>
                      </m:r>
                    </m:oMath>
                  </m:oMathPara>
                </a14:m>
                <a:endParaRPr lang="en-US" b="0" dirty="0"/>
              </a:p>
              <a:p>
                <a:pPr marL="0" algn="r" defTabSz="914400" rtl="1" eaLnBrk="1" latinLnBrk="0" hangingPunct="1"/>
                <a:r>
                  <a:rPr lang="he-IL" dirty="0"/>
                  <a:t>להסביר שפעולת </a:t>
                </a:r>
                <a:r>
                  <a:rPr lang="he-IL" dirty="0" err="1"/>
                  <a:t>shift</a:t>
                </a:r>
                <a:r>
                  <a:rPr lang="he-IL" dirty="0"/>
                  <a:t> היא כמו כפל וחילוק ב-2 (לתת אינטואיציה מעשרוני</a:t>
                </a:r>
              </a:p>
              <a:p>
                <a:pPr marL="0" algn="r" defTabSz="914400" rtl="1" eaLnBrk="1" latinLnBrk="0" hangingPunct="1"/>
                <a:endParaRPr lang="en-IL" dirty="0"/>
              </a:p>
            </p:txBody>
          </p:sp>
        </mc:Choice>
        <mc:Fallback xmlns="">
          <p:sp>
            <p:nvSpPr>
              <p:cNvPr id="3" name="Notes Placeholder 2"/>
              <p:cNvSpPr>
                <a:spLocks noGrp="1"/>
              </p:cNvSpPr>
              <p:nvPr>
                <p:ph type="body" idx="1"/>
              </p:nvPr>
            </p:nvSpPr>
            <p:spPr/>
            <p:txBody>
              <a:bodyPr/>
              <a:lstStyle/>
              <a:p>
                <a:pPr marL="0" algn="ctr" defTabSz="914400" rtl="1" eaLnBrk="1" latinLnBrk="0" hangingPunct="1"/>
                <a:r>
                  <a:rPr lang="en-IL" i="0">
                    <a:latin typeface="Cambria Math" panose="02040503050406030204" pitchFamily="18" charset="0"/>
                  </a:rPr>
                  <a:t>⟨</a:t>
                </a:r>
                <a:r>
                  <a:rPr lang="en-US" b="0" i="0">
                    <a:latin typeface="Cambria Math" panose="02040503050406030204" pitchFamily="18" charset="0"/>
                  </a:rPr>
                  <a:t>𝑡_0</a:t>
                </a:r>
                <a:r>
                  <a:rPr lang="en-IL" b="0" i="0">
                    <a:latin typeface="Cambria Math" panose="02040503050406030204" pitchFamily="18" charset="0"/>
                  </a:rPr>
                  <a:t> ⟩</a:t>
                </a:r>
                <a:r>
                  <a:rPr lang="en-US" b="0" i="0">
                    <a:latin typeface="Cambria Math" panose="02040503050406030204" pitchFamily="18" charset="0"/>
                  </a:rPr>
                  <a:t>=4</a:t>
                </a:r>
                <a:endParaRPr lang="en-US" b="0" dirty="0"/>
              </a:p>
              <a:p>
                <a:pPr marL="0" algn="r" defTabSz="914400" rtl="1" eaLnBrk="1" latinLnBrk="0" hangingPunct="1"/>
                <a:r>
                  <a:rPr lang="he-IL" dirty="0"/>
                  <a:t>להסביר שפעולת </a:t>
                </a:r>
                <a:r>
                  <a:rPr lang="he-IL" dirty="0" err="1"/>
                  <a:t>shift</a:t>
                </a:r>
                <a:r>
                  <a:rPr lang="he-IL" dirty="0"/>
                  <a:t> היא כמו כפל וחילוק ב-2 (לתת אינטואיציה מעשרוני</a:t>
                </a:r>
              </a:p>
              <a:p>
                <a:pPr marL="0" algn="r" defTabSz="914400" rtl="1" eaLnBrk="1" latinLnBrk="0" hangingPunct="1"/>
                <a:endParaRPr lang="en-IL" dirty="0"/>
              </a:p>
            </p:txBody>
          </p:sp>
        </mc:Fallback>
      </mc:AlternateContent>
      <p:sp>
        <p:nvSpPr>
          <p:cNvPr id="4" name="Slide Number Placeholder 3"/>
          <p:cNvSpPr>
            <a:spLocks noGrp="1"/>
          </p:cNvSpPr>
          <p:nvPr>
            <p:ph type="sldNum" sz="quarter" idx="5"/>
          </p:nvPr>
        </p:nvSpPr>
        <p:spPr/>
        <p:txBody>
          <a:bodyPr/>
          <a:lstStyle/>
          <a:p>
            <a:fld id="{5358B0CD-5217-4696-8B1B-E3D4DC7A5A53}" type="slidenum">
              <a:rPr lang="he-IL" smtClean="0"/>
              <a:t>29</a:t>
            </a:fld>
            <a:endParaRPr lang="he-IL"/>
          </a:p>
        </p:txBody>
      </p:sp>
    </p:spTree>
    <p:extLst>
      <p:ext uri="{BB962C8B-B14F-4D97-AF65-F5344CB8AC3E}">
        <p14:creationId xmlns:p14="http://schemas.microsoft.com/office/powerpoint/2010/main" val="12344638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algn="r" defTabSz="914400" rtl="0" eaLnBrk="1" latinLnBrk="0" hangingPunct="1"/>
                <a:r>
                  <a:rPr lang="he-IL" dirty="0"/>
                  <a:t>להסביר:</a:t>
                </a:r>
                <a:endParaRPr lang="en-IL" dirty="0"/>
              </a:p>
              <a:p>
                <a:pPr marL="0" algn="l" defTabSz="914400" rtl="0" eaLnBrk="1" latinLnBrk="0" hangingPunct="1"/>
                <a14:m>
                  <m:oMathPara xmlns:m="http://schemas.openxmlformats.org/officeDocument/2006/math">
                    <m:oMathParaPr>
                      <m:jc m:val="right"/>
                    </m:oMathParaPr>
                    <m:oMath xmlns:m="http://schemas.openxmlformats.org/officeDocument/2006/math">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r>
                                <a:rPr lang="en-US" b="0" i="1" smtClean="0">
                                  <a:latin typeface="Cambria Math" panose="02040503050406030204" pitchFamily="18" charset="0"/>
                                </a:rPr>
                                <m:t>1</m:t>
                              </m:r>
                            </m:e>
                          </m:d>
                        </m:e>
                        <m:sub>
                          <m:r>
                            <a:rPr lang="en-US" b="0" i="1" smtClean="0">
                              <a:latin typeface="Cambria Math" panose="02040503050406030204" pitchFamily="18" charset="0"/>
                            </a:rPr>
                            <m:t>10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r>
                                <a:rPr lang="en-US" b="0" i="1" smtClean="0">
                                  <a:latin typeface="Cambria Math" panose="02040503050406030204" pitchFamily="18" charset="0"/>
                                </a:rPr>
                                <m:t>000000…1</m:t>
                              </m:r>
                            </m:e>
                          </m:d>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r>
                                <a:rPr lang="en-US" b="0" i="1" smtClean="0">
                                  <a:latin typeface="Cambria Math" panose="02040503050406030204" pitchFamily="18" charset="0"/>
                                </a:rPr>
                                <m:t>−1</m:t>
                              </m:r>
                            </m:e>
                          </m:d>
                        </m:e>
                        <m:sub>
                          <m:r>
                            <a:rPr lang="en-US" b="0" i="1" smtClean="0">
                              <a:latin typeface="Cambria Math" panose="02040503050406030204" pitchFamily="18" charset="0"/>
                            </a:rPr>
                            <m:t>10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r>
                                <a:rPr lang="en-US" b="0" i="1" smtClean="0">
                                  <a:latin typeface="Cambria Math" panose="02040503050406030204" pitchFamily="18" charset="0"/>
                                </a:rPr>
                                <m:t>1111111…0</m:t>
                              </m:r>
                            </m:e>
                          </m:d>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r>
                                <a:rPr lang="en-US" b="0" i="1" smtClean="0">
                                  <a:latin typeface="Cambria Math" panose="02040503050406030204" pitchFamily="18" charset="0"/>
                                </a:rPr>
                                <m:t>00000000…1</m:t>
                              </m:r>
                            </m:e>
                          </m:d>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r>
                                <a:rPr lang="en-US" b="0" i="1" smtClean="0">
                                  <a:latin typeface="Cambria Math" panose="02040503050406030204" pitchFamily="18" charset="0"/>
                                </a:rPr>
                                <m:t>111111…1</m:t>
                              </m:r>
                            </m:e>
                          </m:d>
                        </m:e>
                        <m:sub>
                          <m:r>
                            <a:rPr lang="en-US" b="0" i="1" smtClean="0">
                              <a:latin typeface="Cambria Math" panose="02040503050406030204" pitchFamily="18" charset="0"/>
                            </a:rPr>
                            <m:t>2</m:t>
                          </m:r>
                        </m:sub>
                      </m:sSub>
                    </m:oMath>
                  </m:oMathPara>
                </a14:m>
                <a:endParaRPr lang="en-US" b="0" dirty="0"/>
              </a:p>
              <a:p>
                <a:pPr marL="0" algn="l" defTabSz="914400" rtl="0" eaLnBrk="1" latinLnBrk="0" hangingPunct="1"/>
                <a14:m>
                  <m:oMathPara xmlns:m="http://schemas.openxmlformats.org/officeDocument/2006/math">
                    <m:oMathParaPr>
                      <m:jc m:val="right"/>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⊕1= </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0,  </m:t>
                              </m:r>
                              <m:r>
                                <a:rPr lang="en-US" b="0" i="1" smtClean="0">
                                  <a:latin typeface="Cambria Math" panose="02040503050406030204" pitchFamily="18" charset="0"/>
                                </a:rPr>
                                <m:t>𝑥</m:t>
                              </m:r>
                              <m:r>
                                <a:rPr lang="en-US" b="0" i="1" smtClean="0">
                                  <a:latin typeface="Cambria Math" panose="02040503050406030204" pitchFamily="18" charset="0"/>
                                </a:rPr>
                                <m:t>=1</m:t>
                              </m:r>
                            </m:e>
                            <m:e>
                              <m:r>
                                <a:rPr lang="en-US" b="0" i="1" smtClean="0">
                                  <a:latin typeface="Cambria Math" panose="02040503050406030204" pitchFamily="18" charset="0"/>
                                </a:rPr>
                                <m:t>1,  </m:t>
                              </m:r>
                              <m:r>
                                <a:rPr lang="en-US" b="0" i="1" smtClean="0">
                                  <a:latin typeface="Cambria Math" panose="02040503050406030204" pitchFamily="18" charset="0"/>
                                </a:rPr>
                                <m:t>𝑥</m:t>
                              </m:r>
                              <m:r>
                                <a:rPr lang="en-US" b="0" i="1" smtClean="0">
                                  <a:latin typeface="Cambria Math" panose="02040503050406030204" pitchFamily="18" charset="0"/>
                                </a:rPr>
                                <m:t>=0</m:t>
                              </m:r>
                            </m:e>
                          </m:eqArr>
                          <m:r>
                            <a:rPr lang="en-US" b="0" i="1" smtClean="0">
                              <a:latin typeface="Cambria Math" panose="02040503050406030204" pitchFamily="18" charset="0"/>
                            </a:rPr>
                            <m:t>=</m:t>
                          </m:r>
                          <m:r>
                            <a:rPr lang="en-US" b="0" i="1" smtClean="0">
                              <a:latin typeface="Cambria Math" panose="02040503050406030204" pitchFamily="18" charset="0"/>
                            </a:rPr>
                            <m:t>𝑛𝑜𝑡</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e>
                      </m:d>
                    </m:oMath>
                  </m:oMathPara>
                </a14:m>
                <a:endParaRPr lang="en-IL" dirty="0"/>
              </a:p>
              <a:p>
                <a:pPr marL="0" algn="l" defTabSz="914400" rtl="0" eaLnBrk="1" latinLnBrk="0" hangingPunct="1"/>
                <a:endParaRPr lang="en-IL" dirty="0"/>
              </a:p>
            </p:txBody>
          </p:sp>
        </mc:Choice>
        <mc:Fallback xmlns="">
          <p:sp>
            <p:nvSpPr>
              <p:cNvPr id="3" name="Notes Placeholder 2"/>
              <p:cNvSpPr>
                <a:spLocks noGrp="1"/>
              </p:cNvSpPr>
              <p:nvPr>
                <p:ph type="body" idx="1"/>
              </p:nvPr>
            </p:nvSpPr>
            <p:spPr/>
            <p:txBody>
              <a:bodyPr/>
              <a:lstStyle/>
              <a:p>
                <a:pPr marL="0" algn="r" defTabSz="914400" rtl="0" eaLnBrk="1" latinLnBrk="0" hangingPunct="1"/>
                <a:r>
                  <a:rPr lang="he-IL" dirty="0"/>
                  <a:t>להסביר:</a:t>
                </a:r>
                <a:endParaRPr lang="en-IL" dirty="0"/>
              </a:p>
              <a:p>
                <a:pPr marL="0" algn="l" defTabSz="914400" rtl="0" eaLnBrk="1" latinLnBrk="0" hangingPunct="1"/>
                <a:r>
                  <a:rPr lang="en-US" b="0" i="0">
                    <a:latin typeface="Cambria Math" panose="02040503050406030204" pitchFamily="18" charset="0"/>
                  </a:rPr>
                  <a:t>(1)_10=(000000…1)_2⇒(−1)_10=(1111111…0)_2+(00000000…1)_2=(111111…1)_2</a:t>
                </a:r>
                <a:endParaRPr lang="en-US" b="0" dirty="0"/>
              </a:p>
              <a:p>
                <a:pPr marL="0" algn="l" defTabSz="914400" rtl="0" eaLnBrk="1" latinLnBrk="0" hangingPunct="1"/>
                <a:r>
                  <a:rPr lang="en-US" b="0" i="0">
                    <a:latin typeface="Cambria Math" panose="02040503050406030204" pitchFamily="18" charset="0"/>
                  </a:rPr>
                  <a:t>𝑥⊕1= {█(0,  𝑥=1@1,  𝑥=0)=𝑛𝑜𝑡(𝑥)┤</a:t>
                </a:r>
                <a:endParaRPr lang="en-IL" dirty="0"/>
              </a:p>
              <a:p>
                <a:pPr marL="0" algn="l" defTabSz="914400" rtl="0" eaLnBrk="1" latinLnBrk="0" hangingPunct="1"/>
                <a:endParaRPr lang="en-IL" dirty="0"/>
              </a:p>
            </p:txBody>
          </p:sp>
        </mc:Fallback>
      </mc:AlternateContent>
      <p:sp>
        <p:nvSpPr>
          <p:cNvPr id="4" name="Slide Number Placeholder 3"/>
          <p:cNvSpPr>
            <a:spLocks noGrp="1"/>
          </p:cNvSpPr>
          <p:nvPr>
            <p:ph type="sldNum" sz="quarter" idx="5"/>
          </p:nvPr>
        </p:nvSpPr>
        <p:spPr/>
        <p:txBody>
          <a:bodyPr/>
          <a:lstStyle/>
          <a:p>
            <a:fld id="{5358B0CD-5217-4696-8B1B-E3D4DC7A5A53}" type="slidenum">
              <a:rPr lang="he-IL" smtClean="0"/>
              <a:t>30</a:t>
            </a:fld>
            <a:endParaRPr lang="he-IL"/>
          </a:p>
        </p:txBody>
      </p:sp>
    </p:spTree>
    <p:extLst>
      <p:ext uri="{BB962C8B-B14F-4D97-AF65-F5344CB8AC3E}">
        <p14:creationId xmlns:p14="http://schemas.microsoft.com/office/powerpoint/2010/main" val="1235221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SLT</a:t>
            </a:r>
            <a:r>
              <a:rPr lang="he-IL" dirty="0"/>
              <a:t> – </a:t>
            </a:r>
            <a:r>
              <a:rPr lang="en-US" dirty="0"/>
              <a:t>set on less than</a:t>
            </a:r>
            <a:r>
              <a:rPr lang="he-IL" dirty="0"/>
              <a:t> המשמעות – אם </a:t>
            </a:r>
            <a:r>
              <a:rPr lang="en-US" dirty="0"/>
              <a:t>S0</a:t>
            </a:r>
            <a:r>
              <a:rPr lang="he-IL" dirty="0"/>
              <a:t> גדול יותר התוצאה שווה ל0 אם </a:t>
            </a:r>
            <a:r>
              <a:rPr lang="en-US" dirty="0"/>
              <a:t>S0</a:t>
            </a:r>
            <a:r>
              <a:rPr lang="he-IL" dirty="0"/>
              <a:t> קטן יותר מ</a:t>
            </a:r>
            <a:r>
              <a:rPr lang="en-US" dirty="0"/>
              <a:t>S1</a:t>
            </a:r>
            <a:r>
              <a:rPr lang="he-IL" dirty="0"/>
              <a:t> התוצאה שווה ל1</a:t>
            </a:r>
          </a:p>
          <a:p>
            <a:r>
              <a:rPr lang="he-IL" dirty="0"/>
              <a:t>אנחנו שואלים האם </a:t>
            </a:r>
            <a:r>
              <a:rPr lang="en-US" dirty="0"/>
              <a:t>S0&lt;S1</a:t>
            </a:r>
            <a:endParaRPr lang="he-IL" dirty="0"/>
          </a:p>
        </p:txBody>
      </p:sp>
      <p:sp>
        <p:nvSpPr>
          <p:cNvPr id="4" name="מציין מיקום של מספר שקופית 3"/>
          <p:cNvSpPr>
            <a:spLocks noGrp="1"/>
          </p:cNvSpPr>
          <p:nvPr>
            <p:ph type="sldNum" sz="quarter" idx="5"/>
          </p:nvPr>
        </p:nvSpPr>
        <p:spPr/>
        <p:txBody>
          <a:bodyPr/>
          <a:lstStyle/>
          <a:p>
            <a:fld id="{5358B0CD-5217-4696-8B1B-E3D4DC7A5A53}" type="slidenum">
              <a:rPr lang="he-IL" smtClean="0"/>
              <a:t>31</a:t>
            </a:fld>
            <a:endParaRPr lang="he-IL"/>
          </a:p>
        </p:txBody>
      </p:sp>
    </p:spTree>
    <p:extLst>
      <p:ext uri="{BB962C8B-B14F-4D97-AF65-F5344CB8AC3E}">
        <p14:creationId xmlns:p14="http://schemas.microsoft.com/office/powerpoint/2010/main" val="18505712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שואלים בתנאי האם </a:t>
            </a:r>
            <a:r>
              <a:rPr lang="en-US" dirty="0"/>
              <a:t>S0&gt;S1</a:t>
            </a:r>
            <a:endParaRPr lang="he-IL" dirty="0"/>
          </a:p>
          <a:p>
            <a:r>
              <a:rPr lang="he-IL" dirty="0"/>
              <a:t>למה לא עושים השוואה ל׳1׳? כי מותר </a:t>
            </a:r>
            <a:r>
              <a:rPr lang="he-IL" dirty="0" err="1"/>
              <a:t>להתשמש</a:t>
            </a:r>
            <a:r>
              <a:rPr lang="he-IL" dirty="0"/>
              <a:t> רק ברגיסטרים בפקודות </a:t>
            </a:r>
            <a:r>
              <a:rPr lang="he-IL" dirty="0" err="1"/>
              <a:t>bne</a:t>
            </a:r>
            <a:r>
              <a:rPr lang="he-IL" dirty="0"/>
              <a:t>, </a:t>
            </a:r>
            <a:r>
              <a:rPr lang="he-IL" dirty="0" err="1"/>
              <a:t>beq</a:t>
            </a:r>
            <a:r>
              <a:rPr lang="he-IL" dirty="0"/>
              <a:t>. ויש לנו רגיסטר 0, אחרת היינו צריכים לאתחל רגיסטר ל׳1׳ וזה מיותר.</a:t>
            </a:r>
          </a:p>
        </p:txBody>
      </p:sp>
      <p:sp>
        <p:nvSpPr>
          <p:cNvPr id="4" name="מציין מיקום של מספר שקופית 3"/>
          <p:cNvSpPr>
            <a:spLocks noGrp="1"/>
          </p:cNvSpPr>
          <p:nvPr>
            <p:ph type="sldNum" sz="quarter" idx="5"/>
          </p:nvPr>
        </p:nvSpPr>
        <p:spPr/>
        <p:txBody>
          <a:bodyPr/>
          <a:lstStyle/>
          <a:p>
            <a:fld id="{5358B0CD-5217-4696-8B1B-E3D4DC7A5A53}" type="slidenum">
              <a:rPr lang="he-IL" smtClean="0"/>
              <a:t>32</a:t>
            </a:fld>
            <a:endParaRPr lang="he-IL"/>
          </a:p>
        </p:txBody>
      </p:sp>
    </p:spTree>
    <p:extLst>
      <p:ext uri="{BB962C8B-B14F-4D97-AF65-F5344CB8AC3E}">
        <p14:creationId xmlns:p14="http://schemas.microsoft.com/office/powerpoint/2010/main" val="18155381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Set on less than immediate unsigned</a:t>
            </a:r>
            <a:endParaRPr lang="he-IL" dirty="0"/>
          </a:p>
          <a:p>
            <a:r>
              <a:rPr lang="he-IL" dirty="0"/>
              <a:t>התנאי האם 2&gt;</a:t>
            </a:r>
            <a:r>
              <a:rPr lang="en-US" dirty="0"/>
              <a:t>S0</a:t>
            </a:r>
          </a:p>
          <a:p>
            <a:r>
              <a:rPr lang="he-IL" dirty="0"/>
              <a:t>למה לא לבדוק אם קטן מ-1? כי אז נקבל תוצאה שגויה עבור </a:t>
            </a:r>
            <a:r>
              <a:rPr lang="en-US" dirty="0"/>
              <a:t>s0=1</a:t>
            </a:r>
            <a:r>
              <a:rPr lang="he-IL" dirty="0"/>
              <a:t>.</a:t>
            </a:r>
          </a:p>
        </p:txBody>
      </p:sp>
      <p:sp>
        <p:nvSpPr>
          <p:cNvPr id="4" name="מציין מיקום של מספר שקופית 3"/>
          <p:cNvSpPr>
            <a:spLocks noGrp="1"/>
          </p:cNvSpPr>
          <p:nvPr>
            <p:ph type="sldNum" sz="quarter" idx="5"/>
          </p:nvPr>
        </p:nvSpPr>
        <p:spPr/>
        <p:txBody>
          <a:bodyPr/>
          <a:lstStyle/>
          <a:p>
            <a:fld id="{5358B0CD-5217-4696-8B1B-E3D4DC7A5A53}" type="slidenum">
              <a:rPr lang="he-IL" smtClean="0"/>
              <a:t>33</a:t>
            </a:fld>
            <a:endParaRPr lang="he-IL"/>
          </a:p>
        </p:txBody>
      </p:sp>
    </p:spTree>
    <p:extLst>
      <p:ext uri="{BB962C8B-B14F-4D97-AF65-F5344CB8AC3E}">
        <p14:creationId xmlns:p14="http://schemas.microsoft.com/office/powerpoint/2010/main" val="27509977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באותה מידה יכולנו לעשות </a:t>
            </a:r>
            <a:r>
              <a:rPr lang="en-US" dirty="0"/>
              <a:t>branch equal</a:t>
            </a:r>
            <a:endParaRPr lang="he-IL" dirty="0"/>
          </a:p>
          <a:p>
            <a:r>
              <a:rPr lang="he-IL" dirty="0"/>
              <a:t>מה עושה פקודת </a:t>
            </a:r>
            <a:r>
              <a:rPr lang="en-US" dirty="0"/>
              <a:t>JAL</a:t>
            </a:r>
            <a:r>
              <a:rPr lang="he-IL" dirty="0"/>
              <a:t>? תקפוץ ל</a:t>
            </a:r>
            <a:r>
              <a:rPr lang="en-US" dirty="0"/>
              <a:t>label</a:t>
            </a:r>
            <a:r>
              <a:rPr lang="he-IL" dirty="0"/>
              <a:t> של </a:t>
            </a:r>
            <a:r>
              <a:rPr lang="en-US" dirty="0"/>
              <a:t>exit</a:t>
            </a:r>
            <a:r>
              <a:rPr lang="he-IL" dirty="0"/>
              <a:t> ותשמור את כתובת החזרה ב</a:t>
            </a:r>
            <a:r>
              <a:rPr lang="en-US" dirty="0"/>
              <a:t>x0</a:t>
            </a:r>
            <a:r>
              <a:rPr lang="he-IL" dirty="0"/>
              <a:t>.</a:t>
            </a:r>
          </a:p>
          <a:p>
            <a:r>
              <a:rPr lang="he-IL" dirty="0"/>
              <a:t>מה זה יעשה? מאחר ולא ניתן לכתוב ל</a:t>
            </a:r>
            <a:r>
              <a:rPr lang="en-US" dirty="0"/>
              <a:t>X0</a:t>
            </a:r>
            <a:r>
              <a:rPr lang="he-IL" dirty="0"/>
              <a:t> כתובת החזרה למעשה לא תישמר</a:t>
            </a:r>
          </a:p>
        </p:txBody>
      </p:sp>
      <p:sp>
        <p:nvSpPr>
          <p:cNvPr id="4" name="מציין מיקום של מספר שקופית 3"/>
          <p:cNvSpPr>
            <a:spLocks noGrp="1"/>
          </p:cNvSpPr>
          <p:nvPr>
            <p:ph type="sldNum" sz="quarter" idx="5"/>
          </p:nvPr>
        </p:nvSpPr>
        <p:spPr/>
        <p:txBody>
          <a:bodyPr/>
          <a:lstStyle/>
          <a:p>
            <a:fld id="{5358B0CD-5217-4696-8B1B-E3D4DC7A5A53}" type="slidenum">
              <a:rPr lang="he-IL" smtClean="0"/>
              <a:t>36</a:t>
            </a:fld>
            <a:endParaRPr lang="he-IL"/>
          </a:p>
        </p:txBody>
      </p:sp>
    </p:spTree>
    <p:extLst>
      <p:ext uri="{BB962C8B-B14F-4D97-AF65-F5344CB8AC3E}">
        <p14:creationId xmlns:p14="http://schemas.microsoft.com/office/powerpoint/2010/main" val="19760401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מה זה </a:t>
            </a:r>
            <a:r>
              <a:rPr lang="en-US" dirty="0"/>
              <a:t>la</a:t>
            </a:r>
            <a:r>
              <a:rPr lang="he-IL" dirty="0"/>
              <a:t>? </a:t>
            </a:r>
            <a:r>
              <a:rPr lang="en-US" dirty="0"/>
              <a:t>Load address</a:t>
            </a:r>
            <a:endParaRPr lang="he-IL" dirty="0"/>
          </a:p>
          <a:p>
            <a:r>
              <a:rPr lang="he-IL" dirty="0"/>
              <a:t>מה זה </a:t>
            </a:r>
            <a:r>
              <a:rPr lang="he-IL" dirty="0" err="1"/>
              <a:t>פסודו</a:t>
            </a:r>
            <a:r>
              <a:rPr lang="he-IL" dirty="0"/>
              <a:t> פקודה? פקודה שאינה חלק מהסט הבסיסי של המכונה </a:t>
            </a:r>
            <a:r>
              <a:rPr lang="en-US" dirty="0"/>
              <a:t>ISA</a:t>
            </a:r>
            <a:r>
              <a:rPr lang="he-IL" dirty="0"/>
              <a:t> המכונה תתרגם את </a:t>
            </a:r>
            <a:r>
              <a:rPr lang="he-IL" dirty="0" err="1"/>
              <a:t>הפסודו</a:t>
            </a:r>
            <a:r>
              <a:rPr lang="he-IL" dirty="0"/>
              <a:t> פקודה לרצף פקודות </a:t>
            </a:r>
            <a:r>
              <a:rPr lang="he-IL" dirty="0" err="1"/>
              <a:t>אסמבלי</a:t>
            </a:r>
            <a:endParaRPr lang="en-US" dirty="0"/>
          </a:p>
          <a:p>
            <a:endParaRPr lang="en-US" dirty="0"/>
          </a:p>
          <a:p>
            <a:r>
              <a:rPr lang="he-IL" dirty="0"/>
              <a:t>2 סוגים:</a:t>
            </a:r>
          </a:p>
          <a:p>
            <a:r>
              <a:rPr lang="he-IL" dirty="0"/>
              <a:t>- ממיר שמות של רגיסטרים לכתובות</a:t>
            </a:r>
          </a:p>
          <a:p>
            <a:r>
              <a:rPr lang="he-IL" dirty="0"/>
              <a:t>- ממיר פקודות של הסימולטור כמו </a:t>
            </a:r>
            <a:r>
              <a:rPr lang="he-IL" dirty="0" err="1"/>
              <a:t>la</a:t>
            </a:r>
            <a:r>
              <a:rPr lang="he-IL" dirty="0"/>
              <a:t> לרצף פקודות חוקיות</a:t>
            </a:r>
          </a:p>
        </p:txBody>
      </p:sp>
      <p:sp>
        <p:nvSpPr>
          <p:cNvPr id="4" name="מציין מיקום של מספר שקופית 3"/>
          <p:cNvSpPr>
            <a:spLocks noGrp="1"/>
          </p:cNvSpPr>
          <p:nvPr>
            <p:ph type="sldNum" sz="quarter" idx="5"/>
          </p:nvPr>
        </p:nvSpPr>
        <p:spPr/>
        <p:txBody>
          <a:bodyPr/>
          <a:lstStyle/>
          <a:p>
            <a:fld id="{5358B0CD-5217-4696-8B1B-E3D4DC7A5A53}" type="slidenum">
              <a:rPr lang="he-IL" smtClean="0"/>
              <a:t>44</a:t>
            </a:fld>
            <a:endParaRPr lang="he-IL"/>
          </a:p>
        </p:txBody>
      </p:sp>
    </p:spTree>
    <p:extLst>
      <p:ext uri="{BB962C8B-B14F-4D97-AF65-F5344CB8AC3E}">
        <p14:creationId xmlns:p14="http://schemas.microsoft.com/office/powerpoint/2010/main" val="3254542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E8CB10-4C5E-4E32-8EEE-012BDF94BED2}" type="datetimeFigureOut">
              <a:rPr lang="he-IL" smtClean="0"/>
              <a:t>א'.אייר.תשפ"ו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836C776E-986C-4260-8306-3BB45FC67427}" type="slidenum">
              <a:rPr lang="he-IL" smtClean="0"/>
              <a:t>‹#›</a:t>
            </a:fld>
            <a:endParaRPr lang="he-IL"/>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9511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E8CB10-4C5E-4E32-8EEE-012BDF94BED2}" type="datetimeFigureOut">
              <a:rPr lang="he-IL" smtClean="0"/>
              <a:t>א'.אייר.תשפ"ו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836C776E-986C-4260-8306-3BB45FC67427}" type="slidenum">
              <a:rPr lang="he-IL" smtClean="0"/>
              <a:t>‹#›</a:t>
            </a:fld>
            <a:endParaRPr lang="he-IL"/>
          </a:p>
        </p:txBody>
      </p:sp>
    </p:spTree>
    <p:extLst>
      <p:ext uri="{BB962C8B-B14F-4D97-AF65-F5344CB8AC3E}">
        <p14:creationId xmlns:p14="http://schemas.microsoft.com/office/powerpoint/2010/main" val="627557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E8CB10-4C5E-4E32-8EEE-012BDF94BED2}" type="datetimeFigureOut">
              <a:rPr lang="he-IL" smtClean="0"/>
              <a:t>א'.אייר.תשפ"ו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836C776E-986C-4260-8306-3BB45FC67427}" type="slidenum">
              <a:rPr lang="he-IL" smtClean="0"/>
              <a:t>‹#›</a:t>
            </a:fld>
            <a:endParaRPr lang="he-IL"/>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223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E8CB10-4C5E-4E32-8EEE-012BDF94BED2}" type="datetimeFigureOut">
              <a:rPr lang="he-IL" smtClean="0"/>
              <a:t>א'.אייר.תשפ"ו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836C776E-986C-4260-8306-3BB45FC67427}" type="slidenum">
              <a:rPr lang="he-IL" smtClean="0"/>
              <a:t>‹#›</a:t>
            </a:fld>
            <a:endParaRPr lang="he-IL"/>
          </a:p>
        </p:txBody>
      </p:sp>
    </p:spTree>
    <p:extLst>
      <p:ext uri="{BB962C8B-B14F-4D97-AF65-F5344CB8AC3E}">
        <p14:creationId xmlns:p14="http://schemas.microsoft.com/office/powerpoint/2010/main" val="2472014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E8CB10-4C5E-4E32-8EEE-012BDF94BED2}" type="datetimeFigureOut">
              <a:rPr lang="he-IL" smtClean="0"/>
              <a:t>א'.אייר.תשפ"ו</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836C776E-986C-4260-8306-3BB45FC67427}" type="slidenum">
              <a:rPr lang="he-IL" smtClean="0"/>
              <a:t>‹#›</a:t>
            </a:fld>
            <a:endParaRPr lang="he-IL"/>
          </a:p>
        </p:txBody>
      </p:sp>
    </p:spTree>
    <p:extLst>
      <p:ext uri="{BB962C8B-B14F-4D97-AF65-F5344CB8AC3E}">
        <p14:creationId xmlns:p14="http://schemas.microsoft.com/office/powerpoint/2010/main" val="1044644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E8CB10-4C5E-4E32-8EEE-012BDF94BED2}" type="datetimeFigureOut">
              <a:rPr lang="he-IL" smtClean="0"/>
              <a:t>א'.אייר.תשפ"ו</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836C776E-986C-4260-8306-3BB45FC67427}" type="slidenum">
              <a:rPr lang="he-IL" smtClean="0"/>
              <a:t>‹#›</a:t>
            </a:fld>
            <a:endParaRPr lang="he-IL"/>
          </a:p>
        </p:txBody>
      </p:sp>
    </p:spTree>
    <p:extLst>
      <p:ext uri="{BB962C8B-B14F-4D97-AF65-F5344CB8AC3E}">
        <p14:creationId xmlns:p14="http://schemas.microsoft.com/office/powerpoint/2010/main" val="413656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7" name="Date Placeholder 6"/>
          <p:cNvSpPr>
            <a:spLocks noGrp="1"/>
          </p:cNvSpPr>
          <p:nvPr>
            <p:ph type="dt" sz="half" idx="10"/>
          </p:nvPr>
        </p:nvSpPr>
        <p:spPr/>
        <p:txBody>
          <a:bodyPr/>
          <a:lstStyle/>
          <a:p>
            <a:fld id="{30E8CB10-4C5E-4E32-8EEE-012BDF94BED2}" type="datetimeFigureOut">
              <a:rPr lang="he-IL" smtClean="0"/>
              <a:t>א'.אייר.תשפ"ו</a:t>
            </a:fld>
            <a:endParaRPr lang="he-IL"/>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he-IL"/>
          </a:p>
        </p:txBody>
      </p:sp>
      <p:sp>
        <p:nvSpPr>
          <p:cNvPr id="9" name="Slide Number Placeholder 8"/>
          <p:cNvSpPr>
            <a:spLocks noGrp="1"/>
          </p:cNvSpPr>
          <p:nvPr>
            <p:ph type="sldNum" sz="quarter" idx="12"/>
          </p:nvPr>
        </p:nvSpPr>
        <p:spPr/>
        <p:txBody>
          <a:bodyPr/>
          <a:lstStyle/>
          <a:p>
            <a:fld id="{836C776E-986C-4260-8306-3BB45FC67427}" type="slidenum">
              <a:rPr lang="he-IL" smtClean="0"/>
              <a:t>‹#›</a:t>
            </a:fld>
            <a:endParaRPr lang="he-IL"/>
          </a:p>
        </p:txBody>
      </p:sp>
    </p:spTree>
    <p:extLst>
      <p:ext uri="{BB962C8B-B14F-4D97-AF65-F5344CB8AC3E}">
        <p14:creationId xmlns:p14="http://schemas.microsoft.com/office/powerpoint/2010/main" val="581514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0E8CB10-4C5E-4E32-8EEE-012BDF94BED2}" type="datetimeFigureOut">
              <a:rPr lang="he-IL" smtClean="0"/>
              <a:t>א'.אייר.תשפ"ו</a:t>
            </a:fld>
            <a:endParaRPr lang="he-IL"/>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he-IL"/>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36C776E-986C-4260-8306-3BB45FC67427}" type="slidenum">
              <a:rPr lang="he-IL" smtClean="0"/>
              <a:t>‹#›</a:t>
            </a:fld>
            <a:endParaRPr lang="he-IL"/>
          </a:p>
        </p:txBody>
      </p:sp>
    </p:spTree>
    <p:extLst>
      <p:ext uri="{BB962C8B-B14F-4D97-AF65-F5344CB8AC3E}">
        <p14:creationId xmlns:p14="http://schemas.microsoft.com/office/powerpoint/2010/main" val="3547279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E8CB10-4C5E-4E32-8EEE-012BDF94BED2}" type="datetimeFigureOut">
              <a:rPr lang="he-IL" smtClean="0"/>
              <a:t>א'.אייר.תשפ"ו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836C776E-986C-4260-8306-3BB45FC67427}" type="slidenum">
              <a:rPr lang="he-IL" smtClean="0"/>
              <a:t>‹#›</a:t>
            </a:fld>
            <a:endParaRPr lang="he-IL"/>
          </a:p>
        </p:txBody>
      </p:sp>
    </p:spTree>
    <p:extLst>
      <p:ext uri="{BB962C8B-B14F-4D97-AF65-F5344CB8AC3E}">
        <p14:creationId xmlns:p14="http://schemas.microsoft.com/office/powerpoint/2010/main" val="2358762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E8CB10-4C5E-4E32-8EEE-012BDF94BED2}" type="datetimeFigureOut">
              <a:rPr lang="he-IL" smtClean="0"/>
              <a:t>א'.אייר.תשפ"ו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836C776E-986C-4260-8306-3BB45FC67427}" type="slidenum">
              <a:rPr lang="he-IL" smtClean="0"/>
              <a:t>‹#›</a:t>
            </a:fld>
            <a:endParaRPr lang="he-IL"/>
          </a:p>
        </p:txBody>
      </p:sp>
    </p:spTree>
    <p:extLst>
      <p:ext uri="{BB962C8B-B14F-4D97-AF65-F5344CB8AC3E}">
        <p14:creationId xmlns:p14="http://schemas.microsoft.com/office/powerpoint/2010/main" val="445219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E8CB10-4C5E-4E32-8EEE-012BDF94BED2}" type="datetimeFigureOut">
              <a:rPr lang="he-IL" smtClean="0"/>
              <a:t>א'.אייר.תשפ"ו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836C776E-986C-4260-8306-3BB45FC67427}" type="slidenum">
              <a:rPr lang="he-IL" smtClean="0"/>
              <a:t>‹#›</a:t>
            </a:fld>
            <a:endParaRPr lang="he-IL"/>
          </a:p>
        </p:txBody>
      </p:sp>
    </p:spTree>
    <p:extLst>
      <p:ext uri="{BB962C8B-B14F-4D97-AF65-F5344CB8AC3E}">
        <p14:creationId xmlns:p14="http://schemas.microsoft.com/office/powerpoint/2010/main" val="606587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0E8CB10-4C5E-4E32-8EEE-012BDF94BED2}" type="datetimeFigureOut">
              <a:rPr lang="he-IL" smtClean="0"/>
              <a:t>א'.אייר.תשפ"ו</a:t>
            </a:fld>
            <a:endParaRPr lang="he-IL"/>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he-IL"/>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36C776E-986C-4260-8306-3BB45FC67427}" type="slidenum">
              <a:rPr lang="he-IL" smtClean="0"/>
              <a:t>‹#›</a:t>
            </a:fld>
            <a:endParaRPr lang="he-IL"/>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3670943"/>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Lst>
  <p:txStyles>
    <p:titleStyle>
      <a:lvl1pPr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A05726DF-CA30-4C16-9A99-4C088F3CDAA0}" type="slidenum">
              <a:rPr lang="he-IL" smtClean="0"/>
              <a:t>1</a:t>
            </a:fld>
            <a:endParaRPr lang="he-IL"/>
          </a:p>
        </p:txBody>
      </p:sp>
      <p:sp>
        <p:nvSpPr>
          <p:cNvPr id="2" name="Title 1"/>
          <p:cNvSpPr>
            <a:spLocks noGrp="1"/>
          </p:cNvSpPr>
          <p:nvPr>
            <p:ph type="ctrTitle" idx="4294967295"/>
          </p:nvPr>
        </p:nvSpPr>
        <p:spPr>
          <a:xfrm>
            <a:off x="2209800" y="980729"/>
            <a:ext cx="7772400" cy="1470025"/>
          </a:xfrm>
        </p:spPr>
        <p:txBody>
          <a:bodyPr>
            <a:normAutofit fontScale="90000"/>
          </a:bodyPr>
          <a:lstStyle/>
          <a:p>
            <a:pPr algn="ctr"/>
            <a:r>
              <a:rPr lang="he-IL" sz="8000" b="1" dirty="0">
                <a:solidFill>
                  <a:schemeClr val="tx2">
                    <a:lumMod val="50000"/>
                  </a:schemeClr>
                </a:solidFill>
                <a:effectLst>
                  <a:outerShdw blurRad="38100" dist="38100" dir="2700000" algn="tl">
                    <a:srgbClr val="000000">
                      <a:alpha val="43137"/>
                    </a:srgbClr>
                  </a:outerShdw>
                </a:effectLst>
              </a:rPr>
              <a:t>מערכות ספרתיות</a:t>
            </a:r>
            <a:br>
              <a:rPr lang="he-IL" sz="8000" b="1" dirty="0">
                <a:solidFill>
                  <a:schemeClr val="tx2">
                    <a:lumMod val="50000"/>
                  </a:schemeClr>
                </a:solidFill>
                <a:effectLst>
                  <a:outerShdw blurRad="38100" dist="38100" dir="2700000" algn="tl">
                    <a:srgbClr val="000000">
                      <a:alpha val="43137"/>
                    </a:srgbClr>
                  </a:outerShdw>
                </a:effectLst>
              </a:rPr>
            </a:br>
            <a:r>
              <a:rPr lang="he-IL" sz="8000" b="1" dirty="0">
                <a:solidFill>
                  <a:schemeClr val="tx2">
                    <a:lumMod val="50000"/>
                  </a:schemeClr>
                </a:solidFill>
                <a:effectLst>
                  <a:outerShdw blurRad="38100" dist="38100" dir="2700000" algn="tl">
                    <a:srgbClr val="000000">
                      <a:alpha val="43137"/>
                    </a:srgbClr>
                  </a:outerShdw>
                </a:effectLst>
              </a:rPr>
              <a:t>ומבנה המחשב</a:t>
            </a:r>
            <a:r>
              <a:rPr lang="he-IL" sz="8000" dirty="0"/>
              <a:t> </a:t>
            </a:r>
          </a:p>
        </p:txBody>
      </p:sp>
      <p:sp>
        <p:nvSpPr>
          <p:cNvPr id="3" name="Subtitle 2"/>
          <p:cNvSpPr>
            <a:spLocks noGrp="1"/>
          </p:cNvSpPr>
          <p:nvPr>
            <p:ph type="subTitle" idx="4294967295"/>
          </p:nvPr>
        </p:nvSpPr>
        <p:spPr>
          <a:xfrm>
            <a:off x="2623344" y="2714874"/>
            <a:ext cx="6945313" cy="3744913"/>
          </a:xfrm>
        </p:spPr>
        <p:txBody>
          <a:bodyPr>
            <a:normAutofit/>
          </a:bodyPr>
          <a:lstStyle/>
          <a:p>
            <a:pPr algn="ctr"/>
            <a:r>
              <a:rPr lang="he-IL" sz="4000" b="1" dirty="0"/>
              <a:t>תרגול </a:t>
            </a:r>
            <a:r>
              <a:rPr lang="en-US" sz="4000" b="1" dirty="0"/>
              <a:t>2</a:t>
            </a:r>
            <a:endParaRPr lang="he-IL" sz="4000" b="1" dirty="0"/>
          </a:p>
          <a:p>
            <a:endParaRPr lang="he-IL" sz="4000" b="1" dirty="0"/>
          </a:p>
          <a:p>
            <a:pPr algn="ctr"/>
            <a:r>
              <a:rPr lang="he-IL" sz="4000" b="1" dirty="0"/>
              <a:t>קוד לגילוי שגיאות (ECC)</a:t>
            </a:r>
          </a:p>
          <a:p>
            <a:pPr algn="ctr"/>
            <a:r>
              <a:rPr lang="he-IL" sz="4000" b="1" dirty="0"/>
              <a:t>שפת </a:t>
            </a:r>
            <a:r>
              <a:rPr lang="en-US" sz="4000" b="1" dirty="0"/>
              <a:t>Assembly</a:t>
            </a:r>
            <a:endParaRPr lang="he-IL" sz="4000" b="1" dirty="0"/>
          </a:p>
        </p:txBody>
      </p:sp>
    </p:spTree>
    <p:extLst>
      <p:ext uri="{BB962C8B-B14F-4D97-AF65-F5344CB8AC3E}">
        <p14:creationId xmlns:p14="http://schemas.microsoft.com/office/powerpoint/2010/main" val="2155253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pPr algn="r"/>
            <a:r>
              <a:rPr lang="he-IL" dirty="0"/>
              <a:t>שבוע שעבר (תזכורת)</a:t>
            </a:r>
          </a:p>
        </p:txBody>
      </p:sp>
      <p:sp>
        <p:nvSpPr>
          <p:cNvPr id="3" name="Content Placeholder 2"/>
          <p:cNvSpPr>
            <a:spLocks noGrp="1"/>
          </p:cNvSpPr>
          <p:nvPr>
            <p:ph idx="1"/>
          </p:nvPr>
        </p:nvSpPr>
        <p:spPr/>
        <p:txBody>
          <a:bodyPr>
            <a:normAutofit lnSpcReduction="10000"/>
          </a:bodyPr>
          <a:lstStyle/>
          <a:p>
            <a:r>
              <a:rPr lang="en-US" sz="3200" dirty="0"/>
              <a:t> -</a:t>
            </a:r>
            <a:r>
              <a:rPr lang="he-IL" sz="3200" dirty="0"/>
              <a:t>ייצוג מספרים טבעיים</a:t>
            </a:r>
          </a:p>
          <a:p>
            <a:r>
              <a:rPr lang="en-US" sz="3200" dirty="0"/>
              <a:t> -</a:t>
            </a:r>
            <a:r>
              <a:rPr lang="he-IL" sz="3200" dirty="0"/>
              <a:t>מעבר בין בסיסים</a:t>
            </a:r>
          </a:p>
          <a:p>
            <a:r>
              <a:rPr lang="en-US" sz="3200" dirty="0"/>
              <a:t> -</a:t>
            </a:r>
            <a:r>
              <a:rPr lang="he-IL" sz="3200" dirty="0"/>
              <a:t>אריתמטיקה</a:t>
            </a:r>
          </a:p>
          <a:p>
            <a:r>
              <a:rPr lang="en-US" sz="3200" dirty="0"/>
              <a:t> -</a:t>
            </a:r>
            <a:r>
              <a:rPr lang="he-IL" sz="3200" dirty="0"/>
              <a:t>ייצוג מספרים שליליים בשיטת המשלים ל-2</a:t>
            </a:r>
          </a:p>
          <a:p>
            <a:r>
              <a:rPr lang="en-US" sz="3200" dirty="0"/>
              <a:t> -</a:t>
            </a:r>
            <a:r>
              <a:rPr lang="he-IL" sz="3200" dirty="0"/>
              <a:t>נקודה צפה – </a:t>
            </a:r>
            <a:r>
              <a:rPr lang="en-US" sz="3200" dirty="0"/>
              <a:t>floating point</a:t>
            </a:r>
          </a:p>
          <a:p>
            <a:r>
              <a:rPr lang="he-IL" sz="3200" dirty="0"/>
              <a:t> -קודים בינאריים לקידוד ספרות בבסיס 10</a:t>
            </a:r>
          </a:p>
          <a:p>
            <a:r>
              <a:rPr lang="he-IL" sz="3200" dirty="0"/>
              <a:t> -קודים </a:t>
            </a:r>
            <a:r>
              <a:rPr lang="he-IL" sz="3200" dirty="0" err="1"/>
              <a:t>ציקליים</a:t>
            </a:r>
            <a:endParaRPr lang="he-IL" sz="3200" dirty="0"/>
          </a:p>
          <a:p>
            <a:endParaRPr lang="he-IL" sz="3200" dirty="0"/>
          </a:p>
        </p:txBody>
      </p:sp>
      <p:sp>
        <p:nvSpPr>
          <p:cNvPr id="4" name="Slide Number Placeholder 3"/>
          <p:cNvSpPr>
            <a:spLocks noGrp="1"/>
          </p:cNvSpPr>
          <p:nvPr>
            <p:ph type="sldNum" sz="quarter" idx="12"/>
          </p:nvPr>
        </p:nvSpPr>
        <p:spPr/>
        <p:txBody>
          <a:bodyPr/>
          <a:lstStyle/>
          <a:p>
            <a:fld id="{A05726DF-CA30-4C16-9A99-4C088F3CDAA0}" type="slidenum">
              <a:rPr lang="he-IL" smtClean="0"/>
              <a:t>2</a:t>
            </a:fld>
            <a:endParaRPr lang="he-IL"/>
          </a:p>
        </p:txBody>
      </p:sp>
    </p:spTree>
    <p:extLst>
      <p:ext uri="{BB962C8B-B14F-4D97-AF65-F5344CB8AC3E}">
        <p14:creationId xmlns:p14="http://schemas.microsoft.com/office/powerpoint/2010/main" val="22404092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FC9DAF3-3365-7C17-4A3B-7CB1ECC56350}"/>
              </a:ext>
            </a:extLst>
          </p:cNvPr>
          <p:cNvSpPr>
            <a:spLocks noGrp="1"/>
          </p:cNvSpPr>
          <p:nvPr>
            <p:ph type="title"/>
          </p:nvPr>
        </p:nvSpPr>
        <p:spPr/>
        <p:txBody>
          <a:bodyPr vert="horz" lIns="91440" tIns="45720" rIns="91440" bIns="45720" rtlCol="0" anchor="b">
            <a:normAutofit/>
          </a:bodyPr>
          <a:lstStyle/>
          <a:p>
            <a:pPr algn="r"/>
            <a:r>
              <a:rPr lang="he-IL" dirty="0"/>
              <a:t>נושאים</a:t>
            </a:r>
          </a:p>
        </p:txBody>
      </p:sp>
      <p:sp>
        <p:nvSpPr>
          <p:cNvPr id="3" name="מציין מיקום תוכן 2">
            <a:extLst>
              <a:ext uri="{FF2B5EF4-FFF2-40B4-BE49-F238E27FC236}">
                <a16:creationId xmlns:a16="http://schemas.microsoft.com/office/drawing/2014/main" id="{68620D5D-90E1-2E47-B11A-90CC23FEDFEE}"/>
              </a:ext>
            </a:extLst>
          </p:cNvPr>
          <p:cNvSpPr>
            <a:spLocks noGrp="1"/>
          </p:cNvSpPr>
          <p:nvPr>
            <p:ph idx="1"/>
          </p:nvPr>
        </p:nvSpPr>
        <p:spPr>
          <a:xfrm>
            <a:off x="1097280" y="1845734"/>
            <a:ext cx="10058400" cy="3086993"/>
          </a:xfrm>
        </p:spPr>
        <p:txBody>
          <a:bodyPr>
            <a:normAutofit/>
          </a:bodyPr>
          <a:lstStyle/>
          <a:p>
            <a:pPr algn="r">
              <a:buFont typeface="Wingdings" panose="05000000000000000000" pitchFamily="2" charset="2"/>
              <a:buChar char="§"/>
            </a:pPr>
            <a:r>
              <a:rPr lang="he-IL" sz="3200" dirty="0"/>
              <a:t> הגדרות – קוד, מרחק קוד, מרחק </a:t>
            </a:r>
            <a:r>
              <a:rPr lang="he-IL" sz="3200" dirty="0" err="1"/>
              <a:t>המינג</a:t>
            </a:r>
            <a:endParaRPr lang="he-IL" sz="3200" dirty="0"/>
          </a:p>
          <a:p>
            <a:pPr algn="r">
              <a:buFont typeface="Wingdings" panose="05000000000000000000" pitchFamily="2" charset="2"/>
              <a:buChar char="§"/>
            </a:pPr>
            <a:r>
              <a:rPr lang="he-IL" sz="3200" dirty="0"/>
              <a:t> קודים לגילוי שגיאות – </a:t>
            </a:r>
            <a:r>
              <a:rPr lang="en-US" sz="3200" dirty="0"/>
              <a:t>Error Correction Codes (ECC)</a:t>
            </a:r>
            <a:endParaRPr lang="he-IL" sz="3200" dirty="0"/>
          </a:p>
          <a:p>
            <a:pPr algn="r">
              <a:buFont typeface="Wingdings" panose="05000000000000000000" pitchFamily="2" charset="2"/>
              <a:buChar char="§"/>
            </a:pPr>
            <a:r>
              <a:rPr lang="he-IL" sz="3200" dirty="0"/>
              <a:t> שפת </a:t>
            </a:r>
            <a:r>
              <a:rPr lang="he-IL" sz="3200" dirty="0" err="1"/>
              <a:t>Assembly</a:t>
            </a:r>
            <a:endParaRPr lang="he-IL" sz="3200" dirty="0"/>
          </a:p>
          <a:p>
            <a:pPr algn="r">
              <a:buFont typeface="Wingdings" panose="05000000000000000000" pitchFamily="2" charset="2"/>
              <a:buChar char="§"/>
            </a:pPr>
            <a:r>
              <a:rPr lang="he-IL" sz="3200" dirty="0"/>
              <a:t> תרגילים</a:t>
            </a:r>
            <a:endParaRPr lang="en-US" sz="3200" dirty="0"/>
          </a:p>
          <a:p>
            <a:pPr algn="l" rtl="0">
              <a:buFont typeface="Wingdings" panose="05000000000000000000" pitchFamily="2" charset="2"/>
              <a:buChar char="§"/>
            </a:pPr>
            <a:endParaRPr lang="en-US" sz="3200" dirty="0"/>
          </a:p>
          <a:p>
            <a:pPr algn="l" rtl="0">
              <a:buFont typeface="Wingdings" panose="05000000000000000000" pitchFamily="2" charset="2"/>
              <a:buChar char="§"/>
            </a:pPr>
            <a:endParaRPr lang="en-US" sz="3200" dirty="0"/>
          </a:p>
          <a:p>
            <a:pPr algn="l"/>
            <a:endParaRPr lang="he-IL" dirty="0"/>
          </a:p>
        </p:txBody>
      </p:sp>
    </p:spTree>
    <p:extLst>
      <p:ext uri="{BB962C8B-B14F-4D97-AF65-F5344CB8AC3E}">
        <p14:creationId xmlns:p14="http://schemas.microsoft.com/office/powerpoint/2010/main" val="70028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A58D23A-8779-4EE6-BA7A-964A0702C506}"/>
              </a:ext>
            </a:extLst>
          </p:cNvPr>
          <p:cNvSpPr>
            <a:spLocks noGrp="1" noChangeArrowheads="1"/>
          </p:cNvSpPr>
          <p:nvPr>
            <p:ph type="ctrTitle"/>
          </p:nvPr>
        </p:nvSpPr>
        <p:spPr/>
        <p:txBody>
          <a:bodyPr/>
          <a:lstStyle/>
          <a:p>
            <a:pPr algn="ctr" rtl="1"/>
            <a:r>
              <a:rPr lang="he-IL" altLang="en-US" dirty="0"/>
              <a:t>קודים לגילוי ותיקון שגיאות</a:t>
            </a:r>
            <a:endParaRPr lang="en-US" altLang="en-US" dirty="0"/>
          </a:p>
        </p:txBody>
      </p:sp>
      <p:sp>
        <p:nvSpPr>
          <p:cNvPr id="31747" name="Rectangle 3">
            <a:extLst>
              <a:ext uri="{FF2B5EF4-FFF2-40B4-BE49-F238E27FC236}">
                <a16:creationId xmlns:a16="http://schemas.microsoft.com/office/drawing/2014/main" id="{E1485CA0-6A2D-409E-B65A-AF0CE3F9FE6A}"/>
              </a:ext>
            </a:extLst>
          </p:cNvPr>
          <p:cNvSpPr>
            <a:spLocks noGrp="1" noChangeArrowheads="1"/>
          </p:cNvSpPr>
          <p:nvPr>
            <p:ph type="subTitle" idx="1"/>
          </p:nvPr>
        </p:nvSpPr>
        <p:spPr/>
        <p:txBody>
          <a:bodyPr/>
          <a:lstStyle/>
          <a:p>
            <a:pPr algn="ctr"/>
            <a:r>
              <a:rPr lang="en-US" altLang="en-US" dirty="0"/>
              <a:t>(ECC - Error Correction Codes)</a:t>
            </a:r>
          </a:p>
        </p:txBody>
      </p:sp>
      <p:sp>
        <p:nvSpPr>
          <p:cNvPr id="31748" name="Slide Number Placeholder 1">
            <a:extLst>
              <a:ext uri="{FF2B5EF4-FFF2-40B4-BE49-F238E27FC236}">
                <a16:creationId xmlns:a16="http://schemas.microsoft.com/office/drawing/2014/main" id="{9170B791-DC86-4C95-8F61-D79A5E75A38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18C1B69-4A13-423D-9F70-D234DE124ED2}" type="slidenum">
              <a:rPr lang="en-US" altLang="en-US" sz="1400">
                <a:solidFill>
                  <a:srgbClr val="000000"/>
                </a:solidFill>
              </a:rPr>
              <a:pPr>
                <a:spcBef>
                  <a:spcPct val="0"/>
                </a:spcBef>
                <a:buFontTx/>
                <a:buNone/>
              </a:pPr>
              <a:t>4</a:t>
            </a:fld>
            <a:endParaRPr lang="en-US" altLang="en-US" sz="1400">
              <a:solidFill>
                <a:srgbClr val="000000"/>
              </a:solidFill>
            </a:endParaRPr>
          </a:p>
        </p:txBody>
      </p:sp>
    </p:spTree>
    <p:extLst>
      <p:ext uri="{BB962C8B-B14F-4D97-AF65-F5344CB8AC3E}">
        <p14:creationId xmlns:p14="http://schemas.microsoft.com/office/powerpoint/2010/main" val="383747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7E8BC76-1265-4F8D-9E39-EF7D1F9813B1}"/>
              </a:ext>
            </a:extLst>
          </p:cNvPr>
          <p:cNvSpPr>
            <a:spLocks noGrp="1" noChangeArrowheads="1"/>
          </p:cNvSpPr>
          <p:nvPr>
            <p:ph type="title"/>
          </p:nvPr>
        </p:nvSpPr>
        <p:spPr/>
        <p:txBody>
          <a:bodyPr/>
          <a:lstStyle/>
          <a:p>
            <a:pPr algn="r"/>
            <a:r>
              <a:rPr lang="he-IL" altLang="en-US" dirty="0"/>
              <a:t>מוטיבציה</a:t>
            </a:r>
            <a:endParaRPr lang="en-US" altLang="en-US" dirty="0"/>
          </a:p>
        </p:txBody>
      </p:sp>
      <p:sp>
        <p:nvSpPr>
          <p:cNvPr id="32771" name="Rectangle 3">
            <a:extLst>
              <a:ext uri="{FF2B5EF4-FFF2-40B4-BE49-F238E27FC236}">
                <a16:creationId xmlns:a16="http://schemas.microsoft.com/office/drawing/2014/main" id="{F625941B-41EF-427F-A5A2-86275674F8B4}"/>
              </a:ext>
            </a:extLst>
          </p:cNvPr>
          <p:cNvSpPr>
            <a:spLocks noGrp="1" noChangeArrowheads="1"/>
          </p:cNvSpPr>
          <p:nvPr>
            <p:ph idx="1"/>
          </p:nvPr>
        </p:nvSpPr>
        <p:spPr/>
        <p:txBody>
          <a:bodyPr>
            <a:normAutofit/>
          </a:bodyPr>
          <a:lstStyle/>
          <a:p>
            <a:r>
              <a:rPr lang="he-IL" altLang="en-US" sz="2800" dirty="0">
                <a:solidFill>
                  <a:schemeClr val="tx1"/>
                </a:solidFill>
              </a:rPr>
              <a:t>כשמעבירים אינפורמציה בינארית על קו תקשורת, עלולה לקרות תקלה, כך שהצד השני יקבל אינפורמציה שונה מזו שנשלחה.</a:t>
            </a:r>
            <a:br>
              <a:rPr lang="en-US" altLang="en-US" sz="2800" dirty="0">
                <a:solidFill>
                  <a:schemeClr val="tx1"/>
                </a:solidFill>
              </a:rPr>
            </a:br>
            <a:endParaRPr lang="he-IL" altLang="en-US" sz="2800" dirty="0">
              <a:solidFill>
                <a:schemeClr val="tx1"/>
              </a:solidFill>
            </a:endParaRPr>
          </a:p>
          <a:p>
            <a:r>
              <a:rPr lang="he-IL" altLang="en-US" sz="2800" dirty="0">
                <a:solidFill>
                  <a:schemeClr val="tx1"/>
                </a:solidFill>
              </a:rPr>
              <a:t>תוכננו קודים לגילוי של שגיאות ובמקרים מתאימים אף תיקון שגיאות כאלה.</a:t>
            </a:r>
            <a:br>
              <a:rPr lang="en-US" altLang="en-US" sz="2800" dirty="0">
                <a:solidFill>
                  <a:schemeClr val="tx1"/>
                </a:solidFill>
              </a:rPr>
            </a:br>
            <a:endParaRPr lang="he-IL" altLang="en-US" sz="2800" dirty="0">
              <a:solidFill>
                <a:schemeClr val="tx1"/>
              </a:solidFill>
            </a:endParaRPr>
          </a:p>
          <a:p>
            <a:r>
              <a:rPr lang="he-IL" altLang="en-US" sz="2800" dirty="0">
                <a:solidFill>
                  <a:schemeClr val="tx1"/>
                </a:solidFill>
              </a:rPr>
              <a:t>המשדר שולח קוד במקום את המידע המקורי, והמקלט בודק אם הקוד תקין או לא.</a:t>
            </a:r>
            <a:endParaRPr lang="en-US" altLang="en-US" sz="2800" dirty="0">
              <a:solidFill>
                <a:schemeClr val="tx1"/>
              </a:solidFill>
            </a:endParaRPr>
          </a:p>
        </p:txBody>
      </p:sp>
      <p:sp>
        <p:nvSpPr>
          <p:cNvPr id="32772" name="Slide Number Placeholder 1">
            <a:extLst>
              <a:ext uri="{FF2B5EF4-FFF2-40B4-BE49-F238E27FC236}">
                <a16:creationId xmlns:a16="http://schemas.microsoft.com/office/drawing/2014/main" id="{1D5ECE81-4C6F-489A-AF08-721C28C060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77D973A-81BB-4F55-9590-2E72D8CEA77D}" type="slidenum">
              <a:rPr lang="en-US" altLang="en-US" sz="1400">
                <a:solidFill>
                  <a:srgbClr val="000000"/>
                </a:solidFill>
              </a:rPr>
              <a:pPr>
                <a:spcBef>
                  <a:spcPct val="0"/>
                </a:spcBef>
                <a:buFontTx/>
                <a:buNone/>
              </a:pPr>
              <a:t>5</a:t>
            </a:fld>
            <a:endParaRPr lang="en-US" altLang="en-US" sz="1400">
              <a:solidFill>
                <a:srgbClr val="000000"/>
              </a:solidFill>
            </a:endParaRPr>
          </a:p>
        </p:txBody>
      </p:sp>
    </p:spTree>
    <p:extLst>
      <p:ext uri="{BB962C8B-B14F-4D97-AF65-F5344CB8AC3E}">
        <p14:creationId xmlns:p14="http://schemas.microsoft.com/office/powerpoint/2010/main" val="3516620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31380D80-293C-476B-924F-85DF906FB13A}"/>
              </a:ext>
            </a:extLst>
          </p:cNvPr>
          <p:cNvSpPr>
            <a:spLocks noGrp="1" noChangeArrowheads="1"/>
          </p:cNvSpPr>
          <p:nvPr>
            <p:ph type="title"/>
          </p:nvPr>
        </p:nvSpPr>
        <p:spPr/>
        <p:txBody>
          <a:bodyPr/>
          <a:lstStyle/>
          <a:p>
            <a:pPr algn="r"/>
            <a:r>
              <a:rPr lang="he-IL" altLang="en-US" dirty="0"/>
              <a:t>הגדרות</a:t>
            </a:r>
            <a:endParaRPr lang="en-US" altLang="en-US" dirty="0"/>
          </a:p>
        </p:txBody>
      </p:sp>
      <p:sp>
        <p:nvSpPr>
          <p:cNvPr id="33795" name="Rectangle 3">
            <a:extLst>
              <a:ext uri="{FF2B5EF4-FFF2-40B4-BE49-F238E27FC236}">
                <a16:creationId xmlns:a16="http://schemas.microsoft.com/office/drawing/2014/main" id="{778EFF38-5BCC-4468-BDAD-6187D2612AAD}"/>
              </a:ext>
            </a:extLst>
          </p:cNvPr>
          <p:cNvSpPr>
            <a:spLocks noGrp="1" noChangeArrowheads="1"/>
          </p:cNvSpPr>
          <p:nvPr>
            <p:ph idx="1"/>
          </p:nvPr>
        </p:nvSpPr>
        <p:spPr>
          <a:xfrm>
            <a:off x="1703513" y="1845734"/>
            <a:ext cx="8784975" cy="4023360"/>
          </a:xfrm>
        </p:spPr>
        <p:txBody>
          <a:bodyPr>
            <a:normAutofit/>
          </a:bodyPr>
          <a:lstStyle/>
          <a:p>
            <a:pPr algn="r" rtl="1"/>
            <a:r>
              <a:rPr lang="he-IL" altLang="en-US" sz="2800" b="1" dirty="0">
                <a:solidFill>
                  <a:schemeClr val="tx1"/>
                </a:solidFill>
              </a:rPr>
              <a:t>קוד</a:t>
            </a:r>
            <a:r>
              <a:rPr lang="he-IL" altLang="en-US" sz="2800" dirty="0">
                <a:solidFill>
                  <a:schemeClr val="tx1"/>
                </a:solidFill>
              </a:rPr>
              <a:t> הוא אוסף של מילים מתוך אוסף כל המילים האפשריות.</a:t>
            </a:r>
          </a:p>
        </p:txBody>
      </p:sp>
      <p:sp>
        <p:nvSpPr>
          <p:cNvPr id="33802" name="Slide Number Placeholder 1">
            <a:extLst>
              <a:ext uri="{FF2B5EF4-FFF2-40B4-BE49-F238E27FC236}">
                <a16:creationId xmlns:a16="http://schemas.microsoft.com/office/drawing/2014/main" id="{EAFA08D3-AD4E-46E0-86D9-0CA9A6DFAB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AEE677E-6C17-4EF7-958A-E5648EF16524}" type="slidenum">
              <a:rPr lang="en-US" altLang="en-US" sz="1400">
                <a:solidFill>
                  <a:srgbClr val="000000"/>
                </a:solidFill>
              </a:rPr>
              <a:pPr>
                <a:spcBef>
                  <a:spcPct val="0"/>
                </a:spcBef>
                <a:buFontTx/>
                <a:buNone/>
              </a:pPr>
              <a:t>6</a:t>
            </a:fld>
            <a:endParaRPr lang="en-US" altLang="en-US" sz="1400">
              <a:solidFill>
                <a:srgbClr val="000000"/>
              </a:solidFill>
            </a:endParaRPr>
          </a:p>
        </p:txBody>
      </p:sp>
      <p:sp>
        <p:nvSpPr>
          <p:cNvPr id="33796" name="Rectangle 4">
            <a:extLst>
              <a:ext uri="{FF2B5EF4-FFF2-40B4-BE49-F238E27FC236}">
                <a16:creationId xmlns:a16="http://schemas.microsoft.com/office/drawing/2014/main" id="{31E5E9B9-DBA2-448B-8398-1E7B3F8D501D}"/>
              </a:ext>
            </a:extLst>
          </p:cNvPr>
          <p:cNvSpPr>
            <a:spLocks noChangeArrowheads="1"/>
          </p:cNvSpPr>
          <p:nvPr/>
        </p:nvSpPr>
        <p:spPr bwMode="auto">
          <a:xfrm>
            <a:off x="8543042" y="2708920"/>
            <a:ext cx="1219200" cy="2057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b="1" u="sng" dirty="0"/>
              <a:t>קוד:</a:t>
            </a:r>
          </a:p>
          <a:p>
            <a:pPr algn="ctr" rtl="1" eaLnBrk="1" hangingPunct="1">
              <a:spcBef>
                <a:spcPct val="0"/>
              </a:spcBef>
              <a:buFontTx/>
              <a:buNone/>
            </a:pPr>
            <a:r>
              <a:rPr lang="he-IL" altLang="en-US" sz="2400" dirty="0"/>
              <a:t>011</a:t>
            </a:r>
          </a:p>
          <a:p>
            <a:pPr algn="ctr" rtl="1" eaLnBrk="1" hangingPunct="1">
              <a:spcBef>
                <a:spcPct val="0"/>
              </a:spcBef>
              <a:buFontTx/>
              <a:buNone/>
            </a:pPr>
            <a:r>
              <a:rPr lang="he-IL" altLang="en-US" sz="2400" dirty="0"/>
              <a:t>100</a:t>
            </a:r>
          </a:p>
          <a:p>
            <a:pPr algn="ctr" rtl="1" eaLnBrk="1" hangingPunct="1">
              <a:spcBef>
                <a:spcPct val="0"/>
              </a:spcBef>
              <a:buFontTx/>
              <a:buNone/>
            </a:pPr>
            <a:r>
              <a:rPr lang="he-IL" altLang="en-US" sz="2400" dirty="0"/>
              <a:t>001</a:t>
            </a:r>
            <a:endParaRPr lang="en-US" altLang="en-US" sz="2400" dirty="0"/>
          </a:p>
        </p:txBody>
      </p:sp>
      <p:sp>
        <p:nvSpPr>
          <p:cNvPr id="33797" name="Line 8">
            <a:extLst>
              <a:ext uri="{FF2B5EF4-FFF2-40B4-BE49-F238E27FC236}">
                <a16:creationId xmlns:a16="http://schemas.microsoft.com/office/drawing/2014/main" id="{5B6E3C81-AAB7-4994-8405-9742801F26F0}"/>
              </a:ext>
            </a:extLst>
          </p:cNvPr>
          <p:cNvSpPr>
            <a:spLocks noChangeShapeType="1"/>
          </p:cNvSpPr>
          <p:nvPr/>
        </p:nvSpPr>
        <p:spPr bwMode="auto">
          <a:xfrm flipH="1" flipV="1">
            <a:off x="9296400" y="48768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798" name="Text Box 9">
            <a:extLst>
              <a:ext uri="{FF2B5EF4-FFF2-40B4-BE49-F238E27FC236}">
                <a16:creationId xmlns:a16="http://schemas.microsoft.com/office/drawing/2014/main" id="{EC4C591B-CE5F-4F06-BC34-E44375AD36C5}"/>
              </a:ext>
            </a:extLst>
          </p:cNvPr>
          <p:cNvSpPr txBox="1">
            <a:spLocks noChangeArrowheads="1"/>
          </p:cNvSpPr>
          <p:nvPr/>
        </p:nvSpPr>
        <p:spPr bwMode="auto">
          <a:xfrm>
            <a:off x="7680177" y="5334001"/>
            <a:ext cx="298782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2800" dirty="0"/>
              <a:t>קוד עם 3 מילות קוד</a:t>
            </a:r>
          </a:p>
          <a:p>
            <a:pPr algn="ctr" rtl="1" eaLnBrk="1" hangingPunct="1">
              <a:spcBef>
                <a:spcPct val="0"/>
              </a:spcBef>
              <a:buFontTx/>
              <a:buNone/>
            </a:pPr>
            <a:r>
              <a:rPr lang="he-IL" altLang="en-US" sz="2800" dirty="0"/>
              <a:t>כ"א ברוחב 3.</a:t>
            </a:r>
            <a:endParaRPr lang="en-US" altLang="en-US" sz="2800" dirty="0"/>
          </a:p>
        </p:txBody>
      </p:sp>
      <p:sp>
        <p:nvSpPr>
          <p:cNvPr id="33799" name="Rectangle 10">
            <a:extLst>
              <a:ext uri="{FF2B5EF4-FFF2-40B4-BE49-F238E27FC236}">
                <a16:creationId xmlns:a16="http://schemas.microsoft.com/office/drawing/2014/main" id="{DD90FFB2-3215-41E6-ACFE-4E63A34584AE}"/>
              </a:ext>
            </a:extLst>
          </p:cNvPr>
          <p:cNvSpPr>
            <a:spLocks noChangeArrowheads="1"/>
          </p:cNvSpPr>
          <p:nvPr/>
        </p:nvSpPr>
        <p:spPr bwMode="auto">
          <a:xfrm>
            <a:off x="2466140" y="3700889"/>
            <a:ext cx="1676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eaLnBrk="1" hangingPunct="1">
              <a:spcBef>
                <a:spcPct val="0"/>
              </a:spcBef>
              <a:buFontTx/>
              <a:buNone/>
            </a:pPr>
            <a:r>
              <a:rPr lang="he-IL" altLang="en-US" sz="2800" b="1"/>
              <a:t>010</a:t>
            </a:r>
            <a:endParaRPr lang="en-US" altLang="en-US" sz="2800" b="1"/>
          </a:p>
        </p:txBody>
      </p:sp>
      <p:sp>
        <p:nvSpPr>
          <p:cNvPr id="33800" name="Line 12">
            <a:extLst>
              <a:ext uri="{FF2B5EF4-FFF2-40B4-BE49-F238E27FC236}">
                <a16:creationId xmlns:a16="http://schemas.microsoft.com/office/drawing/2014/main" id="{E18F9CC9-EA0D-457C-96EE-054957E007FE}"/>
              </a:ext>
            </a:extLst>
          </p:cNvPr>
          <p:cNvSpPr>
            <a:spLocks noChangeShapeType="1"/>
          </p:cNvSpPr>
          <p:nvPr/>
        </p:nvSpPr>
        <p:spPr bwMode="auto">
          <a:xfrm flipH="1" flipV="1">
            <a:off x="3304341" y="4723663"/>
            <a:ext cx="45721" cy="63029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801" name="Text Box 13">
            <a:extLst>
              <a:ext uri="{FF2B5EF4-FFF2-40B4-BE49-F238E27FC236}">
                <a16:creationId xmlns:a16="http://schemas.microsoft.com/office/drawing/2014/main" id="{D4C7E602-7457-46C0-B3CE-5B1D80075DC9}"/>
              </a:ext>
            </a:extLst>
          </p:cNvPr>
          <p:cNvSpPr txBox="1">
            <a:spLocks noChangeArrowheads="1"/>
          </p:cNvSpPr>
          <p:nvPr/>
        </p:nvSpPr>
        <p:spPr bwMode="auto">
          <a:xfrm>
            <a:off x="1524001" y="5334001"/>
            <a:ext cx="335700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2400" dirty="0"/>
              <a:t>מילה זו אינה חוקית,</a:t>
            </a:r>
          </a:p>
          <a:p>
            <a:pPr algn="r" rtl="1" eaLnBrk="1" hangingPunct="1">
              <a:spcBef>
                <a:spcPct val="0"/>
              </a:spcBef>
              <a:buFontTx/>
              <a:buNone/>
            </a:pPr>
            <a:r>
              <a:rPr lang="he-IL" altLang="en-US" sz="2400" dirty="0"/>
              <a:t>כלומר היא לא נמצאת בקוד</a:t>
            </a:r>
            <a:endParaRPr lang="en-US" altLang="en-US" sz="2400" dirty="0"/>
          </a:p>
        </p:txBody>
      </p:sp>
      <p:sp>
        <p:nvSpPr>
          <p:cNvPr id="11" name="Rectangle 10">
            <a:extLst>
              <a:ext uri="{FF2B5EF4-FFF2-40B4-BE49-F238E27FC236}">
                <a16:creationId xmlns:a16="http://schemas.microsoft.com/office/drawing/2014/main" id="{DD90FFB2-3215-41E6-ACFE-4E63A34584AE}"/>
              </a:ext>
            </a:extLst>
          </p:cNvPr>
          <p:cNvSpPr>
            <a:spLocks noChangeArrowheads="1"/>
          </p:cNvSpPr>
          <p:nvPr/>
        </p:nvSpPr>
        <p:spPr bwMode="auto">
          <a:xfrm>
            <a:off x="5397195" y="2708920"/>
            <a:ext cx="1676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he-IL" altLang="en-US" sz="2800" b="1" dirty="0"/>
              <a:t>011</a:t>
            </a:r>
            <a:endParaRPr lang="en-US" altLang="en-US" sz="2800" b="1" dirty="0"/>
          </a:p>
        </p:txBody>
      </p:sp>
      <p:sp>
        <p:nvSpPr>
          <p:cNvPr id="12" name="Line 12">
            <a:extLst>
              <a:ext uri="{FF2B5EF4-FFF2-40B4-BE49-F238E27FC236}">
                <a16:creationId xmlns:a16="http://schemas.microsoft.com/office/drawing/2014/main" id="{E18F9CC9-EA0D-457C-96EE-054957E007FE}"/>
              </a:ext>
            </a:extLst>
          </p:cNvPr>
          <p:cNvSpPr>
            <a:spLocks noChangeShapeType="1"/>
          </p:cNvSpPr>
          <p:nvPr/>
        </p:nvSpPr>
        <p:spPr bwMode="auto">
          <a:xfrm flipH="1" flipV="1">
            <a:off x="6250636" y="3745475"/>
            <a:ext cx="45721" cy="63029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Text Box 13">
            <a:extLst>
              <a:ext uri="{FF2B5EF4-FFF2-40B4-BE49-F238E27FC236}">
                <a16:creationId xmlns:a16="http://schemas.microsoft.com/office/drawing/2014/main" id="{D4C7E602-7457-46C0-B3CE-5B1D80075DC9}"/>
              </a:ext>
            </a:extLst>
          </p:cNvPr>
          <p:cNvSpPr txBox="1">
            <a:spLocks noChangeArrowheads="1"/>
          </p:cNvSpPr>
          <p:nvPr/>
        </p:nvSpPr>
        <p:spPr bwMode="auto">
          <a:xfrm>
            <a:off x="4772506" y="4275551"/>
            <a:ext cx="295625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2400" dirty="0"/>
              <a:t>מילה זו חוקית,</a:t>
            </a:r>
          </a:p>
          <a:p>
            <a:pPr algn="ctr" rtl="1" eaLnBrk="1" hangingPunct="1">
              <a:spcBef>
                <a:spcPct val="0"/>
              </a:spcBef>
              <a:buFontTx/>
              <a:buNone/>
            </a:pPr>
            <a:r>
              <a:rPr lang="he-IL" altLang="en-US" sz="2400" dirty="0"/>
              <a:t>כלומר היא נמצאת בקוד</a:t>
            </a:r>
            <a:endParaRPr lang="en-US" altLang="en-US" sz="2400" dirty="0"/>
          </a:p>
        </p:txBody>
      </p:sp>
    </p:spTree>
    <p:extLst>
      <p:ext uri="{BB962C8B-B14F-4D97-AF65-F5344CB8AC3E}">
        <p14:creationId xmlns:p14="http://schemas.microsoft.com/office/powerpoint/2010/main" val="108139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79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7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80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80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animBg="1"/>
      <p:bldP spid="33797" grpId="0" animBg="1"/>
      <p:bldP spid="33798" grpId="0"/>
      <p:bldP spid="33799" grpId="0" animBg="1"/>
      <p:bldP spid="33800" grpId="0" animBg="1"/>
      <p:bldP spid="33801" grpId="0"/>
      <p:bldP spid="11" grpId="0" animBg="1"/>
      <p:bldP spid="12" grpId="0" animBg="1"/>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06E9834-7067-4A41-BD70-455A7091F4CC}"/>
              </a:ext>
            </a:extLst>
          </p:cNvPr>
          <p:cNvSpPr>
            <a:spLocks noGrp="1" noChangeArrowheads="1"/>
          </p:cNvSpPr>
          <p:nvPr>
            <p:ph type="title"/>
          </p:nvPr>
        </p:nvSpPr>
        <p:spPr/>
        <p:txBody>
          <a:bodyPr/>
          <a:lstStyle/>
          <a:p>
            <a:pPr algn="r" rtl="1"/>
            <a:r>
              <a:rPr lang="he-IL" altLang="en-US" dirty="0"/>
              <a:t>הגדרות</a:t>
            </a:r>
            <a:endParaRPr lang="en-US" altLang="en-US" dirty="0"/>
          </a:p>
        </p:txBody>
      </p:sp>
      <p:sp>
        <p:nvSpPr>
          <p:cNvPr id="34819" name="Rectangle 3">
            <a:extLst>
              <a:ext uri="{FF2B5EF4-FFF2-40B4-BE49-F238E27FC236}">
                <a16:creationId xmlns:a16="http://schemas.microsoft.com/office/drawing/2014/main" id="{0DC5C319-8E18-46F6-A8A8-15FDD1F0CBB0}"/>
              </a:ext>
            </a:extLst>
          </p:cNvPr>
          <p:cNvSpPr>
            <a:spLocks noGrp="1" noChangeArrowheads="1"/>
          </p:cNvSpPr>
          <p:nvPr>
            <p:ph idx="1"/>
          </p:nvPr>
        </p:nvSpPr>
        <p:spPr>
          <a:xfrm>
            <a:off x="1828800" y="2060848"/>
            <a:ext cx="8229600" cy="4648200"/>
          </a:xfrm>
        </p:spPr>
        <p:txBody>
          <a:bodyPr>
            <a:noAutofit/>
          </a:bodyPr>
          <a:lstStyle/>
          <a:p>
            <a:pPr algn="r" rtl="1"/>
            <a:r>
              <a:rPr lang="he-IL" altLang="en-US" sz="2800" b="1" dirty="0">
                <a:solidFill>
                  <a:schemeClr val="tx1"/>
                </a:solidFill>
              </a:rPr>
              <a:t>מרחק </a:t>
            </a:r>
            <a:r>
              <a:rPr lang="he-IL" altLang="en-US" sz="2800" dirty="0">
                <a:solidFill>
                  <a:schemeClr val="tx1"/>
                </a:solidFill>
              </a:rPr>
              <a:t>בין שתי מילים </a:t>
            </a:r>
            <a:r>
              <a:rPr lang="he-IL" altLang="en-US" sz="2800" b="1" dirty="0">
                <a:solidFill>
                  <a:schemeClr val="tx1"/>
                </a:solidFill>
              </a:rPr>
              <a:t>(מרחק </a:t>
            </a:r>
            <a:r>
              <a:rPr lang="he-IL" altLang="en-US" sz="2800" b="1" dirty="0" err="1">
                <a:solidFill>
                  <a:schemeClr val="tx1"/>
                </a:solidFill>
              </a:rPr>
              <a:t>המינג</a:t>
            </a:r>
            <a:r>
              <a:rPr lang="he-IL" altLang="en-US" sz="2800" b="1" dirty="0">
                <a:solidFill>
                  <a:schemeClr val="tx1"/>
                </a:solidFill>
              </a:rPr>
              <a:t>) </a:t>
            </a:r>
            <a:r>
              <a:rPr lang="he-IL" altLang="en-US" sz="2800" dirty="0">
                <a:solidFill>
                  <a:schemeClr val="tx1"/>
                </a:solidFill>
              </a:rPr>
              <a:t>: מספר הביטים שיש לשנות על מנת לקבל מילה אחת מהשנייה.</a:t>
            </a:r>
          </a:p>
          <a:p>
            <a:pPr lvl="1" algn="r" rtl="1">
              <a:buFontTx/>
              <a:buNone/>
            </a:pPr>
            <a:endParaRPr lang="he-IL" altLang="en-US" sz="2400" dirty="0">
              <a:solidFill>
                <a:schemeClr val="tx1"/>
              </a:solidFill>
            </a:endParaRPr>
          </a:p>
          <a:p>
            <a:pPr lvl="1" algn="r" rtl="1">
              <a:buFontTx/>
              <a:buNone/>
            </a:pPr>
            <a:r>
              <a:rPr lang="he-IL" altLang="en-US" sz="2400" dirty="0">
                <a:solidFill>
                  <a:schemeClr val="tx1"/>
                </a:solidFill>
              </a:rPr>
              <a:t> </a:t>
            </a:r>
          </a:p>
          <a:p>
            <a:pPr lvl="1" algn="r" rtl="1"/>
            <a:endParaRPr lang="en-US" altLang="en-US" sz="2400" dirty="0">
              <a:solidFill>
                <a:schemeClr val="tx1"/>
              </a:solidFill>
            </a:endParaRPr>
          </a:p>
          <a:p>
            <a:pPr lvl="1" algn="r" rtl="1"/>
            <a:endParaRPr lang="he-IL" altLang="en-US" sz="2400" dirty="0">
              <a:solidFill>
                <a:schemeClr val="tx1"/>
              </a:solidFill>
            </a:endParaRPr>
          </a:p>
          <a:p>
            <a:pPr lvl="1" algn="r" rtl="1"/>
            <a:endParaRPr lang="en-US" altLang="en-US" sz="2400" dirty="0">
              <a:solidFill>
                <a:schemeClr val="tx1"/>
              </a:solidFill>
            </a:endParaRPr>
          </a:p>
          <a:p>
            <a:pPr algn="r" rtl="1"/>
            <a:r>
              <a:rPr lang="he-IL" altLang="en-US" sz="2800" b="1" dirty="0">
                <a:solidFill>
                  <a:schemeClr val="tx1"/>
                </a:solidFill>
              </a:rPr>
              <a:t>מרחק הקוד</a:t>
            </a:r>
            <a:r>
              <a:rPr lang="he-IL" altLang="en-US" sz="2800" dirty="0">
                <a:solidFill>
                  <a:schemeClr val="tx1"/>
                </a:solidFill>
              </a:rPr>
              <a:t>:</a:t>
            </a:r>
            <a:r>
              <a:rPr lang="he-IL" altLang="en-US" sz="2800" b="1" dirty="0">
                <a:solidFill>
                  <a:schemeClr val="tx1"/>
                </a:solidFill>
              </a:rPr>
              <a:t> </a:t>
            </a:r>
            <a:r>
              <a:rPr lang="he-IL" altLang="en-US" sz="2800" dirty="0">
                <a:solidFill>
                  <a:schemeClr val="tx1"/>
                </a:solidFill>
              </a:rPr>
              <a:t>המרחק הקטן ביותר שבין שתי מילות קוד כלשהן.</a:t>
            </a:r>
          </a:p>
          <a:p>
            <a:pPr lvl="1" algn="r" rtl="1"/>
            <a:r>
              <a:rPr lang="he-IL" altLang="en-US" sz="2400" dirty="0">
                <a:solidFill>
                  <a:schemeClr val="tx1"/>
                </a:solidFill>
              </a:rPr>
              <a:t>בקוד שלנו : </a:t>
            </a:r>
            <a:r>
              <a:rPr lang="en-US" altLang="en-US" sz="2400" dirty="0" err="1">
                <a:solidFill>
                  <a:schemeClr val="tx1"/>
                </a:solidFill>
              </a:rPr>
              <a:t>d</a:t>
            </a:r>
            <a:r>
              <a:rPr lang="en-US" altLang="en-US" sz="3200" baseline="-25000" dirty="0" err="1">
                <a:solidFill>
                  <a:schemeClr val="tx1"/>
                </a:solidFill>
              </a:rPr>
              <a:t>min</a:t>
            </a:r>
            <a:r>
              <a:rPr lang="en-US" altLang="en-US" sz="3200" dirty="0">
                <a:solidFill>
                  <a:schemeClr val="tx1"/>
                </a:solidFill>
              </a:rPr>
              <a:t> = 1</a:t>
            </a:r>
            <a:r>
              <a:rPr lang="he-IL" altLang="en-US" sz="2400" dirty="0">
                <a:solidFill>
                  <a:schemeClr val="tx1"/>
                </a:solidFill>
              </a:rPr>
              <a:t>.</a:t>
            </a:r>
            <a:endParaRPr lang="en-US" altLang="en-US" sz="2400" dirty="0">
              <a:solidFill>
                <a:schemeClr val="tx1"/>
              </a:solidFill>
            </a:endParaRPr>
          </a:p>
          <a:p>
            <a:pPr algn="r" rtl="1"/>
            <a:endParaRPr lang="en-US" altLang="en-US" sz="2800" dirty="0">
              <a:solidFill>
                <a:schemeClr val="tx1"/>
              </a:solidFill>
            </a:endParaRPr>
          </a:p>
        </p:txBody>
      </p:sp>
      <p:sp>
        <p:nvSpPr>
          <p:cNvPr id="34828" name="Slide Number Placeholder 1">
            <a:extLst>
              <a:ext uri="{FF2B5EF4-FFF2-40B4-BE49-F238E27FC236}">
                <a16:creationId xmlns:a16="http://schemas.microsoft.com/office/drawing/2014/main" id="{D128D4A5-4A70-4FDC-9BAF-734F3EFC86E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A19D723-2F85-4A6C-973C-74CFED471E72}" type="slidenum">
              <a:rPr lang="en-US" altLang="en-US" sz="1400">
                <a:solidFill>
                  <a:srgbClr val="000000"/>
                </a:solidFill>
              </a:rPr>
              <a:pPr>
                <a:spcBef>
                  <a:spcPct val="0"/>
                </a:spcBef>
                <a:buFontTx/>
                <a:buNone/>
              </a:pPr>
              <a:t>7</a:t>
            </a:fld>
            <a:endParaRPr lang="en-US" altLang="en-US" sz="1400">
              <a:solidFill>
                <a:srgbClr val="000000"/>
              </a:solidFill>
            </a:endParaRPr>
          </a:p>
        </p:txBody>
      </p:sp>
      <p:sp>
        <p:nvSpPr>
          <p:cNvPr id="34820" name="Rectangle 4">
            <a:extLst>
              <a:ext uri="{FF2B5EF4-FFF2-40B4-BE49-F238E27FC236}">
                <a16:creationId xmlns:a16="http://schemas.microsoft.com/office/drawing/2014/main" id="{104B4BEA-5886-404C-AADA-ECBA14A09CA6}"/>
              </a:ext>
            </a:extLst>
          </p:cNvPr>
          <p:cNvSpPr>
            <a:spLocks noChangeArrowheads="1"/>
          </p:cNvSpPr>
          <p:nvPr/>
        </p:nvSpPr>
        <p:spPr bwMode="auto">
          <a:xfrm>
            <a:off x="2743200" y="3305404"/>
            <a:ext cx="16764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en-US" altLang="en-US" sz="2400"/>
              <a:t>100</a:t>
            </a:r>
          </a:p>
        </p:txBody>
      </p:sp>
      <p:sp>
        <p:nvSpPr>
          <p:cNvPr id="34821" name="Rectangle 5">
            <a:extLst>
              <a:ext uri="{FF2B5EF4-FFF2-40B4-BE49-F238E27FC236}">
                <a16:creationId xmlns:a16="http://schemas.microsoft.com/office/drawing/2014/main" id="{FDFCD7DB-94EF-4E94-A877-F51457B77AFE}"/>
              </a:ext>
            </a:extLst>
          </p:cNvPr>
          <p:cNvSpPr>
            <a:spLocks noChangeArrowheads="1"/>
          </p:cNvSpPr>
          <p:nvPr/>
        </p:nvSpPr>
        <p:spPr bwMode="auto">
          <a:xfrm>
            <a:off x="6096000" y="3305404"/>
            <a:ext cx="16764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en-US" altLang="en-US" sz="2400"/>
              <a:t>011</a:t>
            </a:r>
          </a:p>
        </p:txBody>
      </p:sp>
      <p:cxnSp>
        <p:nvCxnSpPr>
          <p:cNvPr id="34822" name="AutoShape 6">
            <a:extLst>
              <a:ext uri="{FF2B5EF4-FFF2-40B4-BE49-F238E27FC236}">
                <a16:creationId xmlns:a16="http://schemas.microsoft.com/office/drawing/2014/main" id="{41788F5D-29F3-4F7B-87CE-208C0B6D4C06}"/>
              </a:ext>
            </a:extLst>
          </p:cNvPr>
          <p:cNvCxnSpPr>
            <a:cxnSpLocks noChangeShapeType="1"/>
            <a:stCxn id="34820" idx="3"/>
            <a:endCxn id="34821" idx="1"/>
          </p:cNvCxnSpPr>
          <p:nvPr/>
        </p:nvCxnSpPr>
        <p:spPr bwMode="auto">
          <a:xfrm>
            <a:off x="4419600" y="3457804"/>
            <a:ext cx="1676400"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823" name="Text Box 7">
            <a:extLst>
              <a:ext uri="{FF2B5EF4-FFF2-40B4-BE49-F238E27FC236}">
                <a16:creationId xmlns:a16="http://schemas.microsoft.com/office/drawing/2014/main" id="{9EAF6663-9E06-4026-A62E-56FD0CDE73E6}"/>
              </a:ext>
            </a:extLst>
          </p:cNvPr>
          <p:cNvSpPr txBox="1">
            <a:spLocks noChangeArrowheads="1"/>
          </p:cNvSpPr>
          <p:nvPr/>
        </p:nvSpPr>
        <p:spPr bwMode="auto">
          <a:xfrm>
            <a:off x="4646896" y="3024257"/>
            <a:ext cx="12218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he-IL" altLang="en-US" sz="2400" dirty="0"/>
              <a:t>מרחק: 3</a:t>
            </a:r>
            <a:endParaRPr lang="en-US" altLang="en-US" sz="2400" dirty="0"/>
          </a:p>
        </p:txBody>
      </p:sp>
      <p:sp>
        <p:nvSpPr>
          <p:cNvPr id="34824" name="Rectangle 8">
            <a:extLst>
              <a:ext uri="{FF2B5EF4-FFF2-40B4-BE49-F238E27FC236}">
                <a16:creationId xmlns:a16="http://schemas.microsoft.com/office/drawing/2014/main" id="{20A8B487-70B1-4832-8455-D185AB021D92}"/>
              </a:ext>
            </a:extLst>
          </p:cNvPr>
          <p:cNvSpPr>
            <a:spLocks noChangeArrowheads="1"/>
          </p:cNvSpPr>
          <p:nvPr/>
        </p:nvSpPr>
        <p:spPr bwMode="auto">
          <a:xfrm>
            <a:off x="2743200" y="4017711"/>
            <a:ext cx="16764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en-US" altLang="en-US" sz="2400"/>
              <a:t>011</a:t>
            </a:r>
          </a:p>
        </p:txBody>
      </p:sp>
      <p:sp>
        <p:nvSpPr>
          <p:cNvPr id="34825" name="Rectangle 9">
            <a:extLst>
              <a:ext uri="{FF2B5EF4-FFF2-40B4-BE49-F238E27FC236}">
                <a16:creationId xmlns:a16="http://schemas.microsoft.com/office/drawing/2014/main" id="{0E974A72-1889-490F-851A-CD75FBF21F22}"/>
              </a:ext>
            </a:extLst>
          </p:cNvPr>
          <p:cNvSpPr>
            <a:spLocks noChangeArrowheads="1"/>
          </p:cNvSpPr>
          <p:nvPr/>
        </p:nvSpPr>
        <p:spPr bwMode="auto">
          <a:xfrm>
            <a:off x="6096000" y="4017711"/>
            <a:ext cx="16764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en-US" altLang="en-US" sz="2400"/>
              <a:t>001</a:t>
            </a:r>
          </a:p>
        </p:txBody>
      </p:sp>
      <p:cxnSp>
        <p:nvCxnSpPr>
          <p:cNvPr id="34826" name="AutoShape 10">
            <a:extLst>
              <a:ext uri="{FF2B5EF4-FFF2-40B4-BE49-F238E27FC236}">
                <a16:creationId xmlns:a16="http://schemas.microsoft.com/office/drawing/2014/main" id="{A8316EFE-29E1-471E-8AE6-E1E2E8B27B71}"/>
              </a:ext>
            </a:extLst>
          </p:cNvPr>
          <p:cNvCxnSpPr>
            <a:cxnSpLocks noChangeShapeType="1"/>
            <a:stCxn id="34824" idx="3"/>
            <a:endCxn id="34825" idx="1"/>
          </p:cNvCxnSpPr>
          <p:nvPr/>
        </p:nvCxnSpPr>
        <p:spPr bwMode="auto">
          <a:xfrm>
            <a:off x="4419600" y="4170111"/>
            <a:ext cx="1676400"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827" name="Text Box 11">
            <a:extLst>
              <a:ext uri="{FF2B5EF4-FFF2-40B4-BE49-F238E27FC236}">
                <a16:creationId xmlns:a16="http://schemas.microsoft.com/office/drawing/2014/main" id="{25843D2C-0551-455C-B5FF-F00AD06F99DA}"/>
              </a:ext>
            </a:extLst>
          </p:cNvPr>
          <p:cNvSpPr txBox="1">
            <a:spLocks noChangeArrowheads="1"/>
          </p:cNvSpPr>
          <p:nvPr/>
        </p:nvSpPr>
        <p:spPr bwMode="auto">
          <a:xfrm>
            <a:off x="4646895" y="3759716"/>
            <a:ext cx="12218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he-IL" altLang="en-US" sz="2400" dirty="0"/>
              <a:t>מרחק: 1</a:t>
            </a:r>
            <a:endParaRPr lang="en-US" altLang="en-US" sz="2400" dirty="0"/>
          </a:p>
        </p:txBody>
      </p:sp>
      <p:sp>
        <p:nvSpPr>
          <p:cNvPr id="13" name="Rectangle 4">
            <a:extLst>
              <a:ext uri="{FF2B5EF4-FFF2-40B4-BE49-F238E27FC236}">
                <a16:creationId xmlns:a16="http://schemas.microsoft.com/office/drawing/2014/main" id="{31E5E9B9-DBA2-448B-8398-1E7B3F8D501D}"/>
              </a:ext>
            </a:extLst>
          </p:cNvPr>
          <p:cNvSpPr>
            <a:spLocks noChangeArrowheads="1"/>
          </p:cNvSpPr>
          <p:nvPr/>
        </p:nvSpPr>
        <p:spPr bwMode="auto">
          <a:xfrm>
            <a:off x="9066494" y="3177871"/>
            <a:ext cx="1219200" cy="162535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b="1" u="sng" dirty="0"/>
              <a:t>קוד:</a:t>
            </a:r>
          </a:p>
          <a:p>
            <a:pPr algn="ctr" rtl="1" eaLnBrk="1" hangingPunct="1">
              <a:spcBef>
                <a:spcPct val="0"/>
              </a:spcBef>
              <a:buFontTx/>
              <a:buNone/>
            </a:pPr>
            <a:r>
              <a:rPr lang="he-IL" altLang="en-US" sz="2400" dirty="0"/>
              <a:t>011</a:t>
            </a:r>
          </a:p>
          <a:p>
            <a:pPr algn="ctr" rtl="1" eaLnBrk="1" hangingPunct="1">
              <a:spcBef>
                <a:spcPct val="0"/>
              </a:spcBef>
              <a:buFontTx/>
              <a:buNone/>
            </a:pPr>
            <a:r>
              <a:rPr lang="he-IL" altLang="en-US" sz="2400" dirty="0"/>
              <a:t>100</a:t>
            </a:r>
          </a:p>
          <a:p>
            <a:pPr algn="ctr" rtl="1" eaLnBrk="1" hangingPunct="1">
              <a:spcBef>
                <a:spcPct val="0"/>
              </a:spcBef>
              <a:buFontTx/>
              <a:buNone/>
            </a:pPr>
            <a:r>
              <a:rPr lang="he-IL" altLang="en-US" sz="2400" dirty="0"/>
              <a:t>001</a:t>
            </a:r>
            <a:endParaRPr lang="en-US" altLang="en-US" sz="2400" dirty="0"/>
          </a:p>
        </p:txBody>
      </p:sp>
      <p:sp>
        <p:nvSpPr>
          <p:cNvPr id="14" name="Rectangle 8">
            <a:extLst>
              <a:ext uri="{FF2B5EF4-FFF2-40B4-BE49-F238E27FC236}">
                <a16:creationId xmlns:a16="http://schemas.microsoft.com/office/drawing/2014/main" id="{20A8B487-70B1-4832-8455-D185AB021D92}"/>
              </a:ext>
            </a:extLst>
          </p:cNvPr>
          <p:cNvSpPr>
            <a:spLocks noChangeArrowheads="1"/>
          </p:cNvSpPr>
          <p:nvPr/>
        </p:nvSpPr>
        <p:spPr bwMode="auto">
          <a:xfrm>
            <a:off x="2743200" y="4728272"/>
            <a:ext cx="16764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en-US" altLang="en-US" sz="2400" dirty="0"/>
              <a:t>001</a:t>
            </a:r>
          </a:p>
        </p:txBody>
      </p:sp>
      <p:sp>
        <p:nvSpPr>
          <p:cNvPr id="15" name="Rectangle 9">
            <a:extLst>
              <a:ext uri="{FF2B5EF4-FFF2-40B4-BE49-F238E27FC236}">
                <a16:creationId xmlns:a16="http://schemas.microsoft.com/office/drawing/2014/main" id="{0E974A72-1889-490F-851A-CD75FBF21F22}"/>
              </a:ext>
            </a:extLst>
          </p:cNvPr>
          <p:cNvSpPr>
            <a:spLocks noChangeArrowheads="1"/>
          </p:cNvSpPr>
          <p:nvPr/>
        </p:nvSpPr>
        <p:spPr bwMode="auto">
          <a:xfrm>
            <a:off x="6096000" y="4728272"/>
            <a:ext cx="16764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en-US" altLang="en-US" sz="2400" dirty="0"/>
              <a:t>100</a:t>
            </a:r>
          </a:p>
        </p:txBody>
      </p:sp>
      <p:cxnSp>
        <p:nvCxnSpPr>
          <p:cNvPr id="16" name="AutoShape 10">
            <a:extLst>
              <a:ext uri="{FF2B5EF4-FFF2-40B4-BE49-F238E27FC236}">
                <a16:creationId xmlns:a16="http://schemas.microsoft.com/office/drawing/2014/main" id="{A8316EFE-29E1-471E-8AE6-E1E2E8B27B71}"/>
              </a:ext>
            </a:extLst>
          </p:cNvPr>
          <p:cNvCxnSpPr>
            <a:cxnSpLocks noChangeShapeType="1"/>
            <a:stCxn id="14" idx="3"/>
            <a:endCxn id="15" idx="1"/>
          </p:cNvCxnSpPr>
          <p:nvPr/>
        </p:nvCxnSpPr>
        <p:spPr bwMode="auto">
          <a:xfrm>
            <a:off x="4419600" y="4880672"/>
            <a:ext cx="1676400"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 Box 11">
            <a:extLst>
              <a:ext uri="{FF2B5EF4-FFF2-40B4-BE49-F238E27FC236}">
                <a16:creationId xmlns:a16="http://schemas.microsoft.com/office/drawing/2014/main" id="{25843D2C-0551-455C-B5FF-F00AD06F99DA}"/>
              </a:ext>
            </a:extLst>
          </p:cNvPr>
          <p:cNvSpPr txBox="1">
            <a:spLocks noChangeArrowheads="1"/>
          </p:cNvSpPr>
          <p:nvPr/>
        </p:nvSpPr>
        <p:spPr bwMode="auto">
          <a:xfrm>
            <a:off x="4646895" y="4470277"/>
            <a:ext cx="12218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he-IL" altLang="en-US" sz="2400" dirty="0"/>
              <a:t>מרחק: 2</a:t>
            </a:r>
            <a:endParaRPr lang="en-US" altLang="en-US" sz="2400" dirty="0"/>
          </a:p>
        </p:txBody>
      </p:sp>
    </p:spTree>
    <p:extLst>
      <p:ext uri="{BB962C8B-B14F-4D97-AF65-F5344CB8AC3E}">
        <p14:creationId xmlns:p14="http://schemas.microsoft.com/office/powerpoint/2010/main" val="225289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81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8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3" grpId="0"/>
      <p:bldP spid="34827"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a:extLst>
              <a:ext uri="{FF2B5EF4-FFF2-40B4-BE49-F238E27FC236}">
                <a16:creationId xmlns:a16="http://schemas.microsoft.com/office/drawing/2014/main" id="{532D0F4D-D8EF-4360-91AF-52877FC99327}"/>
              </a:ext>
            </a:extLst>
          </p:cNvPr>
          <p:cNvSpPr>
            <a:spLocks noGrp="1" noChangeArrowheads="1"/>
          </p:cNvSpPr>
          <p:nvPr>
            <p:ph type="title"/>
          </p:nvPr>
        </p:nvSpPr>
        <p:spPr>
          <a:noFill/>
        </p:spPr>
        <p:txBody>
          <a:bodyPr/>
          <a:lstStyle/>
          <a:p>
            <a:pPr algn="r"/>
            <a:r>
              <a:rPr lang="he-IL" altLang="en-US" dirty="0"/>
              <a:t>קודים</a:t>
            </a:r>
            <a:endParaRPr lang="en-US" altLang="en-US" dirty="0"/>
          </a:p>
        </p:txBody>
      </p:sp>
      <p:sp>
        <p:nvSpPr>
          <p:cNvPr id="6149" name="Rectangle 5">
            <a:extLst>
              <a:ext uri="{FF2B5EF4-FFF2-40B4-BE49-F238E27FC236}">
                <a16:creationId xmlns:a16="http://schemas.microsoft.com/office/drawing/2014/main" id="{A62BC3CE-1B38-4B56-8E9C-EBFF01AF9AD0}"/>
              </a:ext>
            </a:extLst>
          </p:cNvPr>
          <p:cNvSpPr>
            <a:spLocks noGrp="1" noChangeArrowheads="1"/>
          </p:cNvSpPr>
          <p:nvPr>
            <p:ph idx="1"/>
          </p:nvPr>
        </p:nvSpPr>
        <p:spPr>
          <a:xfrm>
            <a:off x="2004060" y="1933824"/>
            <a:ext cx="8229600" cy="4525963"/>
          </a:xfrm>
        </p:spPr>
        <p:txBody>
          <a:bodyPr>
            <a:normAutofit/>
          </a:bodyPr>
          <a:lstStyle/>
          <a:p>
            <a:pPr algn="r" rtl="1">
              <a:defRPr/>
            </a:pPr>
            <a:r>
              <a:rPr lang="he-IL" sz="3200" b="1" dirty="0">
                <a:solidFill>
                  <a:schemeClr val="tx1"/>
                </a:solidFill>
              </a:rPr>
              <a:t>דוגמאות נוספות:</a:t>
            </a:r>
          </a:p>
          <a:p>
            <a:pPr marL="0" indent="0">
              <a:buNone/>
              <a:defRPr/>
            </a:pPr>
            <a:endParaRPr lang="he-IL" sz="3200" b="1" dirty="0">
              <a:solidFill>
                <a:schemeClr val="tx1"/>
              </a:solidFill>
            </a:endParaRPr>
          </a:p>
          <a:p>
            <a:pPr algn="r" rtl="1">
              <a:defRPr/>
            </a:pPr>
            <a:endParaRPr lang="he-IL" sz="3200" b="1" dirty="0">
              <a:solidFill>
                <a:schemeClr val="tx1"/>
              </a:solidFill>
            </a:endParaRPr>
          </a:p>
          <a:p>
            <a:pPr algn="r" rtl="1">
              <a:defRPr/>
            </a:pPr>
            <a:endParaRPr lang="he-IL" sz="3200" b="1" dirty="0">
              <a:solidFill>
                <a:schemeClr val="tx1"/>
              </a:solidFill>
            </a:endParaRPr>
          </a:p>
          <a:p>
            <a:pPr algn="r" rtl="1">
              <a:defRPr/>
            </a:pPr>
            <a:endParaRPr lang="he-IL" sz="3200" b="1" dirty="0">
              <a:solidFill>
                <a:schemeClr val="tx1"/>
              </a:solidFill>
            </a:endParaRPr>
          </a:p>
          <a:p>
            <a:pPr algn="r" rtl="1">
              <a:defRPr/>
            </a:pPr>
            <a:endParaRPr lang="he-IL" sz="3200" b="1" dirty="0">
              <a:solidFill>
                <a:schemeClr val="tx1"/>
              </a:solidFill>
            </a:endParaRPr>
          </a:p>
          <a:p>
            <a:pPr algn="r" rtl="1">
              <a:defRPr/>
            </a:pPr>
            <a:endParaRPr lang="en-US" sz="3200" b="1" dirty="0">
              <a:solidFill>
                <a:schemeClr val="tx1"/>
              </a:solidFill>
            </a:endParaRPr>
          </a:p>
        </p:txBody>
      </p:sp>
      <p:sp>
        <p:nvSpPr>
          <p:cNvPr id="35850" name="Slide Number Placeholder 1">
            <a:extLst>
              <a:ext uri="{FF2B5EF4-FFF2-40B4-BE49-F238E27FC236}">
                <a16:creationId xmlns:a16="http://schemas.microsoft.com/office/drawing/2014/main" id="{1FE97764-2917-4F71-AA0E-9BA24D19F7B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3C0254F-5D50-4F7C-B1DD-CAE20F3269F5}" type="slidenum">
              <a:rPr lang="en-US" altLang="en-US" sz="1400">
                <a:solidFill>
                  <a:srgbClr val="000000"/>
                </a:solidFill>
              </a:rPr>
              <a:pPr>
                <a:spcBef>
                  <a:spcPct val="0"/>
                </a:spcBef>
                <a:buFontTx/>
                <a:buNone/>
              </a:pPr>
              <a:t>8</a:t>
            </a:fld>
            <a:endParaRPr lang="en-US" altLang="en-US" sz="1400">
              <a:solidFill>
                <a:srgbClr val="000000"/>
              </a:solidFill>
            </a:endParaRPr>
          </a:p>
        </p:txBody>
      </p:sp>
      <p:sp>
        <p:nvSpPr>
          <p:cNvPr id="35844" name="Rectangle 6">
            <a:extLst>
              <a:ext uri="{FF2B5EF4-FFF2-40B4-BE49-F238E27FC236}">
                <a16:creationId xmlns:a16="http://schemas.microsoft.com/office/drawing/2014/main" id="{F2AF4238-91CF-4242-BE92-29E2DCE3EBB8}"/>
              </a:ext>
            </a:extLst>
          </p:cNvPr>
          <p:cNvSpPr>
            <a:spLocks noChangeArrowheads="1"/>
          </p:cNvSpPr>
          <p:nvPr/>
        </p:nvSpPr>
        <p:spPr bwMode="auto">
          <a:xfrm>
            <a:off x="3644613" y="2341249"/>
            <a:ext cx="1524000" cy="25446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u="sng" dirty="0"/>
              <a:t>קוד:</a:t>
            </a:r>
          </a:p>
          <a:p>
            <a:pPr algn="ctr" rtl="1" eaLnBrk="1" hangingPunct="1">
              <a:spcBef>
                <a:spcPct val="0"/>
              </a:spcBef>
              <a:buFontTx/>
              <a:buNone/>
            </a:pPr>
            <a:endParaRPr lang="he-IL" altLang="en-US" sz="2000" dirty="0"/>
          </a:p>
          <a:p>
            <a:pPr algn="ctr" rtl="1" eaLnBrk="1" hangingPunct="1">
              <a:spcBef>
                <a:spcPct val="0"/>
              </a:spcBef>
              <a:buFontTx/>
              <a:buNone/>
            </a:pPr>
            <a:r>
              <a:rPr lang="he-IL" altLang="en-US" dirty="0"/>
              <a:t>11101</a:t>
            </a:r>
          </a:p>
          <a:p>
            <a:pPr algn="ctr" rtl="1" eaLnBrk="1" hangingPunct="1">
              <a:spcBef>
                <a:spcPct val="0"/>
              </a:spcBef>
              <a:buFontTx/>
              <a:buNone/>
            </a:pPr>
            <a:r>
              <a:rPr lang="he-IL" altLang="en-US" dirty="0"/>
              <a:t>0</a:t>
            </a:r>
            <a:r>
              <a:rPr lang="he-IL" altLang="en-US" b="1" dirty="0"/>
              <a:t>1</a:t>
            </a:r>
            <a:r>
              <a:rPr lang="he-IL" altLang="en-US" dirty="0"/>
              <a:t>0</a:t>
            </a:r>
            <a:r>
              <a:rPr lang="he-IL" altLang="en-US" b="1" dirty="0"/>
              <a:t>1</a:t>
            </a:r>
            <a:r>
              <a:rPr lang="he-IL" altLang="en-US" dirty="0"/>
              <a:t>0</a:t>
            </a:r>
          </a:p>
          <a:p>
            <a:pPr algn="ctr" rtl="1" eaLnBrk="1" hangingPunct="1">
              <a:spcBef>
                <a:spcPct val="0"/>
              </a:spcBef>
              <a:buFontTx/>
              <a:buNone/>
            </a:pPr>
            <a:r>
              <a:rPr lang="he-IL" altLang="en-US" dirty="0"/>
              <a:t>0</a:t>
            </a:r>
            <a:r>
              <a:rPr lang="he-IL" altLang="en-US" b="1" dirty="0"/>
              <a:t>0</a:t>
            </a:r>
            <a:r>
              <a:rPr lang="he-IL" altLang="en-US" dirty="0"/>
              <a:t>0</a:t>
            </a:r>
            <a:r>
              <a:rPr lang="he-IL" altLang="en-US" b="1" dirty="0"/>
              <a:t>0</a:t>
            </a:r>
            <a:r>
              <a:rPr lang="he-IL" altLang="en-US" dirty="0"/>
              <a:t>0</a:t>
            </a:r>
            <a:endParaRPr lang="en-US" altLang="en-US" dirty="0"/>
          </a:p>
        </p:txBody>
      </p:sp>
      <p:sp>
        <p:nvSpPr>
          <p:cNvPr id="35845" name="Text Box 7">
            <a:extLst>
              <a:ext uri="{FF2B5EF4-FFF2-40B4-BE49-F238E27FC236}">
                <a16:creationId xmlns:a16="http://schemas.microsoft.com/office/drawing/2014/main" id="{F77AF995-64BC-46E0-93A9-B71913E4A040}"/>
              </a:ext>
            </a:extLst>
          </p:cNvPr>
          <p:cNvSpPr txBox="1">
            <a:spLocks noChangeArrowheads="1"/>
          </p:cNvSpPr>
          <p:nvPr/>
        </p:nvSpPr>
        <p:spPr bwMode="auto">
          <a:xfrm>
            <a:off x="3298778" y="5269298"/>
            <a:ext cx="221567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he-IL" altLang="en-US" dirty="0"/>
              <a:t>מרחק קוד: 2</a:t>
            </a:r>
            <a:endParaRPr lang="en-US" altLang="en-US" dirty="0"/>
          </a:p>
        </p:txBody>
      </p:sp>
      <p:cxnSp>
        <p:nvCxnSpPr>
          <p:cNvPr id="35846" name="AutoShape 8">
            <a:extLst>
              <a:ext uri="{FF2B5EF4-FFF2-40B4-BE49-F238E27FC236}">
                <a16:creationId xmlns:a16="http://schemas.microsoft.com/office/drawing/2014/main" id="{3C38D6C3-CD3F-4DF2-9EBE-D3038B172E06}"/>
              </a:ext>
            </a:extLst>
          </p:cNvPr>
          <p:cNvCxnSpPr>
            <a:cxnSpLocks noChangeShapeType="1"/>
            <a:endCxn id="35844" idx="2"/>
          </p:cNvCxnSpPr>
          <p:nvPr/>
        </p:nvCxnSpPr>
        <p:spPr bwMode="auto">
          <a:xfrm flipV="1">
            <a:off x="4406613" y="4885937"/>
            <a:ext cx="0" cy="47148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847" name="Rectangle 9">
            <a:extLst>
              <a:ext uri="{FF2B5EF4-FFF2-40B4-BE49-F238E27FC236}">
                <a16:creationId xmlns:a16="http://schemas.microsoft.com/office/drawing/2014/main" id="{4A59ACC6-6CDA-407F-AC65-CE623A90BA05}"/>
              </a:ext>
            </a:extLst>
          </p:cNvPr>
          <p:cNvSpPr>
            <a:spLocks noChangeArrowheads="1"/>
          </p:cNvSpPr>
          <p:nvPr/>
        </p:nvSpPr>
        <p:spPr bwMode="auto">
          <a:xfrm>
            <a:off x="7320136" y="2708920"/>
            <a:ext cx="1524000" cy="204063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u="sng" dirty="0"/>
              <a:t>קוד:</a:t>
            </a:r>
          </a:p>
          <a:p>
            <a:pPr algn="ctr" rtl="1" eaLnBrk="1" hangingPunct="1">
              <a:spcBef>
                <a:spcPct val="0"/>
              </a:spcBef>
              <a:buFontTx/>
              <a:buNone/>
            </a:pPr>
            <a:endParaRPr lang="he-IL" altLang="en-US" sz="2000" dirty="0"/>
          </a:p>
          <a:p>
            <a:pPr algn="ctr" rtl="1" eaLnBrk="1" hangingPunct="1">
              <a:spcBef>
                <a:spcPct val="0"/>
              </a:spcBef>
              <a:buFontTx/>
              <a:buNone/>
            </a:pPr>
            <a:r>
              <a:rPr lang="he-IL" altLang="en-US" dirty="0"/>
              <a:t>000</a:t>
            </a:r>
          </a:p>
          <a:p>
            <a:pPr algn="ctr" rtl="1" eaLnBrk="1" hangingPunct="1">
              <a:spcBef>
                <a:spcPct val="0"/>
              </a:spcBef>
              <a:buFontTx/>
              <a:buNone/>
            </a:pPr>
            <a:r>
              <a:rPr lang="he-IL" altLang="en-US" b="1" dirty="0"/>
              <a:t>111</a:t>
            </a:r>
            <a:endParaRPr lang="en-US" altLang="en-US" b="1" dirty="0"/>
          </a:p>
        </p:txBody>
      </p:sp>
      <p:sp>
        <p:nvSpPr>
          <p:cNvPr id="35848" name="Text Box 10">
            <a:extLst>
              <a:ext uri="{FF2B5EF4-FFF2-40B4-BE49-F238E27FC236}">
                <a16:creationId xmlns:a16="http://schemas.microsoft.com/office/drawing/2014/main" id="{70BA37B1-E0B4-46FB-A4E6-BDB2266D8052}"/>
              </a:ext>
            </a:extLst>
          </p:cNvPr>
          <p:cNvSpPr txBox="1">
            <a:spLocks noChangeArrowheads="1"/>
          </p:cNvSpPr>
          <p:nvPr/>
        </p:nvSpPr>
        <p:spPr bwMode="auto">
          <a:xfrm>
            <a:off x="6974301" y="5067038"/>
            <a:ext cx="221567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he-IL" altLang="en-US" dirty="0"/>
              <a:t>מרחק קוד: 3</a:t>
            </a:r>
            <a:endParaRPr lang="en-US" altLang="en-US" dirty="0"/>
          </a:p>
        </p:txBody>
      </p:sp>
      <p:cxnSp>
        <p:nvCxnSpPr>
          <p:cNvPr id="35849" name="AutoShape 11">
            <a:extLst>
              <a:ext uri="{FF2B5EF4-FFF2-40B4-BE49-F238E27FC236}">
                <a16:creationId xmlns:a16="http://schemas.microsoft.com/office/drawing/2014/main" id="{7D8B2891-4E33-4550-9E43-133CA2DACA56}"/>
              </a:ext>
            </a:extLst>
          </p:cNvPr>
          <p:cNvCxnSpPr>
            <a:cxnSpLocks noChangeShapeType="1"/>
            <a:endCxn id="35847" idx="2"/>
          </p:cNvCxnSpPr>
          <p:nvPr/>
        </p:nvCxnSpPr>
        <p:spPr bwMode="auto">
          <a:xfrm flipV="1">
            <a:off x="8082136" y="4749553"/>
            <a:ext cx="0" cy="436079"/>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034682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8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8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8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5" grpId="0"/>
      <p:bldP spid="3584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E17572BD-C204-4401-8345-CE36A69103EB}"/>
              </a:ext>
            </a:extLst>
          </p:cNvPr>
          <p:cNvSpPr>
            <a:spLocks noGrp="1" noChangeArrowheads="1"/>
          </p:cNvSpPr>
          <p:nvPr>
            <p:ph type="title"/>
          </p:nvPr>
        </p:nvSpPr>
        <p:spPr/>
        <p:txBody>
          <a:bodyPr/>
          <a:lstStyle/>
          <a:p>
            <a:pPr algn="r" rtl="1"/>
            <a:r>
              <a:rPr lang="he-IL" altLang="en-US" dirty="0"/>
              <a:t>יכולת לגילוי</a:t>
            </a:r>
            <a:r>
              <a:rPr lang="en-US" altLang="en-US" dirty="0"/>
              <a:t>/</a:t>
            </a:r>
            <a:r>
              <a:rPr lang="he-IL" altLang="en-US" dirty="0"/>
              <a:t>תיקון שגיאות</a:t>
            </a:r>
            <a:endParaRPr lang="en-US" altLang="en-US" dirty="0"/>
          </a:p>
        </p:txBody>
      </p:sp>
      <p:sp>
        <p:nvSpPr>
          <p:cNvPr id="36867" name="Rectangle 3">
            <a:extLst>
              <a:ext uri="{FF2B5EF4-FFF2-40B4-BE49-F238E27FC236}">
                <a16:creationId xmlns:a16="http://schemas.microsoft.com/office/drawing/2014/main" id="{8F49EB3A-5C64-48DC-8A81-693AAE593A75}"/>
              </a:ext>
            </a:extLst>
          </p:cNvPr>
          <p:cNvSpPr>
            <a:spLocks noGrp="1" noChangeArrowheads="1"/>
          </p:cNvSpPr>
          <p:nvPr>
            <p:ph idx="1"/>
          </p:nvPr>
        </p:nvSpPr>
        <p:spPr>
          <a:xfrm>
            <a:off x="1097280" y="1845734"/>
            <a:ext cx="10058400" cy="2407484"/>
          </a:xfrm>
        </p:spPr>
        <p:txBody>
          <a:bodyPr>
            <a:normAutofit lnSpcReduction="10000"/>
          </a:bodyPr>
          <a:lstStyle/>
          <a:p>
            <a:pPr algn="r" rtl="1"/>
            <a:r>
              <a:rPr lang="he-IL" altLang="en-US" sz="3200" b="1" dirty="0">
                <a:solidFill>
                  <a:schemeClr val="tx1"/>
                </a:solidFill>
              </a:rPr>
              <a:t>המרחק המינימלי</a:t>
            </a:r>
            <a:r>
              <a:rPr lang="he-IL" altLang="en-US" sz="3200" dirty="0">
                <a:solidFill>
                  <a:schemeClr val="tx1"/>
                </a:solidFill>
              </a:rPr>
              <a:t> קובע את יכולת הגילוי/תיקון של קוד.</a:t>
            </a:r>
            <a:endParaRPr lang="en-US" altLang="en-US" sz="3200" dirty="0">
              <a:solidFill>
                <a:schemeClr val="tx1"/>
              </a:solidFill>
            </a:endParaRPr>
          </a:p>
          <a:p>
            <a:pPr algn="r" rtl="1"/>
            <a:endParaRPr lang="en-US" altLang="en-US" sz="3200" dirty="0">
              <a:solidFill>
                <a:schemeClr val="tx1"/>
              </a:solidFill>
            </a:endParaRPr>
          </a:p>
          <a:p>
            <a:pPr algn="r" rtl="1"/>
            <a:r>
              <a:rPr lang="he-IL" altLang="en-US" sz="3200" dirty="0">
                <a:solidFill>
                  <a:schemeClr val="tx1"/>
                </a:solidFill>
              </a:rPr>
              <a:t>כאשר מנתחים יכולת גילוי שגיאות של קוד, עלינו להניח מה מספר השגיאות המקסימלי שעלולות להתרחש בזמן שידור.</a:t>
            </a:r>
            <a:br>
              <a:rPr lang="en-US" altLang="en-US" sz="3200" dirty="0">
                <a:solidFill>
                  <a:schemeClr val="tx1"/>
                </a:solidFill>
              </a:rPr>
            </a:br>
            <a:endParaRPr lang="he-IL" altLang="en-US" sz="3200" dirty="0">
              <a:solidFill>
                <a:schemeClr val="tx1"/>
              </a:solidFill>
            </a:endParaRPr>
          </a:p>
        </p:txBody>
      </p:sp>
      <p:sp>
        <p:nvSpPr>
          <p:cNvPr id="36868" name="Slide Number Placeholder 1">
            <a:extLst>
              <a:ext uri="{FF2B5EF4-FFF2-40B4-BE49-F238E27FC236}">
                <a16:creationId xmlns:a16="http://schemas.microsoft.com/office/drawing/2014/main" id="{E49EB18C-0F2F-4AD4-B8F3-C8FF2ECDC7B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D131C57-AB73-46AE-9907-C7B4756A0BB8}" type="slidenum">
              <a:rPr lang="en-US" altLang="en-US" sz="1400">
                <a:solidFill>
                  <a:srgbClr val="000000"/>
                </a:solidFill>
              </a:rPr>
              <a:pPr>
                <a:spcBef>
                  <a:spcPct val="0"/>
                </a:spcBef>
                <a:buFontTx/>
                <a:buNone/>
              </a:pPr>
              <a:t>9</a:t>
            </a:fld>
            <a:endParaRPr lang="en-US" altLang="en-US" sz="1400">
              <a:solidFill>
                <a:srgbClr val="000000"/>
              </a:solidFill>
            </a:endParaRPr>
          </a:p>
        </p:txBody>
      </p:sp>
      <p:sp>
        <p:nvSpPr>
          <p:cNvPr id="2" name="Rectangle 3">
            <a:extLst>
              <a:ext uri="{FF2B5EF4-FFF2-40B4-BE49-F238E27FC236}">
                <a16:creationId xmlns:a16="http://schemas.microsoft.com/office/drawing/2014/main" id="{26F2E7B2-2AB3-F710-6288-772767600AD7}"/>
              </a:ext>
            </a:extLst>
          </p:cNvPr>
          <p:cNvSpPr txBox="1">
            <a:spLocks noChangeArrowheads="1"/>
          </p:cNvSpPr>
          <p:nvPr/>
        </p:nvSpPr>
        <p:spPr>
          <a:xfrm>
            <a:off x="1154083" y="3916899"/>
            <a:ext cx="10058400" cy="2407484"/>
          </a:xfrm>
          <a:prstGeom prst="rect">
            <a:avLst/>
          </a:prstGeom>
        </p:spPr>
        <p:txBody>
          <a:bodyPr vert="horz" lIns="0" tIns="45720" rIns="0" bIns="45720" rtlCol="0">
            <a:normAutofit/>
          </a:bodyPr>
          <a:lst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he-IL" altLang="en-US" sz="3200" b="1" dirty="0">
                <a:solidFill>
                  <a:schemeClr val="tx1"/>
                </a:solidFill>
              </a:rPr>
              <a:t>על מנת לגלות שגיאה, עלינו להבטיח שמילים שגויות לא יהיו זהות למילים תקינות בקוד. </a:t>
            </a:r>
            <a:endParaRPr lang="he-IL" altLang="en-US" sz="3200" dirty="0">
              <a:solidFill>
                <a:schemeClr val="tx1"/>
              </a:solidFill>
            </a:endParaRPr>
          </a:p>
        </p:txBody>
      </p:sp>
    </p:spTree>
    <p:extLst>
      <p:ext uri="{BB962C8B-B14F-4D97-AF65-F5344CB8AC3E}">
        <p14:creationId xmlns:p14="http://schemas.microsoft.com/office/powerpoint/2010/main" val="70081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B4168BF-B97B-415D-9175-A04AE4BC5D73}"/>
              </a:ext>
            </a:extLst>
          </p:cNvPr>
          <p:cNvSpPr>
            <a:spLocks noGrp="1" noChangeArrowheads="1"/>
          </p:cNvSpPr>
          <p:nvPr>
            <p:ph type="title"/>
          </p:nvPr>
        </p:nvSpPr>
        <p:spPr>
          <a:xfrm>
            <a:off x="1097280" y="974431"/>
            <a:ext cx="10058400" cy="762929"/>
          </a:xfrm>
        </p:spPr>
        <p:txBody>
          <a:bodyPr/>
          <a:lstStyle/>
          <a:p>
            <a:pPr algn="r"/>
            <a:r>
              <a:rPr lang="he-IL" altLang="en-US" b="1" dirty="0"/>
              <a:t>גילוי</a:t>
            </a:r>
            <a:r>
              <a:rPr lang="he-IL" altLang="en-US" dirty="0"/>
              <a:t> שגיאות</a:t>
            </a:r>
            <a:endParaRPr lang="en-US" altLang="en-US" dirty="0"/>
          </a:p>
        </p:txBody>
      </p:sp>
      <p:sp>
        <p:nvSpPr>
          <p:cNvPr id="37891" name="Rectangle 3">
            <a:extLst>
              <a:ext uri="{FF2B5EF4-FFF2-40B4-BE49-F238E27FC236}">
                <a16:creationId xmlns:a16="http://schemas.microsoft.com/office/drawing/2014/main" id="{0D97C8D5-04CF-41A7-A7A4-2261F6A79576}"/>
              </a:ext>
            </a:extLst>
          </p:cNvPr>
          <p:cNvSpPr>
            <a:spLocks noGrp="1" noChangeArrowheads="1"/>
          </p:cNvSpPr>
          <p:nvPr>
            <p:ph idx="1"/>
          </p:nvPr>
        </p:nvSpPr>
        <p:spPr>
          <a:xfrm>
            <a:off x="1559498" y="1845734"/>
            <a:ext cx="8856983" cy="4023360"/>
          </a:xfrm>
        </p:spPr>
        <p:txBody>
          <a:bodyPr>
            <a:normAutofit/>
          </a:bodyPr>
          <a:lstStyle/>
          <a:p>
            <a:pPr algn="r" rtl="1"/>
            <a:r>
              <a:rPr lang="he-IL" altLang="en-US" sz="3200" dirty="0">
                <a:solidFill>
                  <a:schemeClr val="tx1"/>
                </a:solidFill>
              </a:rPr>
              <a:t>אם המרחק המינימאלי הוא </a:t>
            </a:r>
            <a:r>
              <a:rPr lang="he-IL" altLang="en-US" sz="3200" b="1" dirty="0">
                <a:solidFill>
                  <a:schemeClr val="tx1"/>
                </a:solidFill>
              </a:rPr>
              <a:t>2</a:t>
            </a:r>
            <a:r>
              <a:rPr lang="he-IL" altLang="en-US" sz="3200" dirty="0">
                <a:solidFill>
                  <a:schemeClr val="tx1"/>
                </a:solidFill>
              </a:rPr>
              <a:t>, ובמילת קוד נפלה טעות </a:t>
            </a:r>
            <a:r>
              <a:rPr lang="he-IL" altLang="en-US" sz="3200" u="sng" dirty="0">
                <a:solidFill>
                  <a:schemeClr val="tx1"/>
                </a:solidFill>
              </a:rPr>
              <a:t>אחת בלבד</a:t>
            </a:r>
            <a:r>
              <a:rPr lang="he-IL" altLang="en-US" sz="3200" dirty="0">
                <a:solidFill>
                  <a:schemeClr val="tx1"/>
                </a:solidFill>
              </a:rPr>
              <a:t>, ניתן לגלות אותה, אבל לא לתקנה.</a:t>
            </a:r>
            <a:endParaRPr lang="en-US" altLang="en-US" sz="3200" u="sng" dirty="0">
              <a:solidFill>
                <a:schemeClr val="tx1"/>
              </a:solidFill>
            </a:endParaRPr>
          </a:p>
        </p:txBody>
      </p:sp>
      <p:sp>
        <p:nvSpPr>
          <p:cNvPr id="37898" name="Slide Number Placeholder 1">
            <a:extLst>
              <a:ext uri="{FF2B5EF4-FFF2-40B4-BE49-F238E27FC236}">
                <a16:creationId xmlns:a16="http://schemas.microsoft.com/office/drawing/2014/main" id="{8C4D975A-6793-43DD-AB5D-6990085946B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D845C5F-62A3-48E0-9872-70AF71969FB0}" type="slidenum">
              <a:rPr lang="en-US" altLang="en-US" sz="1400">
                <a:solidFill>
                  <a:srgbClr val="000000"/>
                </a:solidFill>
              </a:rPr>
              <a:pPr>
                <a:spcBef>
                  <a:spcPct val="0"/>
                </a:spcBef>
                <a:buFontTx/>
                <a:buNone/>
              </a:pPr>
              <a:t>10</a:t>
            </a:fld>
            <a:endParaRPr lang="en-US" altLang="en-US" sz="1400">
              <a:solidFill>
                <a:srgbClr val="000000"/>
              </a:solidFill>
            </a:endParaRPr>
          </a:p>
        </p:txBody>
      </p:sp>
      <p:sp>
        <p:nvSpPr>
          <p:cNvPr id="37892" name="Rectangle 4">
            <a:extLst>
              <a:ext uri="{FF2B5EF4-FFF2-40B4-BE49-F238E27FC236}">
                <a16:creationId xmlns:a16="http://schemas.microsoft.com/office/drawing/2014/main" id="{3F07C1C7-B05A-4721-96D3-BC650BDB0E70}"/>
              </a:ext>
            </a:extLst>
          </p:cNvPr>
          <p:cNvSpPr>
            <a:spLocks noChangeArrowheads="1"/>
          </p:cNvSpPr>
          <p:nvPr/>
        </p:nvSpPr>
        <p:spPr bwMode="auto">
          <a:xfrm>
            <a:off x="2667000" y="3140968"/>
            <a:ext cx="1524000" cy="234543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2800" u="sng"/>
              <a:t>קוד:</a:t>
            </a:r>
          </a:p>
          <a:p>
            <a:pPr algn="ctr" rtl="1" eaLnBrk="1" hangingPunct="1">
              <a:spcBef>
                <a:spcPct val="0"/>
              </a:spcBef>
              <a:buFontTx/>
              <a:buNone/>
            </a:pPr>
            <a:endParaRPr lang="he-IL" altLang="en-US" sz="2800"/>
          </a:p>
          <a:p>
            <a:pPr algn="ctr" rtl="1" eaLnBrk="1" hangingPunct="1">
              <a:spcBef>
                <a:spcPct val="0"/>
              </a:spcBef>
              <a:buFontTx/>
              <a:buNone/>
            </a:pPr>
            <a:r>
              <a:rPr lang="he-IL" altLang="en-US" sz="2800"/>
              <a:t>11101</a:t>
            </a:r>
          </a:p>
          <a:p>
            <a:pPr algn="ctr" rtl="1" eaLnBrk="1" hangingPunct="1">
              <a:spcBef>
                <a:spcPct val="0"/>
              </a:spcBef>
              <a:buFontTx/>
              <a:buNone/>
            </a:pPr>
            <a:r>
              <a:rPr lang="he-IL" altLang="en-US" sz="2800"/>
              <a:t>0</a:t>
            </a:r>
            <a:r>
              <a:rPr lang="he-IL" altLang="en-US" sz="2800" b="1"/>
              <a:t>1</a:t>
            </a:r>
            <a:r>
              <a:rPr lang="he-IL" altLang="en-US" sz="2800"/>
              <a:t>0</a:t>
            </a:r>
            <a:r>
              <a:rPr lang="he-IL" altLang="en-US" sz="2800" b="1"/>
              <a:t>1</a:t>
            </a:r>
            <a:r>
              <a:rPr lang="he-IL" altLang="en-US" sz="2800"/>
              <a:t>0</a:t>
            </a:r>
          </a:p>
          <a:p>
            <a:pPr algn="ctr" rtl="1" eaLnBrk="1" hangingPunct="1">
              <a:spcBef>
                <a:spcPct val="0"/>
              </a:spcBef>
              <a:buFontTx/>
              <a:buNone/>
            </a:pPr>
            <a:r>
              <a:rPr lang="he-IL" altLang="en-US" sz="2800"/>
              <a:t>0</a:t>
            </a:r>
            <a:r>
              <a:rPr lang="he-IL" altLang="en-US" sz="2800" b="1"/>
              <a:t>0</a:t>
            </a:r>
            <a:r>
              <a:rPr lang="he-IL" altLang="en-US" sz="2800"/>
              <a:t>0</a:t>
            </a:r>
            <a:r>
              <a:rPr lang="he-IL" altLang="en-US" sz="2800" b="1"/>
              <a:t>0</a:t>
            </a:r>
            <a:r>
              <a:rPr lang="he-IL" altLang="en-US" sz="2800"/>
              <a:t>0</a:t>
            </a:r>
            <a:endParaRPr lang="en-US" altLang="en-US" sz="2800"/>
          </a:p>
        </p:txBody>
      </p:sp>
      <p:sp>
        <p:nvSpPr>
          <p:cNvPr id="37893" name="Rectangle 5">
            <a:extLst>
              <a:ext uri="{FF2B5EF4-FFF2-40B4-BE49-F238E27FC236}">
                <a16:creationId xmlns:a16="http://schemas.microsoft.com/office/drawing/2014/main" id="{E686E815-9265-47C3-8D05-B1DF8A5C6466}"/>
              </a:ext>
            </a:extLst>
          </p:cNvPr>
          <p:cNvSpPr>
            <a:spLocks noChangeArrowheads="1"/>
          </p:cNvSpPr>
          <p:nvPr/>
        </p:nvSpPr>
        <p:spPr bwMode="auto">
          <a:xfrm>
            <a:off x="6138588" y="2946584"/>
            <a:ext cx="3891136"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2800" dirty="0"/>
              <a:t>נשלח: 000</a:t>
            </a:r>
            <a:r>
              <a:rPr lang="he-IL" altLang="en-US" sz="2800" b="1" dirty="0"/>
              <a:t>0</a:t>
            </a:r>
            <a:r>
              <a:rPr lang="he-IL" altLang="en-US" sz="2800" dirty="0"/>
              <a:t>0 או 0</a:t>
            </a:r>
            <a:r>
              <a:rPr lang="he-IL" altLang="en-US" sz="2800" b="1" dirty="0"/>
              <a:t>1</a:t>
            </a:r>
            <a:r>
              <a:rPr lang="he-IL" altLang="en-US" sz="2800" dirty="0"/>
              <a:t>010</a:t>
            </a:r>
            <a:endParaRPr lang="en-US" altLang="en-US" sz="2800" dirty="0"/>
          </a:p>
        </p:txBody>
      </p:sp>
      <p:sp>
        <p:nvSpPr>
          <p:cNvPr id="37894" name="Rectangle 6">
            <a:extLst>
              <a:ext uri="{FF2B5EF4-FFF2-40B4-BE49-F238E27FC236}">
                <a16:creationId xmlns:a16="http://schemas.microsoft.com/office/drawing/2014/main" id="{95288275-7D64-484F-AAC7-F82ABA21F1FC}"/>
              </a:ext>
            </a:extLst>
          </p:cNvPr>
          <p:cNvSpPr>
            <a:spLocks noChangeArrowheads="1"/>
          </p:cNvSpPr>
          <p:nvPr/>
        </p:nvSpPr>
        <p:spPr bwMode="auto">
          <a:xfrm>
            <a:off x="6744072" y="5273969"/>
            <a:ext cx="26670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2800" dirty="0"/>
              <a:t>התקבל: 000</a:t>
            </a:r>
            <a:r>
              <a:rPr lang="he-IL" altLang="en-US" sz="2800" b="1" dirty="0"/>
              <a:t>1</a:t>
            </a:r>
            <a:r>
              <a:rPr lang="he-IL" altLang="en-US" sz="2800" dirty="0"/>
              <a:t>0</a:t>
            </a:r>
            <a:endParaRPr lang="en-US" altLang="en-US" sz="2800" dirty="0"/>
          </a:p>
        </p:txBody>
      </p:sp>
      <p:cxnSp>
        <p:nvCxnSpPr>
          <p:cNvPr id="37895" name="AutoShape 7">
            <a:extLst>
              <a:ext uri="{FF2B5EF4-FFF2-40B4-BE49-F238E27FC236}">
                <a16:creationId xmlns:a16="http://schemas.microsoft.com/office/drawing/2014/main" id="{7D617A79-3C2B-41C8-A06A-A66A62AC1748}"/>
              </a:ext>
            </a:extLst>
          </p:cNvPr>
          <p:cNvCxnSpPr>
            <a:cxnSpLocks noChangeShapeType="1"/>
            <a:stCxn id="37893" idx="2"/>
            <a:endCxn id="37894" idx="0"/>
          </p:cNvCxnSpPr>
          <p:nvPr/>
        </p:nvCxnSpPr>
        <p:spPr bwMode="auto">
          <a:xfrm flipH="1">
            <a:off x="8077572" y="3556185"/>
            <a:ext cx="6584" cy="171778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896" name="Text Box 8">
            <a:extLst>
              <a:ext uri="{FF2B5EF4-FFF2-40B4-BE49-F238E27FC236}">
                <a16:creationId xmlns:a16="http://schemas.microsoft.com/office/drawing/2014/main" id="{57482026-E91C-4F5C-A0FF-141B396193D1}"/>
              </a:ext>
            </a:extLst>
          </p:cNvPr>
          <p:cNvSpPr txBox="1">
            <a:spLocks noChangeArrowheads="1"/>
          </p:cNvSpPr>
          <p:nvPr/>
        </p:nvSpPr>
        <p:spPr bwMode="auto">
          <a:xfrm rot="5400000">
            <a:off x="7511241" y="4130523"/>
            <a:ext cx="1653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he-IL" altLang="en-US" sz="2800" dirty="0"/>
              <a:t>טעות אחת</a:t>
            </a:r>
            <a:endParaRPr lang="en-US" altLang="en-US" sz="2800" dirty="0"/>
          </a:p>
        </p:txBody>
      </p:sp>
      <p:sp>
        <p:nvSpPr>
          <p:cNvPr id="37897" name="AutoShape 9">
            <a:extLst>
              <a:ext uri="{FF2B5EF4-FFF2-40B4-BE49-F238E27FC236}">
                <a16:creationId xmlns:a16="http://schemas.microsoft.com/office/drawing/2014/main" id="{BA76FAEE-4E92-44E8-A3E5-2E3887917DFB}"/>
              </a:ext>
            </a:extLst>
          </p:cNvPr>
          <p:cNvSpPr>
            <a:spLocks noChangeArrowheads="1"/>
          </p:cNvSpPr>
          <p:nvPr/>
        </p:nvSpPr>
        <p:spPr bwMode="auto">
          <a:xfrm>
            <a:off x="2209800" y="2852936"/>
            <a:ext cx="2438400" cy="2938264"/>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he-IL" altLang="en-US" sz="2800"/>
          </a:p>
        </p:txBody>
      </p:sp>
    </p:spTree>
    <p:extLst>
      <p:ext uri="{BB962C8B-B14F-4D97-AF65-F5344CB8AC3E}">
        <p14:creationId xmlns:p14="http://schemas.microsoft.com/office/powerpoint/2010/main" val="3748003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F1037-F9DA-2291-1CA1-BD9A6C92961F}"/>
            </a:ext>
          </a:extLst>
        </p:cNvPr>
        <p:cNvGrpSpPr/>
        <p:nvPr/>
      </p:nvGrpSpPr>
      <p:grpSpPr>
        <a:xfrm>
          <a:off x="0" y="0"/>
          <a:ext cx="0" cy="0"/>
          <a:chOff x="0" y="0"/>
          <a:chExt cx="0" cy="0"/>
        </a:xfrm>
      </p:grpSpPr>
      <p:sp>
        <p:nvSpPr>
          <p:cNvPr id="37890" name="Rectangle 2">
            <a:extLst>
              <a:ext uri="{FF2B5EF4-FFF2-40B4-BE49-F238E27FC236}">
                <a16:creationId xmlns:a16="http://schemas.microsoft.com/office/drawing/2014/main" id="{57C80827-D35C-2BCC-74D3-13490EE5C703}"/>
              </a:ext>
            </a:extLst>
          </p:cNvPr>
          <p:cNvSpPr>
            <a:spLocks noGrp="1" noChangeArrowheads="1"/>
          </p:cNvSpPr>
          <p:nvPr>
            <p:ph type="title"/>
          </p:nvPr>
        </p:nvSpPr>
        <p:spPr>
          <a:xfrm>
            <a:off x="1097280" y="974431"/>
            <a:ext cx="10058400" cy="762929"/>
          </a:xfrm>
        </p:spPr>
        <p:txBody>
          <a:bodyPr/>
          <a:lstStyle/>
          <a:p>
            <a:pPr algn="r"/>
            <a:r>
              <a:rPr lang="he-IL" altLang="en-US" b="1" dirty="0"/>
              <a:t>גילוי</a:t>
            </a:r>
            <a:r>
              <a:rPr lang="he-IL" altLang="en-US" dirty="0"/>
              <a:t> שגיאות</a:t>
            </a:r>
            <a:endParaRPr lang="en-US" altLang="en-US" dirty="0"/>
          </a:p>
        </p:txBody>
      </p:sp>
      <p:sp>
        <p:nvSpPr>
          <p:cNvPr id="37891" name="Rectangle 3">
            <a:extLst>
              <a:ext uri="{FF2B5EF4-FFF2-40B4-BE49-F238E27FC236}">
                <a16:creationId xmlns:a16="http://schemas.microsoft.com/office/drawing/2014/main" id="{F8EB0639-9B3B-CD61-4A67-B0396D5CED30}"/>
              </a:ext>
            </a:extLst>
          </p:cNvPr>
          <p:cNvSpPr>
            <a:spLocks noGrp="1" noChangeArrowheads="1"/>
          </p:cNvSpPr>
          <p:nvPr>
            <p:ph idx="1"/>
          </p:nvPr>
        </p:nvSpPr>
        <p:spPr>
          <a:xfrm>
            <a:off x="1559498" y="1845734"/>
            <a:ext cx="8856983" cy="4023360"/>
          </a:xfrm>
        </p:spPr>
        <p:txBody>
          <a:bodyPr>
            <a:normAutofit/>
          </a:bodyPr>
          <a:lstStyle/>
          <a:p>
            <a:pPr algn="r" rtl="1"/>
            <a:r>
              <a:rPr lang="he-IL" altLang="en-US" sz="3200" dirty="0">
                <a:solidFill>
                  <a:schemeClr val="tx1"/>
                </a:solidFill>
              </a:rPr>
              <a:t>אם המרחק המינימאלי הוא </a:t>
            </a:r>
            <a:r>
              <a:rPr lang="he-IL" altLang="en-US" sz="3200" b="1" dirty="0">
                <a:solidFill>
                  <a:schemeClr val="tx1"/>
                </a:solidFill>
              </a:rPr>
              <a:t>2</a:t>
            </a:r>
            <a:r>
              <a:rPr lang="he-IL" altLang="en-US" sz="3200" dirty="0">
                <a:solidFill>
                  <a:schemeClr val="tx1"/>
                </a:solidFill>
              </a:rPr>
              <a:t>, ובמילת קוד נפלו </a:t>
            </a:r>
            <a:r>
              <a:rPr lang="he-IL" altLang="en-US" sz="3200" b="1" dirty="0">
                <a:solidFill>
                  <a:schemeClr val="tx1"/>
                </a:solidFill>
              </a:rPr>
              <a:t>2</a:t>
            </a:r>
            <a:r>
              <a:rPr lang="he-IL" altLang="en-US" sz="3200" dirty="0">
                <a:solidFill>
                  <a:schemeClr val="tx1"/>
                </a:solidFill>
              </a:rPr>
              <a:t> טעויות  אזי </a:t>
            </a:r>
            <a:r>
              <a:rPr lang="he-IL" altLang="en-US" sz="3200" b="1" dirty="0">
                <a:solidFill>
                  <a:schemeClr val="tx1"/>
                </a:solidFill>
              </a:rPr>
              <a:t>לא נוכל להבטיח </a:t>
            </a:r>
            <a:r>
              <a:rPr lang="he-IL" altLang="en-US" sz="3200" dirty="0">
                <a:solidFill>
                  <a:schemeClr val="tx1"/>
                </a:solidFill>
              </a:rPr>
              <a:t>גילוי של השגיאה.</a:t>
            </a:r>
            <a:endParaRPr lang="en-US" altLang="en-US" sz="3200" dirty="0">
              <a:solidFill>
                <a:schemeClr val="tx1"/>
              </a:solidFill>
            </a:endParaRPr>
          </a:p>
        </p:txBody>
      </p:sp>
      <p:sp>
        <p:nvSpPr>
          <p:cNvPr id="37898" name="Slide Number Placeholder 1">
            <a:extLst>
              <a:ext uri="{FF2B5EF4-FFF2-40B4-BE49-F238E27FC236}">
                <a16:creationId xmlns:a16="http://schemas.microsoft.com/office/drawing/2014/main" id="{FC9F639F-9A58-3D1E-39FF-F1304396B8B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D845C5F-62A3-48E0-9872-70AF71969FB0}" type="slidenum">
              <a:rPr lang="en-US" altLang="en-US" sz="1400">
                <a:solidFill>
                  <a:srgbClr val="000000"/>
                </a:solidFill>
              </a:rPr>
              <a:pPr>
                <a:spcBef>
                  <a:spcPct val="0"/>
                </a:spcBef>
                <a:buFontTx/>
                <a:buNone/>
              </a:pPr>
              <a:t>11</a:t>
            </a:fld>
            <a:endParaRPr lang="en-US" altLang="en-US" sz="1400">
              <a:solidFill>
                <a:srgbClr val="000000"/>
              </a:solidFill>
            </a:endParaRPr>
          </a:p>
        </p:txBody>
      </p:sp>
      <p:grpSp>
        <p:nvGrpSpPr>
          <p:cNvPr id="2" name="Group 1">
            <a:extLst>
              <a:ext uri="{FF2B5EF4-FFF2-40B4-BE49-F238E27FC236}">
                <a16:creationId xmlns:a16="http://schemas.microsoft.com/office/drawing/2014/main" id="{4694EAAF-3CE8-9F7A-C570-9CB61B8C4A3E}"/>
              </a:ext>
            </a:extLst>
          </p:cNvPr>
          <p:cNvGrpSpPr/>
          <p:nvPr/>
        </p:nvGrpSpPr>
        <p:grpSpPr>
          <a:xfrm>
            <a:off x="6400356" y="3860600"/>
            <a:ext cx="5101468" cy="1636768"/>
            <a:chOff x="2209800" y="2852936"/>
            <a:chExt cx="8131180" cy="2938264"/>
          </a:xfrm>
        </p:grpSpPr>
        <p:sp>
          <p:nvSpPr>
            <p:cNvPr id="37892" name="Rectangle 4">
              <a:extLst>
                <a:ext uri="{FF2B5EF4-FFF2-40B4-BE49-F238E27FC236}">
                  <a16:creationId xmlns:a16="http://schemas.microsoft.com/office/drawing/2014/main" id="{C97D62DD-C5F6-C051-2056-535BFA4F125C}"/>
                </a:ext>
              </a:extLst>
            </p:cNvPr>
            <p:cNvSpPr>
              <a:spLocks noChangeArrowheads="1"/>
            </p:cNvSpPr>
            <p:nvPr/>
          </p:nvSpPr>
          <p:spPr bwMode="auto">
            <a:xfrm>
              <a:off x="2667000" y="3140968"/>
              <a:ext cx="1524000" cy="234543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1800" u="sng" dirty="0"/>
                <a:t>קוד:</a:t>
              </a:r>
            </a:p>
            <a:p>
              <a:pPr algn="ctr" rtl="1" eaLnBrk="1" hangingPunct="1">
                <a:spcBef>
                  <a:spcPct val="0"/>
                </a:spcBef>
                <a:buFontTx/>
                <a:buNone/>
              </a:pPr>
              <a:endParaRPr lang="he-IL" altLang="en-US" sz="1800" dirty="0"/>
            </a:p>
            <a:p>
              <a:pPr algn="ctr" rtl="1" eaLnBrk="1" hangingPunct="1">
                <a:spcBef>
                  <a:spcPct val="0"/>
                </a:spcBef>
                <a:buFontTx/>
                <a:buNone/>
              </a:pPr>
              <a:r>
                <a:rPr lang="he-IL" altLang="en-US" sz="1800" dirty="0"/>
                <a:t>11101</a:t>
              </a:r>
            </a:p>
            <a:p>
              <a:pPr algn="ctr" rtl="1" eaLnBrk="1" hangingPunct="1">
                <a:spcBef>
                  <a:spcPct val="0"/>
                </a:spcBef>
                <a:buFontTx/>
                <a:buNone/>
              </a:pPr>
              <a:r>
                <a:rPr lang="he-IL" altLang="en-US" sz="1800" dirty="0"/>
                <a:t>01010</a:t>
              </a:r>
            </a:p>
            <a:p>
              <a:pPr algn="ctr" rtl="1" eaLnBrk="1" hangingPunct="1">
                <a:spcBef>
                  <a:spcPct val="0"/>
                </a:spcBef>
                <a:buFontTx/>
                <a:buNone/>
              </a:pPr>
              <a:r>
                <a:rPr lang="he-IL" altLang="en-US" sz="1800" dirty="0"/>
                <a:t>00000</a:t>
              </a:r>
              <a:endParaRPr lang="en-US" altLang="en-US" sz="1800" dirty="0"/>
            </a:p>
          </p:txBody>
        </p:sp>
        <p:sp>
          <p:nvSpPr>
            <p:cNvPr id="37894" name="Rectangle 6">
              <a:extLst>
                <a:ext uri="{FF2B5EF4-FFF2-40B4-BE49-F238E27FC236}">
                  <a16:creationId xmlns:a16="http://schemas.microsoft.com/office/drawing/2014/main" id="{87F9B5E0-B049-95F8-B2F7-41C082D83C37}"/>
                </a:ext>
              </a:extLst>
            </p:cNvPr>
            <p:cNvSpPr>
              <a:spLocks noChangeArrowheads="1"/>
            </p:cNvSpPr>
            <p:nvPr/>
          </p:nvSpPr>
          <p:spPr bwMode="auto">
            <a:xfrm>
              <a:off x="7673980" y="3327724"/>
              <a:ext cx="26670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1800" dirty="0"/>
                <a:t>התקבל: 01001</a:t>
              </a:r>
              <a:endParaRPr lang="en-US" altLang="en-US" sz="1800" dirty="0"/>
            </a:p>
          </p:txBody>
        </p:sp>
        <p:sp>
          <p:nvSpPr>
            <p:cNvPr id="37897" name="AutoShape 9">
              <a:extLst>
                <a:ext uri="{FF2B5EF4-FFF2-40B4-BE49-F238E27FC236}">
                  <a16:creationId xmlns:a16="http://schemas.microsoft.com/office/drawing/2014/main" id="{FA30F4FF-08DE-87D4-4E7A-2AC3BA0A12F5}"/>
                </a:ext>
              </a:extLst>
            </p:cNvPr>
            <p:cNvSpPr>
              <a:spLocks noChangeArrowheads="1"/>
            </p:cNvSpPr>
            <p:nvPr/>
          </p:nvSpPr>
          <p:spPr bwMode="auto">
            <a:xfrm>
              <a:off x="2209800" y="2852936"/>
              <a:ext cx="2438400" cy="2938264"/>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algn="l" defTabSz="914400" rtl="0" eaLnBrk="1" latinLnBrk="0" hangingPunct="1">
                <a:spcBef>
                  <a:spcPct val="0"/>
                </a:spcBef>
                <a:buFontTx/>
                <a:buNone/>
              </a:pPr>
              <a:endParaRPr lang="he-IL" altLang="en-US" sz="1800"/>
            </a:p>
          </p:txBody>
        </p:sp>
        <p:cxnSp>
          <p:nvCxnSpPr>
            <p:cNvPr id="3" name="AutoShape 7">
              <a:extLst>
                <a:ext uri="{FF2B5EF4-FFF2-40B4-BE49-F238E27FC236}">
                  <a16:creationId xmlns:a16="http://schemas.microsoft.com/office/drawing/2014/main" id="{305AF0C9-9952-4D14-BD0F-0343F034B135}"/>
                </a:ext>
              </a:extLst>
            </p:cNvPr>
            <p:cNvCxnSpPr>
              <a:cxnSpLocks noChangeShapeType="1"/>
              <a:stCxn id="37894" idx="1"/>
            </p:cNvCxnSpPr>
            <p:nvPr/>
          </p:nvCxnSpPr>
          <p:spPr bwMode="auto">
            <a:xfrm flipH="1">
              <a:off x="3926048" y="3632524"/>
              <a:ext cx="3747932" cy="68116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AutoShape 7">
              <a:extLst>
                <a:ext uri="{FF2B5EF4-FFF2-40B4-BE49-F238E27FC236}">
                  <a16:creationId xmlns:a16="http://schemas.microsoft.com/office/drawing/2014/main" id="{616DDD4D-3F5B-1866-64AC-4038DC2B1C1B}"/>
                </a:ext>
              </a:extLst>
            </p:cNvPr>
            <p:cNvCxnSpPr>
              <a:cxnSpLocks noChangeShapeType="1"/>
              <a:stCxn id="37894" idx="1"/>
            </p:cNvCxnSpPr>
            <p:nvPr/>
          </p:nvCxnSpPr>
          <p:spPr bwMode="auto">
            <a:xfrm flipH="1">
              <a:off x="3926048" y="3632524"/>
              <a:ext cx="3747932" cy="108250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AutoShape 7">
              <a:extLst>
                <a:ext uri="{FF2B5EF4-FFF2-40B4-BE49-F238E27FC236}">
                  <a16:creationId xmlns:a16="http://schemas.microsoft.com/office/drawing/2014/main" id="{A9424CF8-768D-84DC-0BC1-CBF061742B4B}"/>
                </a:ext>
              </a:extLst>
            </p:cNvPr>
            <p:cNvCxnSpPr>
              <a:cxnSpLocks noChangeShapeType="1"/>
              <a:stCxn id="37894" idx="1"/>
            </p:cNvCxnSpPr>
            <p:nvPr/>
          </p:nvCxnSpPr>
          <p:spPr bwMode="auto">
            <a:xfrm flipH="1">
              <a:off x="3926048" y="3632524"/>
              <a:ext cx="3747932" cy="153408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Text Box 8">
              <a:extLst>
                <a:ext uri="{FF2B5EF4-FFF2-40B4-BE49-F238E27FC236}">
                  <a16:creationId xmlns:a16="http://schemas.microsoft.com/office/drawing/2014/main" id="{0F98765E-5683-6113-F2F4-55B3EB429AFA}"/>
                </a:ext>
              </a:extLst>
            </p:cNvPr>
            <p:cNvSpPr txBox="1">
              <a:spLocks noChangeArrowheads="1"/>
            </p:cNvSpPr>
            <p:nvPr/>
          </p:nvSpPr>
          <p:spPr bwMode="auto">
            <a:xfrm rot="21183781">
              <a:off x="5523401" y="3208962"/>
              <a:ext cx="1903994" cy="663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he-IL" altLang="en-US" sz="1800" dirty="0"/>
                <a:t>שתי טעויות</a:t>
              </a:r>
              <a:endParaRPr lang="en-US" altLang="en-US" sz="1800" dirty="0"/>
            </a:p>
          </p:txBody>
        </p:sp>
      </p:grpSp>
      <p:sp>
        <p:nvSpPr>
          <p:cNvPr id="4" name="TextBox 3">
            <a:extLst>
              <a:ext uri="{FF2B5EF4-FFF2-40B4-BE49-F238E27FC236}">
                <a16:creationId xmlns:a16="http://schemas.microsoft.com/office/drawing/2014/main" id="{FF904214-8164-6E94-2AE7-603033EF2CF8}"/>
              </a:ext>
            </a:extLst>
          </p:cNvPr>
          <p:cNvSpPr txBox="1"/>
          <p:nvPr/>
        </p:nvSpPr>
        <p:spPr>
          <a:xfrm>
            <a:off x="7105532" y="3330140"/>
            <a:ext cx="3919663" cy="369332"/>
          </a:xfrm>
          <a:prstGeom prst="rect">
            <a:avLst/>
          </a:prstGeom>
          <a:noFill/>
        </p:spPr>
        <p:txBody>
          <a:bodyPr wrap="none" rtlCol="0">
            <a:spAutoFit/>
          </a:bodyPr>
          <a:lstStyle/>
          <a:p>
            <a:pPr marL="0" algn="r" defTabSz="914400" rtl="1" eaLnBrk="1" latinLnBrk="0" hangingPunct="1"/>
            <a:r>
              <a:rPr lang="he-IL" u="sng" dirty="0"/>
              <a:t>התקבלה מילה לא חוקית </a:t>
            </a:r>
            <a:r>
              <a:rPr lang="en-US" u="sng" dirty="0"/>
              <a:t>←</a:t>
            </a:r>
            <a:r>
              <a:rPr lang="he-IL" u="sng" dirty="0"/>
              <a:t> נגלה שגיאה</a:t>
            </a:r>
            <a:endParaRPr lang="en-IL" u="sng" dirty="0"/>
          </a:p>
        </p:txBody>
      </p:sp>
      <p:sp>
        <p:nvSpPr>
          <p:cNvPr id="16" name="TextBox 15">
            <a:extLst>
              <a:ext uri="{FF2B5EF4-FFF2-40B4-BE49-F238E27FC236}">
                <a16:creationId xmlns:a16="http://schemas.microsoft.com/office/drawing/2014/main" id="{37B58688-A438-5B35-9448-6E1148A46724}"/>
              </a:ext>
            </a:extLst>
          </p:cNvPr>
          <p:cNvSpPr txBox="1"/>
          <p:nvPr/>
        </p:nvSpPr>
        <p:spPr>
          <a:xfrm>
            <a:off x="1317488" y="3318292"/>
            <a:ext cx="3768981" cy="369332"/>
          </a:xfrm>
          <a:prstGeom prst="rect">
            <a:avLst/>
          </a:prstGeom>
          <a:noFill/>
        </p:spPr>
        <p:txBody>
          <a:bodyPr wrap="none" rtlCol="0">
            <a:spAutoFit/>
          </a:bodyPr>
          <a:lstStyle/>
          <a:p>
            <a:pPr marL="0" algn="r" defTabSz="914400" rtl="1" eaLnBrk="1" latinLnBrk="0" hangingPunct="1"/>
            <a:r>
              <a:rPr lang="he-IL" u="sng" dirty="0"/>
              <a:t>התקבלה מילה חוקית </a:t>
            </a:r>
            <a:r>
              <a:rPr lang="en-US" u="sng" dirty="0"/>
              <a:t>←</a:t>
            </a:r>
            <a:r>
              <a:rPr lang="he-IL" u="sng" dirty="0"/>
              <a:t> לא נגלה שגיאה</a:t>
            </a:r>
            <a:endParaRPr lang="en-IL" u="sng" dirty="0"/>
          </a:p>
        </p:txBody>
      </p:sp>
      <p:grpSp>
        <p:nvGrpSpPr>
          <p:cNvPr id="32" name="Group 31">
            <a:extLst>
              <a:ext uri="{FF2B5EF4-FFF2-40B4-BE49-F238E27FC236}">
                <a16:creationId xmlns:a16="http://schemas.microsoft.com/office/drawing/2014/main" id="{E4B64D87-94B7-F1D9-0B47-EF24CA95BA02}"/>
              </a:ext>
            </a:extLst>
          </p:cNvPr>
          <p:cNvGrpSpPr/>
          <p:nvPr/>
        </p:nvGrpSpPr>
        <p:grpSpPr>
          <a:xfrm>
            <a:off x="1069494" y="3829320"/>
            <a:ext cx="4094698" cy="1636768"/>
            <a:chOff x="690176" y="3857414"/>
            <a:chExt cx="4094698" cy="1636768"/>
          </a:xfrm>
        </p:grpSpPr>
        <p:sp>
          <p:nvSpPr>
            <p:cNvPr id="7" name="Rectangle 4">
              <a:extLst>
                <a:ext uri="{FF2B5EF4-FFF2-40B4-BE49-F238E27FC236}">
                  <a16:creationId xmlns:a16="http://schemas.microsoft.com/office/drawing/2014/main" id="{37B4015E-8E10-BE83-A489-9B0CCD71D896}"/>
                </a:ext>
              </a:extLst>
            </p:cNvPr>
            <p:cNvSpPr>
              <a:spLocks noChangeArrowheads="1"/>
            </p:cNvSpPr>
            <p:nvPr/>
          </p:nvSpPr>
          <p:spPr bwMode="auto">
            <a:xfrm>
              <a:off x="977021" y="4017863"/>
              <a:ext cx="956151" cy="130652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1800" u="sng" dirty="0"/>
                <a:t>קוד:</a:t>
              </a:r>
            </a:p>
            <a:p>
              <a:pPr algn="ctr" rtl="1" eaLnBrk="1" hangingPunct="1">
                <a:spcBef>
                  <a:spcPct val="0"/>
                </a:spcBef>
                <a:buFontTx/>
                <a:buNone/>
              </a:pPr>
              <a:endParaRPr lang="he-IL" altLang="en-US" sz="1800" dirty="0"/>
            </a:p>
            <a:p>
              <a:pPr algn="ctr" rtl="1" eaLnBrk="1" hangingPunct="1">
                <a:spcBef>
                  <a:spcPct val="0"/>
                </a:spcBef>
                <a:buFontTx/>
                <a:buNone/>
              </a:pPr>
              <a:r>
                <a:rPr lang="he-IL" altLang="en-US" sz="1800" dirty="0"/>
                <a:t>11101</a:t>
              </a:r>
            </a:p>
            <a:p>
              <a:pPr algn="ctr" rtl="1" eaLnBrk="1" hangingPunct="1">
                <a:spcBef>
                  <a:spcPct val="0"/>
                </a:spcBef>
                <a:buFontTx/>
                <a:buNone/>
              </a:pPr>
              <a:r>
                <a:rPr lang="he-IL" altLang="en-US" sz="1800" dirty="0"/>
                <a:t>01010</a:t>
              </a:r>
            </a:p>
            <a:p>
              <a:pPr algn="ctr" rtl="1" eaLnBrk="1" hangingPunct="1">
                <a:spcBef>
                  <a:spcPct val="0"/>
                </a:spcBef>
                <a:buFontTx/>
                <a:buNone/>
              </a:pPr>
              <a:r>
                <a:rPr lang="he-IL" altLang="en-US" sz="1800" dirty="0"/>
                <a:t>00000</a:t>
              </a:r>
              <a:endParaRPr lang="en-US" altLang="en-US" sz="1800" dirty="0"/>
            </a:p>
          </p:txBody>
        </p:sp>
        <p:sp>
          <p:nvSpPr>
            <p:cNvPr id="9" name="Rectangle 6">
              <a:extLst>
                <a:ext uri="{FF2B5EF4-FFF2-40B4-BE49-F238E27FC236}">
                  <a16:creationId xmlns:a16="http://schemas.microsoft.com/office/drawing/2014/main" id="{571E8FDC-B8D1-1FD4-D7F2-540F51A13512}"/>
                </a:ext>
              </a:extLst>
            </p:cNvPr>
            <p:cNvSpPr>
              <a:spLocks noChangeArrowheads="1"/>
            </p:cNvSpPr>
            <p:nvPr/>
          </p:nvSpPr>
          <p:spPr bwMode="auto">
            <a:xfrm>
              <a:off x="3111609" y="3999937"/>
              <a:ext cx="1673265" cy="33957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1800" dirty="0"/>
                <a:t>נשלח: 00000</a:t>
              </a:r>
              <a:endParaRPr lang="en-US" altLang="en-US" sz="1800" dirty="0"/>
            </a:p>
          </p:txBody>
        </p:sp>
        <p:sp>
          <p:nvSpPr>
            <p:cNvPr id="11" name="AutoShape 9">
              <a:extLst>
                <a:ext uri="{FF2B5EF4-FFF2-40B4-BE49-F238E27FC236}">
                  <a16:creationId xmlns:a16="http://schemas.microsoft.com/office/drawing/2014/main" id="{273598FD-8CEB-9AA3-22C9-D3B5C56E375F}"/>
                </a:ext>
              </a:extLst>
            </p:cNvPr>
            <p:cNvSpPr>
              <a:spLocks noChangeArrowheads="1"/>
            </p:cNvSpPr>
            <p:nvPr/>
          </p:nvSpPr>
          <p:spPr bwMode="auto">
            <a:xfrm>
              <a:off x="690176" y="3857414"/>
              <a:ext cx="1529842" cy="1636768"/>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algn="r" defTabSz="914400" rtl="1" eaLnBrk="1" latinLnBrk="0" hangingPunct="1">
                <a:spcBef>
                  <a:spcPct val="0"/>
                </a:spcBef>
                <a:buFontTx/>
                <a:buNone/>
              </a:pPr>
              <a:endParaRPr lang="he-IL" altLang="en-US" sz="1800" dirty="0"/>
            </a:p>
          </p:txBody>
        </p:sp>
        <p:sp>
          <p:nvSpPr>
            <p:cNvPr id="17" name="Rectangle 6">
              <a:extLst>
                <a:ext uri="{FF2B5EF4-FFF2-40B4-BE49-F238E27FC236}">
                  <a16:creationId xmlns:a16="http://schemas.microsoft.com/office/drawing/2014/main" id="{12534A02-F8E3-F86F-B8EC-74A607F8221C}"/>
                </a:ext>
              </a:extLst>
            </p:cNvPr>
            <p:cNvSpPr>
              <a:spLocks noChangeArrowheads="1"/>
            </p:cNvSpPr>
            <p:nvPr/>
          </p:nvSpPr>
          <p:spPr bwMode="auto">
            <a:xfrm>
              <a:off x="3111607" y="4976807"/>
              <a:ext cx="1673265" cy="33957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1800" dirty="0"/>
                <a:t>התקבל: 0</a:t>
              </a:r>
              <a:r>
                <a:rPr lang="he-IL" altLang="en-US" sz="1800" b="1" dirty="0"/>
                <a:t>1</a:t>
              </a:r>
              <a:r>
                <a:rPr lang="he-IL" altLang="en-US" sz="1800" dirty="0"/>
                <a:t>0</a:t>
              </a:r>
              <a:r>
                <a:rPr lang="he-IL" altLang="en-US" sz="1800" b="1" dirty="0"/>
                <a:t>1</a:t>
              </a:r>
              <a:r>
                <a:rPr lang="he-IL" altLang="en-US" sz="1800" dirty="0"/>
                <a:t>0</a:t>
              </a:r>
              <a:endParaRPr lang="en-US" altLang="en-US" sz="1800" dirty="0"/>
            </a:p>
          </p:txBody>
        </p:sp>
        <p:cxnSp>
          <p:nvCxnSpPr>
            <p:cNvPr id="18" name="AutoShape 7">
              <a:extLst>
                <a:ext uri="{FF2B5EF4-FFF2-40B4-BE49-F238E27FC236}">
                  <a16:creationId xmlns:a16="http://schemas.microsoft.com/office/drawing/2014/main" id="{F4D31984-1231-7947-78AC-ECD78B9CBA60}"/>
                </a:ext>
              </a:extLst>
            </p:cNvPr>
            <p:cNvCxnSpPr>
              <a:cxnSpLocks noChangeShapeType="1"/>
              <a:stCxn id="9" idx="2"/>
            </p:cNvCxnSpPr>
            <p:nvPr/>
          </p:nvCxnSpPr>
          <p:spPr bwMode="auto">
            <a:xfrm flipH="1">
              <a:off x="3948239" y="4339516"/>
              <a:ext cx="3" cy="623993"/>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 Box 8">
              <a:extLst>
                <a:ext uri="{FF2B5EF4-FFF2-40B4-BE49-F238E27FC236}">
                  <a16:creationId xmlns:a16="http://schemas.microsoft.com/office/drawing/2014/main" id="{2EC56708-9F2B-5C69-AD14-D0EE65CCDF86}"/>
                </a:ext>
              </a:extLst>
            </p:cNvPr>
            <p:cNvSpPr txBox="1">
              <a:spLocks noChangeArrowheads="1"/>
            </p:cNvSpPr>
            <p:nvPr/>
          </p:nvSpPr>
          <p:spPr bwMode="auto">
            <a:xfrm>
              <a:off x="2723094" y="4447890"/>
              <a:ext cx="13986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1800" dirty="0"/>
                <a:t>שתי טעויות</a:t>
              </a:r>
              <a:endParaRPr lang="en-US" altLang="en-US" sz="1800" dirty="0"/>
            </a:p>
          </p:txBody>
        </p:sp>
      </p:grpSp>
    </p:spTree>
    <p:extLst>
      <p:ext uri="{BB962C8B-B14F-4D97-AF65-F5344CB8AC3E}">
        <p14:creationId xmlns:p14="http://schemas.microsoft.com/office/powerpoint/2010/main" val="766136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CAEEA30-5455-4804-8EEF-F05939D8A544}"/>
              </a:ext>
            </a:extLst>
          </p:cNvPr>
          <p:cNvSpPr>
            <a:spLocks noGrp="1" noChangeArrowheads="1"/>
          </p:cNvSpPr>
          <p:nvPr>
            <p:ph type="title"/>
          </p:nvPr>
        </p:nvSpPr>
        <p:spPr>
          <a:noFill/>
        </p:spPr>
        <p:txBody>
          <a:bodyPr/>
          <a:lstStyle/>
          <a:p>
            <a:pPr algn="r"/>
            <a:r>
              <a:rPr lang="he-IL" altLang="en-US" b="1" dirty="0"/>
              <a:t>גילוי ותיקון</a:t>
            </a:r>
            <a:r>
              <a:rPr lang="he-IL" altLang="en-US" dirty="0"/>
              <a:t> שגיאות</a:t>
            </a:r>
            <a:endParaRPr lang="en-US" altLang="en-US" dirty="0"/>
          </a:p>
        </p:txBody>
      </p:sp>
      <p:sp>
        <p:nvSpPr>
          <p:cNvPr id="38915" name="Rectangle 3">
            <a:extLst>
              <a:ext uri="{FF2B5EF4-FFF2-40B4-BE49-F238E27FC236}">
                <a16:creationId xmlns:a16="http://schemas.microsoft.com/office/drawing/2014/main" id="{476D2B38-33B2-4DDE-807B-FCAF268A6B9E}"/>
              </a:ext>
            </a:extLst>
          </p:cNvPr>
          <p:cNvSpPr>
            <a:spLocks noGrp="1" noChangeArrowheads="1"/>
          </p:cNvSpPr>
          <p:nvPr>
            <p:ph idx="1"/>
          </p:nvPr>
        </p:nvSpPr>
        <p:spPr/>
        <p:txBody>
          <a:bodyPr>
            <a:normAutofit/>
          </a:bodyPr>
          <a:lstStyle/>
          <a:p>
            <a:pPr algn="r" rtl="1">
              <a:lnSpc>
                <a:spcPct val="90000"/>
              </a:lnSpc>
            </a:pPr>
            <a:r>
              <a:rPr lang="he-IL" altLang="en-US" sz="2800" dirty="0">
                <a:solidFill>
                  <a:schemeClr val="tx1"/>
                </a:solidFill>
              </a:rPr>
              <a:t>אם המרחק המינימאלי הוא </a:t>
            </a:r>
            <a:r>
              <a:rPr lang="he-IL" altLang="en-US" sz="2800" b="1" dirty="0">
                <a:solidFill>
                  <a:schemeClr val="tx1"/>
                </a:solidFill>
              </a:rPr>
              <a:t>3</a:t>
            </a:r>
            <a:r>
              <a:rPr lang="he-IL" altLang="en-US" sz="2800" dirty="0">
                <a:solidFill>
                  <a:schemeClr val="tx1"/>
                </a:solidFill>
              </a:rPr>
              <a:t>, </a:t>
            </a:r>
          </a:p>
          <a:p>
            <a:pPr lvl="1" algn="r" rtl="1">
              <a:lnSpc>
                <a:spcPct val="90000"/>
              </a:lnSpc>
            </a:pPr>
            <a:r>
              <a:rPr lang="he-IL" altLang="en-US" sz="2400" dirty="0">
                <a:solidFill>
                  <a:schemeClr val="tx1"/>
                </a:solidFill>
              </a:rPr>
              <a:t>ניתן לגלות עד </a:t>
            </a:r>
            <a:r>
              <a:rPr lang="he-IL" altLang="en-US" sz="2400" b="1" dirty="0">
                <a:solidFill>
                  <a:schemeClr val="tx1"/>
                </a:solidFill>
              </a:rPr>
              <a:t>2</a:t>
            </a:r>
            <a:r>
              <a:rPr lang="he-IL" altLang="en-US" sz="2400" dirty="0">
                <a:solidFill>
                  <a:schemeClr val="tx1"/>
                </a:solidFill>
              </a:rPr>
              <a:t> טעויות</a:t>
            </a:r>
          </a:p>
          <a:p>
            <a:pPr lvl="1" algn="r" rtl="1">
              <a:lnSpc>
                <a:spcPct val="90000"/>
              </a:lnSpc>
            </a:pPr>
            <a:r>
              <a:rPr lang="he-IL" altLang="en-US" sz="2400" dirty="0">
                <a:solidFill>
                  <a:schemeClr val="tx1"/>
                </a:solidFill>
              </a:rPr>
              <a:t>אם מניחים שכל היותר יש טעות </a:t>
            </a:r>
            <a:r>
              <a:rPr lang="he-IL" altLang="en-US" sz="2400" b="1" dirty="0">
                <a:solidFill>
                  <a:schemeClr val="tx1"/>
                </a:solidFill>
              </a:rPr>
              <a:t>1</a:t>
            </a:r>
            <a:r>
              <a:rPr lang="he-IL" altLang="en-US" sz="2400" dirty="0">
                <a:solidFill>
                  <a:schemeClr val="tx1"/>
                </a:solidFill>
              </a:rPr>
              <a:t> </a:t>
            </a:r>
            <a:r>
              <a:rPr lang="he-IL" altLang="en-US" sz="2400" b="1" dirty="0">
                <a:solidFill>
                  <a:schemeClr val="tx1"/>
                </a:solidFill>
              </a:rPr>
              <a:t>בלבד</a:t>
            </a:r>
            <a:r>
              <a:rPr lang="he-IL" altLang="en-US" sz="2400" dirty="0">
                <a:solidFill>
                  <a:schemeClr val="tx1"/>
                </a:solidFill>
              </a:rPr>
              <a:t>, ניתן לתקנה.</a:t>
            </a:r>
          </a:p>
        </p:txBody>
      </p:sp>
      <p:sp>
        <p:nvSpPr>
          <p:cNvPr id="38930" name="Slide Number Placeholder 1">
            <a:extLst>
              <a:ext uri="{FF2B5EF4-FFF2-40B4-BE49-F238E27FC236}">
                <a16:creationId xmlns:a16="http://schemas.microsoft.com/office/drawing/2014/main" id="{0414D3D6-2971-4F15-9862-22F3592AC7D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19B9F9B-C7B3-49AE-9B1E-DBBC54836219}" type="slidenum">
              <a:rPr lang="en-US" altLang="en-US" sz="1400">
                <a:solidFill>
                  <a:srgbClr val="000000"/>
                </a:solidFill>
              </a:rPr>
              <a:pPr>
                <a:spcBef>
                  <a:spcPct val="0"/>
                </a:spcBef>
                <a:buFontTx/>
                <a:buNone/>
              </a:pPr>
              <a:t>12</a:t>
            </a:fld>
            <a:endParaRPr lang="en-US" altLang="en-US" sz="1400">
              <a:solidFill>
                <a:srgbClr val="000000"/>
              </a:solidFill>
            </a:endParaRPr>
          </a:p>
        </p:txBody>
      </p:sp>
      <p:sp>
        <p:nvSpPr>
          <p:cNvPr id="38920" name="AutoShape 9">
            <a:extLst>
              <a:ext uri="{FF2B5EF4-FFF2-40B4-BE49-F238E27FC236}">
                <a16:creationId xmlns:a16="http://schemas.microsoft.com/office/drawing/2014/main" id="{FF362938-7F91-4827-A418-242674A6CA76}"/>
              </a:ext>
            </a:extLst>
          </p:cNvPr>
          <p:cNvSpPr>
            <a:spLocks noChangeArrowheads="1"/>
          </p:cNvSpPr>
          <p:nvPr/>
        </p:nvSpPr>
        <p:spPr bwMode="auto">
          <a:xfrm>
            <a:off x="1775520" y="286003"/>
            <a:ext cx="1676400" cy="2209800"/>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he-IL" altLang="en-US" sz="2800"/>
          </a:p>
        </p:txBody>
      </p:sp>
      <p:sp>
        <p:nvSpPr>
          <p:cNvPr id="38921" name="Rectangle 10">
            <a:extLst>
              <a:ext uri="{FF2B5EF4-FFF2-40B4-BE49-F238E27FC236}">
                <a16:creationId xmlns:a16="http://schemas.microsoft.com/office/drawing/2014/main" id="{9679AC18-D428-412A-AD89-6E391A4B1D33}"/>
              </a:ext>
            </a:extLst>
          </p:cNvPr>
          <p:cNvSpPr>
            <a:spLocks noChangeArrowheads="1"/>
          </p:cNvSpPr>
          <p:nvPr/>
        </p:nvSpPr>
        <p:spPr bwMode="auto">
          <a:xfrm>
            <a:off x="2080320" y="514604"/>
            <a:ext cx="1047750" cy="16938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2800" u="sng" dirty="0"/>
              <a:t>קוד:</a:t>
            </a:r>
          </a:p>
          <a:p>
            <a:pPr algn="ctr" rtl="1" eaLnBrk="1" hangingPunct="1">
              <a:spcBef>
                <a:spcPct val="0"/>
              </a:spcBef>
              <a:buFontTx/>
              <a:buNone/>
            </a:pPr>
            <a:endParaRPr lang="he-IL" altLang="en-US" sz="2800" dirty="0"/>
          </a:p>
          <a:p>
            <a:pPr algn="ctr" rtl="1" eaLnBrk="1" hangingPunct="1">
              <a:spcBef>
                <a:spcPct val="0"/>
              </a:spcBef>
              <a:buFontTx/>
              <a:buNone/>
            </a:pPr>
            <a:r>
              <a:rPr lang="he-IL" altLang="en-US" sz="2800" dirty="0"/>
              <a:t>000</a:t>
            </a:r>
          </a:p>
          <a:p>
            <a:pPr algn="ctr" rtl="1" eaLnBrk="1" hangingPunct="1">
              <a:spcBef>
                <a:spcPct val="0"/>
              </a:spcBef>
              <a:buFontTx/>
              <a:buNone/>
            </a:pPr>
            <a:r>
              <a:rPr lang="he-IL" altLang="en-US" sz="2800" b="1" dirty="0"/>
              <a:t>111</a:t>
            </a:r>
            <a:endParaRPr lang="en-US" altLang="en-US" sz="2800" b="1" dirty="0"/>
          </a:p>
        </p:txBody>
      </p:sp>
      <p:sp>
        <p:nvSpPr>
          <p:cNvPr id="38922" name="Rectangle 11">
            <a:extLst>
              <a:ext uri="{FF2B5EF4-FFF2-40B4-BE49-F238E27FC236}">
                <a16:creationId xmlns:a16="http://schemas.microsoft.com/office/drawing/2014/main" id="{1DA430B5-B264-4B40-B365-AF5E1D544CDE}"/>
              </a:ext>
            </a:extLst>
          </p:cNvPr>
          <p:cNvSpPr>
            <a:spLocks noChangeArrowheads="1"/>
          </p:cNvSpPr>
          <p:nvPr/>
        </p:nvSpPr>
        <p:spPr bwMode="auto">
          <a:xfrm>
            <a:off x="1631504" y="3274705"/>
            <a:ext cx="2626474"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None/>
            </a:pPr>
            <a:r>
              <a:rPr lang="he-IL" altLang="en-US" sz="2800" dirty="0"/>
              <a:t>נשלח: 000 או 111</a:t>
            </a:r>
            <a:endParaRPr lang="en-US" altLang="en-US" sz="2800" dirty="0"/>
          </a:p>
        </p:txBody>
      </p:sp>
      <p:sp>
        <p:nvSpPr>
          <p:cNvPr id="38923" name="Rectangle 12">
            <a:extLst>
              <a:ext uri="{FF2B5EF4-FFF2-40B4-BE49-F238E27FC236}">
                <a16:creationId xmlns:a16="http://schemas.microsoft.com/office/drawing/2014/main" id="{424A92A6-B6FD-46F7-A6BD-3EA8553DF195}"/>
              </a:ext>
            </a:extLst>
          </p:cNvPr>
          <p:cNvSpPr>
            <a:spLocks noChangeArrowheads="1"/>
          </p:cNvSpPr>
          <p:nvPr/>
        </p:nvSpPr>
        <p:spPr bwMode="auto">
          <a:xfrm>
            <a:off x="2883136" y="5513654"/>
            <a:ext cx="1901552"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2800" dirty="0"/>
              <a:t>התקבל: 011</a:t>
            </a:r>
            <a:endParaRPr lang="en-US" altLang="en-US" sz="2800" dirty="0"/>
          </a:p>
        </p:txBody>
      </p:sp>
      <p:cxnSp>
        <p:nvCxnSpPr>
          <p:cNvPr id="38924" name="AutoShape 13">
            <a:extLst>
              <a:ext uri="{FF2B5EF4-FFF2-40B4-BE49-F238E27FC236}">
                <a16:creationId xmlns:a16="http://schemas.microsoft.com/office/drawing/2014/main" id="{F3DE8B2F-CE67-4825-834F-63F5D71A4B72}"/>
              </a:ext>
            </a:extLst>
          </p:cNvPr>
          <p:cNvCxnSpPr>
            <a:cxnSpLocks noChangeShapeType="1"/>
            <a:stCxn id="38922" idx="2"/>
            <a:endCxn id="38923" idx="0"/>
          </p:cNvCxnSpPr>
          <p:nvPr/>
        </p:nvCxnSpPr>
        <p:spPr bwMode="auto">
          <a:xfrm>
            <a:off x="2944742" y="3884306"/>
            <a:ext cx="889171" cy="1629349"/>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25" name="Text Box 14">
            <a:extLst>
              <a:ext uri="{FF2B5EF4-FFF2-40B4-BE49-F238E27FC236}">
                <a16:creationId xmlns:a16="http://schemas.microsoft.com/office/drawing/2014/main" id="{E8DA9436-8150-4FA8-828E-6FD340570513}"/>
              </a:ext>
            </a:extLst>
          </p:cNvPr>
          <p:cNvSpPr txBox="1">
            <a:spLocks noChangeArrowheads="1"/>
          </p:cNvSpPr>
          <p:nvPr/>
        </p:nvSpPr>
        <p:spPr bwMode="auto">
          <a:xfrm rot="3672857">
            <a:off x="2174377" y="4452858"/>
            <a:ext cx="185499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he-IL" altLang="en-US" sz="2800" dirty="0"/>
              <a:t>עד 2 טעויות</a:t>
            </a:r>
            <a:endParaRPr lang="en-US" altLang="en-US" sz="2800" dirty="0"/>
          </a:p>
        </p:txBody>
      </p:sp>
      <p:sp>
        <p:nvSpPr>
          <p:cNvPr id="23" name="Rectangle 11">
            <a:extLst>
              <a:ext uri="{FF2B5EF4-FFF2-40B4-BE49-F238E27FC236}">
                <a16:creationId xmlns:a16="http://schemas.microsoft.com/office/drawing/2014/main" id="{1DA430B5-B264-4B40-B365-AF5E1D544CDE}"/>
              </a:ext>
            </a:extLst>
          </p:cNvPr>
          <p:cNvSpPr>
            <a:spLocks noChangeArrowheads="1"/>
          </p:cNvSpPr>
          <p:nvPr/>
        </p:nvSpPr>
        <p:spPr bwMode="auto">
          <a:xfrm>
            <a:off x="4351021" y="3274705"/>
            <a:ext cx="1600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2800" dirty="0"/>
              <a:t>נשלח: 111</a:t>
            </a:r>
            <a:endParaRPr lang="en-US" altLang="en-US" sz="2800" dirty="0"/>
          </a:p>
        </p:txBody>
      </p:sp>
      <p:cxnSp>
        <p:nvCxnSpPr>
          <p:cNvPr id="24" name="AutoShape 13">
            <a:extLst>
              <a:ext uri="{FF2B5EF4-FFF2-40B4-BE49-F238E27FC236}">
                <a16:creationId xmlns:a16="http://schemas.microsoft.com/office/drawing/2014/main" id="{F3DE8B2F-CE67-4825-834F-63F5D71A4B72}"/>
              </a:ext>
            </a:extLst>
          </p:cNvPr>
          <p:cNvCxnSpPr>
            <a:cxnSpLocks noChangeShapeType="1"/>
            <a:stCxn id="23" idx="2"/>
            <a:endCxn id="38923" idx="0"/>
          </p:cNvCxnSpPr>
          <p:nvPr/>
        </p:nvCxnSpPr>
        <p:spPr bwMode="auto">
          <a:xfrm flipH="1">
            <a:off x="3833913" y="3884306"/>
            <a:ext cx="1317209" cy="1629349"/>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Box 14">
            <a:extLst>
              <a:ext uri="{FF2B5EF4-FFF2-40B4-BE49-F238E27FC236}">
                <a16:creationId xmlns:a16="http://schemas.microsoft.com/office/drawing/2014/main" id="{E8DA9436-8150-4FA8-828E-6FD340570513}"/>
              </a:ext>
            </a:extLst>
          </p:cNvPr>
          <p:cNvSpPr txBox="1">
            <a:spLocks noChangeArrowheads="1"/>
          </p:cNvSpPr>
          <p:nvPr/>
        </p:nvSpPr>
        <p:spPr bwMode="auto">
          <a:xfrm rot="18494367">
            <a:off x="3811700" y="4512793"/>
            <a:ext cx="1653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he-IL" altLang="en-US" sz="2800" dirty="0"/>
              <a:t>טעות אחת</a:t>
            </a:r>
            <a:endParaRPr lang="en-US" altLang="en-US" sz="2800" dirty="0"/>
          </a:p>
        </p:txBody>
      </p:sp>
      <p:sp>
        <p:nvSpPr>
          <p:cNvPr id="29" name="Rectangle 11">
            <a:extLst>
              <a:ext uri="{FF2B5EF4-FFF2-40B4-BE49-F238E27FC236}">
                <a16:creationId xmlns:a16="http://schemas.microsoft.com/office/drawing/2014/main" id="{1DA430B5-B264-4B40-B365-AF5E1D544CDE}"/>
              </a:ext>
            </a:extLst>
          </p:cNvPr>
          <p:cNvSpPr>
            <a:spLocks noChangeArrowheads="1"/>
          </p:cNvSpPr>
          <p:nvPr/>
        </p:nvSpPr>
        <p:spPr bwMode="auto">
          <a:xfrm>
            <a:off x="6099701" y="3286054"/>
            <a:ext cx="2662326"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2800" dirty="0"/>
              <a:t>נשלח: 000 או 111</a:t>
            </a:r>
            <a:endParaRPr lang="en-US" altLang="en-US" sz="2800" dirty="0"/>
          </a:p>
        </p:txBody>
      </p:sp>
      <p:sp>
        <p:nvSpPr>
          <p:cNvPr id="30" name="Rectangle 12">
            <a:extLst>
              <a:ext uri="{FF2B5EF4-FFF2-40B4-BE49-F238E27FC236}">
                <a16:creationId xmlns:a16="http://schemas.microsoft.com/office/drawing/2014/main" id="{424A92A6-B6FD-46F7-A6BD-3EA8553DF195}"/>
              </a:ext>
            </a:extLst>
          </p:cNvPr>
          <p:cNvSpPr>
            <a:spLocks noChangeArrowheads="1"/>
          </p:cNvSpPr>
          <p:nvPr/>
        </p:nvSpPr>
        <p:spPr bwMode="auto">
          <a:xfrm>
            <a:off x="7497278" y="5513654"/>
            <a:ext cx="1901552"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2800" dirty="0"/>
              <a:t>התקבל: 001</a:t>
            </a:r>
            <a:endParaRPr lang="en-US" altLang="en-US" sz="2800" dirty="0"/>
          </a:p>
        </p:txBody>
      </p:sp>
      <p:cxnSp>
        <p:nvCxnSpPr>
          <p:cNvPr id="31" name="AutoShape 13">
            <a:extLst>
              <a:ext uri="{FF2B5EF4-FFF2-40B4-BE49-F238E27FC236}">
                <a16:creationId xmlns:a16="http://schemas.microsoft.com/office/drawing/2014/main" id="{F3DE8B2F-CE67-4825-834F-63F5D71A4B72}"/>
              </a:ext>
            </a:extLst>
          </p:cNvPr>
          <p:cNvCxnSpPr>
            <a:cxnSpLocks noChangeShapeType="1"/>
            <a:stCxn id="29" idx="2"/>
            <a:endCxn id="30" idx="0"/>
          </p:cNvCxnSpPr>
          <p:nvPr/>
        </p:nvCxnSpPr>
        <p:spPr bwMode="auto">
          <a:xfrm>
            <a:off x="7430864" y="3895654"/>
            <a:ext cx="1017190" cy="16180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Text Box 14">
            <a:extLst>
              <a:ext uri="{FF2B5EF4-FFF2-40B4-BE49-F238E27FC236}">
                <a16:creationId xmlns:a16="http://schemas.microsoft.com/office/drawing/2014/main" id="{E8DA9436-8150-4FA8-828E-6FD340570513}"/>
              </a:ext>
            </a:extLst>
          </p:cNvPr>
          <p:cNvSpPr txBox="1">
            <a:spLocks noChangeArrowheads="1"/>
          </p:cNvSpPr>
          <p:nvPr/>
        </p:nvSpPr>
        <p:spPr bwMode="auto">
          <a:xfrm rot="3528678">
            <a:off x="6767708" y="4476874"/>
            <a:ext cx="185499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he-IL" altLang="en-US" sz="2800" dirty="0"/>
              <a:t>עד 2 טעויות</a:t>
            </a:r>
            <a:endParaRPr lang="en-US" altLang="en-US" sz="2800" dirty="0"/>
          </a:p>
        </p:txBody>
      </p:sp>
      <p:sp>
        <p:nvSpPr>
          <p:cNvPr id="33" name="Rectangle 11">
            <a:extLst>
              <a:ext uri="{FF2B5EF4-FFF2-40B4-BE49-F238E27FC236}">
                <a16:creationId xmlns:a16="http://schemas.microsoft.com/office/drawing/2014/main" id="{1DA430B5-B264-4B40-B365-AF5E1D544CDE}"/>
              </a:ext>
            </a:extLst>
          </p:cNvPr>
          <p:cNvSpPr>
            <a:spLocks noChangeArrowheads="1"/>
          </p:cNvSpPr>
          <p:nvPr/>
        </p:nvSpPr>
        <p:spPr bwMode="auto">
          <a:xfrm>
            <a:off x="8855070" y="3286276"/>
            <a:ext cx="1600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sz="2800" dirty="0"/>
              <a:t>נשלח: 000</a:t>
            </a:r>
            <a:endParaRPr lang="en-US" altLang="en-US" sz="2800" dirty="0"/>
          </a:p>
        </p:txBody>
      </p:sp>
      <p:cxnSp>
        <p:nvCxnSpPr>
          <p:cNvPr id="34" name="AutoShape 13">
            <a:extLst>
              <a:ext uri="{FF2B5EF4-FFF2-40B4-BE49-F238E27FC236}">
                <a16:creationId xmlns:a16="http://schemas.microsoft.com/office/drawing/2014/main" id="{F3DE8B2F-CE67-4825-834F-63F5D71A4B72}"/>
              </a:ext>
            </a:extLst>
          </p:cNvPr>
          <p:cNvCxnSpPr>
            <a:cxnSpLocks noChangeShapeType="1"/>
            <a:stCxn id="33" idx="2"/>
            <a:endCxn id="30" idx="0"/>
          </p:cNvCxnSpPr>
          <p:nvPr/>
        </p:nvCxnSpPr>
        <p:spPr bwMode="auto">
          <a:xfrm flipH="1">
            <a:off x="8448054" y="3895876"/>
            <a:ext cx="1207116" cy="161777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Text Box 14">
            <a:extLst>
              <a:ext uri="{FF2B5EF4-FFF2-40B4-BE49-F238E27FC236}">
                <a16:creationId xmlns:a16="http://schemas.microsoft.com/office/drawing/2014/main" id="{E8DA9436-8150-4FA8-828E-6FD340570513}"/>
              </a:ext>
            </a:extLst>
          </p:cNvPr>
          <p:cNvSpPr txBox="1">
            <a:spLocks noChangeArrowheads="1"/>
          </p:cNvSpPr>
          <p:nvPr/>
        </p:nvSpPr>
        <p:spPr bwMode="auto">
          <a:xfrm rot="18319841">
            <a:off x="8344267" y="4527281"/>
            <a:ext cx="1653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he-IL" altLang="en-US" sz="2800" dirty="0"/>
              <a:t>טעות אחת</a:t>
            </a:r>
            <a:endParaRPr lang="en-US" altLang="en-US" sz="2800" dirty="0"/>
          </a:p>
        </p:txBody>
      </p:sp>
    </p:spTree>
    <p:extLst>
      <p:ext uri="{BB962C8B-B14F-4D97-AF65-F5344CB8AC3E}">
        <p14:creationId xmlns:p14="http://schemas.microsoft.com/office/powerpoint/2010/main" val="4173986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92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262AD6B5-EA59-42D7-8022-C739625B6F42}"/>
              </a:ext>
            </a:extLst>
          </p:cNvPr>
          <p:cNvSpPr>
            <a:spLocks noGrp="1" noChangeArrowheads="1"/>
          </p:cNvSpPr>
          <p:nvPr>
            <p:ph type="title"/>
          </p:nvPr>
        </p:nvSpPr>
        <p:spPr/>
        <p:txBody>
          <a:bodyPr/>
          <a:lstStyle/>
          <a:p>
            <a:pPr algn="r" rtl="1"/>
            <a:r>
              <a:rPr lang="he-IL" altLang="en-US" dirty="0"/>
              <a:t>גילוי ותיקון שגיאות</a:t>
            </a:r>
            <a:endParaRPr lang="en-US" altLang="en-US" dirty="0"/>
          </a:p>
        </p:txBody>
      </p:sp>
      <p:sp>
        <p:nvSpPr>
          <p:cNvPr id="39939" name="Rectangle 3">
            <a:extLst>
              <a:ext uri="{FF2B5EF4-FFF2-40B4-BE49-F238E27FC236}">
                <a16:creationId xmlns:a16="http://schemas.microsoft.com/office/drawing/2014/main" id="{CCB13FFF-EDDC-4C58-8486-FA72E92F392E}"/>
              </a:ext>
            </a:extLst>
          </p:cNvPr>
          <p:cNvSpPr>
            <a:spLocks noGrp="1" noChangeArrowheads="1"/>
          </p:cNvSpPr>
          <p:nvPr>
            <p:ph idx="1"/>
          </p:nvPr>
        </p:nvSpPr>
        <p:spPr>
          <a:xfrm>
            <a:off x="8058150" y="1936761"/>
            <a:ext cx="2438400" cy="762000"/>
          </a:xfrm>
        </p:spPr>
        <p:txBody>
          <a:bodyPr/>
          <a:lstStyle/>
          <a:p>
            <a:pPr algn="r" rtl="1"/>
            <a:r>
              <a:rPr lang="he-IL" altLang="en-US" sz="3200" dirty="0">
                <a:solidFill>
                  <a:schemeClr val="tx1"/>
                </a:solidFill>
              </a:rPr>
              <a:t>באופן כללי :</a:t>
            </a:r>
            <a:endParaRPr lang="en-US" altLang="en-US" sz="3200" dirty="0">
              <a:solidFill>
                <a:schemeClr val="tx1"/>
              </a:solidFill>
            </a:endParaRPr>
          </a:p>
        </p:txBody>
      </p:sp>
      <p:sp>
        <p:nvSpPr>
          <p:cNvPr id="39946" name="Slide Number Placeholder 1">
            <a:extLst>
              <a:ext uri="{FF2B5EF4-FFF2-40B4-BE49-F238E27FC236}">
                <a16:creationId xmlns:a16="http://schemas.microsoft.com/office/drawing/2014/main" id="{ED545139-40CC-400D-9963-4A8CA6F2A4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9781487-1CC1-49F3-AEEB-DB6680C70565}" type="slidenum">
              <a:rPr lang="en-US" altLang="en-US" sz="1400">
                <a:solidFill>
                  <a:srgbClr val="000000"/>
                </a:solidFill>
              </a:rPr>
              <a:pPr>
                <a:spcBef>
                  <a:spcPct val="0"/>
                </a:spcBef>
                <a:buFontTx/>
                <a:buNone/>
              </a:pPr>
              <a:t>13</a:t>
            </a:fld>
            <a:endParaRPr lang="en-US" altLang="en-US" sz="1400">
              <a:solidFill>
                <a:srgbClr val="000000"/>
              </a:solidFill>
            </a:endParaRPr>
          </a:p>
        </p:txBody>
      </p:sp>
      <p:sp>
        <p:nvSpPr>
          <p:cNvPr id="39940" name="Rectangle 4">
            <a:extLst>
              <a:ext uri="{FF2B5EF4-FFF2-40B4-BE49-F238E27FC236}">
                <a16:creationId xmlns:a16="http://schemas.microsoft.com/office/drawing/2014/main" id="{A13F9224-C5DD-4E8A-85EB-EB055E00BB48}"/>
              </a:ext>
            </a:extLst>
          </p:cNvPr>
          <p:cNvSpPr>
            <a:spLocks noChangeArrowheads="1"/>
          </p:cNvSpPr>
          <p:nvPr/>
        </p:nvSpPr>
        <p:spPr bwMode="auto">
          <a:xfrm>
            <a:off x="3962400" y="1981200"/>
            <a:ext cx="42672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a:t>מרחק הקוד הוא </a:t>
            </a:r>
            <a:r>
              <a:rPr lang="en-US" altLang="en-US"/>
              <a:t>K</a:t>
            </a:r>
          </a:p>
        </p:txBody>
      </p:sp>
      <p:sp>
        <p:nvSpPr>
          <p:cNvPr id="39941" name="Rectangle 6">
            <a:extLst>
              <a:ext uri="{FF2B5EF4-FFF2-40B4-BE49-F238E27FC236}">
                <a16:creationId xmlns:a16="http://schemas.microsoft.com/office/drawing/2014/main" id="{E7BF8EE7-BE58-42E9-BD60-09748147A335}"/>
              </a:ext>
            </a:extLst>
          </p:cNvPr>
          <p:cNvSpPr>
            <a:spLocks noChangeArrowheads="1"/>
          </p:cNvSpPr>
          <p:nvPr/>
        </p:nvSpPr>
        <p:spPr bwMode="auto">
          <a:xfrm>
            <a:off x="1981200" y="3429000"/>
            <a:ext cx="3581400" cy="2743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he-IL" altLang="en-US"/>
              <a:t>ניתן לגלות עד </a:t>
            </a:r>
          </a:p>
          <a:p>
            <a:pPr algn="ctr" eaLnBrk="1" hangingPunct="1">
              <a:spcBef>
                <a:spcPct val="0"/>
              </a:spcBef>
              <a:buFontTx/>
              <a:buNone/>
            </a:pPr>
            <a:r>
              <a:rPr lang="en-US" altLang="en-US"/>
              <a:t>K-1</a:t>
            </a:r>
            <a:endParaRPr lang="he-IL" altLang="en-US"/>
          </a:p>
          <a:p>
            <a:pPr algn="ctr" eaLnBrk="1" hangingPunct="1">
              <a:spcBef>
                <a:spcPct val="0"/>
              </a:spcBef>
              <a:buFontTx/>
              <a:buNone/>
            </a:pPr>
            <a:r>
              <a:rPr lang="he-IL" altLang="en-US"/>
              <a:t>טעויות.</a:t>
            </a:r>
            <a:endParaRPr lang="en-US" altLang="en-US"/>
          </a:p>
        </p:txBody>
      </p:sp>
      <p:sp>
        <p:nvSpPr>
          <p:cNvPr id="39942" name="Rectangle 8">
            <a:extLst>
              <a:ext uri="{FF2B5EF4-FFF2-40B4-BE49-F238E27FC236}">
                <a16:creationId xmlns:a16="http://schemas.microsoft.com/office/drawing/2014/main" id="{3B3D4F84-FD84-4EBA-93FC-1104B5C69191}"/>
              </a:ext>
            </a:extLst>
          </p:cNvPr>
          <p:cNvSpPr>
            <a:spLocks noChangeArrowheads="1"/>
          </p:cNvSpPr>
          <p:nvPr/>
        </p:nvSpPr>
        <p:spPr bwMode="auto">
          <a:xfrm>
            <a:off x="6248400" y="3429000"/>
            <a:ext cx="4038600" cy="2743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FontTx/>
              <a:buNone/>
            </a:pPr>
            <a:r>
              <a:rPr lang="he-IL" altLang="en-US"/>
              <a:t>בהנחה שמס'</a:t>
            </a:r>
          </a:p>
          <a:p>
            <a:pPr algn="ctr" rtl="1" eaLnBrk="1" hangingPunct="1">
              <a:spcBef>
                <a:spcPct val="0"/>
              </a:spcBef>
              <a:buFontTx/>
              <a:buNone/>
            </a:pPr>
            <a:r>
              <a:rPr lang="he-IL" altLang="en-US"/>
              <a:t>הטעויות הוא לכל היותר</a:t>
            </a:r>
          </a:p>
          <a:p>
            <a:pPr algn="ctr" rtl="1" eaLnBrk="1" hangingPunct="1">
              <a:spcBef>
                <a:spcPct val="0"/>
              </a:spcBef>
              <a:buFontTx/>
              <a:buNone/>
            </a:pPr>
            <a:endParaRPr lang="he-IL" altLang="en-US"/>
          </a:p>
          <a:p>
            <a:pPr algn="ctr" rtl="1" eaLnBrk="1" hangingPunct="1">
              <a:spcBef>
                <a:spcPct val="0"/>
              </a:spcBef>
              <a:buFontTx/>
              <a:buNone/>
            </a:pPr>
            <a:endParaRPr lang="he-IL" altLang="en-US"/>
          </a:p>
          <a:p>
            <a:pPr algn="ctr" rtl="1" eaLnBrk="1" hangingPunct="1">
              <a:spcBef>
                <a:spcPct val="0"/>
              </a:spcBef>
              <a:buFontTx/>
              <a:buNone/>
            </a:pPr>
            <a:r>
              <a:rPr lang="he-IL" altLang="en-US"/>
              <a:t>אז ניתן לתקנן.</a:t>
            </a:r>
            <a:endParaRPr lang="en-US" altLang="en-US"/>
          </a:p>
        </p:txBody>
      </p:sp>
      <p:cxnSp>
        <p:nvCxnSpPr>
          <p:cNvPr id="39943" name="AutoShape 11">
            <a:extLst>
              <a:ext uri="{FF2B5EF4-FFF2-40B4-BE49-F238E27FC236}">
                <a16:creationId xmlns:a16="http://schemas.microsoft.com/office/drawing/2014/main" id="{AA4E8D22-9B33-4E4E-816B-FF98705F8F6A}"/>
              </a:ext>
            </a:extLst>
          </p:cNvPr>
          <p:cNvCxnSpPr>
            <a:cxnSpLocks noChangeShapeType="1"/>
            <a:stCxn id="39940" idx="2"/>
            <a:endCxn id="39942" idx="0"/>
          </p:cNvCxnSpPr>
          <p:nvPr/>
        </p:nvCxnSpPr>
        <p:spPr bwMode="auto">
          <a:xfrm>
            <a:off x="6096000" y="2667000"/>
            <a:ext cx="2171700" cy="7620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944" name="AutoShape 12">
            <a:extLst>
              <a:ext uri="{FF2B5EF4-FFF2-40B4-BE49-F238E27FC236}">
                <a16:creationId xmlns:a16="http://schemas.microsoft.com/office/drawing/2014/main" id="{D4552D93-16E7-4FC9-85FD-76F61B0FEE2C}"/>
              </a:ext>
            </a:extLst>
          </p:cNvPr>
          <p:cNvCxnSpPr>
            <a:cxnSpLocks noChangeShapeType="1"/>
            <a:stCxn id="39940" idx="2"/>
            <a:endCxn id="39941" idx="0"/>
          </p:cNvCxnSpPr>
          <p:nvPr/>
        </p:nvCxnSpPr>
        <p:spPr bwMode="auto">
          <a:xfrm flipH="1">
            <a:off x="3771900" y="2667000"/>
            <a:ext cx="2324100" cy="7620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39945" name="Object 1">
            <a:extLst>
              <a:ext uri="{FF2B5EF4-FFF2-40B4-BE49-F238E27FC236}">
                <a16:creationId xmlns:a16="http://schemas.microsoft.com/office/drawing/2014/main" id="{6E4E0533-1292-4251-9D8C-09AE151B6027}"/>
              </a:ext>
            </a:extLst>
          </p:cNvPr>
          <p:cNvGraphicFramePr>
            <a:graphicFrameLocks noGrp="1" noChangeAspect="1"/>
          </p:cNvGraphicFramePr>
          <p:nvPr/>
        </p:nvGraphicFramePr>
        <p:xfrm>
          <a:off x="7853364" y="4611688"/>
          <a:ext cx="917575" cy="862012"/>
        </p:xfrm>
        <a:graphic>
          <a:graphicData uri="http://schemas.openxmlformats.org/presentationml/2006/ole">
            <mc:AlternateContent xmlns:mc="http://schemas.openxmlformats.org/markup-compatibility/2006">
              <mc:Choice xmlns:v="urn:schemas-microsoft-com:vml" Requires="v">
                <p:oleObj name="Equation" r:id="rId3" imgW="622080" imgH="583920" progId="Equation.DSMT4">
                  <p:embed/>
                </p:oleObj>
              </mc:Choice>
              <mc:Fallback>
                <p:oleObj name="Equation" r:id="rId3" imgW="622080" imgH="583920" progId="Equation.DSMT4">
                  <p:embed/>
                  <p:pic>
                    <p:nvPicPr>
                      <p:cNvPr id="39945" name="Object 1">
                        <a:extLst>
                          <a:ext uri="{FF2B5EF4-FFF2-40B4-BE49-F238E27FC236}">
                            <a16:creationId xmlns:a16="http://schemas.microsoft.com/office/drawing/2014/main" id="{6E4E0533-1292-4251-9D8C-09AE151B6027}"/>
                          </a:ext>
                        </a:extLst>
                      </p:cNvPr>
                      <p:cNvPicPr>
                        <a:picLocks noGrp="1" noChangeAspect="1" noChangeArrowheads="1"/>
                      </p:cNvPicPr>
                      <p:nvPr/>
                    </p:nvPicPr>
                    <p:blipFill>
                      <a:blip r:embed="rId4"/>
                      <a:srcRect/>
                      <a:stretch>
                        <a:fillRect/>
                      </a:stretch>
                    </p:blipFill>
                    <p:spPr bwMode="auto">
                      <a:xfrm>
                        <a:off x="7853364" y="4611688"/>
                        <a:ext cx="917575"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18759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352FC783-9643-42C4-96B5-B84E423029BB}"/>
              </a:ext>
            </a:extLst>
          </p:cNvPr>
          <p:cNvSpPr>
            <a:spLocks noGrp="1" noChangeArrowheads="1"/>
          </p:cNvSpPr>
          <p:nvPr>
            <p:ph type="title"/>
          </p:nvPr>
        </p:nvSpPr>
        <p:spPr/>
        <p:txBody>
          <a:bodyPr/>
          <a:lstStyle/>
          <a:p>
            <a:pPr algn="r" rtl="1"/>
            <a:r>
              <a:rPr lang="he-IL" altLang="en-US" dirty="0"/>
              <a:t>דוגמא: בדיקת זוגיות (</a:t>
            </a:r>
            <a:r>
              <a:rPr lang="en-US" altLang="en-US" dirty="0"/>
              <a:t>Parity</a:t>
            </a:r>
            <a:r>
              <a:rPr lang="he-IL" altLang="en-US" dirty="0"/>
              <a:t>)</a:t>
            </a:r>
            <a:endParaRPr lang="en-US" altLang="en-US" dirty="0"/>
          </a:p>
        </p:txBody>
      </p:sp>
      <p:sp>
        <p:nvSpPr>
          <p:cNvPr id="12291" name="Rectangle 3">
            <a:extLst>
              <a:ext uri="{FF2B5EF4-FFF2-40B4-BE49-F238E27FC236}">
                <a16:creationId xmlns:a16="http://schemas.microsoft.com/office/drawing/2014/main" id="{3DC1D56A-9764-48F6-B555-10F4ADD6A16D}"/>
              </a:ext>
            </a:extLst>
          </p:cNvPr>
          <p:cNvSpPr>
            <a:spLocks noGrp="1" noChangeArrowheads="1"/>
          </p:cNvSpPr>
          <p:nvPr>
            <p:ph idx="1"/>
          </p:nvPr>
        </p:nvSpPr>
        <p:spPr>
          <a:xfrm>
            <a:off x="1097281" y="1756569"/>
            <a:ext cx="10806698" cy="4976812"/>
          </a:xfrm>
        </p:spPr>
        <p:txBody>
          <a:bodyPr>
            <a:normAutofit lnSpcReduction="10000"/>
          </a:bodyPr>
          <a:lstStyle/>
          <a:p>
            <a:pPr algn="r" rtl="1">
              <a:defRPr/>
            </a:pPr>
            <a:r>
              <a:rPr lang="he-IL" sz="2800" dirty="0">
                <a:solidFill>
                  <a:schemeClr val="tx1"/>
                </a:solidFill>
              </a:rPr>
              <a:t>מוסיפים ביט, כך שמספר </a:t>
            </a:r>
            <a:r>
              <a:rPr lang="he-IL" sz="2800" b="1" dirty="0">
                <a:solidFill>
                  <a:schemeClr val="tx1"/>
                </a:solidFill>
              </a:rPr>
              <a:t>האחדים</a:t>
            </a:r>
            <a:r>
              <a:rPr lang="he-IL" sz="2800" dirty="0">
                <a:solidFill>
                  <a:schemeClr val="tx1"/>
                </a:solidFill>
              </a:rPr>
              <a:t> במילת הקוד (כולל סיבית הזוגיות) יהיה </a:t>
            </a:r>
            <a:r>
              <a:rPr lang="he-IL" sz="2800" b="1" dirty="0">
                <a:solidFill>
                  <a:schemeClr val="tx1"/>
                </a:solidFill>
              </a:rPr>
              <a:t>זוגי</a:t>
            </a:r>
            <a:r>
              <a:rPr lang="he-IL" sz="2800" dirty="0">
                <a:solidFill>
                  <a:schemeClr val="tx1"/>
                </a:solidFill>
              </a:rPr>
              <a:t> עבור </a:t>
            </a:r>
            <a:r>
              <a:rPr lang="en-US" sz="2800" dirty="0">
                <a:solidFill>
                  <a:schemeClr val="tx1"/>
                </a:solidFill>
              </a:rPr>
              <a:t>even parity</a:t>
            </a:r>
            <a:r>
              <a:rPr lang="he-IL" sz="2800" dirty="0">
                <a:solidFill>
                  <a:schemeClr val="tx1"/>
                </a:solidFill>
              </a:rPr>
              <a:t> (אי זוגי עבור </a:t>
            </a:r>
            <a:r>
              <a:rPr lang="en-US" sz="2800" dirty="0">
                <a:solidFill>
                  <a:schemeClr val="tx1"/>
                </a:solidFill>
              </a:rPr>
              <a:t>odd parity</a:t>
            </a:r>
            <a:r>
              <a:rPr lang="he-IL" sz="2800" dirty="0">
                <a:solidFill>
                  <a:schemeClr val="tx1"/>
                </a:solidFill>
              </a:rPr>
              <a:t>).</a:t>
            </a:r>
          </a:p>
          <a:p>
            <a:pPr algn="r" rtl="1">
              <a:defRPr/>
            </a:pPr>
            <a:endParaRPr lang="he-IL" sz="2800" dirty="0">
              <a:solidFill>
                <a:schemeClr val="tx1"/>
              </a:solidFill>
            </a:endParaRPr>
          </a:p>
          <a:p>
            <a:pPr marL="0" indent="0">
              <a:buNone/>
              <a:defRPr/>
            </a:pPr>
            <a:endParaRPr lang="he-IL" sz="2800" dirty="0">
              <a:solidFill>
                <a:schemeClr val="tx1"/>
              </a:solidFill>
            </a:endParaRPr>
          </a:p>
          <a:p>
            <a:pPr algn="r" rtl="1">
              <a:defRPr/>
            </a:pPr>
            <a:endParaRPr lang="he-IL" sz="2800" dirty="0">
              <a:solidFill>
                <a:schemeClr val="tx1"/>
              </a:solidFill>
            </a:endParaRPr>
          </a:p>
          <a:p>
            <a:pPr marL="0" indent="0" algn="r" rtl="1">
              <a:buNone/>
              <a:defRPr/>
            </a:pPr>
            <a:r>
              <a:rPr lang="he-IL" sz="2800" dirty="0">
                <a:solidFill>
                  <a:schemeClr val="tx1"/>
                </a:solidFill>
              </a:rPr>
              <a:t>ביט הזוגיות מתקבל מ-</a:t>
            </a:r>
            <a:r>
              <a:rPr lang="en-US" sz="2800" dirty="0">
                <a:solidFill>
                  <a:schemeClr val="tx1"/>
                </a:solidFill>
              </a:rPr>
              <a:t>XOR</a:t>
            </a:r>
            <a:r>
              <a:rPr lang="he-IL" sz="2800" dirty="0">
                <a:solidFill>
                  <a:schemeClr val="tx1"/>
                </a:solidFill>
              </a:rPr>
              <a:t> שאר הסיביות:</a:t>
            </a:r>
          </a:p>
          <a:p>
            <a:pPr lvl="1" algn="r" rtl="1">
              <a:defRPr/>
            </a:pPr>
            <a:r>
              <a:rPr lang="he-IL" sz="2400" dirty="0">
                <a:solidFill>
                  <a:schemeClr val="tx1"/>
                </a:solidFill>
              </a:rPr>
              <a:t>   </a:t>
            </a:r>
            <a:r>
              <a:rPr lang="en-US" sz="2400" dirty="0">
                <a:solidFill>
                  <a:schemeClr val="tx1"/>
                </a:solidFill>
              </a:rPr>
              <a:t>1</a:t>
            </a:r>
            <a:r>
              <a:rPr lang="en-US" sz="2400" dirty="0">
                <a:solidFill>
                  <a:schemeClr val="tx1"/>
                </a:solidFill>
                <a:sym typeface="Symbol" pitchFamily="18" charset="2"/>
              </a:rPr>
              <a:t>1 1 0 = 1			</a:t>
            </a:r>
            <a:r>
              <a:rPr lang="en-US" sz="2400" dirty="0">
                <a:solidFill>
                  <a:schemeClr val="tx1"/>
                </a:solidFill>
              </a:rPr>
              <a:t>1</a:t>
            </a:r>
            <a:r>
              <a:rPr lang="en-US" sz="2400" dirty="0">
                <a:solidFill>
                  <a:schemeClr val="tx1"/>
                </a:solidFill>
                <a:sym typeface="Symbol" pitchFamily="18" charset="2"/>
              </a:rPr>
              <a:t>0 0 1 = 0 </a:t>
            </a:r>
            <a:endParaRPr lang="en-US" sz="1200" dirty="0">
              <a:solidFill>
                <a:schemeClr val="tx1"/>
              </a:solidFill>
              <a:sym typeface="Symbol" pitchFamily="18" charset="2"/>
            </a:endParaRPr>
          </a:p>
          <a:p>
            <a:pPr algn="r" rtl="1">
              <a:defRPr/>
            </a:pPr>
            <a:r>
              <a:rPr lang="he-IL" sz="2800" b="1" dirty="0">
                <a:solidFill>
                  <a:schemeClr val="tx1"/>
                </a:solidFill>
                <a:sym typeface="Symbol" pitchFamily="18" charset="2"/>
              </a:rPr>
              <a:t>מרחק הקוד המינימלי בין 2 מילים שונות: 2</a:t>
            </a:r>
            <a:r>
              <a:rPr lang="he-IL" sz="2800" dirty="0">
                <a:solidFill>
                  <a:schemeClr val="tx1"/>
                </a:solidFill>
                <a:sym typeface="Symbol" pitchFamily="18" charset="2"/>
              </a:rPr>
              <a:t>  </a:t>
            </a:r>
            <a:r>
              <a:rPr lang="en-US" sz="2800" dirty="0">
                <a:solidFill>
                  <a:schemeClr val="tx1"/>
                </a:solidFill>
                <a:sym typeface="Symbol" pitchFamily="18" charset="2"/>
              </a:rPr>
              <a:t>←</a:t>
            </a:r>
            <a:r>
              <a:rPr lang="he-IL" sz="2800" dirty="0">
                <a:solidFill>
                  <a:schemeClr val="tx1"/>
                </a:solidFill>
                <a:sym typeface="Symbol" pitchFamily="18" charset="2"/>
              </a:rPr>
              <a:t> יכולת גילוי של שגיאה בודדת</a:t>
            </a:r>
          </a:p>
          <a:p>
            <a:pPr algn="r" rtl="1">
              <a:defRPr/>
            </a:pPr>
            <a:r>
              <a:rPr lang="he-IL" sz="2800" b="1" dirty="0">
                <a:solidFill>
                  <a:schemeClr val="tx1"/>
                </a:solidFill>
                <a:sym typeface="Symbol" pitchFamily="18" charset="2"/>
              </a:rPr>
              <a:t>באופן כללי: </a:t>
            </a:r>
            <a:r>
              <a:rPr lang="he-IL" sz="2800" dirty="0">
                <a:solidFill>
                  <a:schemeClr val="tx1"/>
                </a:solidFill>
                <a:sym typeface="Symbol" pitchFamily="18" charset="2"/>
              </a:rPr>
              <a:t>עבור קוד </a:t>
            </a:r>
            <a:r>
              <a:rPr lang="en-US" sz="2800" dirty="0">
                <a:solidFill>
                  <a:schemeClr val="tx1"/>
                </a:solidFill>
                <a:sym typeface="Symbol" pitchFamily="18" charset="2"/>
              </a:rPr>
              <a:t>A</a:t>
            </a:r>
            <a:r>
              <a:rPr lang="he-IL" sz="2800" dirty="0">
                <a:solidFill>
                  <a:schemeClr val="tx1"/>
                </a:solidFill>
                <a:sym typeface="Symbol" pitchFamily="18" charset="2"/>
              </a:rPr>
              <a:t> עם מרחק קוד אי זוגי, הוספת סיבית הזוגיות תגדיל את מרחק הקוד ב1. במידה ומרחק הקוד הינו זוגי, אזי מרחק הקוד לא ישתנה. </a:t>
            </a:r>
            <a:endParaRPr lang="en-US" sz="2800" dirty="0">
              <a:solidFill>
                <a:schemeClr val="tx1"/>
              </a:solidFill>
              <a:sym typeface="Symbol" pitchFamily="18" charset="2"/>
            </a:endParaRPr>
          </a:p>
        </p:txBody>
      </p:sp>
      <p:sp>
        <p:nvSpPr>
          <p:cNvPr id="40982" name="Slide Number Placeholder 1">
            <a:extLst>
              <a:ext uri="{FF2B5EF4-FFF2-40B4-BE49-F238E27FC236}">
                <a16:creationId xmlns:a16="http://schemas.microsoft.com/office/drawing/2014/main" id="{2E68C2B0-40BC-4CE1-B813-B71CA056079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649FFA0-4FA0-466B-8449-154E05BD7E09}" type="slidenum">
              <a:rPr lang="en-US" altLang="en-US" sz="1400">
                <a:solidFill>
                  <a:srgbClr val="000000"/>
                </a:solidFill>
              </a:rPr>
              <a:pPr>
                <a:spcBef>
                  <a:spcPct val="0"/>
                </a:spcBef>
                <a:buFontTx/>
                <a:buNone/>
              </a:pPr>
              <a:t>14</a:t>
            </a:fld>
            <a:endParaRPr lang="en-US" altLang="en-US" sz="1400">
              <a:solidFill>
                <a:srgbClr val="000000"/>
              </a:solidFill>
            </a:endParaRPr>
          </a:p>
        </p:txBody>
      </p:sp>
      <p:sp>
        <p:nvSpPr>
          <p:cNvPr id="40964" name="Rectangle 4">
            <a:extLst>
              <a:ext uri="{FF2B5EF4-FFF2-40B4-BE49-F238E27FC236}">
                <a16:creationId xmlns:a16="http://schemas.microsoft.com/office/drawing/2014/main" id="{CF095695-78EE-40CF-B37E-0DD586FFD737}"/>
              </a:ext>
            </a:extLst>
          </p:cNvPr>
          <p:cNvSpPr>
            <a:spLocks noChangeArrowheads="1"/>
          </p:cNvSpPr>
          <p:nvPr/>
        </p:nvSpPr>
        <p:spPr bwMode="auto">
          <a:xfrm>
            <a:off x="2445394" y="269926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400" b="1"/>
              <a:t>1</a:t>
            </a:r>
          </a:p>
        </p:txBody>
      </p:sp>
      <p:sp>
        <p:nvSpPr>
          <p:cNvPr id="40965" name="Rectangle 5">
            <a:extLst>
              <a:ext uri="{FF2B5EF4-FFF2-40B4-BE49-F238E27FC236}">
                <a16:creationId xmlns:a16="http://schemas.microsoft.com/office/drawing/2014/main" id="{5223154D-F860-4E23-9583-9746B6ECE8E6}"/>
              </a:ext>
            </a:extLst>
          </p:cNvPr>
          <p:cNvSpPr>
            <a:spLocks noChangeArrowheads="1"/>
          </p:cNvSpPr>
          <p:nvPr/>
        </p:nvSpPr>
        <p:spPr bwMode="auto">
          <a:xfrm>
            <a:off x="2978794" y="269926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400" b="1"/>
              <a:t>0</a:t>
            </a:r>
          </a:p>
        </p:txBody>
      </p:sp>
      <p:sp>
        <p:nvSpPr>
          <p:cNvPr id="40966" name="Rectangle 6">
            <a:extLst>
              <a:ext uri="{FF2B5EF4-FFF2-40B4-BE49-F238E27FC236}">
                <a16:creationId xmlns:a16="http://schemas.microsoft.com/office/drawing/2014/main" id="{51B8CACB-30F1-498D-8A4E-A870CDDB06DF}"/>
              </a:ext>
            </a:extLst>
          </p:cNvPr>
          <p:cNvSpPr>
            <a:spLocks noChangeArrowheads="1"/>
          </p:cNvSpPr>
          <p:nvPr/>
        </p:nvSpPr>
        <p:spPr bwMode="auto">
          <a:xfrm>
            <a:off x="3512194" y="269926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400" b="1"/>
              <a:t>0</a:t>
            </a:r>
          </a:p>
        </p:txBody>
      </p:sp>
      <p:sp>
        <p:nvSpPr>
          <p:cNvPr id="40967" name="Rectangle 7">
            <a:extLst>
              <a:ext uri="{FF2B5EF4-FFF2-40B4-BE49-F238E27FC236}">
                <a16:creationId xmlns:a16="http://schemas.microsoft.com/office/drawing/2014/main" id="{5791909C-EC2D-4BC3-AA88-01EDB69A41DB}"/>
              </a:ext>
            </a:extLst>
          </p:cNvPr>
          <p:cNvSpPr>
            <a:spLocks noChangeArrowheads="1"/>
          </p:cNvSpPr>
          <p:nvPr/>
        </p:nvSpPr>
        <p:spPr bwMode="auto">
          <a:xfrm>
            <a:off x="4045594" y="269926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400" b="1"/>
              <a:t>1</a:t>
            </a:r>
          </a:p>
        </p:txBody>
      </p:sp>
      <p:sp>
        <p:nvSpPr>
          <p:cNvPr id="40968" name="Rectangle 8">
            <a:extLst>
              <a:ext uri="{FF2B5EF4-FFF2-40B4-BE49-F238E27FC236}">
                <a16:creationId xmlns:a16="http://schemas.microsoft.com/office/drawing/2014/main" id="{D4D32C09-1AC5-4993-89EF-54823674DEFB}"/>
              </a:ext>
            </a:extLst>
          </p:cNvPr>
          <p:cNvSpPr>
            <a:spLocks noChangeArrowheads="1"/>
          </p:cNvSpPr>
          <p:nvPr/>
        </p:nvSpPr>
        <p:spPr bwMode="auto">
          <a:xfrm>
            <a:off x="4807594" y="269926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400" b="1"/>
              <a:t>0</a:t>
            </a:r>
          </a:p>
        </p:txBody>
      </p:sp>
      <p:sp>
        <p:nvSpPr>
          <p:cNvPr id="40969" name="AutoShape 9">
            <a:extLst>
              <a:ext uri="{FF2B5EF4-FFF2-40B4-BE49-F238E27FC236}">
                <a16:creationId xmlns:a16="http://schemas.microsoft.com/office/drawing/2014/main" id="{EBD5C019-74DD-4D72-9450-DEF2B6D3ECD4}"/>
              </a:ext>
            </a:extLst>
          </p:cNvPr>
          <p:cNvSpPr>
            <a:spLocks/>
          </p:cNvSpPr>
          <p:nvPr/>
        </p:nvSpPr>
        <p:spPr bwMode="auto">
          <a:xfrm rot="-5400000">
            <a:off x="3383607" y="2464318"/>
            <a:ext cx="228600" cy="2057400"/>
          </a:xfrm>
          <a:prstGeom prst="leftBrace">
            <a:avLst>
              <a:gd name="adj1" fmla="val 75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he-IL" altLang="en-US" sz="2400" b="1"/>
          </a:p>
        </p:txBody>
      </p:sp>
      <p:sp>
        <p:nvSpPr>
          <p:cNvPr id="40970" name="Text Box 10">
            <a:extLst>
              <a:ext uri="{FF2B5EF4-FFF2-40B4-BE49-F238E27FC236}">
                <a16:creationId xmlns:a16="http://schemas.microsoft.com/office/drawing/2014/main" id="{46543F61-D647-4CD8-A11C-ED461C275175}"/>
              </a:ext>
            </a:extLst>
          </p:cNvPr>
          <p:cNvSpPr txBox="1">
            <a:spLocks noChangeArrowheads="1"/>
          </p:cNvSpPr>
          <p:nvPr/>
        </p:nvSpPr>
        <p:spPr bwMode="auto">
          <a:xfrm>
            <a:off x="3098599" y="3586289"/>
            <a:ext cx="7986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he-IL" altLang="en-US" sz="2400" b="1"/>
              <a:t>מידע</a:t>
            </a:r>
            <a:endParaRPr lang="en-US" altLang="en-US" sz="2400" b="1"/>
          </a:p>
        </p:txBody>
      </p:sp>
      <p:sp>
        <p:nvSpPr>
          <p:cNvPr id="40971" name="AutoShape 11">
            <a:extLst>
              <a:ext uri="{FF2B5EF4-FFF2-40B4-BE49-F238E27FC236}">
                <a16:creationId xmlns:a16="http://schemas.microsoft.com/office/drawing/2014/main" id="{A16953BA-A739-46AB-A9E5-7D71516668D3}"/>
              </a:ext>
            </a:extLst>
          </p:cNvPr>
          <p:cNvSpPr>
            <a:spLocks/>
          </p:cNvSpPr>
          <p:nvPr/>
        </p:nvSpPr>
        <p:spPr bwMode="auto">
          <a:xfrm rot="-5400000">
            <a:off x="4998094" y="3194568"/>
            <a:ext cx="152400" cy="533400"/>
          </a:xfrm>
          <a:prstGeom prst="leftBrace">
            <a:avLst>
              <a:gd name="adj1" fmla="val 291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he-IL" altLang="en-US" sz="2400" b="1"/>
          </a:p>
        </p:txBody>
      </p:sp>
      <p:sp>
        <p:nvSpPr>
          <p:cNvPr id="40972" name="Text Box 13">
            <a:extLst>
              <a:ext uri="{FF2B5EF4-FFF2-40B4-BE49-F238E27FC236}">
                <a16:creationId xmlns:a16="http://schemas.microsoft.com/office/drawing/2014/main" id="{98ACBF4E-E779-42DD-90C0-52D6543B6704}"/>
              </a:ext>
            </a:extLst>
          </p:cNvPr>
          <p:cNvSpPr txBox="1">
            <a:spLocks noChangeArrowheads="1"/>
          </p:cNvSpPr>
          <p:nvPr/>
        </p:nvSpPr>
        <p:spPr bwMode="auto">
          <a:xfrm>
            <a:off x="4503208" y="3537469"/>
            <a:ext cx="9092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he-IL" altLang="en-US" sz="2400" b="1"/>
              <a:t>זוגיות</a:t>
            </a:r>
            <a:endParaRPr lang="en-US" altLang="en-US" sz="2400" b="1"/>
          </a:p>
        </p:txBody>
      </p:sp>
      <p:sp>
        <p:nvSpPr>
          <p:cNvPr id="40973" name="Rectangle 14">
            <a:extLst>
              <a:ext uri="{FF2B5EF4-FFF2-40B4-BE49-F238E27FC236}">
                <a16:creationId xmlns:a16="http://schemas.microsoft.com/office/drawing/2014/main" id="{1ABC0BD6-2033-4077-8B20-7539FD411314}"/>
              </a:ext>
            </a:extLst>
          </p:cNvPr>
          <p:cNvSpPr>
            <a:spLocks noChangeArrowheads="1"/>
          </p:cNvSpPr>
          <p:nvPr/>
        </p:nvSpPr>
        <p:spPr bwMode="auto">
          <a:xfrm>
            <a:off x="7017394" y="269926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400" b="1"/>
              <a:t>1</a:t>
            </a:r>
          </a:p>
        </p:txBody>
      </p:sp>
      <p:sp>
        <p:nvSpPr>
          <p:cNvPr id="40974" name="Rectangle 15">
            <a:extLst>
              <a:ext uri="{FF2B5EF4-FFF2-40B4-BE49-F238E27FC236}">
                <a16:creationId xmlns:a16="http://schemas.microsoft.com/office/drawing/2014/main" id="{869E4358-81A2-4A3B-890D-921F75A121F2}"/>
              </a:ext>
            </a:extLst>
          </p:cNvPr>
          <p:cNvSpPr>
            <a:spLocks noChangeArrowheads="1"/>
          </p:cNvSpPr>
          <p:nvPr/>
        </p:nvSpPr>
        <p:spPr bwMode="auto">
          <a:xfrm>
            <a:off x="7550794" y="269926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400" b="1"/>
              <a:t>1</a:t>
            </a:r>
          </a:p>
        </p:txBody>
      </p:sp>
      <p:sp>
        <p:nvSpPr>
          <p:cNvPr id="40975" name="Rectangle 16">
            <a:extLst>
              <a:ext uri="{FF2B5EF4-FFF2-40B4-BE49-F238E27FC236}">
                <a16:creationId xmlns:a16="http://schemas.microsoft.com/office/drawing/2014/main" id="{F5A4E85B-5A4B-41CE-B15A-8E9485B35323}"/>
              </a:ext>
            </a:extLst>
          </p:cNvPr>
          <p:cNvSpPr>
            <a:spLocks noChangeArrowheads="1"/>
          </p:cNvSpPr>
          <p:nvPr/>
        </p:nvSpPr>
        <p:spPr bwMode="auto">
          <a:xfrm>
            <a:off x="8084194" y="269926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400" b="1"/>
              <a:t>1</a:t>
            </a:r>
          </a:p>
        </p:txBody>
      </p:sp>
      <p:sp>
        <p:nvSpPr>
          <p:cNvPr id="40976" name="Rectangle 17">
            <a:extLst>
              <a:ext uri="{FF2B5EF4-FFF2-40B4-BE49-F238E27FC236}">
                <a16:creationId xmlns:a16="http://schemas.microsoft.com/office/drawing/2014/main" id="{8336C51A-1878-4F17-85A3-17BC34C459FC}"/>
              </a:ext>
            </a:extLst>
          </p:cNvPr>
          <p:cNvSpPr>
            <a:spLocks noChangeArrowheads="1"/>
          </p:cNvSpPr>
          <p:nvPr/>
        </p:nvSpPr>
        <p:spPr bwMode="auto">
          <a:xfrm>
            <a:off x="8617594" y="269926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400" b="1"/>
              <a:t>0</a:t>
            </a:r>
          </a:p>
        </p:txBody>
      </p:sp>
      <p:sp>
        <p:nvSpPr>
          <p:cNvPr id="40977" name="Rectangle 18">
            <a:extLst>
              <a:ext uri="{FF2B5EF4-FFF2-40B4-BE49-F238E27FC236}">
                <a16:creationId xmlns:a16="http://schemas.microsoft.com/office/drawing/2014/main" id="{C6324ACB-A0BD-4392-80E8-502DDF02FC4C}"/>
              </a:ext>
            </a:extLst>
          </p:cNvPr>
          <p:cNvSpPr>
            <a:spLocks noChangeArrowheads="1"/>
          </p:cNvSpPr>
          <p:nvPr/>
        </p:nvSpPr>
        <p:spPr bwMode="auto">
          <a:xfrm>
            <a:off x="9379594" y="269926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400" b="1"/>
              <a:t>1</a:t>
            </a:r>
          </a:p>
        </p:txBody>
      </p:sp>
      <p:sp>
        <p:nvSpPr>
          <p:cNvPr id="40978" name="AutoShape 19">
            <a:extLst>
              <a:ext uri="{FF2B5EF4-FFF2-40B4-BE49-F238E27FC236}">
                <a16:creationId xmlns:a16="http://schemas.microsoft.com/office/drawing/2014/main" id="{77592823-FF51-43EB-8C24-1A699BA664BD}"/>
              </a:ext>
            </a:extLst>
          </p:cNvPr>
          <p:cNvSpPr>
            <a:spLocks/>
          </p:cNvSpPr>
          <p:nvPr/>
        </p:nvSpPr>
        <p:spPr bwMode="auto">
          <a:xfrm rot="-5400000">
            <a:off x="7955607" y="2464318"/>
            <a:ext cx="228600" cy="2057400"/>
          </a:xfrm>
          <a:prstGeom prst="leftBrace">
            <a:avLst>
              <a:gd name="adj1" fmla="val 75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he-IL" altLang="en-US" sz="2400" b="1"/>
          </a:p>
        </p:txBody>
      </p:sp>
      <p:sp>
        <p:nvSpPr>
          <p:cNvPr id="40979" name="Text Box 20">
            <a:extLst>
              <a:ext uri="{FF2B5EF4-FFF2-40B4-BE49-F238E27FC236}">
                <a16:creationId xmlns:a16="http://schemas.microsoft.com/office/drawing/2014/main" id="{F22DCC1D-2D84-4886-B5B4-F8B6EF731C75}"/>
              </a:ext>
            </a:extLst>
          </p:cNvPr>
          <p:cNvSpPr txBox="1">
            <a:spLocks noChangeArrowheads="1"/>
          </p:cNvSpPr>
          <p:nvPr/>
        </p:nvSpPr>
        <p:spPr bwMode="auto">
          <a:xfrm>
            <a:off x="7684886" y="3583474"/>
            <a:ext cx="7986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he-IL" altLang="en-US" sz="2400" b="1" dirty="0"/>
              <a:t>מידע</a:t>
            </a:r>
            <a:endParaRPr lang="en-US" altLang="en-US" sz="2400" b="1" dirty="0"/>
          </a:p>
        </p:txBody>
      </p:sp>
      <p:sp>
        <p:nvSpPr>
          <p:cNvPr id="40980" name="AutoShape 21">
            <a:extLst>
              <a:ext uri="{FF2B5EF4-FFF2-40B4-BE49-F238E27FC236}">
                <a16:creationId xmlns:a16="http://schemas.microsoft.com/office/drawing/2014/main" id="{D9CC9B83-C8CA-4D3E-8800-9B89233C97F2}"/>
              </a:ext>
            </a:extLst>
          </p:cNvPr>
          <p:cNvSpPr>
            <a:spLocks/>
          </p:cNvSpPr>
          <p:nvPr/>
        </p:nvSpPr>
        <p:spPr bwMode="auto">
          <a:xfrm rot="-5400000">
            <a:off x="9570094" y="3194568"/>
            <a:ext cx="152400" cy="533400"/>
          </a:xfrm>
          <a:prstGeom prst="leftBrace">
            <a:avLst>
              <a:gd name="adj1" fmla="val 291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he-IL" altLang="en-US" sz="2400" b="1"/>
          </a:p>
        </p:txBody>
      </p:sp>
      <p:sp>
        <p:nvSpPr>
          <p:cNvPr id="40981" name="Text Box 22">
            <a:extLst>
              <a:ext uri="{FF2B5EF4-FFF2-40B4-BE49-F238E27FC236}">
                <a16:creationId xmlns:a16="http://schemas.microsoft.com/office/drawing/2014/main" id="{C837BBFE-0324-4AAD-97C3-C38C4841ACD7}"/>
              </a:ext>
            </a:extLst>
          </p:cNvPr>
          <p:cNvSpPr txBox="1">
            <a:spLocks noChangeArrowheads="1"/>
          </p:cNvSpPr>
          <p:nvPr/>
        </p:nvSpPr>
        <p:spPr bwMode="auto">
          <a:xfrm>
            <a:off x="9075208" y="3537469"/>
            <a:ext cx="9092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he-IL" altLang="en-US" sz="2400" b="1"/>
              <a:t>זוגיות</a:t>
            </a:r>
            <a:endParaRPr lang="en-US" altLang="en-US" sz="2400" b="1"/>
          </a:p>
        </p:txBody>
      </p:sp>
    </p:spTree>
    <p:extLst>
      <p:ext uri="{BB962C8B-B14F-4D97-AF65-F5344CB8AC3E}">
        <p14:creationId xmlns:p14="http://schemas.microsoft.com/office/powerpoint/2010/main" val="1782526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2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322A1C7-9230-4C4B-9A89-392FC24058B1}"/>
              </a:ext>
            </a:extLst>
          </p:cNvPr>
          <p:cNvSpPr>
            <a:spLocks noGrp="1" noChangeArrowheads="1"/>
          </p:cNvSpPr>
          <p:nvPr>
            <p:ph type="title"/>
          </p:nvPr>
        </p:nvSpPr>
        <p:spPr/>
        <p:txBody>
          <a:bodyPr/>
          <a:lstStyle/>
          <a:p>
            <a:pPr algn="r" rtl="1"/>
            <a:r>
              <a:rPr lang="he-IL" altLang="en-US" dirty="0"/>
              <a:t>דוגמא: קוד חזרות (</a:t>
            </a:r>
            <a:r>
              <a:rPr lang="en-US" altLang="en-US" dirty="0"/>
              <a:t>Repetition</a:t>
            </a:r>
            <a:r>
              <a:rPr lang="he-IL" altLang="en-US" dirty="0"/>
              <a:t>)</a:t>
            </a:r>
            <a:endParaRPr lang="en-US" altLang="en-US" dirty="0"/>
          </a:p>
        </p:txBody>
      </p:sp>
      <p:sp>
        <p:nvSpPr>
          <p:cNvPr id="41987" name="Rectangle 3">
            <a:extLst>
              <a:ext uri="{FF2B5EF4-FFF2-40B4-BE49-F238E27FC236}">
                <a16:creationId xmlns:a16="http://schemas.microsoft.com/office/drawing/2014/main" id="{0C3D7E65-AE33-4F9F-9343-86C2B0DD8E76}"/>
              </a:ext>
            </a:extLst>
          </p:cNvPr>
          <p:cNvSpPr>
            <a:spLocks noGrp="1" noChangeArrowheads="1"/>
          </p:cNvSpPr>
          <p:nvPr>
            <p:ph idx="1"/>
          </p:nvPr>
        </p:nvSpPr>
        <p:spPr>
          <a:xfrm>
            <a:off x="1097280" y="1845734"/>
            <a:ext cx="10058400" cy="2432651"/>
          </a:xfrm>
        </p:spPr>
        <p:txBody>
          <a:bodyPr>
            <a:noAutofit/>
          </a:bodyPr>
          <a:lstStyle/>
          <a:p>
            <a:pPr algn="r" rtl="1"/>
            <a:r>
              <a:rPr lang="he-IL" altLang="en-US" sz="3200" dirty="0">
                <a:solidFill>
                  <a:schemeClr val="tx1"/>
                </a:solidFill>
              </a:rPr>
              <a:t>כל ביט משודר </a:t>
            </a:r>
            <a:r>
              <a:rPr lang="en-US" altLang="en-US" sz="3200" dirty="0">
                <a:solidFill>
                  <a:schemeClr val="tx1"/>
                </a:solidFill>
              </a:rPr>
              <a:t>r</a:t>
            </a:r>
            <a:r>
              <a:rPr lang="he-IL" altLang="en-US" sz="3200" dirty="0">
                <a:solidFill>
                  <a:schemeClr val="tx1"/>
                </a:solidFill>
              </a:rPr>
              <a:t> פעמים. </a:t>
            </a:r>
          </a:p>
          <a:p>
            <a:pPr lvl="1" algn="r" rtl="1"/>
            <a:r>
              <a:rPr lang="he-IL" altLang="en-US" sz="2800" dirty="0">
                <a:solidFill>
                  <a:schemeClr val="tx1"/>
                </a:solidFill>
              </a:rPr>
              <a:t>עבור </a:t>
            </a:r>
            <a:r>
              <a:rPr lang="en-US" altLang="en-US" sz="2800" dirty="0">
                <a:solidFill>
                  <a:schemeClr val="tx1"/>
                </a:solidFill>
              </a:rPr>
              <a:t>r = 4</a:t>
            </a:r>
            <a:r>
              <a:rPr lang="he-IL" altLang="en-US" sz="2800" dirty="0">
                <a:solidFill>
                  <a:schemeClr val="tx1"/>
                </a:solidFill>
              </a:rPr>
              <a:t>: </a:t>
            </a:r>
          </a:p>
          <a:p>
            <a:pPr algn="r" rtl="1"/>
            <a:endParaRPr lang="he-IL" altLang="en-US" sz="3200" dirty="0">
              <a:solidFill>
                <a:schemeClr val="tx1"/>
              </a:solidFill>
            </a:endParaRPr>
          </a:p>
          <a:p>
            <a:pPr algn="r" rtl="1"/>
            <a:endParaRPr lang="he-IL" altLang="en-US" sz="3200" dirty="0">
              <a:solidFill>
                <a:schemeClr val="tx1"/>
              </a:solidFill>
            </a:endParaRPr>
          </a:p>
          <a:p>
            <a:pPr algn="r" rtl="1"/>
            <a:endParaRPr lang="he-IL" altLang="en-US" sz="3200" dirty="0">
              <a:solidFill>
                <a:schemeClr val="tx1"/>
              </a:solidFill>
            </a:endParaRPr>
          </a:p>
          <a:p>
            <a:pPr algn="r" rtl="1"/>
            <a:endParaRPr lang="en-US" altLang="en-US" sz="3200" b="1" dirty="0">
              <a:solidFill>
                <a:schemeClr val="tx1"/>
              </a:solidFill>
              <a:sym typeface="Symbol" panose="05050102010706020507" pitchFamily="18" charset="2"/>
            </a:endParaRPr>
          </a:p>
        </p:txBody>
      </p:sp>
      <p:sp>
        <p:nvSpPr>
          <p:cNvPr id="42000" name="Slide Number Placeholder 1">
            <a:extLst>
              <a:ext uri="{FF2B5EF4-FFF2-40B4-BE49-F238E27FC236}">
                <a16:creationId xmlns:a16="http://schemas.microsoft.com/office/drawing/2014/main" id="{176B5787-2EDD-42E9-ACD9-4BF30912BF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873E663-518F-4231-8430-91372AFB919A}" type="slidenum">
              <a:rPr lang="en-US" altLang="en-US" sz="1400">
                <a:solidFill>
                  <a:srgbClr val="000000"/>
                </a:solidFill>
              </a:rPr>
              <a:pPr>
                <a:spcBef>
                  <a:spcPct val="0"/>
                </a:spcBef>
                <a:buFontTx/>
                <a:buNone/>
              </a:pPr>
              <a:t>15</a:t>
            </a:fld>
            <a:endParaRPr lang="en-US" altLang="en-US" sz="1400">
              <a:solidFill>
                <a:srgbClr val="000000"/>
              </a:solidFill>
            </a:endParaRPr>
          </a:p>
        </p:txBody>
      </p:sp>
      <p:sp>
        <p:nvSpPr>
          <p:cNvPr id="41988" name="Rectangle 4">
            <a:extLst>
              <a:ext uri="{FF2B5EF4-FFF2-40B4-BE49-F238E27FC236}">
                <a16:creationId xmlns:a16="http://schemas.microsoft.com/office/drawing/2014/main" id="{86A2A572-7852-49F1-9B39-692E2284B801}"/>
              </a:ext>
            </a:extLst>
          </p:cNvPr>
          <p:cNvSpPr>
            <a:spLocks noChangeArrowheads="1"/>
          </p:cNvSpPr>
          <p:nvPr/>
        </p:nvSpPr>
        <p:spPr bwMode="auto">
          <a:xfrm>
            <a:off x="4360173" y="267467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a:t>0</a:t>
            </a:r>
          </a:p>
        </p:txBody>
      </p:sp>
      <p:sp>
        <p:nvSpPr>
          <p:cNvPr id="41989" name="Rectangle 5">
            <a:extLst>
              <a:ext uri="{FF2B5EF4-FFF2-40B4-BE49-F238E27FC236}">
                <a16:creationId xmlns:a16="http://schemas.microsoft.com/office/drawing/2014/main" id="{A062E641-CC86-47AD-B793-6E1DCE30E700}"/>
              </a:ext>
            </a:extLst>
          </p:cNvPr>
          <p:cNvSpPr>
            <a:spLocks noChangeArrowheads="1"/>
          </p:cNvSpPr>
          <p:nvPr/>
        </p:nvSpPr>
        <p:spPr bwMode="auto">
          <a:xfrm>
            <a:off x="4893573" y="267467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a:t>0</a:t>
            </a:r>
          </a:p>
        </p:txBody>
      </p:sp>
      <p:sp>
        <p:nvSpPr>
          <p:cNvPr id="41990" name="Rectangle 6">
            <a:extLst>
              <a:ext uri="{FF2B5EF4-FFF2-40B4-BE49-F238E27FC236}">
                <a16:creationId xmlns:a16="http://schemas.microsoft.com/office/drawing/2014/main" id="{2E8630F3-7093-4BDD-9E18-88CF9517D8AB}"/>
              </a:ext>
            </a:extLst>
          </p:cNvPr>
          <p:cNvSpPr>
            <a:spLocks noChangeArrowheads="1"/>
          </p:cNvSpPr>
          <p:nvPr/>
        </p:nvSpPr>
        <p:spPr bwMode="auto">
          <a:xfrm>
            <a:off x="5426973" y="267467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a:t>0</a:t>
            </a:r>
          </a:p>
        </p:txBody>
      </p:sp>
      <p:sp>
        <p:nvSpPr>
          <p:cNvPr id="41991" name="Rectangle 7">
            <a:extLst>
              <a:ext uri="{FF2B5EF4-FFF2-40B4-BE49-F238E27FC236}">
                <a16:creationId xmlns:a16="http://schemas.microsoft.com/office/drawing/2014/main" id="{352DD8AA-AECB-4F7D-9FE4-D76C094CF71B}"/>
              </a:ext>
            </a:extLst>
          </p:cNvPr>
          <p:cNvSpPr>
            <a:spLocks noChangeArrowheads="1"/>
          </p:cNvSpPr>
          <p:nvPr/>
        </p:nvSpPr>
        <p:spPr bwMode="auto">
          <a:xfrm>
            <a:off x="5960373" y="267467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a:t>0</a:t>
            </a:r>
          </a:p>
        </p:txBody>
      </p:sp>
      <p:sp>
        <p:nvSpPr>
          <p:cNvPr id="41992" name="Rectangle 8">
            <a:extLst>
              <a:ext uri="{FF2B5EF4-FFF2-40B4-BE49-F238E27FC236}">
                <a16:creationId xmlns:a16="http://schemas.microsoft.com/office/drawing/2014/main" id="{594E3824-1452-48E9-B9BB-9B375C38F173}"/>
              </a:ext>
            </a:extLst>
          </p:cNvPr>
          <p:cNvSpPr>
            <a:spLocks noChangeArrowheads="1"/>
          </p:cNvSpPr>
          <p:nvPr/>
        </p:nvSpPr>
        <p:spPr bwMode="auto">
          <a:xfrm>
            <a:off x="3064773" y="267467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a:t>0</a:t>
            </a:r>
          </a:p>
        </p:txBody>
      </p:sp>
      <p:sp>
        <p:nvSpPr>
          <p:cNvPr id="41993" name="Line 22">
            <a:extLst>
              <a:ext uri="{FF2B5EF4-FFF2-40B4-BE49-F238E27FC236}">
                <a16:creationId xmlns:a16="http://schemas.microsoft.com/office/drawing/2014/main" id="{99FE293A-309B-4AB3-9DD8-B9181DC66E44}"/>
              </a:ext>
            </a:extLst>
          </p:cNvPr>
          <p:cNvSpPr>
            <a:spLocks noChangeShapeType="1"/>
          </p:cNvSpPr>
          <p:nvPr/>
        </p:nvSpPr>
        <p:spPr bwMode="auto">
          <a:xfrm>
            <a:off x="3750573" y="2979478"/>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3200" b="1"/>
          </a:p>
        </p:txBody>
      </p:sp>
      <p:sp>
        <p:nvSpPr>
          <p:cNvPr id="41994" name="Rectangle 23">
            <a:extLst>
              <a:ext uri="{FF2B5EF4-FFF2-40B4-BE49-F238E27FC236}">
                <a16:creationId xmlns:a16="http://schemas.microsoft.com/office/drawing/2014/main" id="{298E6F8B-1921-4248-8F81-AFAB881635A7}"/>
              </a:ext>
            </a:extLst>
          </p:cNvPr>
          <p:cNvSpPr>
            <a:spLocks noChangeArrowheads="1"/>
          </p:cNvSpPr>
          <p:nvPr/>
        </p:nvSpPr>
        <p:spPr bwMode="auto">
          <a:xfrm>
            <a:off x="4360173" y="351287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a:t>1</a:t>
            </a:r>
          </a:p>
        </p:txBody>
      </p:sp>
      <p:sp>
        <p:nvSpPr>
          <p:cNvPr id="41995" name="Rectangle 24">
            <a:extLst>
              <a:ext uri="{FF2B5EF4-FFF2-40B4-BE49-F238E27FC236}">
                <a16:creationId xmlns:a16="http://schemas.microsoft.com/office/drawing/2014/main" id="{BAF75C31-BAFB-4B3F-A581-94F80FF07111}"/>
              </a:ext>
            </a:extLst>
          </p:cNvPr>
          <p:cNvSpPr>
            <a:spLocks noChangeArrowheads="1"/>
          </p:cNvSpPr>
          <p:nvPr/>
        </p:nvSpPr>
        <p:spPr bwMode="auto">
          <a:xfrm>
            <a:off x="4893573" y="351287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a:t>1</a:t>
            </a:r>
          </a:p>
        </p:txBody>
      </p:sp>
      <p:sp>
        <p:nvSpPr>
          <p:cNvPr id="41996" name="Rectangle 25">
            <a:extLst>
              <a:ext uri="{FF2B5EF4-FFF2-40B4-BE49-F238E27FC236}">
                <a16:creationId xmlns:a16="http://schemas.microsoft.com/office/drawing/2014/main" id="{024E0ACA-FE34-4665-BBA1-E7EE6988B2D7}"/>
              </a:ext>
            </a:extLst>
          </p:cNvPr>
          <p:cNvSpPr>
            <a:spLocks noChangeArrowheads="1"/>
          </p:cNvSpPr>
          <p:nvPr/>
        </p:nvSpPr>
        <p:spPr bwMode="auto">
          <a:xfrm>
            <a:off x="5426973" y="351287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a:t>1</a:t>
            </a:r>
          </a:p>
        </p:txBody>
      </p:sp>
      <p:sp>
        <p:nvSpPr>
          <p:cNvPr id="41997" name="Rectangle 26">
            <a:extLst>
              <a:ext uri="{FF2B5EF4-FFF2-40B4-BE49-F238E27FC236}">
                <a16:creationId xmlns:a16="http://schemas.microsoft.com/office/drawing/2014/main" id="{31CC5103-62FF-4738-8611-D1F14FC04F05}"/>
              </a:ext>
            </a:extLst>
          </p:cNvPr>
          <p:cNvSpPr>
            <a:spLocks noChangeArrowheads="1"/>
          </p:cNvSpPr>
          <p:nvPr/>
        </p:nvSpPr>
        <p:spPr bwMode="auto">
          <a:xfrm>
            <a:off x="5960373" y="351287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a:t>1</a:t>
            </a:r>
          </a:p>
        </p:txBody>
      </p:sp>
      <p:sp>
        <p:nvSpPr>
          <p:cNvPr id="41998" name="Rectangle 27">
            <a:extLst>
              <a:ext uri="{FF2B5EF4-FFF2-40B4-BE49-F238E27FC236}">
                <a16:creationId xmlns:a16="http://schemas.microsoft.com/office/drawing/2014/main" id="{701682B4-3B87-43F0-A4D5-8E2BACE4B046}"/>
              </a:ext>
            </a:extLst>
          </p:cNvPr>
          <p:cNvSpPr>
            <a:spLocks noChangeArrowheads="1"/>
          </p:cNvSpPr>
          <p:nvPr/>
        </p:nvSpPr>
        <p:spPr bwMode="auto">
          <a:xfrm>
            <a:off x="3064773" y="3512878"/>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a:t>1</a:t>
            </a:r>
          </a:p>
        </p:txBody>
      </p:sp>
      <p:sp>
        <p:nvSpPr>
          <p:cNvPr id="41999" name="Line 28">
            <a:extLst>
              <a:ext uri="{FF2B5EF4-FFF2-40B4-BE49-F238E27FC236}">
                <a16:creationId xmlns:a16="http://schemas.microsoft.com/office/drawing/2014/main" id="{B1013DC3-9AD1-45F7-89CC-A30CC87E0023}"/>
              </a:ext>
            </a:extLst>
          </p:cNvPr>
          <p:cNvSpPr>
            <a:spLocks noChangeShapeType="1"/>
          </p:cNvSpPr>
          <p:nvPr/>
        </p:nvSpPr>
        <p:spPr bwMode="auto">
          <a:xfrm>
            <a:off x="3750573" y="3817678"/>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3200" b="1"/>
          </a:p>
        </p:txBody>
      </p:sp>
    </p:spTree>
    <p:extLst>
      <p:ext uri="{BB962C8B-B14F-4D97-AF65-F5344CB8AC3E}">
        <p14:creationId xmlns:p14="http://schemas.microsoft.com/office/powerpoint/2010/main" val="1794098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0BD34FF6-3FE0-AAAA-B35D-C2D1B3E6A174}"/>
              </a:ext>
            </a:extLst>
          </p:cNvPr>
          <p:cNvSpPr txBox="1"/>
          <p:nvPr/>
        </p:nvSpPr>
        <p:spPr>
          <a:xfrm>
            <a:off x="2843868" y="2178509"/>
            <a:ext cx="8471203" cy="978729"/>
          </a:xfrm>
          <a:prstGeom prst="rect">
            <a:avLst/>
          </a:prstGeom>
          <a:noFill/>
        </p:spPr>
        <p:txBody>
          <a:bodyPr wrap="square">
            <a:spAutoFit/>
          </a:bodyPr>
          <a:lstStyle/>
          <a:p>
            <a:pPr>
              <a:lnSpc>
                <a:spcPct val="90000"/>
              </a:lnSpc>
              <a:buClr>
                <a:schemeClr val="accent1"/>
              </a:buClr>
              <a:buFont typeface="Calibri" panose="020F0502020204030204" pitchFamily="34" charset="0"/>
            </a:pPr>
            <a:r>
              <a:rPr lang="he-IL" altLang="en-US" sz="3200" dirty="0">
                <a:sym typeface="Symbol" panose="05050102010706020507" pitchFamily="18" charset="2"/>
              </a:rPr>
              <a:t>בקוד חזרות כל סיבית במילות הקוד משודרות </a:t>
            </a:r>
            <a:r>
              <a:rPr lang="en-US" altLang="en-US" sz="3200" dirty="0">
                <a:sym typeface="Symbol" panose="05050102010706020507" pitchFamily="18" charset="2"/>
              </a:rPr>
              <a:t>r</a:t>
            </a:r>
            <a:r>
              <a:rPr lang="he-IL" altLang="en-US" sz="3200" dirty="0">
                <a:sym typeface="Symbol" panose="05050102010706020507" pitchFamily="18" charset="2"/>
              </a:rPr>
              <a:t> פעמים. לדוגמה, עבור מילות הקוד הנוכחי נקבל:</a:t>
            </a:r>
          </a:p>
        </p:txBody>
      </p:sp>
      <p:sp>
        <p:nvSpPr>
          <p:cNvPr id="6" name="Rectangle 2">
            <a:extLst>
              <a:ext uri="{FF2B5EF4-FFF2-40B4-BE49-F238E27FC236}">
                <a16:creationId xmlns:a16="http://schemas.microsoft.com/office/drawing/2014/main" id="{503BFDB5-2E73-9349-776B-5B79C99B097A}"/>
              </a:ext>
            </a:extLst>
          </p:cNvPr>
          <p:cNvSpPr>
            <a:spLocks noGrp="1" noChangeArrowheads="1"/>
          </p:cNvSpPr>
          <p:nvPr>
            <p:ph type="title"/>
          </p:nvPr>
        </p:nvSpPr>
        <p:spPr>
          <a:xfrm>
            <a:off x="4320330" y="713064"/>
            <a:ext cx="6835350" cy="1024296"/>
          </a:xfrm>
        </p:spPr>
        <p:txBody>
          <a:bodyPr/>
          <a:lstStyle/>
          <a:p>
            <a:pPr algn="r" rtl="1"/>
            <a:r>
              <a:rPr lang="he-IL" altLang="en-US" dirty="0"/>
              <a:t>דוגמא: קוד חזרות (</a:t>
            </a:r>
            <a:r>
              <a:rPr lang="en-US" altLang="en-US" dirty="0"/>
              <a:t>Repetition</a:t>
            </a:r>
            <a:r>
              <a:rPr lang="he-IL" altLang="en-US" dirty="0"/>
              <a:t>)</a:t>
            </a:r>
            <a:endParaRPr lang="en-US" altLang="en-US" dirty="0"/>
          </a:p>
        </p:txBody>
      </p:sp>
      <p:sp>
        <p:nvSpPr>
          <p:cNvPr id="21" name="Rectangle 5">
            <a:extLst>
              <a:ext uri="{FF2B5EF4-FFF2-40B4-BE49-F238E27FC236}">
                <a16:creationId xmlns:a16="http://schemas.microsoft.com/office/drawing/2014/main" id="{51870F13-2C49-015D-D735-340D37FE0115}"/>
              </a:ext>
            </a:extLst>
          </p:cNvPr>
          <p:cNvSpPr>
            <a:spLocks noChangeArrowheads="1"/>
          </p:cNvSpPr>
          <p:nvPr/>
        </p:nvSpPr>
        <p:spPr bwMode="auto">
          <a:xfrm>
            <a:off x="7239000" y="4235856"/>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0</a:t>
            </a:r>
          </a:p>
        </p:txBody>
      </p:sp>
      <p:sp>
        <p:nvSpPr>
          <p:cNvPr id="22" name="Rectangle 6">
            <a:extLst>
              <a:ext uri="{FF2B5EF4-FFF2-40B4-BE49-F238E27FC236}">
                <a16:creationId xmlns:a16="http://schemas.microsoft.com/office/drawing/2014/main" id="{32FC9EE5-83FF-2D55-D8CC-350DBC73C78E}"/>
              </a:ext>
            </a:extLst>
          </p:cNvPr>
          <p:cNvSpPr>
            <a:spLocks noChangeArrowheads="1"/>
          </p:cNvSpPr>
          <p:nvPr/>
        </p:nvSpPr>
        <p:spPr bwMode="auto">
          <a:xfrm>
            <a:off x="7772400" y="4235856"/>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0</a:t>
            </a:r>
          </a:p>
        </p:txBody>
      </p:sp>
      <p:sp>
        <p:nvSpPr>
          <p:cNvPr id="23" name="Rectangle 7">
            <a:extLst>
              <a:ext uri="{FF2B5EF4-FFF2-40B4-BE49-F238E27FC236}">
                <a16:creationId xmlns:a16="http://schemas.microsoft.com/office/drawing/2014/main" id="{7689347E-F7D1-E155-6DCC-92CE1625F82C}"/>
              </a:ext>
            </a:extLst>
          </p:cNvPr>
          <p:cNvSpPr>
            <a:spLocks noChangeArrowheads="1"/>
          </p:cNvSpPr>
          <p:nvPr/>
        </p:nvSpPr>
        <p:spPr bwMode="auto">
          <a:xfrm>
            <a:off x="8305800" y="4235856"/>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1</a:t>
            </a:r>
          </a:p>
        </p:txBody>
      </p:sp>
      <p:sp>
        <p:nvSpPr>
          <p:cNvPr id="27" name="Rectangle 5">
            <a:extLst>
              <a:ext uri="{FF2B5EF4-FFF2-40B4-BE49-F238E27FC236}">
                <a16:creationId xmlns:a16="http://schemas.microsoft.com/office/drawing/2014/main" id="{86E0DA2C-0FCA-7350-5D21-BE13F502CD0D}"/>
              </a:ext>
            </a:extLst>
          </p:cNvPr>
          <p:cNvSpPr>
            <a:spLocks noChangeArrowheads="1"/>
          </p:cNvSpPr>
          <p:nvPr/>
        </p:nvSpPr>
        <p:spPr bwMode="auto">
          <a:xfrm>
            <a:off x="606586" y="4235856"/>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0</a:t>
            </a:r>
          </a:p>
        </p:txBody>
      </p:sp>
      <p:sp>
        <p:nvSpPr>
          <p:cNvPr id="28" name="Rectangle 6">
            <a:extLst>
              <a:ext uri="{FF2B5EF4-FFF2-40B4-BE49-F238E27FC236}">
                <a16:creationId xmlns:a16="http://schemas.microsoft.com/office/drawing/2014/main" id="{7029CC7F-20E5-3731-61A4-7178E6600228}"/>
              </a:ext>
            </a:extLst>
          </p:cNvPr>
          <p:cNvSpPr>
            <a:spLocks noChangeArrowheads="1"/>
          </p:cNvSpPr>
          <p:nvPr/>
        </p:nvSpPr>
        <p:spPr bwMode="auto">
          <a:xfrm>
            <a:off x="1139986" y="4235856"/>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0</a:t>
            </a:r>
          </a:p>
        </p:txBody>
      </p:sp>
      <p:sp>
        <p:nvSpPr>
          <p:cNvPr id="29" name="Rectangle 7">
            <a:extLst>
              <a:ext uri="{FF2B5EF4-FFF2-40B4-BE49-F238E27FC236}">
                <a16:creationId xmlns:a16="http://schemas.microsoft.com/office/drawing/2014/main" id="{EF4C8EE2-92F8-941A-DB51-EE36FE4C20A3}"/>
              </a:ext>
            </a:extLst>
          </p:cNvPr>
          <p:cNvSpPr>
            <a:spLocks noChangeArrowheads="1"/>
          </p:cNvSpPr>
          <p:nvPr/>
        </p:nvSpPr>
        <p:spPr bwMode="auto">
          <a:xfrm>
            <a:off x="1673386" y="4235856"/>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0</a:t>
            </a:r>
          </a:p>
        </p:txBody>
      </p:sp>
      <p:sp>
        <p:nvSpPr>
          <p:cNvPr id="39" name="תיבת טקסט 38">
            <a:extLst>
              <a:ext uri="{FF2B5EF4-FFF2-40B4-BE49-F238E27FC236}">
                <a16:creationId xmlns:a16="http://schemas.microsoft.com/office/drawing/2014/main" id="{12016B5F-7CD2-6884-F756-B255A02C52C2}"/>
              </a:ext>
            </a:extLst>
          </p:cNvPr>
          <p:cNvSpPr txBox="1"/>
          <p:nvPr/>
        </p:nvSpPr>
        <p:spPr>
          <a:xfrm>
            <a:off x="606586" y="5178125"/>
            <a:ext cx="10954343" cy="978729"/>
          </a:xfrm>
          <a:prstGeom prst="rect">
            <a:avLst/>
          </a:prstGeom>
          <a:noFill/>
        </p:spPr>
        <p:txBody>
          <a:bodyPr wrap="square">
            <a:spAutoFit/>
          </a:bodyPr>
          <a:lstStyle/>
          <a:p>
            <a:pPr>
              <a:lnSpc>
                <a:spcPct val="90000"/>
              </a:lnSpc>
              <a:buClr>
                <a:schemeClr val="accent1"/>
              </a:buClr>
              <a:buFont typeface="Calibri" panose="020F0502020204030204" pitchFamily="34" charset="0"/>
            </a:pPr>
            <a:r>
              <a:rPr lang="he-IL" altLang="en-US" sz="3200" dirty="0">
                <a:sym typeface="Symbol" panose="05050102010706020507" pitchFamily="18" charset="2"/>
              </a:rPr>
              <a:t>מרחק הקוד המקורי היה 2 ואילו לאחר השינוי – מרחק הקוד הנוכחי הינו </a:t>
            </a:r>
            <a:r>
              <a:rPr lang="en-US" altLang="en-US" sz="3200" dirty="0">
                <a:sym typeface="Symbol" panose="05050102010706020507" pitchFamily="18" charset="2"/>
              </a:rPr>
              <a:t>2r</a:t>
            </a:r>
            <a:r>
              <a:rPr lang="he-IL" altLang="en-US" sz="3200" dirty="0">
                <a:sym typeface="Symbol" panose="05050102010706020507" pitchFamily="18" charset="2"/>
              </a:rPr>
              <a:t> כלומר 6!</a:t>
            </a:r>
            <a:endParaRPr lang="en-US" altLang="en-US" sz="3200" dirty="0">
              <a:solidFill>
                <a:schemeClr val="tx1"/>
              </a:solidFill>
              <a:sym typeface="Symbol" panose="05050102010706020507" pitchFamily="18" charset="2"/>
            </a:endParaRPr>
          </a:p>
        </p:txBody>
      </p:sp>
      <p:sp>
        <p:nvSpPr>
          <p:cNvPr id="2" name="Rectangle 5">
            <a:extLst>
              <a:ext uri="{FF2B5EF4-FFF2-40B4-BE49-F238E27FC236}">
                <a16:creationId xmlns:a16="http://schemas.microsoft.com/office/drawing/2014/main" id="{4EED76BD-B2A0-A488-1B33-1F0A77914DA9}"/>
              </a:ext>
            </a:extLst>
          </p:cNvPr>
          <p:cNvSpPr>
            <a:spLocks noChangeArrowheads="1"/>
          </p:cNvSpPr>
          <p:nvPr/>
        </p:nvSpPr>
        <p:spPr bwMode="auto">
          <a:xfrm>
            <a:off x="7239000" y="3293587"/>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a:t>0</a:t>
            </a:r>
          </a:p>
        </p:txBody>
      </p:sp>
      <p:sp>
        <p:nvSpPr>
          <p:cNvPr id="3" name="Rectangle 6">
            <a:extLst>
              <a:ext uri="{FF2B5EF4-FFF2-40B4-BE49-F238E27FC236}">
                <a16:creationId xmlns:a16="http://schemas.microsoft.com/office/drawing/2014/main" id="{3D27F250-0262-1CA3-3EF0-76E000D9B920}"/>
              </a:ext>
            </a:extLst>
          </p:cNvPr>
          <p:cNvSpPr>
            <a:spLocks noChangeArrowheads="1"/>
          </p:cNvSpPr>
          <p:nvPr/>
        </p:nvSpPr>
        <p:spPr bwMode="auto">
          <a:xfrm>
            <a:off x="7772400" y="3293587"/>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1</a:t>
            </a:r>
          </a:p>
        </p:txBody>
      </p:sp>
      <p:sp>
        <p:nvSpPr>
          <p:cNvPr id="4" name="Rectangle 7">
            <a:extLst>
              <a:ext uri="{FF2B5EF4-FFF2-40B4-BE49-F238E27FC236}">
                <a16:creationId xmlns:a16="http://schemas.microsoft.com/office/drawing/2014/main" id="{D8DC84CC-81E3-79B2-F376-4CF3F86A1C59}"/>
              </a:ext>
            </a:extLst>
          </p:cNvPr>
          <p:cNvSpPr>
            <a:spLocks noChangeArrowheads="1"/>
          </p:cNvSpPr>
          <p:nvPr/>
        </p:nvSpPr>
        <p:spPr bwMode="auto">
          <a:xfrm>
            <a:off x="8305800" y="3293587"/>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0</a:t>
            </a:r>
          </a:p>
        </p:txBody>
      </p:sp>
      <p:sp>
        <p:nvSpPr>
          <p:cNvPr id="8" name="Rectangle 5">
            <a:extLst>
              <a:ext uri="{FF2B5EF4-FFF2-40B4-BE49-F238E27FC236}">
                <a16:creationId xmlns:a16="http://schemas.microsoft.com/office/drawing/2014/main" id="{AB414C21-F490-987B-C870-93C3ECAD1E73}"/>
              </a:ext>
            </a:extLst>
          </p:cNvPr>
          <p:cNvSpPr>
            <a:spLocks noChangeArrowheads="1"/>
          </p:cNvSpPr>
          <p:nvPr/>
        </p:nvSpPr>
        <p:spPr bwMode="auto">
          <a:xfrm>
            <a:off x="606586" y="3293587"/>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0</a:t>
            </a:r>
          </a:p>
        </p:txBody>
      </p:sp>
      <p:sp>
        <p:nvSpPr>
          <p:cNvPr id="9" name="Rectangle 6">
            <a:extLst>
              <a:ext uri="{FF2B5EF4-FFF2-40B4-BE49-F238E27FC236}">
                <a16:creationId xmlns:a16="http://schemas.microsoft.com/office/drawing/2014/main" id="{3FC0A47C-29F0-6F6F-E1F1-EA8D3D875098}"/>
              </a:ext>
            </a:extLst>
          </p:cNvPr>
          <p:cNvSpPr>
            <a:spLocks noChangeArrowheads="1"/>
          </p:cNvSpPr>
          <p:nvPr/>
        </p:nvSpPr>
        <p:spPr bwMode="auto">
          <a:xfrm>
            <a:off x="1139986" y="3293587"/>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0</a:t>
            </a:r>
          </a:p>
        </p:txBody>
      </p:sp>
      <p:sp>
        <p:nvSpPr>
          <p:cNvPr id="10" name="Rectangle 7">
            <a:extLst>
              <a:ext uri="{FF2B5EF4-FFF2-40B4-BE49-F238E27FC236}">
                <a16:creationId xmlns:a16="http://schemas.microsoft.com/office/drawing/2014/main" id="{444C233B-E043-3029-EEC6-E688DA68AA15}"/>
              </a:ext>
            </a:extLst>
          </p:cNvPr>
          <p:cNvSpPr>
            <a:spLocks noChangeArrowheads="1"/>
          </p:cNvSpPr>
          <p:nvPr/>
        </p:nvSpPr>
        <p:spPr bwMode="auto">
          <a:xfrm>
            <a:off x="1673386" y="3293587"/>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0</a:t>
            </a:r>
          </a:p>
        </p:txBody>
      </p:sp>
      <p:sp>
        <p:nvSpPr>
          <p:cNvPr id="11" name="Rectangle 5">
            <a:extLst>
              <a:ext uri="{FF2B5EF4-FFF2-40B4-BE49-F238E27FC236}">
                <a16:creationId xmlns:a16="http://schemas.microsoft.com/office/drawing/2014/main" id="{CE626008-E1FF-C27D-AFC6-2D54520F8879}"/>
              </a:ext>
            </a:extLst>
          </p:cNvPr>
          <p:cNvSpPr>
            <a:spLocks noChangeArrowheads="1"/>
          </p:cNvSpPr>
          <p:nvPr/>
        </p:nvSpPr>
        <p:spPr bwMode="auto">
          <a:xfrm>
            <a:off x="2154466" y="4235856"/>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0</a:t>
            </a:r>
          </a:p>
        </p:txBody>
      </p:sp>
      <p:sp>
        <p:nvSpPr>
          <p:cNvPr id="12" name="Rectangle 6">
            <a:extLst>
              <a:ext uri="{FF2B5EF4-FFF2-40B4-BE49-F238E27FC236}">
                <a16:creationId xmlns:a16="http://schemas.microsoft.com/office/drawing/2014/main" id="{22E5BCDB-1296-6B7F-B8CE-382A3A26D52E}"/>
              </a:ext>
            </a:extLst>
          </p:cNvPr>
          <p:cNvSpPr>
            <a:spLocks noChangeArrowheads="1"/>
          </p:cNvSpPr>
          <p:nvPr/>
        </p:nvSpPr>
        <p:spPr bwMode="auto">
          <a:xfrm>
            <a:off x="2687866" y="4235856"/>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0</a:t>
            </a:r>
          </a:p>
        </p:txBody>
      </p:sp>
      <p:sp>
        <p:nvSpPr>
          <p:cNvPr id="13" name="Rectangle 7">
            <a:extLst>
              <a:ext uri="{FF2B5EF4-FFF2-40B4-BE49-F238E27FC236}">
                <a16:creationId xmlns:a16="http://schemas.microsoft.com/office/drawing/2014/main" id="{D7899116-2F3C-654B-98B5-D1CF47A87C43}"/>
              </a:ext>
            </a:extLst>
          </p:cNvPr>
          <p:cNvSpPr>
            <a:spLocks noChangeArrowheads="1"/>
          </p:cNvSpPr>
          <p:nvPr/>
        </p:nvSpPr>
        <p:spPr bwMode="auto">
          <a:xfrm>
            <a:off x="3221266" y="4235856"/>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0</a:t>
            </a:r>
          </a:p>
        </p:txBody>
      </p:sp>
      <p:sp>
        <p:nvSpPr>
          <p:cNvPr id="14" name="Rectangle 5">
            <a:extLst>
              <a:ext uri="{FF2B5EF4-FFF2-40B4-BE49-F238E27FC236}">
                <a16:creationId xmlns:a16="http://schemas.microsoft.com/office/drawing/2014/main" id="{B8FD6943-3B36-7501-EA55-8FE99CE80F80}"/>
              </a:ext>
            </a:extLst>
          </p:cNvPr>
          <p:cNvSpPr>
            <a:spLocks noChangeArrowheads="1"/>
          </p:cNvSpPr>
          <p:nvPr/>
        </p:nvSpPr>
        <p:spPr bwMode="auto">
          <a:xfrm>
            <a:off x="2154466" y="3293587"/>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1</a:t>
            </a:r>
          </a:p>
        </p:txBody>
      </p:sp>
      <p:sp>
        <p:nvSpPr>
          <p:cNvPr id="15" name="Rectangle 6">
            <a:extLst>
              <a:ext uri="{FF2B5EF4-FFF2-40B4-BE49-F238E27FC236}">
                <a16:creationId xmlns:a16="http://schemas.microsoft.com/office/drawing/2014/main" id="{74D25BC8-0C20-A51F-93F2-F3C452D160A3}"/>
              </a:ext>
            </a:extLst>
          </p:cNvPr>
          <p:cNvSpPr>
            <a:spLocks noChangeArrowheads="1"/>
          </p:cNvSpPr>
          <p:nvPr/>
        </p:nvSpPr>
        <p:spPr bwMode="auto">
          <a:xfrm>
            <a:off x="2687866" y="3293587"/>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1</a:t>
            </a:r>
          </a:p>
        </p:txBody>
      </p:sp>
      <p:sp>
        <p:nvSpPr>
          <p:cNvPr id="16" name="Rectangle 7">
            <a:extLst>
              <a:ext uri="{FF2B5EF4-FFF2-40B4-BE49-F238E27FC236}">
                <a16:creationId xmlns:a16="http://schemas.microsoft.com/office/drawing/2014/main" id="{E94AC1D2-854F-05B2-3F9E-5F20F0DDB629}"/>
              </a:ext>
            </a:extLst>
          </p:cNvPr>
          <p:cNvSpPr>
            <a:spLocks noChangeArrowheads="1"/>
          </p:cNvSpPr>
          <p:nvPr/>
        </p:nvSpPr>
        <p:spPr bwMode="auto">
          <a:xfrm>
            <a:off x="3221266" y="3293587"/>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1</a:t>
            </a:r>
          </a:p>
        </p:txBody>
      </p:sp>
      <p:sp>
        <p:nvSpPr>
          <p:cNvPr id="17" name="Rectangle 5">
            <a:extLst>
              <a:ext uri="{FF2B5EF4-FFF2-40B4-BE49-F238E27FC236}">
                <a16:creationId xmlns:a16="http://schemas.microsoft.com/office/drawing/2014/main" id="{1AEDA338-2737-3C1B-3F99-336C5F76213A}"/>
              </a:ext>
            </a:extLst>
          </p:cNvPr>
          <p:cNvSpPr>
            <a:spLocks noChangeArrowheads="1"/>
          </p:cNvSpPr>
          <p:nvPr/>
        </p:nvSpPr>
        <p:spPr bwMode="auto">
          <a:xfrm>
            <a:off x="3754666" y="4235856"/>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1</a:t>
            </a:r>
          </a:p>
        </p:txBody>
      </p:sp>
      <p:sp>
        <p:nvSpPr>
          <p:cNvPr id="18" name="Rectangle 6">
            <a:extLst>
              <a:ext uri="{FF2B5EF4-FFF2-40B4-BE49-F238E27FC236}">
                <a16:creationId xmlns:a16="http://schemas.microsoft.com/office/drawing/2014/main" id="{45BEDDAF-8821-9590-0A50-7A9DA41BD30A}"/>
              </a:ext>
            </a:extLst>
          </p:cNvPr>
          <p:cNvSpPr>
            <a:spLocks noChangeArrowheads="1"/>
          </p:cNvSpPr>
          <p:nvPr/>
        </p:nvSpPr>
        <p:spPr bwMode="auto">
          <a:xfrm>
            <a:off x="4288066" y="4235856"/>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1</a:t>
            </a:r>
          </a:p>
        </p:txBody>
      </p:sp>
      <p:sp>
        <p:nvSpPr>
          <p:cNvPr id="19" name="Rectangle 7">
            <a:extLst>
              <a:ext uri="{FF2B5EF4-FFF2-40B4-BE49-F238E27FC236}">
                <a16:creationId xmlns:a16="http://schemas.microsoft.com/office/drawing/2014/main" id="{326BB98B-4C8F-FE31-BA7F-47B3695FB9C5}"/>
              </a:ext>
            </a:extLst>
          </p:cNvPr>
          <p:cNvSpPr>
            <a:spLocks noChangeArrowheads="1"/>
          </p:cNvSpPr>
          <p:nvPr/>
        </p:nvSpPr>
        <p:spPr bwMode="auto">
          <a:xfrm>
            <a:off x="4821466" y="4235856"/>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1</a:t>
            </a:r>
          </a:p>
        </p:txBody>
      </p:sp>
      <p:sp>
        <p:nvSpPr>
          <p:cNvPr id="20" name="Rectangle 5">
            <a:extLst>
              <a:ext uri="{FF2B5EF4-FFF2-40B4-BE49-F238E27FC236}">
                <a16:creationId xmlns:a16="http://schemas.microsoft.com/office/drawing/2014/main" id="{E62DFA33-68EC-94AC-355F-E9A89F47A352}"/>
              </a:ext>
            </a:extLst>
          </p:cNvPr>
          <p:cNvSpPr>
            <a:spLocks noChangeArrowheads="1"/>
          </p:cNvSpPr>
          <p:nvPr/>
        </p:nvSpPr>
        <p:spPr bwMode="auto">
          <a:xfrm>
            <a:off x="3754666" y="3293587"/>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0</a:t>
            </a:r>
          </a:p>
        </p:txBody>
      </p:sp>
      <p:sp>
        <p:nvSpPr>
          <p:cNvPr id="24" name="Rectangle 6">
            <a:extLst>
              <a:ext uri="{FF2B5EF4-FFF2-40B4-BE49-F238E27FC236}">
                <a16:creationId xmlns:a16="http://schemas.microsoft.com/office/drawing/2014/main" id="{F0CB3B67-FEDE-EE2E-C415-9DE83CE5AF9A}"/>
              </a:ext>
            </a:extLst>
          </p:cNvPr>
          <p:cNvSpPr>
            <a:spLocks noChangeArrowheads="1"/>
          </p:cNvSpPr>
          <p:nvPr/>
        </p:nvSpPr>
        <p:spPr bwMode="auto">
          <a:xfrm>
            <a:off x="4288066" y="3293587"/>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0</a:t>
            </a:r>
          </a:p>
        </p:txBody>
      </p:sp>
      <p:sp>
        <p:nvSpPr>
          <p:cNvPr id="25" name="Rectangle 7">
            <a:extLst>
              <a:ext uri="{FF2B5EF4-FFF2-40B4-BE49-F238E27FC236}">
                <a16:creationId xmlns:a16="http://schemas.microsoft.com/office/drawing/2014/main" id="{EE763EBE-138B-73CE-CF1B-D1EA2B723C82}"/>
              </a:ext>
            </a:extLst>
          </p:cNvPr>
          <p:cNvSpPr>
            <a:spLocks noChangeArrowheads="1"/>
          </p:cNvSpPr>
          <p:nvPr/>
        </p:nvSpPr>
        <p:spPr bwMode="auto">
          <a:xfrm>
            <a:off x="4821466" y="3293587"/>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b="1" dirty="0"/>
              <a:t>0</a:t>
            </a:r>
          </a:p>
        </p:txBody>
      </p:sp>
    </p:spTree>
    <p:extLst>
      <p:ext uri="{BB962C8B-B14F-4D97-AF65-F5344CB8AC3E}">
        <p14:creationId xmlns:p14="http://schemas.microsoft.com/office/powerpoint/2010/main" val="349407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7" grpId="0" animBg="1"/>
      <p:bldP spid="28" grpId="0" animBg="1"/>
      <p:bldP spid="29" grpId="0" animBg="1"/>
      <p:bldP spid="39" grpId="0"/>
      <p:bldP spid="2" grpId="0" animBg="1"/>
      <p:bldP spid="3" grpId="0" animBg="1"/>
      <p:bldP spid="4"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4" grpId="0" animBg="1"/>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BD970C9-AD4E-4532-AE05-8E19290C675E}"/>
              </a:ext>
            </a:extLst>
          </p:cNvPr>
          <p:cNvSpPr>
            <a:spLocks noGrp="1" noChangeArrowheads="1"/>
          </p:cNvSpPr>
          <p:nvPr>
            <p:ph type="title"/>
          </p:nvPr>
        </p:nvSpPr>
        <p:spPr/>
        <p:txBody>
          <a:bodyPr/>
          <a:lstStyle/>
          <a:p>
            <a:pPr algn="r" rtl="1"/>
            <a:r>
              <a:rPr lang="he-IL" altLang="en-US" dirty="0"/>
              <a:t>דוגמא: </a:t>
            </a:r>
            <a:r>
              <a:rPr lang="en-US" altLang="en-US" dirty="0"/>
              <a:t>X out of Y</a:t>
            </a:r>
          </a:p>
        </p:txBody>
      </p:sp>
      <mc:AlternateContent xmlns:mc="http://schemas.openxmlformats.org/markup-compatibility/2006" xmlns:a14="http://schemas.microsoft.com/office/drawing/2010/main">
        <mc:Choice Requires="a14">
          <p:sp>
            <p:nvSpPr>
              <p:cNvPr id="14339" name="Rectangle 3">
                <a:extLst>
                  <a:ext uri="{FF2B5EF4-FFF2-40B4-BE49-F238E27FC236}">
                    <a16:creationId xmlns:a16="http://schemas.microsoft.com/office/drawing/2014/main" id="{914C1049-ACB3-4C26-AC53-4601EA2A06E5}"/>
                  </a:ext>
                </a:extLst>
              </p:cNvPr>
              <p:cNvSpPr>
                <a:spLocks noGrp="1" noChangeArrowheads="1"/>
              </p:cNvSpPr>
              <p:nvPr>
                <p:ph idx="1"/>
              </p:nvPr>
            </p:nvSpPr>
            <p:spPr/>
            <p:txBody>
              <a:bodyPr/>
              <a:lstStyle/>
              <a:p>
                <a:pPr algn="r" rtl="1">
                  <a:defRPr/>
                </a:pPr>
                <a:r>
                  <a:rPr lang="he-IL" sz="2800" dirty="0">
                    <a:solidFill>
                      <a:schemeClr val="tx1"/>
                    </a:solidFill>
                  </a:rPr>
                  <a:t>כל מילות הקוד באורך </a:t>
                </a:r>
                <a:r>
                  <a:rPr lang="en-US" sz="2800" b="1" dirty="0">
                    <a:solidFill>
                      <a:schemeClr val="tx1"/>
                    </a:solidFill>
                  </a:rPr>
                  <a:t>Y</a:t>
                </a:r>
                <a:r>
                  <a:rPr lang="he-IL" sz="2800" dirty="0">
                    <a:solidFill>
                      <a:schemeClr val="tx1"/>
                    </a:solidFill>
                  </a:rPr>
                  <a:t>, מכילות בדיוק </a:t>
                </a:r>
                <a:r>
                  <a:rPr lang="en-US" sz="2800" b="1" dirty="0">
                    <a:solidFill>
                      <a:schemeClr val="tx1"/>
                    </a:solidFill>
                  </a:rPr>
                  <a:t>X</a:t>
                </a:r>
                <a:r>
                  <a:rPr lang="he-IL" sz="2800" b="1" dirty="0">
                    <a:solidFill>
                      <a:schemeClr val="tx1"/>
                    </a:solidFill>
                  </a:rPr>
                  <a:t> </a:t>
                </a:r>
                <a:r>
                  <a:rPr lang="he-IL" sz="2800" dirty="0">
                    <a:solidFill>
                      <a:schemeClr val="tx1"/>
                    </a:solidFill>
                  </a:rPr>
                  <a:t>אחדים.</a:t>
                </a:r>
              </a:p>
              <a:p>
                <a:pPr algn="r" rtl="1">
                  <a:defRPr/>
                </a:pPr>
                <a:endParaRPr lang="he-IL" sz="2800" dirty="0">
                  <a:solidFill>
                    <a:schemeClr val="tx1"/>
                  </a:solidFill>
                </a:endParaRPr>
              </a:p>
              <a:p>
                <a:pPr algn="r" rtl="1">
                  <a:defRPr/>
                </a:pPr>
                <a:r>
                  <a:rPr lang="he-IL" sz="2800" dirty="0">
                    <a:solidFill>
                      <a:schemeClr val="tx1"/>
                    </a:solidFill>
                  </a:rPr>
                  <a:t>מס' המילים בקוד:   </a:t>
                </a:r>
                <a14:m>
                  <m:oMath xmlns:m="http://schemas.openxmlformats.org/officeDocument/2006/math">
                    <m:r>
                      <a:rPr lang="he-IL" sz="2800" b="0" i="0" smtClean="0">
                        <a:solidFill>
                          <a:schemeClr val="tx1"/>
                        </a:solidFill>
                        <a:latin typeface="Cambria Math" panose="02040503050406030204" pitchFamily="18" charset="0"/>
                      </a:rPr>
                      <m:t>=</m:t>
                    </m:r>
                    <m:f>
                      <m:fPr>
                        <m:ctrlPr>
                          <a:rPr lang="he-IL" sz="2800" b="0" i="1" smtClean="0">
                            <a:solidFill>
                              <a:schemeClr val="tx1"/>
                            </a:solidFill>
                            <a:latin typeface="Cambria Math" panose="02040503050406030204" pitchFamily="18" charset="0"/>
                          </a:rPr>
                        </m:ctrlPr>
                      </m:fPr>
                      <m:num>
                        <m:r>
                          <a:rPr lang="en-US" sz="2800" b="0" i="1" smtClean="0">
                            <a:solidFill>
                              <a:schemeClr val="tx1"/>
                            </a:solidFill>
                            <a:latin typeface="Cambria Math" panose="02040503050406030204" pitchFamily="18" charset="0"/>
                          </a:rPr>
                          <m:t>𝑌</m:t>
                        </m:r>
                        <m:r>
                          <a:rPr lang="he-IL" sz="2800" b="0" i="1" smtClean="0">
                            <a:solidFill>
                              <a:schemeClr val="tx1"/>
                            </a:solidFill>
                            <a:latin typeface="Cambria Math" panose="02040503050406030204" pitchFamily="18" charset="0"/>
                          </a:rPr>
                          <m:t>!</m:t>
                        </m:r>
                      </m:num>
                      <m:den>
                        <m:r>
                          <a:rPr lang="en-US" sz="2800" b="0" i="1" smtClean="0">
                            <a:solidFill>
                              <a:schemeClr val="tx1"/>
                            </a:solidFill>
                            <a:latin typeface="Cambria Math" panose="02040503050406030204" pitchFamily="18" charset="0"/>
                          </a:rPr>
                          <m:t>𝑋</m:t>
                        </m:r>
                        <m:r>
                          <a:rPr lang="he-IL" sz="2800" b="0" i="1" smtClean="0">
                            <a:solidFill>
                              <a:schemeClr val="tx1"/>
                            </a:solidFill>
                            <a:latin typeface="Cambria Math" panose="02040503050406030204" pitchFamily="18" charset="0"/>
                          </a:rPr>
                          <m:t>!⋅</m:t>
                        </m:r>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𝑌</m:t>
                            </m:r>
                            <m:r>
                              <a:rPr lang="he-IL"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𝑋</m:t>
                            </m:r>
                          </m:e>
                        </m:d>
                        <m:r>
                          <a:rPr lang="he-IL" sz="2800" b="0" i="1" smtClean="0">
                            <a:solidFill>
                              <a:schemeClr val="tx1"/>
                            </a:solidFill>
                            <a:latin typeface="Cambria Math" panose="02040503050406030204" pitchFamily="18" charset="0"/>
                          </a:rPr>
                          <m:t>!</m:t>
                        </m:r>
                      </m:den>
                    </m:f>
                  </m:oMath>
                </a14:m>
                <a:endParaRPr lang="he-IL" sz="2800" dirty="0">
                  <a:solidFill>
                    <a:schemeClr val="tx1"/>
                  </a:solidFill>
                </a:endParaRPr>
              </a:p>
              <a:p>
                <a:pPr algn="r" rtl="1">
                  <a:defRPr/>
                </a:pPr>
                <a:endParaRPr lang="he-IL" sz="2800" b="1" dirty="0">
                  <a:solidFill>
                    <a:schemeClr val="tx1"/>
                  </a:solidFill>
                </a:endParaRPr>
              </a:p>
              <a:p>
                <a:pPr algn="r" rtl="1">
                  <a:defRPr/>
                </a:pPr>
                <a:r>
                  <a:rPr lang="he-IL" sz="2800" b="1" dirty="0">
                    <a:solidFill>
                      <a:schemeClr val="tx1"/>
                    </a:solidFill>
                  </a:rPr>
                  <a:t>מרחק הקוד:</a:t>
                </a:r>
                <a:r>
                  <a:rPr lang="he-IL" sz="2800" dirty="0">
                    <a:solidFill>
                      <a:schemeClr val="tx1"/>
                    </a:solidFill>
                  </a:rPr>
                  <a:t> 2 (לכל </a:t>
                </a:r>
                <a:r>
                  <a:rPr lang="en-US" sz="2800" dirty="0">
                    <a:solidFill>
                      <a:schemeClr val="tx1"/>
                    </a:solidFill>
                  </a:rPr>
                  <a:t>X</a:t>
                </a:r>
                <a:r>
                  <a:rPr lang="he-IL" sz="2800" dirty="0">
                    <a:solidFill>
                      <a:schemeClr val="tx1"/>
                    </a:solidFill>
                  </a:rPr>
                  <a:t> ו-</a:t>
                </a:r>
                <a:r>
                  <a:rPr lang="en-US" sz="2800" dirty="0">
                    <a:solidFill>
                      <a:schemeClr val="tx1"/>
                    </a:solidFill>
                  </a:rPr>
                  <a:t>Y</a:t>
                </a:r>
                <a:r>
                  <a:rPr lang="he-IL" sz="2800" dirty="0">
                    <a:solidFill>
                      <a:schemeClr val="tx1"/>
                    </a:solidFill>
                  </a:rPr>
                  <a:t>)</a:t>
                </a:r>
              </a:p>
              <a:p>
                <a:pPr marL="0" indent="0">
                  <a:buNone/>
                  <a:defRPr/>
                </a:pPr>
                <a:r>
                  <a:rPr lang="en-US" sz="2800" dirty="0">
                    <a:solidFill>
                      <a:schemeClr val="tx1"/>
                    </a:solidFill>
                    <a:sym typeface="Symbol" pitchFamily="18" charset="2"/>
                  </a:rPr>
                  <a:t>←</a:t>
                </a:r>
                <a:r>
                  <a:rPr lang="he-IL" sz="2800" dirty="0">
                    <a:solidFill>
                      <a:schemeClr val="tx1"/>
                    </a:solidFill>
                    <a:sym typeface="Symbol" pitchFamily="18" charset="2"/>
                  </a:rPr>
                  <a:t> יכולת גילוי של שגיאה בודדת.</a:t>
                </a:r>
                <a:endParaRPr lang="en-US" sz="2800" dirty="0">
                  <a:solidFill>
                    <a:schemeClr val="tx1"/>
                  </a:solidFill>
                  <a:sym typeface="Symbol" pitchFamily="18" charset="2"/>
                </a:endParaRPr>
              </a:p>
              <a:p>
                <a:pPr marL="0" indent="0">
                  <a:buNone/>
                  <a:defRPr/>
                </a:pPr>
                <a:endParaRPr lang="en-US" sz="2800" b="1" dirty="0">
                  <a:solidFill>
                    <a:schemeClr val="tx1"/>
                  </a:solidFill>
                </a:endParaRPr>
              </a:p>
            </p:txBody>
          </p:sp>
        </mc:Choice>
        <mc:Fallback xmlns="">
          <p:sp>
            <p:nvSpPr>
              <p:cNvPr id="14339" name="Rectangle 3">
                <a:extLst>
                  <a:ext uri="{FF2B5EF4-FFF2-40B4-BE49-F238E27FC236}">
                    <a16:creationId xmlns:a16="http://schemas.microsoft.com/office/drawing/2014/main" id="{914C1049-ACB3-4C26-AC53-4601EA2A06E5}"/>
                  </a:ext>
                </a:extLst>
              </p:cNvPr>
              <p:cNvSpPr>
                <a:spLocks noGrp="1" noRot="1" noChangeAspect="1" noMove="1" noResize="1" noEditPoints="1" noAdjustHandles="1" noChangeArrowheads="1" noChangeShapeType="1" noTextEdit="1"/>
              </p:cNvSpPr>
              <p:nvPr>
                <p:ph idx="1"/>
              </p:nvPr>
            </p:nvSpPr>
            <p:spPr>
              <a:blipFill>
                <a:blip r:embed="rId3"/>
                <a:stretch>
                  <a:fillRect t="-3030" r="-2182"/>
                </a:stretch>
              </a:blipFill>
            </p:spPr>
            <p:txBody>
              <a:bodyPr/>
              <a:lstStyle/>
              <a:p>
                <a:r>
                  <a:rPr lang="he-IL">
                    <a:noFill/>
                  </a:rPr>
                  <a:t> </a:t>
                </a:r>
              </a:p>
            </p:txBody>
          </p:sp>
        </mc:Fallback>
      </mc:AlternateContent>
      <p:sp>
        <p:nvSpPr>
          <p:cNvPr id="43016" name="Slide Number Placeholder 1">
            <a:extLst>
              <a:ext uri="{FF2B5EF4-FFF2-40B4-BE49-F238E27FC236}">
                <a16:creationId xmlns:a16="http://schemas.microsoft.com/office/drawing/2014/main" id="{2EE126FA-D0C1-4DC8-B118-EA98DC4214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B617DD4-EFA5-4749-BACC-0C7541BC6598}" type="slidenum">
              <a:rPr lang="en-US" altLang="en-US" sz="1400">
                <a:solidFill>
                  <a:srgbClr val="000000"/>
                </a:solidFill>
              </a:rPr>
              <a:pPr>
                <a:spcBef>
                  <a:spcPct val="0"/>
                </a:spcBef>
                <a:buFontTx/>
                <a:buNone/>
              </a:pPr>
              <a:t>17</a:t>
            </a:fld>
            <a:endParaRPr lang="en-US" altLang="en-US" sz="1400">
              <a:solidFill>
                <a:srgbClr val="000000"/>
              </a:solidFill>
            </a:endParaRPr>
          </a:p>
        </p:txBody>
      </p:sp>
      <p:sp>
        <p:nvSpPr>
          <p:cNvPr id="43012" name="Rectangle 4">
            <a:extLst>
              <a:ext uri="{FF2B5EF4-FFF2-40B4-BE49-F238E27FC236}">
                <a16:creationId xmlns:a16="http://schemas.microsoft.com/office/drawing/2014/main" id="{AC14455E-E0A1-4458-98F4-52D80582D266}"/>
              </a:ext>
            </a:extLst>
          </p:cNvPr>
          <p:cNvSpPr>
            <a:spLocks noChangeArrowheads="1"/>
          </p:cNvSpPr>
          <p:nvPr/>
        </p:nvSpPr>
        <p:spPr bwMode="auto">
          <a:xfrm>
            <a:off x="1226773" y="1796083"/>
            <a:ext cx="2514600" cy="447603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800" dirty="0"/>
              <a:t>2 out of 5</a:t>
            </a:r>
          </a:p>
          <a:p>
            <a:pPr algn="ctr" eaLnBrk="1" hangingPunct="1">
              <a:spcBef>
                <a:spcPct val="0"/>
              </a:spcBef>
              <a:buFontTx/>
              <a:buNone/>
            </a:pPr>
            <a:endParaRPr lang="en-US" altLang="en-US" sz="2800" dirty="0"/>
          </a:p>
          <a:p>
            <a:pPr algn="ctr" eaLnBrk="1" hangingPunct="1">
              <a:spcBef>
                <a:spcPct val="0"/>
              </a:spcBef>
              <a:buFontTx/>
              <a:buNone/>
            </a:pPr>
            <a:r>
              <a:rPr lang="en-US" altLang="en-US" sz="2800" dirty="0"/>
              <a:t>00011</a:t>
            </a:r>
          </a:p>
          <a:p>
            <a:pPr algn="ctr" eaLnBrk="1" hangingPunct="1">
              <a:spcBef>
                <a:spcPct val="0"/>
              </a:spcBef>
              <a:buFontTx/>
              <a:buNone/>
            </a:pPr>
            <a:r>
              <a:rPr lang="en-US" altLang="en-US" sz="2800" dirty="0"/>
              <a:t>00101</a:t>
            </a:r>
          </a:p>
          <a:p>
            <a:pPr algn="ctr" eaLnBrk="1" hangingPunct="1">
              <a:spcBef>
                <a:spcPct val="0"/>
              </a:spcBef>
              <a:buFontTx/>
              <a:buNone/>
            </a:pPr>
            <a:r>
              <a:rPr lang="en-US" altLang="en-US" sz="2800" dirty="0"/>
              <a:t>00110</a:t>
            </a:r>
          </a:p>
          <a:p>
            <a:pPr algn="ctr" eaLnBrk="1" hangingPunct="1">
              <a:spcBef>
                <a:spcPct val="0"/>
              </a:spcBef>
              <a:buFontTx/>
              <a:buNone/>
            </a:pPr>
            <a:r>
              <a:rPr lang="en-US" altLang="en-US" sz="2800" dirty="0"/>
              <a:t>11000</a:t>
            </a:r>
          </a:p>
          <a:p>
            <a:pPr algn="ctr" eaLnBrk="1" hangingPunct="1">
              <a:spcBef>
                <a:spcPct val="0"/>
              </a:spcBef>
              <a:buFontTx/>
              <a:buNone/>
            </a:pPr>
            <a:r>
              <a:rPr lang="en-US" altLang="en-US" sz="2800" dirty="0"/>
              <a:t>.</a:t>
            </a:r>
          </a:p>
          <a:p>
            <a:pPr algn="ctr" eaLnBrk="1" hangingPunct="1">
              <a:spcBef>
                <a:spcPct val="0"/>
              </a:spcBef>
              <a:buFontTx/>
              <a:buNone/>
            </a:pPr>
            <a:r>
              <a:rPr lang="en-US" altLang="en-US" sz="2800" dirty="0"/>
              <a:t>.</a:t>
            </a:r>
          </a:p>
          <a:p>
            <a:pPr algn="ctr" eaLnBrk="1" hangingPunct="1">
              <a:spcBef>
                <a:spcPct val="0"/>
              </a:spcBef>
              <a:buFontTx/>
              <a:buNone/>
            </a:pPr>
            <a:r>
              <a:rPr lang="en-US" altLang="en-US" sz="2800" dirty="0"/>
              <a:t>.</a:t>
            </a:r>
          </a:p>
          <a:p>
            <a:pPr algn="ctr" eaLnBrk="1" hangingPunct="1">
              <a:spcBef>
                <a:spcPct val="0"/>
              </a:spcBef>
              <a:buFontTx/>
              <a:buNone/>
            </a:pPr>
            <a:endParaRPr lang="en-US" altLang="en-US" sz="2800" dirty="0"/>
          </a:p>
        </p:txBody>
      </p:sp>
      <p:sp>
        <p:nvSpPr>
          <p:cNvPr id="43013" name="AutoShape 6">
            <a:extLst>
              <a:ext uri="{FF2B5EF4-FFF2-40B4-BE49-F238E27FC236}">
                <a16:creationId xmlns:a16="http://schemas.microsoft.com/office/drawing/2014/main" id="{16F6BE5E-CBBB-4B22-9305-8603EC2AE66C}"/>
              </a:ext>
            </a:extLst>
          </p:cNvPr>
          <p:cNvSpPr>
            <a:spLocks/>
          </p:cNvSpPr>
          <p:nvPr/>
        </p:nvSpPr>
        <p:spPr bwMode="auto">
          <a:xfrm>
            <a:off x="1745887" y="2732186"/>
            <a:ext cx="304800" cy="3087256"/>
          </a:xfrm>
          <a:prstGeom prst="lef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he-IL" altLang="en-US" sz="2400"/>
          </a:p>
        </p:txBody>
      </p:sp>
      <p:sp>
        <p:nvSpPr>
          <p:cNvPr id="43014" name="Text Box 7">
            <a:extLst>
              <a:ext uri="{FF2B5EF4-FFF2-40B4-BE49-F238E27FC236}">
                <a16:creationId xmlns:a16="http://schemas.microsoft.com/office/drawing/2014/main" id="{46EA114A-CEA3-4B43-B183-8BEA6168EC99}"/>
              </a:ext>
            </a:extLst>
          </p:cNvPr>
          <p:cNvSpPr txBox="1">
            <a:spLocks noChangeArrowheads="1"/>
          </p:cNvSpPr>
          <p:nvPr/>
        </p:nvSpPr>
        <p:spPr bwMode="auto">
          <a:xfrm rot="16200000">
            <a:off x="493782" y="4009323"/>
            <a:ext cx="20425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en-US" altLang="en-US" sz="2800" dirty="0"/>
              <a:t>10</a:t>
            </a:r>
            <a:r>
              <a:rPr lang="he-IL" altLang="en-US" sz="2800" dirty="0"/>
              <a:t> מילות קוד</a:t>
            </a:r>
            <a:endParaRPr lang="en-US" altLang="en-US" sz="2800" dirty="0"/>
          </a:p>
        </p:txBody>
      </p:sp>
      <p:graphicFrame>
        <p:nvGraphicFramePr>
          <p:cNvPr id="43015" name="Object 8">
            <a:extLst>
              <a:ext uri="{FF2B5EF4-FFF2-40B4-BE49-F238E27FC236}">
                <a16:creationId xmlns:a16="http://schemas.microsoft.com/office/drawing/2014/main" id="{08BBD10F-5FD5-46ED-A1A7-81E9A565F7E3}"/>
              </a:ext>
            </a:extLst>
          </p:cNvPr>
          <p:cNvGraphicFramePr>
            <a:graphicFrameLocks noChangeAspect="1"/>
          </p:cNvGraphicFramePr>
          <p:nvPr>
            <p:extLst>
              <p:ext uri="{D42A27DB-BD31-4B8C-83A1-F6EECF244321}">
                <p14:modId xmlns:p14="http://schemas.microsoft.com/office/powerpoint/2010/main" val="3084579931"/>
              </p:ext>
            </p:extLst>
          </p:nvPr>
        </p:nvGraphicFramePr>
        <p:xfrm>
          <a:off x="6255480" y="2935245"/>
          <a:ext cx="509587" cy="800100"/>
        </p:xfrm>
        <a:graphic>
          <a:graphicData uri="http://schemas.openxmlformats.org/presentationml/2006/ole">
            <mc:AlternateContent xmlns:mc="http://schemas.openxmlformats.org/markup-compatibility/2006">
              <mc:Choice xmlns:v="urn:schemas-microsoft-com:vml" Requires="v">
                <p:oleObj name="Equation" r:id="rId4" imgW="368280" imgH="533160" progId="Equation.DSMT4">
                  <p:embed/>
                </p:oleObj>
              </mc:Choice>
              <mc:Fallback>
                <p:oleObj name="Equation" r:id="rId4" imgW="368280" imgH="533160" progId="Equation.DSMT4">
                  <p:embed/>
                  <p:pic>
                    <p:nvPicPr>
                      <p:cNvPr id="43015" name="Object 8">
                        <a:extLst>
                          <a:ext uri="{FF2B5EF4-FFF2-40B4-BE49-F238E27FC236}">
                            <a16:creationId xmlns:a16="http://schemas.microsoft.com/office/drawing/2014/main" id="{08BBD10F-5FD5-46ED-A1A7-81E9A565F7E3}"/>
                          </a:ext>
                        </a:extLst>
                      </p:cNvPr>
                      <p:cNvPicPr>
                        <a:picLocks noChangeAspect="1" noChangeArrowheads="1"/>
                      </p:cNvPicPr>
                      <p:nvPr/>
                    </p:nvPicPr>
                    <p:blipFill>
                      <a:blip r:embed="rId5"/>
                      <a:srcRect/>
                      <a:stretch>
                        <a:fillRect/>
                      </a:stretch>
                    </p:blipFill>
                    <p:spPr bwMode="auto">
                      <a:xfrm>
                        <a:off x="6255480" y="2935245"/>
                        <a:ext cx="509587"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25873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4B7CD-0EF6-7328-BB49-0B872B88508C}"/>
              </a:ext>
            </a:extLst>
          </p:cNvPr>
          <p:cNvSpPr>
            <a:spLocks noGrp="1"/>
          </p:cNvSpPr>
          <p:nvPr>
            <p:ph type="title"/>
          </p:nvPr>
        </p:nvSpPr>
        <p:spPr/>
        <p:txBody>
          <a:bodyPr>
            <a:normAutofit/>
          </a:bodyPr>
          <a:lstStyle/>
          <a:p>
            <a:pPr algn="r"/>
            <a:r>
              <a:rPr lang="he-IL" sz="3300" dirty="0">
                <a:latin typeface="Narkisim" panose="020E0502050101010101" pitchFamily="34" charset="-79"/>
                <a:cs typeface="Narkisim" panose="020E0502050101010101" pitchFamily="34" charset="-79"/>
              </a:rPr>
              <a:t>אביב 2023 – בוחן אמצע</a:t>
            </a:r>
            <a:endParaRPr lang="en-US" sz="3300" dirty="0">
              <a:latin typeface="Narkisim" panose="020E0502050101010101" pitchFamily="34" charset="-79"/>
              <a:cs typeface="Narkisim" panose="020E0502050101010101" pitchFamily="34" charset="-79"/>
            </a:endParaRPr>
          </a:p>
        </p:txBody>
      </p:sp>
      <p:pic>
        <p:nvPicPr>
          <p:cNvPr id="4" name="Picture 3">
            <a:extLst>
              <a:ext uri="{FF2B5EF4-FFF2-40B4-BE49-F238E27FC236}">
                <a16:creationId xmlns:a16="http://schemas.microsoft.com/office/drawing/2014/main" id="{B4D6FD3B-A059-4D45-E240-6EEA1F4AE16C}"/>
              </a:ext>
            </a:extLst>
          </p:cNvPr>
          <p:cNvPicPr>
            <a:picLocks noChangeAspect="1"/>
          </p:cNvPicPr>
          <p:nvPr/>
        </p:nvPicPr>
        <p:blipFill>
          <a:blip r:embed="rId3"/>
          <a:stretch>
            <a:fillRect/>
          </a:stretch>
        </p:blipFill>
        <p:spPr>
          <a:xfrm>
            <a:off x="6154787" y="1800058"/>
            <a:ext cx="5680166" cy="4771339"/>
          </a:xfrm>
          <a:prstGeom prst="rect">
            <a:avLst/>
          </a:prstGeom>
        </p:spPr>
      </p:pic>
      <p:pic>
        <p:nvPicPr>
          <p:cNvPr id="7" name="Picture 6">
            <a:extLst>
              <a:ext uri="{FF2B5EF4-FFF2-40B4-BE49-F238E27FC236}">
                <a16:creationId xmlns:a16="http://schemas.microsoft.com/office/drawing/2014/main" id="{E6D94525-3D2E-8182-D443-145FB1451F54}"/>
              </a:ext>
            </a:extLst>
          </p:cNvPr>
          <p:cNvPicPr>
            <a:picLocks noChangeAspect="1"/>
          </p:cNvPicPr>
          <p:nvPr/>
        </p:nvPicPr>
        <p:blipFill>
          <a:blip r:embed="rId4"/>
          <a:stretch>
            <a:fillRect/>
          </a:stretch>
        </p:blipFill>
        <p:spPr>
          <a:xfrm>
            <a:off x="191092" y="3047548"/>
            <a:ext cx="5846122" cy="1941722"/>
          </a:xfrm>
          <a:prstGeom prst="rect">
            <a:avLst/>
          </a:prstGeom>
        </p:spPr>
      </p:pic>
      <p:sp>
        <p:nvSpPr>
          <p:cNvPr id="6" name="Oval 5">
            <a:extLst>
              <a:ext uri="{FF2B5EF4-FFF2-40B4-BE49-F238E27FC236}">
                <a16:creationId xmlns:a16="http://schemas.microsoft.com/office/drawing/2014/main" id="{EA735773-D742-1396-2233-ABA5EEF2213E}"/>
              </a:ext>
            </a:extLst>
          </p:cNvPr>
          <p:cNvSpPr/>
          <p:nvPr/>
        </p:nvSpPr>
        <p:spPr>
          <a:xfrm>
            <a:off x="5517870" y="3822322"/>
            <a:ext cx="316180" cy="26274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033156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4461E8E-C50C-00EB-08FF-20C756FB0B9D}"/>
              </a:ext>
            </a:extLst>
          </p:cNvPr>
          <p:cNvSpPr>
            <a:spLocks noGrp="1"/>
          </p:cNvSpPr>
          <p:nvPr>
            <p:ph idx="1"/>
          </p:nvPr>
        </p:nvSpPr>
        <p:spPr>
          <a:xfrm>
            <a:off x="2639617" y="1844825"/>
            <a:ext cx="6447501" cy="3555361"/>
          </a:xfrm>
        </p:spPr>
        <p:txBody>
          <a:bodyPr>
            <a:noAutofit/>
          </a:bodyPr>
          <a:lstStyle/>
          <a:p>
            <a:pPr marL="0" indent="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None/>
            </a:pPr>
            <a:r>
              <a:rPr lang="he-IL" sz="1400" dirty="0">
                <a:latin typeface="Narkisim" panose="020E0502050101010101" pitchFamily="34" charset="-79"/>
                <a:cs typeface="Narkisim" panose="020E0502050101010101" pitchFamily="34" charset="-79"/>
              </a:rPr>
              <a:t>על מנת לתקן שגיאה אחרת, מרחק הקוד חייב להיות לפחות </a:t>
            </a:r>
            <a:r>
              <a:rPr lang="en-US" sz="1400" dirty="0">
                <a:latin typeface="Narkisim" panose="020E0502050101010101" pitchFamily="34" charset="-79"/>
                <a:cs typeface="Narkisim" panose="020E0502050101010101" pitchFamily="34" charset="-79"/>
              </a:rPr>
              <a:t>d=3</a:t>
            </a:r>
            <a:r>
              <a:rPr lang="he-IL" sz="1400" dirty="0">
                <a:latin typeface="Narkisim" panose="020E0502050101010101" pitchFamily="34" charset="-79"/>
                <a:cs typeface="Narkisim" panose="020E0502050101010101" pitchFamily="34" charset="-79"/>
              </a:rPr>
              <a:t>.</a:t>
            </a:r>
          </a:p>
          <a:p>
            <a:pPr marL="0" indent="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None/>
            </a:pPr>
            <a:r>
              <a:rPr lang="he-IL" sz="1400" dirty="0">
                <a:latin typeface="Narkisim" panose="020E0502050101010101" pitchFamily="34" charset="-79"/>
                <a:cs typeface="Narkisim" panose="020E0502050101010101" pitchFamily="34" charset="-79"/>
              </a:rPr>
              <a:t>מרחק הקוד הנתון הוא 2, ולכן </a:t>
            </a:r>
            <a:r>
              <a:rPr lang="he-IL" sz="1400" b="1" dirty="0">
                <a:latin typeface="Narkisim" panose="020E0502050101010101" pitchFamily="34" charset="-79"/>
                <a:cs typeface="Narkisim" panose="020E0502050101010101" pitchFamily="34" charset="-79"/>
              </a:rPr>
              <a:t>ללא שינוי הוא אינו עומד בדרישות</a:t>
            </a:r>
            <a:r>
              <a:rPr lang="he-IL" sz="1400" dirty="0">
                <a:latin typeface="Narkisim" panose="020E0502050101010101" pitchFamily="34" charset="-79"/>
                <a:cs typeface="Narkisim" panose="020E0502050101010101" pitchFamily="34" charset="-79"/>
              </a:rPr>
              <a:t>.</a:t>
            </a:r>
          </a:p>
          <a:p>
            <a:pPr marL="0" indent="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None/>
            </a:pPr>
            <a:r>
              <a:rPr lang="he-IL" sz="1400" dirty="0">
                <a:latin typeface="Narkisim" panose="020E0502050101010101" pitchFamily="34" charset="-79"/>
                <a:cs typeface="Narkisim" panose="020E0502050101010101" pitchFamily="34" charset="-79"/>
              </a:rPr>
              <a:t>הוספת סיבית זוגיות לא תשנה את מרחק הקוד, ולכן עדיין לא נוכל לתקן שגיאה.</a:t>
            </a:r>
          </a:p>
          <a:p>
            <a:pPr marL="0" indent="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None/>
            </a:pPr>
            <a:r>
              <a:rPr lang="he-IL" sz="1400" dirty="0">
                <a:latin typeface="Narkisim" panose="020E0502050101010101" pitchFamily="34" charset="-79"/>
                <a:cs typeface="Narkisim" panose="020E0502050101010101" pitchFamily="34" charset="-79"/>
              </a:rPr>
              <a:t>הפעלת קוד חזרות עם </a:t>
            </a:r>
            <a:r>
              <a:rPr lang="en-US" sz="1400" dirty="0">
                <a:latin typeface="Narkisim" panose="020E0502050101010101" pitchFamily="34" charset="-79"/>
                <a:cs typeface="Narkisim" panose="020E0502050101010101" pitchFamily="34" charset="-79"/>
              </a:rPr>
              <a:t>r=2</a:t>
            </a:r>
            <a:r>
              <a:rPr lang="he-IL" sz="1400" dirty="0">
                <a:latin typeface="Narkisim" panose="020E0502050101010101" pitchFamily="34" charset="-79"/>
                <a:cs typeface="Narkisim" panose="020E0502050101010101" pitchFamily="34" charset="-79"/>
              </a:rPr>
              <a:t> תגדיל את מרחק הקוד ל-4 ותאפשר לעמוד בכל הדרישות.</a:t>
            </a:r>
          </a:p>
          <a:p>
            <a:pPr marL="0" indent="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None/>
            </a:pPr>
            <a:r>
              <a:rPr lang="he-IL" sz="1400" dirty="0">
                <a:latin typeface="Narkisim" panose="020E0502050101010101" pitchFamily="34" charset="-79"/>
                <a:cs typeface="Narkisim" panose="020E0502050101010101" pitchFamily="34" charset="-79"/>
              </a:rPr>
              <a:t>מכאן ש</a:t>
            </a:r>
            <a:r>
              <a:rPr lang="he-IL" sz="1400" b="1" dirty="0">
                <a:latin typeface="Narkisim" panose="020E0502050101010101" pitchFamily="34" charset="-79"/>
                <a:cs typeface="Narkisim" panose="020E0502050101010101" pitchFamily="34" charset="-79"/>
              </a:rPr>
              <a:t>תשובה ב׳ נכונה</a:t>
            </a:r>
            <a:endParaRPr lang="en-US" sz="1400" b="1" dirty="0">
              <a:latin typeface="Narkisim" panose="020E0502050101010101" pitchFamily="34" charset="-79"/>
              <a:cs typeface="Narkisim" panose="020E0502050101010101" pitchFamily="34" charset="-79"/>
            </a:endParaRPr>
          </a:p>
        </p:txBody>
      </p:sp>
    </p:spTree>
    <p:extLst>
      <p:ext uri="{BB962C8B-B14F-4D97-AF65-F5344CB8AC3E}">
        <p14:creationId xmlns:p14="http://schemas.microsoft.com/office/powerpoint/2010/main" val="3385412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A58D23A-8779-4EE6-BA7A-964A0702C506}"/>
              </a:ext>
            </a:extLst>
          </p:cNvPr>
          <p:cNvSpPr>
            <a:spLocks noGrp="1" noChangeArrowheads="1"/>
          </p:cNvSpPr>
          <p:nvPr>
            <p:ph type="ctrTitle"/>
          </p:nvPr>
        </p:nvSpPr>
        <p:spPr>
          <a:xfrm>
            <a:off x="1066800" y="784119"/>
            <a:ext cx="10058400" cy="3566160"/>
          </a:xfrm>
        </p:spPr>
        <p:txBody>
          <a:bodyPr/>
          <a:lstStyle/>
          <a:p>
            <a:pPr algn="ctr" rtl="1"/>
            <a:r>
              <a:rPr lang="en-US" altLang="en-US" dirty="0"/>
              <a:t>Assembly</a:t>
            </a:r>
          </a:p>
        </p:txBody>
      </p:sp>
      <p:sp>
        <p:nvSpPr>
          <p:cNvPr id="31748" name="Slide Number Placeholder 1">
            <a:extLst>
              <a:ext uri="{FF2B5EF4-FFF2-40B4-BE49-F238E27FC236}">
                <a16:creationId xmlns:a16="http://schemas.microsoft.com/office/drawing/2014/main" id="{9170B791-DC86-4C95-8F61-D79A5E75A38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18C1B69-4A13-423D-9F70-D234DE124ED2}" type="slidenum">
              <a:rPr lang="en-US" altLang="en-US" sz="1400">
                <a:solidFill>
                  <a:srgbClr val="000000"/>
                </a:solidFill>
              </a:rPr>
              <a:pPr>
                <a:spcBef>
                  <a:spcPct val="0"/>
                </a:spcBef>
                <a:buFontTx/>
                <a:buNone/>
              </a:pPr>
              <a:t>20</a:t>
            </a:fld>
            <a:endParaRPr lang="en-US" altLang="en-US" sz="1400">
              <a:solidFill>
                <a:srgbClr val="000000"/>
              </a:solidFill>
            </a:endParaRPr>
          </a:p>
        </p:txBody>
      </p:sp>
    </p:spTree>
    <p:extLst>
      <p:ext uri="{BB962C8B-B14F-4D97-AF65-F5344CB8AC3E}">
        <p14:creationId xmlns:p14="http://schemas.microsoft.com/office/powerpoint/2010/main" val="722835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515983" y="260350"/>
            <a:ext cx="11235600" cy="1100138"/>
          </a:xfrm>
        </p:spPr>
        <p:txBody>
          <a:bodyPr>
            <a:noAutofit/>
          </a:bodyPr>
          <a:lstStyle/>
          <a:p>
            <a:pPr algn="ctr"/>
            <a:r>
              <a:rPr lang="en-US" altLang="en-US" b="1" dirty="0"/>
              <a:t>High-Level Code to Machine Instructions</a:t>
            </a:r>
            <a:endParaRPr lang="he-IL" altLang="he-IL" b="1" dirty="0"/>
          </a:p>
        </p:txBody>
      </p:sp>
      <p:grpSp>
        <p:nvGrpSpPr>
          <p:cNvPr id="18436" name="Group 2"/>
          <p:cNvGrpSpPr>
            <a:grpSpLocks/>
          </p:cNvGrpSpPr>
          <p:nvPr/>
        </p:nvGrpSpPr>
        <p:grpSpPr bwMode="auto">
          <a:xfrm>
            <a:off x="3636964" y="1764830"/>
            <a:ext cx="4912351" cy="2611908"/>
            <a:chOff x="1814513" y="1764830"/>
            <a:chExt cx="4912351" cy="2611908"/>
          </a:xfrm>
        </p:grpSpPr>
        <p:pic>
          <p:nvPicPr>
            <p:cNvPr id="18467" name="Picture 2" descr="http://kpinzoutelou.com/wp-content/uploads/2014/12/c32_CoverMainGfx.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4513" y="1862138"/>
              <a:ext cx="471487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68" name="Text Box 3"/>
            <p:cNvSpPr txBox="1">
              <a:spLocks noChangeArrowheads="1"/>
            </p:cNvSpPr>
            <p:nvPr/>
          </p:nvSpPr>
          <p:spPr bwMode="auto">
            <a:xfrm>
              <a:off x="2029442" y="1764830"/>
              <a:ext cx="8451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r>
                <a:rPr lang="en-US" altLang="en-US" dirty="0">
                  <a:cs typeface="Arial" panose="020B0604020202020204" pitchFamily="34" charset="0"/>
                </a:rPr>
                <a:t>HLL</a:t>
              </a:r>
              <a:endParaRPr lang="ru-RU" altLang="en-US" dirty="0">
                <a:cs typeface="Arial" panose="020B0604020202020204" pitchFamily="34" charset="0"/>
              </a:endParaRPr>
            </a:p>
          </p:txBody>
        </p:sp>
        <p:sp>
          <p:nvSpPr>
            <p:cNvPr id="18469" name="Text Box 3"/>
            <p:cNvSpPr txBox="1">
              <a:spLocks noChangeArrowheads="1"/>
            </p:cNvSpPr>
            <p:nvPr/>
          </p:nvSpPr>
          <p:spPr bwMode="auto">
            <a:xfrm>
              <a:off x="4953626" y="1811492"/>
              <a:ext cx="177323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r>
                <a:rPr lang="he-IL" altLang="en-US" dirty="0">
                  <a:cs typeface="Arial" panose="020B0604020202020204" pitchFamily="34" charset="0"/>
                </a:rPr>
                <a:t>שפת מכונה</a:t>
              </a:r>
              <a:endParaRPr lang="ru-RU" altLang="en-US" dirty="0">
                <a:cs typeface="Arial" panose="020B0604020202020204" pitchFamily="34" charset="0"/>
              </a:endParaRPr>
            </a:p>
          </p:txBody>
        </p:sp>
        <p:sp>
          <p:nvSpPr>
            <p:cNvPr id="18470" name="Text Box 3"/>
            <p:cNvSpPr txBox="1">
              <a:spLocks noChangeArrowheads="1"/>
            </p:cNvSpPr>
            <p:nvPr/>
          </p:nvSpPr>
          <p:spPr bwMode="auto">
            <a:xfrm>
              <a:off x="3330575" y="2776538"/>
              <a:ext cx="154622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r>
                <a:rPr lang="en-US" altLang="en-US">
                  <a:cs typeface="Arial" panose="020B0604020202020204" pitchFamily="34" charset="0"/>
                </a:rPr>
                <a:t>compiler</a:t>
              </a:r>
              <a:endParaRPr lang="ru-RU" altLang="en-US">
                <a:cs typeface="Arial" panose="020B0604020202020204" pitchFamily="34" charset="0"/>
              </a:endParaRPr>
            </a:p>
          </p:txBody>
        </p:sp>
      </p:grpSp>
      <p:grpSp>
        <p:nvGrpSpPr>
          <p:cNvPr id="24" name="Group 23"/>
          <p:cNvGrpSpPr>
            <a:grpSpLocks/>
          </p:cNvGrpSpPr>
          <p:nvPr/>
        </p:nvGrpSpPr>
        <p:grpSpPr bwMode="auto">
          <a:xfrm>
            <a:off x="736190" y="4350060"/>
            <a:ext cx="1882775" cy="1858963"/>
            <a:chOff x="1467447" y="4037737"/>
            <a:chExt cx="1883384" cy="1859498"/>
          </a:xfrm>
        </p:grpSpPr>
        <p:sp>
          <p:nvSpPr>
            <p:cNvPr id="18465" name="Rounded Rectangle 12"/>
            <p:cNvSpPr>
              <a:spLocks noChangeArrowheads="1"/>
            </p:cNvSpPr>
            <p:nvPr/>
          </p:nvSpPr>
          <p:spPr bwMode="auto">
            <a:xfrm>
              <a:off x="1799798" y="4037737"/>
              <a:ext cx="1476802" cy="1859498"/>
            </a:xfrm>
            <a:prstGeom prst="roundRect">
              <a:avLst>
                <a:gd name="adj" fmla="val 16667"/>
              </a:avLst>
            </a:prstGeom>
            <a:solidFill>
              <a:schemeClr val="tx1"/>
            </a:solidFill>
            <a:ln w="9525" algn="ctr">
              <a:solidFill>
                <a:schemeClr val="tx1"/>
              </a:solidFill>
              <a:round/>
              <a:headEnd/>
              <a:tailEnd/>
            </a:ln>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lgn="l" rtl="0" eaLnBrk="1" hangingPunct="1">
                <a:spcBef>
                  <a:spcPct val="0"/>
                </a:spcBef>
                <a:buClrTx/>
                <a:buSzTx/>
                <a:buFontTx/>
                <a:buNone/>
              </a:pPr>
              <a:endParaRPr lang="he-IL" altLang="he-IL" sz="1800" dirty="0">
                <a:cs typeface="Arial" panose="020B0604020202020204" pitchFamily="34" charset="0"/>
              </a:endParaRPr>
            </a:p>
          </p:txBody>
        </p:sp>
        <p:sp>
          <p:nvSpPr>
            <p:cNvPr id="18466" name="Rectangle 10"/>
            <p:cNvSpPr>
              <a:spLocks noChangeArrowheads="1"/>
            </p:cNvSpPr>
            <p:nvPr/>
          </p:nvSpPr>
          <p:spPr bwMode="auto">
            <a:xfrm>
              <a:off x="1467447" y="4086061"/>
              <a:ext cx="188338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lvl="1" algn="l" rtl="0" eaLnBrk="1" hangingPunct="1">
                <a:spcBef>
                  <a:spcPct val="0"/>
                </a:spcBef>
                <a:buClrTx/>
                <a:buSzTx/>
                <a:buFontTx/>
                <a:buNone/>
              </a:pPr>
              <a:r>
                <a:rPr lang="en-US" altLang="en-US" sz="1800" dirty="0">
                  <a:solidFill>
                    <a:srgbClr val="00EA00"/>
                  </a:solidFill>
                  <a:cs typeface="Arial" panose="020B0604020202020204" pitchFamily="34" charset="0"/>
                </a:rPr>
                <a:t>if (a&lt;b) {</a:t>
              </a:r>
            </a:p>
            <a:p>
              <a:pPr lvl="1" algn="l" rtl="0" eaLnBrk="1" hangingPunct="1">
                <a:spcBef>
                  <a:spcPct val="0"/>
                </a:spcBef>
                <a:buClrTx/>
                <a:buSzTx/>
                <a:buFontTx/>
                <a:buNone/>
              </a:pPr>
              <a:r>
                <a:rPr lang="en-US" altLang="he-IL" sz="1800" dirty="0">
                  <a:solidFill>
                    <a:srgbClr val="00EA00"/>
                  </a:solidFill>
                  <a:cs typeface="Arial" panose="020B0604020202020204" pitchFamily="34" charset="0"/>
                </a:rPr>
                <a:t>	a +=1;</a:t>
              </a:r>
            </a:p>
            <a:p>
              <a:pPr lvl="1" algn="l" rtl="0" eaLnBrk="1" hangingPunct="1">
                <a:spcBef>
                  <a:spcPct val="0"/>
                </a:spcBef>
                <a:buClrTx/>
                <a:buSzTx/>
                <a:buFontTx/>
                <a:buNone/>
              </a:pPr>
              <a:r>
                <a:rPr lang="en-US" altLang="he-IL" sz="1800" dirty="0">
                  <a:solidFill>
                    <a:srgbClr val="00EA00"/>
                  </a:solidFill>
                  <a:cs typeface="Arial" panose="020B0604020202020204" pitchFamily="34" charset="0"/>
                </a:rPr>
                <a:t>}</a:t>
              </a:r>
            </a:p>
            <a:p>
              <a:pPr lvl="1" algn="l" rtl="0" eaLnBrk="1" hangingPunct="1">
                <a:spcBef>
                  <a:spcPct val="0"/>
                </a:spcBef>
                <a:buClrTx/>
                <a:buSzTx/>
                <a:buFontTx/>
                <a:buNone/>
              </a:pPr>
              <a:r>
                <a:rPr lang="en-US" altLang="he-IL" sz="1800" dirty="0">
                  <a:solidFill>
                    <a:srgbClr val="00EA00"/>
                  </a:solidFill>
                  <a:cs typeface="Arial" panose="020B0604020202020204" pitchFamily="34" charset="0"/>
                </a:rPr>
                <a:t>else {</a:t>
              </a:r>
            </a:p>
            <a:p>
              <a:pPr lvl="1" algn="l" rtl="0" eaLnBrk="1" hangingPunct="1">
                <a:spcBef>
                  <a:spcPct val="0"/>
                </a:spcBef>
                <a:buClrTx/>
                <a:buSzTx/>
                <a:buFontTx/>
                <a:buNone/>
              </a:pPr>
              <a:r>
                <a:rPr lang="en-US" altLang="he-IL" sz="1800" dirty="0">
                  <a:solidFill>
                    <a:srgbClr val="00EA00"/>
                  </a:solidFill>
                  <a:cs typeface="Arial" panose="020B0604020202020204" pitchFamily="34" charset="0"/>
                </a:rPr>
                <a:t>	b +=1;</a:t>
              </a:r>
            </a:p>
            <a:p>
              <a:pPr lvl="1" algn="l" rtl="0" eaLnBrk="1" hangingPunct="1">
                <a:spcBef>
                  <a:spcPct val="0"/>
                </a:spcBef>
                <a:buClrTx/>
                <a:buSzTx/>
                <a:buFontTx/>
                <a:buNone/>
              </a:pPr>
              <a:r>
                <a:rPr lang="en-US" altLang="he-IL" sz="1800" dirty="0">
                  <a:solidFill>
                    <a:srgbClr val="00EA00"/>
                  </a:solidFill>
                  <a:cs typeface="Arial" panose="020B0604020202020204" pitchFamily="34" charset="0"/>
                </a:rPr>
                <a:t>}</a:t>
              </a:r>
              <a:endParaRPr lang="he-IL" altLang="he-IL" sz="1800" dirty="0">
                <a:solidFill>
                  <a:srgbClr val="00EA00"/>
                </a:solidFill>
                <a:cs typeface="Arial" panose="020B0604020202020204" pitchFamily="34" charset="0"/>
              </a:endParaRPr>
            </a:p>
          </p:txBody>
        </p:sp>
      </p:grpSp>
      <p:grpSp>
        <p:nvGrpSpPr>
          <p:cNvPr id="25" name="Group 24"/>
          <p:cNvGrpSpPr>
            <a:grpSpLocks/>
          </p:cNvGrpSpPr>
          <p:nvPr/>
        </p:nvGrpSpPr>
        <p:grpSpPr bwMode="auto">
          <a:xfrm>
            <a:off x="3819906" y="4329111"/>
            <a:ext cx="5209162" cy="2327275"/>
            <a:chOff x="4010602" y="4019024"/>
            <a:chExt cx="5209598" cy="2327036"/>
          </a:xfrm>
        </p:grpSpPr>
        <p:sp>
          <p:nvSpPr>
            <p:cNvPr id="18453" name="Rounded Rectangle 14"/>
            <p:cNvSpPr>
              <a:spLocks noChangeArrowheads="1"/>
            </p:cNvSpPr>
            <p:nvPr/>
          </p:nvSpPr>
          <p:spPr bwMode="auto">
            <a:xfrm>
              <a:off x="4791653" y="4019024"/>
              <a:ext cx="2209800" cy="1859498"/>
            </a:xfrm>
            <a:prstGeom prst="roundRect">
              <a:avLst>
                <a:gd name="adj" fmla="val 16667"/>
              </a:avLst>
            </a:prstGeom>
            <a:solidFill>
              <a:schemeClr val="tx1"/>
            </a:solidFill>
            <a:ln w="9525" algn="ctr">
              <a:solidFill>
                <a:schemeClr val="tx1"/>
              </a:solidFill>
              <a:round/>
              <a:headEnd/>
              <a:tailEnd/>
            </a:ln>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endParaRPr lang="he-IL" altLang="he-IL" sz="1800">
                <a:cs typeface="Arial" panose="020B0604020202020204" pitchFamily="34" charset="0"/>
              </a:endParaRPr>
            </a:p>
          </p:txBody>
        </p:sp>
        <p:grpSp>
          <p:nvGrpSpPr>
            <p:cNvPr id="18454" name="Group 11"/>
            <p:cNvGrpSpPr>
              <a:grpSpLocks/>
            </p:cNvGrpSpPr>
            <p:nvPr/>
          </p:nvGrpSpPr>
          <p:grpSpPr bwMode="auto">
            <a:xfrm>
              <a:off x="4010602" y="4037736"/>
              <a:ext cx="5209598" cy="2308324"/>
              <a:chOff x="4086802" y="4385726"/>
              <a:chExt cx="5209598" cy="2308324"/>
            </a:xfrm>
          </p:grpSpPr>
          <p:sp>
            <p:nvSpPr>
              <p:cNvPr id="18463" name="Rectangle 5"/>
              <p:cNvSpPr>
                <a:spLocks noChangeArrowheads="1"/>
              </p:cNvSpPr>
              <p:nvPr/>
            </p:nvSpPr>
            <p:spPr bwMode="auto">
              <a:xfrm>
                <a:off x="4419600" y="4385726"/>
                <a:ext cx="48768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lvl="1" algn="l" rtl="0" eaLnBrk="1" hangingPunct="1">
                  <a:spcBef>
                    <a:spcPct val="0"/>
                  </a:spcBef>
                  <a:buClrTx/>
                  <a:buSzTx/>
                  <a:buFontTx/>
                  <a:buNone/>
                </a:pPr>
                <a:r>
                  <a:rPr lang="en-US" altLang="en-US" sz="1800" dirty="0" err="1">
                    <a:solidFill>
                      <a:srgbClr val="00EA00"/>
                    </a:solidFill>
                    <a:cs typeface="Arial" panose="020B0604020202020204" pitchFamily="34" charset="0"/>
                  </a:rPr>
                  <a:t>slt</a:t>
                </a:r>
                <a:r>
                  <a:rPr lang="en-US" altLang="en-US" sz="1800" dirty="0">
                    <a:solidFill>
                      <a:srgbClr val="00EA00"/>
                    </a:solidFill>
                    <a:cs typeface="Arial" panose="020B0604020202020204" pitchFamily="34" charset="0"/>
                  </a:rPr>
                  <a:t> $t0,a,b	</a:t>
                </a:r>
              </a:p>
              <a:p>
                <a:pPr lvl="1" algn="l" rtl="0" eaLnBrk="1" hangingPunct="1">
                  <a:spcBef>
                    <a:spcPct val="0"/>
                  </a:spcBef>
                  <a:buClrTx/>
                  <a:buSzTx/>
                  <a:buFontTx/>
                  <a:buNone/>
                </a:pPr>
                <a:r>
                  <a:rPr lang="en-US" altLang="en-US" sz="1800" dirty="0" err="1">
                    <a:solidFill>
                      <a:srgbClr val="00EA00"/>
                    </a:solidFill>
                    <a:cs typeface="Arial" panose="020B0604020202020204" pitchFamily="34" charset="0"/>
                  </a:rPr>
                  <a:t>bne</a:t>
                </a:r>
                <a:r>
                  <a:rPr lang="en-US" altLang="en-US" sz="1800" dirty="0">
                    <a:solidFill>
                      <a:srgbClr val="00EA00"/>
                    </a:solidFill>
                    <a:cs typeface="Arial" panose="020B0604020202020204" pitchFamily="34" charset="0"/>
                  </a:rPr>
                  <a:t> $t0,$zero, </a:t>
                </a:r>
                <a:r>
                  <a:rPr lang="en-US" altLang="en-US" sz="1800" dirty="0">
                    <a:solidFill>
                      <a:srgbClr val="C00000"/>
                    </a:solidFill>
                    <a:cs typeface="Arial" panose="020B0604020202020204" pitchFamily="34" charset="0"/>
                  </a:rPr>
                  <a:t>Label</a:t>
                </a:r>
                <a:endParaRPr lang="en-US" altLang="en-US" sz="1800" dirty="0">
                  <a:cs typeface="Arial" panose="020B0604020202020204" pitchFamily="34" charset="0"/>
                </a:endParaRPr>
              </a:p>
              <a:p>
                <a:pPr lvl="1" algn="l" rtl="0" eaLnBrk="1" hangingPunct="1">
                  <a:spcBef>
                    <a:spcPct val="0"/>
                  </a:spcBef>
                  <a:buClrTx/>
                  <a:buSzTx/>
                  <a:buFontTx/>
                  <a:buNone/>
                </a:pPr>
                <a:r>
                  <a:rPr lang="en-US" altLang="en-US" sz="1800" dirty="0" err="1">
                    <a:solidFill>
                      <a:srgbClr val="00EA00"/>
                    </a:solidFill>
                    <a:cs typeface="Arial" panose="020B0604020202020204" pitchFamily="34" charset="0"/>
                  </a:rPr>
                  <a:t>addi</a:t>
                </a:r>
                <a:r>
                  <a:rPr lang="en-US" altLang="en-US" sz="1800" dirty="0">
                    <a:solidFill>
                      <a:srgbClr val="00EA00"/>
                    </a:solidFill>
                    <a:cs typeface="Arial" panose="020B0604020202020204" pitchFamily="34" charset="0"/>
                  </a:rPr>
                  <a:t> b, b, 1</a:t>
                </a:r>
              </a:p>
              <a:p>
                <a:pPr lvl="1" algn="l" rtl="0" eaLnBrk="1" hangingPunct="1">
                  <a:spcBef>
                    <a:spcPct val="0"/>
                  </a:spcBef>
                  <a:buClrTx/>
                  <a:buSzTx/>
                  <a:buFontTx/>
                  <a:buNone/>
                </a:pPr>
                <a:endParaRPr lang="en-US" altLang="en-US" sz="1800" dirty="0">
                  <a:solidFill>
                    <a:srgbClr val="00EA00"/>
                  </a:solidFill>
                  <a:cs typeface="Arial" panose="020B0604020202020204" pitchFamily="34" charset="0"/>
                </a:endParaRPr>
              </a:p>
              <a:p>
                <a:pPr lvl="1" algn="l" rtl="0" eaLnBrk="1" hangingPunct="1">
                  <a:spcBef>
                    <a:spcPct val="0"/>
                  </a:spcBef>
                  <a:buClrTx/>
                  <a:buSzTx/>
                  <a:buFontTx/>
                  <a:buNone/>
                </a:pPr>
                <a:r>
                  <a:rPr lang="en-US" altLang="en-US" sz="1800" dirty="0" err="1">
                    <a:solidFill>
                      <a:srgbClr val="00EA00"/>
                    </a:solidFill>
                    <a:cs typeface="Arial" panose="020B0604020202020204" pitchFamily="34" charset="0"/>
                  </a:rPr>
                  <a:t>addi</a:t>
                </a:r>
                <a:r>
                  <a:rPr lang="en-US" altLang="en-US" sz="1800" dirty="0">
                    <a:solidFill>
                      <a:srgbClr val="00EA00"/>
                    </a:solidFill>
                    <a:cs typeface="Arial" panose="020B0604020202020204" pitchFamily="34" charset="0"/>
                  </a:rPr>
                  <a:t> a, a, 1</a:t>
                </a:r>
              </a:p>
              <a:p>
                <a:pPr lvl="1" algn="l" rtl="0" eaLnBrk="1" hangingPunct="1">
                  <a:spcBef>
                    <a:spcPct val="0"/>
                  </a:spcBef>
                  <a:buClrTx/>
                  <a:buSzTx/>
                  <a:buFontTx/>
                  <a:buNone/>
                </a:pPr>
                <a:endParaRPr lang="en-US" altLang="en-US" sz="1800" dirty="0">
                  <a:cs typeface="Arial" panose="020B0604020202020204" pitchFamily="34" charset="0"/>
                </a:endParaRPr>
              </a:p>
              <a:p>
                <a:pPr lvl="1" algn="l" rtl="0" eaLnBrk="1" hangingPunct="1">
                  <a:spcBef>
                    <a:spcPct val="0"/>
                  </a:spcBef>
                  <a:buClrTx/>
                  <a:buSzTx/>
                  <a:buFontTx/>
                  <a:buNone/>
                </a:pPr>
                <a:endParaRPr lang="en-US" altLang="en-US" sz="1800" dirty="0">
                  <a:cs typeface="Arial" panose="020B0604020202020204" pitchFamily="34" charset="0"/>
                </a:endParaRPr>
              </a:p>
              <a:p>
                <a:pPr lvl="1" algn="l" rtl="0" eaLnBrk="1" hangingPunct="1">
                  <a:spcBef>
                    <a:spcPct val="0"/>
                  </a:spcBef>
                  <a:buClrTx/>
                  <a:buSzTx/>
                  <a:buFontTx/>
                  <a:buNone/>
                </a:pPr>
                <a:endParaRPr lang="he-IL" altLang="he-IL" sz="1800" dirty="0">
                  <a:cs typeface="Arial" panose="020B0604020202020204" pitchFamily="34" charset="0"/>
                </a:endParaRPr>
              </a:p>
            </p:txBody>
          </p:sp>
          <p:sp>
            <p:nvSpPr>
              <p:cNvPr id="18464" name="Rectangle 9"/>
              <p:cNvSpPr>
                <a:spLocks noChangeArrowheads="1"/>
              </p:cNvSpPr>
              <p:nvPr/>
            </p:nvSpPr>
            <p:spPr bwMode="auto">
              <a:xfrm>
                <a:off x="4086802" y="5496534"/>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r>
                  <a:rPr lang="en-US" altLang="en-US" sz="1800" dirty="0">
                    <a:solidFill>
                      <a:srgbClr val="C00000"/>
                    </a:solidFill>
                    <a:cs typeface="Arial" panose="020B0604020202020204" pitchFamily="34" charset="0"/>
                  </a:rPr>
                  <a:t>Label: </a:t>
                </a:r>
                <a:endParaRPr lang="he-IL" altLang="he-IL" sz="1800" dirty="0">
                  <a:solidFill>
                    <a:srgbClr val="C00000"/>
                  </a:solidFill>
                  <a:cs typeface="Arial" panose="020B0604020202020204" pitchFamily="34" charset="0"/>
                </a:endParaRPr>
              </a:p>
            </p:txBody>
          </p:sp>
        </p:grpSp>
        <p:grpSp>
          <p:nvGrpSpPr>
            <p:cNvPr id="18455" name="Group 15"/>
            <p:cNvGrpSpPr>
              <a:grpSpLocks/>
            </p:cNvGrpSpPr>
            <p:nvPr/>
          </p:nvGrpSpPr>
          <p:grpSpPr bwMode="auto">
            <a:xfrm>
              <a:off x="5400096" y="4920139"/>
              <a:ext cx="76200" cy="305911"/>
              <a:chOff x="5105400" y="5089366"/>
              <a:chExt cx="76200" cy="305911"/>
            </a:xfrm>
          </p:grpSpPr>
          <p:sp>
            <p:nvSpPr>
              <p:cNvPr id="18460" name="Oval 13"/>
              <p:cNvSpPr>
                <a:spLocks noChangeArrowheads="1"/>
              </p:cNvSpPr>
              <p:nvPr/>
            </p:nvSpPr>
            <p:spPr bwMode="auto">
              <a:xfrm>
                <a:off x="5105400" y="5089366"/>
                <a:ext cx="76200" cy="76200"/>
              </a:xfrm>
              <a:prstGeom prst="ellipse">
                <a:avLst/>
              </a:prstGeom>
              <a:solidFill>
                <a:srgbClr val="00EA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endParaRPr lang="he-IL" altLang="he-IL" sz="1800">
                  <a:cs typeface="Arial" panose="020B0604020202020204" pitchFamily="34" charset="0"/>
                </a:endParaRPr>
              </a:p>
            </p:txBody>
          </p:sp>
          <p:sp>
            <p:nvSpPr>
              <p:cNvPr id="18461" name="Oval 16"/>
              <p:cNvSpPr>
                <a:spLocks noChangeArrowheads="1"/>
              </p:cNvSpPr>
              <p:nvPr/>
            </p:nvSpPr>
            <p:spPr bwMode="auto">
              <a:xfrm>
                <a:off x="5105400" y="5203904"/>
                <a:ext cx="76200" cy="76200"/>
              </a:xfrm>
              <a:prstGeom prst="ellipse">
                <a:avLst/>
              </a:prstGeom>
              <a:solidFill>
                <a:srgbClr val="00EA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endParaRPr lang="he-IL" altLang="he-IL" sz="1800">
                  <a:cs typeface="Arial" panose="020B0604020202020204" pitchFamily="34" charset="0"/>
                </a:endParaRPr>
              </a:p>
            </p:txBody>
          </p:sp>
          <p:sp>
            <p:nvSpPr>
              <p:cNvPr id="18462" name="Oval 17"/>
              <p:cNvSpPr>
                <a:spLocks noChangeArrowheads="1"/>
              </p:cNvSpPr>
              <p:nvPr/>
            </p:nvSpPr>
            <p:spPr bwMode="auto">
              <a:xfrm>
                <a:off x="5105400" y="5319077"/>
                <a:ext cx="76200" cy="76200"/>
              </a:xfrm>
              <a:prstGeom prst="ellipse">
                <a:avLst/>
              </a:prstGeom>
              <a:solidFill>
                <a:srgbClr val="00EA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endParaRPr lang="he-IL" altLang="he-IL" sz="1800">
                  <a:cs typeface="Arial" panose="020B0604020202020204" pitchFamily="34" charset="0"/>
                </a:endParaRPr>
              </a:p>
            </p:txBody>
          </p:sp>
        </p:grpSp>
        <p:grpSp>
          <p:nvGrpSpPr>
            <p:cNvPr id="18456" name="Group 19"/>
            <p:cNvGrpSpPr>
              <a:grpSpLocks/>
            </p:cNvGrpSpPr>
            <p:nvPr/>
          </p:nvGrpSpPr>
          <p:grpSpPr bwMode="auto">
            <a:xfrm>
              <a:off x="5400096" y="5492383"/>
              <a:ext cx="76200" cy="305911"/>
              <a:chOff x="5105400" y="5089366"/>
              <a:chExt cx="76200" cy="305911"/>
            </a:xfrm>
          </p:grpSpPr>
          <p:sp>
            <p:nvSpPr>
              <p:cNvPr id="18457" name="Oval 20"/>
              <p:cNvSpPr>
                <a:spLocks noChangeArrowheads="1"/>
              </p:cNvSpPr>
              <p:nvPr/>
            </p:nvSpPr>
            <p:spPr bwMode="auto">
              <a:xfrm>
                <a:off x="5105400" y="5089366"/>
                <a:ext cx="76200" cy="76200"/>
              </a:xfrm>
              <a:prstGeom prst="ellipse">
                <a:avLst/>
              </a:prstGeom>
              <a:solidFill>
                <a:srgbClr val="00EA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endParaRPr lang="he-IL" altLang="he-IL" sz="1800">
                  <a:cs typeface="Arial" panose="020B0604020202020204" pitchFamily="34" charset="0"/>
                </a:endParaRPr>
              </a:p>
            </p:txBody>
          </p:sp>
          <p:sp>
            <p:nvSpPr>
              <p:cNvPr id="18458" name="Oval 21"/>
              <p:cNvSpPr>
                <a:spLocks noChangeArrowheads="1"/>
              </p:cNvSpPr>
              <p:nvPr/>
            </p:nvSpPr>
            <p:spPr bwMode="auto">
              <a:xfrm>
                <a:off x="5105400" y="5203904"/>
                <a:ext cx="76200" cy="76200"/>
              </a:xfrm>
              <a:prstGeom prst="ellipse">
                <a:avLst/>
              </a:prstGeom>
              <a:solidFill>
                <a:srgbClr val="00EA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endParaRPr lang="he-IL" altLang="he-IL" sz="1800">
                  <a:cs typeface="Arial" panose="020B0604020202020204" pitchFamily="34" charset="0"/>
                </a:endParaRPr>
              </a:p>
            </p:txBody>
          </p:sp>
          <p:sp>
            <p:nvSpPr>
              <p:cNvPr id="18459" name="Oval 22"/>
              <p:cNvSpPr>
                <a:spLocks noChangeArrowheads="1"/>
              </p:cNvSpPr>
              <p:nvPr/>
            </p:nvSpPr>
            <p:spPr bwMode="auto">
              <a:xfrm>
                <a:off x="5105400" y="5319077"/>
                <a:ext cx="76200" cy="76200"/>
              </a:xfrm>
              <a:prstGeom prst="ellipse">
                <a:avLst/>
              </a:prstGeom>
              <a:solidFill>
                <a:srgbClr val="00EA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endParaRPr lang="he-IL" altLang="he-IL" sz="1800">
                  <a:cs typeface="Arial" panose="020B0604020202020204" pitchFamily="34" charset="0"/>
                </a:endParaRPr>
              </a:p>
            </p:txBody>
          </p:sp>
        </p:grpSp>
      </p:grpSp>
      <p:sp>
        <p:nvSpPr>
          <p:cNvPr id="26" name="Right Arrow 25"/>
          <p:cNvSpPr/>
          <p:nvPr/>
        </p:nvSpPr>
        <p:spPr bwMode="auto">
          <a:xfrm>
            <a:off x="2800941" y="4956818"/>
            <a:ext cx="1411868" cy="476250"/>
          </a:xfrm>
          <a:prstGeom prst="rightArrow">
            <a:avLst/>
          </a:prstGeom>
          <a:ln>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rtlCol="1"/>
          <a:lstStyle/>
          <a:p>
            <a:pPr eaLnBrk="1" hangingPunct="1">
              <a:defRPr/>
            </a:pPr>
            <a:endParaRPr lang="he-IL" b="1">
              <a:ln w="22225">
                <a:solidFill>
                  <a:schemeClr val="accent2"/>
                </a:solidFill>
                <a:prstDash val="solid"/>
              </a:ln>
              <a:solidFill>
                <a:schemeClr val="accent2">
                  <a:lumMod val="40000"/>
                  <a:lumOff val="60000"/>
                </a:schemeClr>
              </a:solidFill>
            </a:endParaRPr>
          </a:p>
        </p:txBody>
      </p:sp>
      <p:sp>
        <p:nvSpPr>
          <p:cNvPr id="2" name="Rectangle 1"/>
          <p:cNvSpPr>
            <a:spLocks noChangeArrowheads="1"/>
          </p:cNvSpPr>
          <p:nvPr/>
        </p:nvSpPr>
        <p:spPr bwMode="auto">
          <a:xfrm>
            <a:off x="2520582" y="7071293"/>
            <a:ext cx="61943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lgn="l" rtl="0">
              <a:spcBef>
                <a:spcPct val="0"/>
              </a:spcBef>
              <a:buClrTx/>
              <a:buSzTx/>
              <a:buFontTx/>
              <a:buNone/>
            </a:pPr>
            <a:r>
              <a:rPr lang="en-US" altLang="en-US" sz="2000" dirty="0"/>
              <a:t>(</a:t>
            </a:r>
            <a:r>
              <a:rPr lang="en-US" altLang="en-US" sz="2000" dirty="0" err="1">
                <a:solidFill>
                  <a:srgbClr val="00EA00"/>
                </a:solidFill>
              </a:rPr>
              <a:t>bne</a:t>
            </a:r>
            <a:r>
              <a:rPr lang="en-US" altLang="en-US" sz="2000" dirty="0">
                <a:solidFill>
                  <a:srgbClr val="00EA00"/>
                </a:solidFill>
              </a:rPr>
              <a:t> $t0,$zero, </a:t>
            </a:r>
            <a:r>
              <a:rPr lang="en-US" altLang="en-US" sz="2000" dirty="0">
                <a:solidFill>
                  <a:srgbClr val="C00000"/>
                </a:solidFill>
              </a:rPr>
              <a:t>Label </a:t>
            </a:r>
            <a:r>
              <a:rPr lang="en-US" altLang="en-US" sz="2000" dirty="0"/>
              <a:t>=</a:t>
            </a:r>
            <a:r>
              <a:rPr lang="en-US" altLang="en-US" sz="2000" dirty="0">
                <a:solidFill>
                  <a:srgbClr val="C00000"/>
                </a:solidFill>
              </a:rPr>
              <a:t> </a:t>
            </a:r>
            <a:r>
              <a:rPr lang="en-US" altLang="en-US" sz="2000" dirty="0"/>
              <a:t>#go to Label if $t0 != 0 (a&lt;b))</a:t>
            </a:r>
            <a:endParaRPr lang="he-IL" altLang="he-IL" sz="2000" dirty="0"/>
          </a:p>
        </p:txBody>
      </p:sp>
      <p:sp>
        <p:nvSpPr>
          <p:cNvPr id="27" name="Right Arrow 26"/>
          <p:cNvSpPr/>
          <p:nvPr/>
        </p:nvSpPr>
        <p:spPr bwMode="auto">
          <a:xfrm>
            <a:off x="6988400" y="4956818"/>
            <a:ext cx="1428983" cy="476250"/>
          </a:xfrm>
          <a:prstGeom prst="rightArrow">
            <a:avLst/>
          </a:prstGeom>
          <a:ln>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rtlCol="1"/>
          <a:lstStyle/>
          <a:p>
            <a:pPr eaLnBrk="1" hangingPunct="1">
              <a:defRPr/>
            </a:pPr>
            <a:endParaRPr lang="he-IL" b="1">
              <a:ln w="22225">
                <a:solidFill>
                  <a:schemeClr val="accent2"/>
                </a:solidFill>
                <a:prstDash val="solid"/>
              </a:ln>
              <a:solidFill>
                <a:schemeClr val="accent2">
                  <a:lumMod val="40000"/>
                  <a:lumOff val="60000"/>
                </a:schemeClr>
              </a:solidFill>
            </a:endParaRPr>
          </a:p>
        </p:txBody>
      </p:sp>
      <p:grpSp>
        <p:nvGrpSpPr>
          <p:cNvPr id="28" name="Group 27"/>
          <p:cNvGrpSpPr>
            <a:grpSpLocks/>
          </p:cNvGrpSpPr>
          <p:nvPr/>
        </p:nvGrpSpPr>
        <p:grpSpPr bwMode="auto">
          <a:xfrm>
            <a:off x="6525167" y="4376738"/>
            <a:ext cx="4876800" cy="2329212"/>
            <a:chOff x="2601914" y="4019024"/>
            <a:chExt cx="4876800" cy="2328606"/>
          </a:xfrm>
        </p:grpSpPr>
        <p:sp>
          <p:nvSpPr>
            <p:cNvPr id="18443" name="Rounded Rectangle 14"/>
            <p:cNvSpPr>
              <a:spLocks noChangeArrowheads="1"/>
            </p:cNvSpPr>
            <p:nvPr/>
          </p:nvSpPr>
          <p:spPr bwMode="auto">
            <a:xfrm>
              <a:off x="4791653" y="4019024"/>
              <a:ext cx="2209800" cy="1859498"/>
            </a:xfrm>
            <a:prstGeom prst="roundRect">
              <a:avLst>
                <a:gd name="adj" fmla="val 16667"/>
              </a:avLst>
            </a:prstGeom>
            <a:solidFill>
              <a:schemeClr val="tx1"/>
            </a:solidFill>
            <a:ln w="9525" algn="ctr">
              <a:solidFill>
                <a:schemeClr val="tx1"/>
              </a:solidFill>
              <a:round/>
              <a:headEnd/>
              <a:tailEnd/>
            </a:ln>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endParaRPr lang="he-IL" altLang="he-IL" sz="1800">
                <a:cs typeface="Arial" panose="020B0604020202020204" pitchFamily="34" charset="0"/>
              </a:endParaRPr>
            </a:p>
          </p:txBody>
        </p:sp>
        <p:sp>
          <p:nvSpPr>
            <p:cNvPr id="18444" name="Rectangle 5"/>
            <p:cNvSpPr>
              <a:spLocks noChangeArrowheads="1"/>
            </p:cNvSpPr>
            <p:nvPr/>
          </p:nvSpPr>
          <p:spPr bwMode="auto">
            <a:xfrm>
              <a:off x="2601914" y="4039306"/>
              <a:ext cx="48768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lvl="1" eaLnBrk="1" hangingPunct="1">
                <a:spcBef>
                  <a:spcPct val="0"/>
                </a:spcBef>
                <a:buClrTx/>
                <a:buSzTx/>
                <a:buFontTx/>
                <a:buNone/>
              </a:pPr>
              <a:r>
                <a:rPr lang="en-US" altLang="en-US" sz="1800" dirty="0">
                  <a:solidFill>
                    <a:srgbClr val="00EA00"/>
                  </a:solidFill>
                  <a:cs typeface="Arial" panose="020B0604020202020204" pitchFamily="34" charset="0"/>
                </a:rPr>
                <a:t>00000101…101010	</a:t>
              </a:r>
            </a:p>
            <a:p>
              <a:pPr lvl="1" eaLnBrk="1" hangingPunct="1">
                <a:spcBef>
                  <a:spcPct val="0"/>
                </a:spcBef>
                <a:buClrTx/>
                <a:buSzTx/>
                <a:buFontTx/>
                <a:buNone/>
              </a:pPr>
              <a:r>
                <a:rPr lang="en-US" altLang="en-US" sz="1800" dirty="0">
                  <a:solidFill>
                    <a:srgbClr val="00EA00"/>
                  </a:solidFill>
                  <a:cs typeface="Arial" panose="020B0604020202020204" pitchFamily="34" charset="0"/>
                </a:rPr>
                <a:t>00100010…101000</a:t>
              </a:r>
              <a:endParaRPr lang="en-US" altLang="en-US" sz="1800" dirty="0">
                <a:cs typeface="Arial" panose="020B0604020202020204" pitchFamily="34" charset="0"/>
              </a:endParaRPr>
            </a:p>
            <a:p>
              <a:pPr lvl="1" eaLnBrk="1" hangingPunct="1">
                <a:spcBef>
                  <a:spcPct val="0"/>
                </a:spcBef>
                <a:buClrTx/>
                <a:buSzTx/>
                <a:buFontTx/>
                <a:buNone/>
              </a:pPr>
              <a:r>
                <a:rPr lang="en-US" altLang="en-US" sz="1800" dirty="0">
                  <a:solidFill>
                    <a:srgbClr val="00EA00"/>
                  </a:solidFill>
                  <a:cs typeface="Arial" panose="020B0604020202020204" pitchFamily="34" charset="0"/>
                </a:rPr>
                <a:t>00000100…100001</a:t>
              </a:r>
            </a:p>
            <a:p>
              <a:pPr lvl="1" eaLnBrk="1" hangingPunct="1">
                <a:spcBef>
                  <a:spcPct val="0"/>
                </a:spcBef>
                <a:buClrTx/>
                <a:buSzTx/>
                <a:buFontTx/>
                <a:buNone/>
              </a:pPr>
              <a:endParaRPr lang="en-US" altLang="en-US" sz="1800" dirty="0">
                <a:solidFill>
                  <a:srgbClr val="00EA00"/>
                </a:solidFill>
                <a:cs typeface="Arial" panose="020B0604020202020204" pitchFamily="34" charset="0"/>
              </a:endParaRPr>
            </a:p>
            <a:p>
              <a:pPr lvl="1" eaLnBrk="1" hangingPunct="1">
                <a:spcBef>
                  <a:spcPct val="0"/>
                </a:spcBef>
                <a:buClrTx/>
                <a:buSzTx/>
                <a:buFontTx/>
                <a:buNone/>
              </a:pPr>
              <a:r>
                <a:rPr lang="en-US" altLang="en-US" sz="1800" dirty="0">
                  <a:solidFill>
                    <a:srgbClr val="00EA00"/>
                  </a:solidFill>
                  <a:cs typeface="Arial" panose="020B0604020202020204" pitchFamily="34" charset="0"/>
                </a:rPr>
                <a:t>00000010…100001</a:t>
              </a:r>
            </a:p>
            <a:p>
              <a:pPr lvl="1" eaLnBrk="1" hangingPunct="1">
                <a:spcBef>
                  <a:spcPct val="0"/>
                </a:spcBef>
                <a:buClrTx/>
                <a:buSzTx/>
                <a:buFontTx/>
                <a:buNone/>
              </a:pPr>
              <a:endParaRPr lang="en-US" altLang="en-US" sz="1800" dirty="0">
                <a:cs typeface="Arial" panose="020B0604020202020204" pitchFamily="34" charset="0"/>
              </a:endParaRPr>
            </a:p>
            <a:p>
              <a:pPr lvl="1" eaLnBrk="1" hangingPunct="1">
                <a:spcBef>
                  <a:spcPct val="0"/>
                </a:spcBef>
                <a:buClrTx/>
                <a:buSzTx/>
                <a:buFontTx/>
                <a:buNone/>
              </a:pPr>
              <a:endParaRPr lang="en-US" altLang="en-US" sz="1800" dirty="0">
                <a:cs typeface="Arial" panose="020B0604020202020204" pitchFamily="34" charset="0"/>
              </a:endParaRPr>
            </a:p>
            <a:p>
              <a:pPr lvl="1" eaLnBrk="1" hangingPunct="1">
                <a:spcBef>
                  <a:spcPct val="0"/>
                </a:spcBef>
                <a:buClrTx/>
                <a:buSzTx/>
                <a:buFontTx/>
                <a:buNone/>
              </a:pPr>
              <a:endParaRPr lang="he-IL" altLang="he-IL" sz="1800" dirty="0">
                <a:cs typeface="Arial" panose="020B0604020202020204" pitchFamily="34" charset="0"/>
              </a:endParaRPr>
            </a:p>
          </p:txBody>
        </p:sp>
        <p:grpSp>
          <p:nvGrpSpPr>
            <p:cNvPr id="18445" name="Group 15"/>
            <p:cNvGrpSpPr>
              <a:grpSpLocks/>
            </p:cNvGrpSpPr>
            <p:nvPr/>
          </p:nvGrpSpPr>
          <p:grpSpPr bwMode="auto">
            <a:xfrm>
              <a:off x="5400096" y="4920139"/>
              <a:ext cx="76200" cy="305911"/>
              <a:chOff x="5105400" y="5089366"/>
              <a:chExt cx="76200" cy="305911"/>
            </a:xfrm>
          </p:grpSpPr>
          <p:sp>
            <p:nvSpPr>
              <p:cNvPr id="18450" name="Oval 13"/>
              <p:cNvSpPr>
                <a:spLocks noChangeArrowheads="1"/>
              </p:cNvSpPr>
              <p:nvPr/>
            </p:nvSpPr>
            <p:spPr bwMode="auto">
              <a:xfrm>
                <a:off x="5105400" y="5089366"/>
                <a:ext cx="76200" cy="76200"/>
              </a:xfrm>
              <a:prstGeom prst="ellipse">
                <a:avLst/>
              </a:prstGeom>
              <a:solidFill>
                <a:srgbClr val="00EA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endParaRPr lang="he-IL" altLang="he-IL" sz="1800">
                  <a:cs typeface="Arial" panose="020B0604020202020204" pitchFamily="34" charset="0"/>
                </a:endParaRPr>
              </a:p>
            </p:txBody>
          </p:sp>
          <p:sp>
            <p:nvSpPr>
              <p:cNvPr id="18451" name="Oval 16"/>
              <p:cNvSpPr>
                <a:spLocks noChangeArrowheads="1"/>
              </p:cNvSpPr>
              <p:nvPr/>
            </p:nvSpPr>
            <p:spPr bwMode="auto">
              <a:xfrm>
                <a:off x="5105400" y="5203904"/>
                <a:ext cx="76200" cy="76200"/>
              </a:xfrm>
              <a:prstGeom prst="ellipse">
                <a:avLst/>
              </a:prstGeom>
              <a:solidFill>
                <a:srgbClr val="00EA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endParaRPr lang="he-IL" altLang="he-IL" sz="1800">
                  <a:cs typeface="Arial" panose="020B0604020202020204" pitchFamily="34" charset="0"/>
                </a:endParaRPr>
              </a:p>
            </p:txBody>
          </p:sp>
          <p:sp>
            <p:nvSpPr>
              <p:cNvPr id="18452" name="Oval 17"/>
              <p:cNvSpPr>
                <a:spLocks noChangeArrowheads="1"/>
              </p:cNvSpPr>
              <p:nvPr/>
            </p:nvSpPr>
            <p:spPr bwMode="auto">
              <a:xfrm>
                <a:off x="5105400" y="5319077"/>
                <a:ext cx="76200" cy="76200"/>
              </a:xfrm>
              <a:prstGeom prst="ellipse">
                <a:avLst/>
              </a:prstGeom>
              <a:solidFill>
                <a:srgbClr val="00EA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endParaRPr lang="he-IL" altLang="he-IL" sz="1800">
                  <a:cs typeface="Arial" panose="020B0604020202020204" pitchFamily="34" charset="0"/>
                </a:endParaRPr>
              </a:p>
            </p:txBody>
          </p:sp>
        </p:grpSp>
        <p:grpSp>
          <p:nvGrpSpPr>
            <p:cNvPr id="18446" name="Group 19"/>
            <p:cNvGrpSpPr>
              <a:grpSpLocks/>
            </p:cNvGrpSpPr>
            <p:nvPr/>
          </p:nvGrpSpPr>
          <p:grpSpPr bwMode="auto">
            <a:xfrm>
              <a:off x="5400096" y="5492383"/>
              <a:ext cx="76200" cy="305911"/>
              <a:chOff x="5105400" y="5089366"/>
              <a:chExt cx="76200" cy="305911"/>
            </a:xfrm>
          </p:grpSpPr>
          <p:sp>
            <p:nvSpPr>
              <p:cNvPr id="18447" name="Oval 20"/>
              <p:cNvSpPr>
                <a:spLocks noChangeArrowheads="1"/>
              </p:cNvSpPr>
              <p:nvPr/>
            </p:nvSpPr>
            <p:spPr bwMode="auto">
              <a:xfrm>
                <a:off x="5105400" y="5089366"/>
                <a:ext cx="76200" cy="76200"/>
              </a:xfrm>
              <a:prstGeom prst="ellipse">
                <a:avLst/>
              </a:prstGeom>
              <a:solidFill>
                <a:srgbClr val="00EA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endParaRPr lang="he-IL" altLang="he-IL" sz="1800">
                  <a:cs typeface="Arial" panose="020B0604020202020204" pitchFamily="34" charset="0"/>
                </a:endParaRPr>
              </a:p>
            </p:txBody>
          </p:sp>
          <p:sp>
            <p:nvSpPr>
              <p:cNvPr id="18448" name="Oval 21"/>
              <p:cNvSpPr>
                <a:spLocks noChangeArrowheads="1"/>
              </p:cNvSpPr>
              <p:nvPr/>
            </p:nvSpPr>
            <p:spPr bwMode="auto">
              <a:xfrm>
                <a:off x="5105400" y="5203904"/>
                <a:ext cx="76200" cy="76200"/>
              </a:xfrm>
              <a:prstGeom prst="ellipse">
                <a:avLst/>
              </a:prstGeom>
              <a:solidFill>
                <a:srgbClr val="00EA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endParaRPr lang="he-IL" altLang="he-IL" sz="1800">
                  <a:cs typeface="Arial" panose="020B0604020202020204" pitchFamily="34" charset="0"/>
                </a:endParaRPr>
              </a:p>
            </p:txBody>
          </p:sp>
          <p:sp>
            <p:nvSpPr>
              <p:cNvPr id="18449" name="Oval 22"/>
              <p:cNvSpPr>
                <a:spLocks noChangeArrowheads="1"/>
              </p:cNvSpPr>
              <p:nvPr/>
            </p:nvSpPr>
            <p:spPr bwMode="auto">
              <a:xfrm>
                <a:off x="5105400" y="5319077"/>
                <a:ext cx="76200" cy="76200"/>
              </a:xfrm>
              <a:prstGeom prst="ellipse">
                <a:avLst/>
              </a:prstGeom>
              <a:solidFill>
                <a:srgbClr val="00EA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eaLnBrk="1" hangingPunct="1">
                  <a:spcBef>
                    <a:spcPct val="0"/>
                  </a:spcBef>
                  <a:buClrTx/>
                  <a:buSzTx/>
                  <a:buFontTx/>
                  <a:buNone/>
                </a:pPr>
                <a:endParaRPr lang="he-IL" altLang="he-IL" sz="1800">
                  <a:cs typeface="Arial" panose="020B0604020202020204" pitchFamily="34" charset="0"/>
                </a:endParaRPr>
              </a:p>
            </p:txBody>
          </p:sp>
        </p:grpSp>
      </p:grpSp>
      <p:sp>
        <p:nvSpPr>
          <p:cNvPr id="39" name="Rectangle 38"/>
          <p:cNvSpPr/>
          <p:nvPr/>
        </p:nvSpPr>
        <p:spPr>
          <a:xfrm>
            <a:off x="3784447" y="4187374"/>
            <a:ext cx="3203953" cy="2098788"/>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Slide Number Placeholder 5"/>
          <p:cNvSpPr>
            <a:spLocks noGrp="1"/>
          </p:cNvSpPr>
          <p:nvPr>
            <p:ph type="sldNum" sz="quarter" idx="12"/>
          </p:nvPr>
        </p:nvSpPr>
        <p:spPr>
          <a:xfrm>
            <a:off x="9900458" y="6459785"/>
            <a:ext cx="1312025" cy="365125"/>
          </a:xfrm>
        </p:spPr>
        <p:txBody>
          <a:bodyPr/>
          <a:lstStyle/>
          <a:p>
            <a:r>
              <a:rPr lang="en-US" dirty="0"/>
              <a:t>2</a:t>
            </a:r>
          </a:p>
        </p:txBody>
      </p:sp>
    </p:spTree>
    <p:extLst>
      <p:ext uri="{BB962C8B-B14F-4D97-AF65-F5344CB8AC3E}">
        <p14:creationId xmlns:p14="http://schemas.microsoft.com/office/powerpoint/2010/main" val="2150408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left)">
                                      <p:cBhvr>
                                        <p:cTn id="11" dur="500"/>
                                        <p:tgtEl>
                                          <p:spTgt spid="26"/>
                                        </p:tgtEl>
                                      </p:cBhvr>
                                    </p:animEffect>
                                  </p:childTnLst>
                                </p:cTn>
                              </p:par>
                            </p:childTnLst>
                          </p:cTn>
                        </p:par>
                        <p:par>
                          <p:cTn id="12" fill="hold" nodeType="afterGroup">
                            <p:stCondLst>
                              <p:cond delay="500"/>
                            </p:stCondLst>
                            <p:childTnLst>
                              <p:par>
                                <p:cTn id="13" presetID="1"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left)">
                                      <p:cBhvr>
                                        <p:cTn id="21" dur="500"/>
                                        <p:tgtEl>
                                          <p:spTgt spid="27"/>
                                        </p:tgtEl>
                                      </p:cBhvr>
                                    </p:animEffect>
                                  </p:childTnLst>
                                </p:cTn>
                              </p:par>
                              <p:par>
                                <p:cTn id="22" presetID="1" presetClass="exit" presetSubtype="0" fill="hold" grpId="1" nodeType="withEffect">
                                  <p:stCondLst>
                                    <p:cond delay="0"/>
                                  </p:stCondLst>
                                  <p:childTnLst>
                                    <p:set>
                                      <p:cBhvr>
                                        <p:cTn id="23" dur="1" fill="hold">
                                          <p:stCondLst>
                                            <p:cond delay="0"/>
                                          </p:stCondLst>
                                        </p:cTn>
                                        <p:tgtEl>
                                          <p:spTgt spid="2"/>
                                        </p:tgtEl>
                                        <p:attrNameLst>
                                          <p:attrName>style.visibility</p:attrName>
                                        </p:attrNameLst>
                                      </p:cBhvr>
                                      <p:to>
                                        <p:strVal val="hidden"/>
                                      </p:to>
                                    </p:set>
                                  </p:childTnLst>
                                </p:cTn>
                              </p:par>
                            </p:childTnLst>
                          </p:cTn>
                        </p:par>
                        <p:par>
                          <p:cTn id="24" fill="hold" nodeType="afterGroup">
                            <p:stCondLst>
                              <p:cond delay="500"/>
                            </p:stCondLst>
                            <p:childTnLst>
                              <p:par>
                                <p:cTn id="25" presetID="1" presetClass="entr" presetSubtype="0" fill="hold" nodeType="after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 grpId="0"/>
      <p:bldP spid="2" grpId="1"/>
      <p:bldP spid="27" grpId="0" animBg="1"/>
      <p:bldP spid="3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5"/>
          <p:cNvSpPr>
            <a:spLocks noGrp="1" noChangeArrowheads="1"/>
          </p:cNvSpPr>
          <p:nvPr>
            <p:ph type="title"/>
          </p:nvPr>
        </p:nvSpPr>
        <p:spPr>
          <a:ln/>
        </p:spPr>
        <p:txBody>
          <a:bodyPr>
            <a:normAutofit/>
          </a:bodyPr>
          <a:lstStyle/>
          <a:p>
            <a:r>
              <a:rPr lang="en-US" b="1" dirty="0"/>
              <a:t>Assembly Variables: Registers</a:t>
            </a:r>
          </a:p>
        </p:txBody>
      </p:sp>
      <p:sp>
        <p:nvSpPr>
          <p:cNvPr id="16390" name="Rectangle 6"/>
          <p:cNvSpPr>
            <a:spLocks noGrp="1" noChangeArrowheads="1"/>
          </p:cNvSpPr>
          <p:nvPr>
            <p:ph idx="1"/>
          </p:nvPr>
        </p:nvSpPr>
        <p:spPr>
          <a:xfrm>
            <a:off x="1045028" y="2139648"/>
            <a:ext cx="10058400" cy="4023360"/>
          </a:xfrm>
          <a:ln/>
        </p:spPr>
        <p:txBody>
          <a:bodyPr>
            <a:normAutofit/>
          </a:bodyPr>
          <a:lstStyle/>
          <a:p>
            <a:pPr algn="l" rtl="0">
              <a:spcBef>
                <a:spcPct val="0"/>
              </a:spcBef>
            </a:pPr>
            <a:r>
              <a:rPr lang="en-US" sz="3600" dirty="0"/>
              <a:t>Unlike HLL like C or Java, assembly does not have </a:t>
            </a:r>
            <a:r>
              <a:rPr lang="en-US" sz="3600" i="1" dirty="0"/>
              <a:t>variables </a:t>
            </a:r>
            <a:r>
              <a:rPr lang="en-US" sz="3600" dirty="0"/>
              <a:t>as you know and love them</a:t>
            </a:r>
            <a:r>
              <a:rPr lang="en-US" sz="3600" i="1" dirty="0"/>
              <a:t>. </a:t>
            </a:r>
            <a:r>
              <a:rPr lang="en-US" sz="3600" dirty="0"/>
              <a:t>Assembly operands are objects called </a:t>
            </a:r>
            <a:r>
              <a:rPr lang="en-US" sz="3600" u="sng" dirty="0">
                <a:solidFill>
                  <a:srgbClr val="063DE8"/>
                </a:solidFill>
              </a:rPr>
              <a:t>registers</a:t>
            </a:r>
            <a:endParaRPr lang="en-US" sz="3600" dirty="0"/>
          </a:p>
          <a:p>
            <a:pPr lvl="1" algn="l" rtl="0">
              <a:lnSpc>
                <a:spcPct val="95000"/>
              </a:lnSpc>
            </a:pPr>
            <a:r>
              <a:rPr lang="en-US" sz="3200" dirty="0"/>
              <a:t>Built directly into the hardware - they are very fast </a:t>
            </a:r>
          </a:p>
          <a:p>
            <a:pPr lvl="1" algn="l" rtl="0">
              <a:lnSpc>
                <a:spcPct val="95000"/>
              </a:lnSpc>
            </a:pPr>
            <a:r>
              <a:rPr lang="en-US" sz="3200" dirty="0"/>
              <a:t>Limited number of special places to hold values</a:t>
            </a:r>
          </a:p>
          <a:p>
            <a:pPr lvl="1" algn="l" rtl="0">
              <a:lnSpc>
                <a:spcPct val="95000"/>
              </a:lnSpc>
            </a:pPr>
            <a:r>
              <a:rPr lang="en-US" sz="3200" dirty="0"/>
              <a:t>Operations can only be performed on registers</a:t>
            </a:r>
          </a:p>
          <a:p>
            <a:pPr algn="l" rtl="0">
              <a:lnSpc>
                <a:spcPct val="110000"/>
              </a:lnSpc>
            </a:pPr>
            <a:endParaRPr lang="en-US" sz="3600" dirty="0"/>
          </a:p>
        </p:txBody>
      </p:sp>
      <p:sp>
        <p:nvSpPr>
          <p:cNvPr id="6" name="Slide Number Placeholder 5"/>
          <p:cNvSpPr>
            <a:spLocks noGrp="1"/>
          </p:cNvSpPr>
          <p:nvPr>
            <p:ph type="sldNum" sz="quarter" idx="12"/>
          </p:nvPr>
        </p:nvSpPr>
        <p:spPr/>
        <p:txBody>
          <a:bodyPr/>
          <a:lstStyle/>
          <a:p>
            <a:fld id="{3CC63E4C-4642-794D-A2FD-70F6B81535F5}" type="slidenum">
              <a:rPr lang="en-US" smtClean="0"/>
              <a:pPr/>
              <a:t>22</a:t>
            </a:fld>
            <a:endParaRPr lang="en-US"/>
          </a:p>
        </p:txBody>
      </p:sp>
    </p:spTree>
    <p:extLst>
      <p:ext uri="{BB962C8B-B14F-4D97-AF65-F5344CB8AC3E}">
        <p14:creationId xmlns:p14="http://schemas.microsoft.com/office/powerpoint/2010/main" val="2725744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9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9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9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a:xfrm>
            <a:off x="6905767" y="1310292"/>
            <a:ext cx="2540000" cy="4114800"/>
          </a:xfrm>
          <a:prstGeom prst="rect">
            <a:avLst/>
          </a:prstGeom>
          <a:solidFill>
            <a:srgbClr val="CCFFFF"/>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2400" b="1">
                <a:solidFill>
                  <a:schemeClr val="tx1"/>
                </a:solidFill>
              </a:rPr>
              <a:t>Memory</a:t>
            </a:r>
          </a:p>
        </p:txBody>
      </p:sp>
      <p:grpSp>
        <p:nvGrpSpPr>
          <p:cNvPr id="2" name="Group 1"/>
          <p:cNvGrpSpPr/>
          <p:nvPr/>
        </p:nvGrpSpPr>
        <p:grpSpPr>
          <a:xfrm>
            <a:off x="7108967" y="1767492"/>
            <a:ext cx="2032000" cy="3429000"/>
            <a:chOff x="7108967" y="1767492"/>
            <a:chExt cx="2032000" cy="3429000"/>
          </a:xfrm>
        </p:grpSpPr>
        <p:grpSp>
          <p:nvGrpSpPr>
            <p:cNvPr id="271" name="Group 270"/>
            <p:cNvGrpSpPr/>
            <p:nvPr/>
          </p:nvGrpSpPr>
          <p:grpSpPr>
            <a:xfrm>
              <a:off x="7108967" y="1767492"/>
              <a:ext cx="2032000" cy="3429000"/>
              <a:chOff x="4953000" y="1981200"/>
              <a:chExt cx="1524000" cy="3429000"/>
            </a:xfrm>
          </p:grpSpPr>
          <p:grpSp>
            <p:nvGrpSpPr>
              <p:cNvPr id="75" name="Group 74"/>
              <p:cNvGrpSpPr/>
              <p:nvPr/>
            </p:nvGrpSpPr>
            <p:grpSpPr>
              <a:xfrm>
                <a:off x="4953000" y="4038600"/>
                <a:ext cx="381000" cy="685800"/>
                <a:chOff x="7543800" y="3581400"/>
                <a:chExt cx="2362200" cy="685800"/>
              </a:xfrm>
              <a:solidFill>
                <a:schemeClr val="accent3"/>
              </a:solidFill>
            </p:grpSpPr>
            <p:sp>
              <p:nvSpPr>
                <p:cNvPr id="65" name="Rectangle 64"/>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66" name="Rectangle 65"/>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67" name="Rectangle 66"/>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68" name="Rectangle 67"/>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69" name="Rectangle 68"/>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70" name="Rectangle 69"/>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71" name="Rectangle 70"/>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72" name="Rectangle 71"/>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73" name="Rectangle 72"/>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76" name="Group 75"/>
              <p:cNvGrpSpPr/>
              <p:nvPr/>
            </p:nvGrpSpPr>
            <p:grpSpPr>
              <a:xfrm>
                <a:off x="5334000" y="4038600"/>
                <a:ext cx="381000" cy="685800"/>
                <a:chOff x="7543800" y="3581400"/>
                <a:chExt cx="2362200" cy="685800"/>
              </a:xfrm>
              <a:solidFill>
                <a:schemeClr val="accent3"/>
              </a:solidFill>
            </p:grpSpPr>
            <p:sp>
              <p:nvSpPr>
                <p:cNvPr id="77" name="Rectangle 7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78" name="Rectangle 7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79" name="Rectangle 7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0" name="Rectangle 7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1" name="Rectangle 8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2" name="Rectangle 8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3" name="Rectangle 8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4" name="Rectangle 8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5" name="Rectangle 8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86" name="Group 85"/>
              <p:cNvGrpSpPr/>
              <p:nvPr/>
            </p:nvGrpSpPr>
            <p:grpSpPr>
              <a:xfrm>
                <a:off x="5715000" y="4038600"/>
                <a:ext cx="381000" cy="685800"/>
                <a:chOff x="7543800" y="3581400"/>
                <a:chExt cx="2362200" cy="685800"/>
              </a:xfrm>
              <a:solidFill>
                <a:schemeClr val="accent3"/>
              </a:solidFill>
            </p:grpSpPr>
            <p:sp>
              <p:nvSpPr>
                <p:cNvPr id="87" name="Rectangle 8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8" name="Rectangle 8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9" name="Rectangle 8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0" name="Rectangle 8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1" name="Rectangle 9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2" name="Rectangle 9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3" name="Rectangle 9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4" name="Rectangle 9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5" name="Rectangle 9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96" name="Group 95"/>
              <p:cNvGrpSpPr/>
              <p:nvPr/>
            </p:nvGrpSpPr>
            <p:grpSpPr>
              <a:xfrm>
                <a:off x="6096000" y="4038600"/>
                <a:ext cx="381000" cy="685800"/>
                <a:chOff x="7543800" y="3581400"/>
                <a:chExt cx="2362200" cy="685800"/>
              </a:xfrm>
              <a:solidFill>
                <a:schemeClr val="accent3"/>
              </a:solidFill>
            </p:grpSpPr>
            <p:sp>
              <p:nvSpPr>
                <p:cNvPr id="97" name="Rectangle 9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8" name="Rectangle 9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9" name="Rectangle 9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0" name="Rectangle 9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1" name="Rectangle 10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2" name="Rectangle 10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3" name="Rectangle 10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4" name="Rectangle 10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5" name="Rectangle 10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06" name="Group 105"/>
              <p:cNvGrpSpPr/>
              <p:nvPr/>
            </p:nvGrpSpPr>
            <p:grpSpPr>
              <a:xfrm>
                <a:off x="4953000" y="4724400"/>
                <a:ext cx="381000" cy="685800"/>
                <a:chOff x="7543800" y="3581400"/>
                <a:chExt cx="2362200" cy="685800"/>
              </a:xfrm>
              <a:solidFill>
                <a:schemeClr val="accent3"/>
              </a:solidFill>
            </p:grpSpPr>
            <p:sp>
              <p:nvSpPr>
                <p:cNvPr id="107" name="Rectangle 10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8" name="Rectangle 10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9" name="Rectangle 10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0" name="Rectangle 10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1" name="Rectangle 11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2" name="Rectangle 11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3" name="Rectangle 11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4" name="Rectangle 11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5" name="Rectangle 11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16" name="Group 115"/>
              <p:cNvGrpSpPr/>
              <p:nvPr/>
            </p:nvGrpSpPr>
            <p:grpSpPr>
              <a:xfrm>
                <a:off x="5334000" y="4724400"/>
                <a:ext cx="381000" cy="685800"/>
                <a:chOff x="7543800" y="3581400"/>
                <a:chExt cx="2362200" cy="685800"/>
              </a:xfrm>
              <a:solidFill>
                <a:schemeClr val="accent3"/>
              </a:solidFill>
            </p:grpSpPr>
            <p:sp>
              <p:nvSpPr>
                <p:cNvPr id="117" name="Rectangle 11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8" name="Rectangle 11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9" name="Rectangle 11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0" name="Rectangle 11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1" name="Rectangle 12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2" name="Rectangle 12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3" name="Rectangle 12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4" name="Rectangle 12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5" name="Rectangle 12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26" name="Group 125"/>
              <p:cNvGrpSpPr/>
              <p:nvPr/>
            </p:nvGrpSpPr>
            <p:grpSpPr>
              <a:xfrm>
                <a:off x="5715000" y="4724400"/>
                <a:ext cx="381000" cy="685800"/>
                <a:chOff x="7543800" y="3581400"/>
                <a:chExt cx="2362200" cy="685800"/>
              </a:xfrm>
              <a:solidFill>
                <a:schemeClr val="accent3"/>
              </a:solidFill>
            </p:grpSpPr>
            <p:sp>
              <p:nvSpPr>
                <p:cNvPr id="127" name="Rectangle 12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8" name="Rectangle 12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9" name="Rectangle 12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0" name="Rectangle 12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1" name="Rectangle 13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2" name="Rectangle 13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3" name="Rectangle 13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4" name="Rectangle 13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5" name="Rectangle 13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36" name="Group 135"/>
              <p:cNvGrpSpPr/>
              <p:nvPr/>
            </p:nvGrpSpPr>
            <p:grpSpPr>
              <a:xfrm>
                <a:off x="6096000" y="4724400"/>
                <a:ext cx="381000" cy="685800"/>
                <a:chOff x="7543800" y="3581400"/>
                <a:chExt cx="2362200" cy="685800"/>
              </a:xfrm>
              <a:solidFill>
                <a:schemeClr val="accent3"/>
              </a:solidFill>
            </p:grpSpPr>
            <p:sp>
              <p:nvSpPr>
                <p:cNvPr id="137" name="Rectangle 13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8" name="Rectangle 13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9" name="Rectangle 13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0" name="Rectangle 13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1" name="Rectangle 14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2" name="Rectangle 14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3" name="Rectangle 14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4" name="Rectangle 14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5" name="Rectangle 14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46" name="Group 145"/>
              <p:cNvGrpSpPr/>
              <p:nvPr/>
            </p:nvGrpSpPr>
            <p:grpSpPr>
              <a:xfrm>
                <a:off x="4953000" y="3352800"/>
                <a:ext cx="381000" cy="685800"/>
                <a:chOff x="7543800" y="3581400"/>
                <a:chExt cx="2362200" cy="685800"/>
              </a:xfrm>
              <a:solidFill>
                <a:srgbClr val="9BBB59"/>
              </a:solidFill>
            </p:grpSpPr>
            <p:sp>
              <p:nvSpPr>
                <p:cNvPr id="147" name="Rectangle 14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8" name="Rectangle 14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9" name="Rectangle 14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0" name="Rectangle 14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1" name="Rectangle 15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2" name="Rectangle 15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3" name="Rectangle 15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4" name="Rectangle 15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5" name="Rectangle 15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56" name="Group 155"/>
              <p:cNvGrpSpPr/>
              <p:nvPr/>
            </p:nvGrpSpPr>
            <p:grpSpPr>
              <a:xfrm>
                <a:off x="5334000" y="3352800"/>
                <a:ext cx="381000" cy="685800"/>
                <a:chOff x="7543800" y="3581400"/>
                <a:chExt cx="2362200" cy="685800"/>
              </a:xfrm>
              <a:solidFill>
                <a:schemeClr val="accent3"/>
              </a:solidFill>
            </p:grpSpPr>
            <p:sp>
              <p:nvSpPr>
                <p:cNvPr id="157" name="Rectangle 15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8" name="Rectangle 15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9" name="Rectangle 15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0" name="Rectangle 15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1" name="Rectangle 16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2" name="Rectangle 16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3" name="Rectangle 16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4" name="Rectangle 16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5" name="Rectangle 16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66" name="Group 165"/>
              <p:cNvGrpSpPr/>
              <p:nvPr/>
            </p:nvGrpSpPr>
            <p:grpSpPr>
              <a:xfrm>
                <a:off x="5715000" y="3352800"/>
                <a:ext cx="381000" cy="685800"/>
                <a:chOff x="7543800" y="3581400"/>
                <a:chExt cx="2362200" cy="685800"/>
              </a:xfrm>
              <a:solidFill>
                <a:schemeClr val="accent3"/>
              </a:solidFill>
            </p:grpSpPr>
            <p:sp>
              <p:nvSpPr>
                <p:cNvPr id="167" name="Rectangle 16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8" name="Rectangle 16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9" name="Rectangle 16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0" name="Rectangle 16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1" name="Rectangle 17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2" name="Rectangle 17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3" name="Rectangle 17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4" name="Rectangle 17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5" name="Rectangle 17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76" name="Group 175"/>
              <p:cNvGrpSpPr/>
              <p:nvPr/>
            </p:nvGrpSpPr>
            <p:grpSpPr>
              <a:xfrm>
                <a:off x="6096000" y="3352800"/>
                <a:ext cx="381000" cy="685800"/>
                <a:chOff x="7543800" y="3581400"/>
                <a:chExt cx="2362200" cy="685800"/>
              </a:xfrm>
              <a:solidFill>
                <a:schemeClr val="accent3"/>
              </a:solidFill>
            </p:grpSpPr>
            <p:sp>
              <p:nvSpPr>
                <p:cNvPr id="177" name="Rectangle 17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8" name="Rectangle 17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9" name="Rectangle 17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0" name="Rectangle 17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1" name="Rectangle 18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2" name="Rectangle 18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3" name="Rectangle 18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4" name="Rectangle 18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5" name="Rectangle 18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86" name="Group 185"/>
              <p:cNvGrpSpPr/>
              <p:nvPr/>
            </p:nvGrpSpPr>
            <p:grpSpPr>
              <a:xfrm>
                <a:off x="4953000" y="2667000"/>
                <a:ext cx="381000" cy="685800"/>
                <a:chOff x="7543800" y="3581400"/>
                <a:chExt cx="2362200" cy="685800"/>
              </a:xfrm>
              <a:solidFill>
                <a:schemeClr val="accent3"/>
              </a:solidFill>
            </p:grpSpPr>
            <p:sp>
              <p:nvSpPr>
                <p:cNvPr id="187" name="Rectangle 18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8" name="Rectangle 18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9" name="Rectangle 18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0" name="Rectangle 18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1" name="Rectangle 19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2" name="Rectangle 19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3" name="Rectangle 19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4" name="Rectangle 19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5" name="Rectangle 19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96" name="Group 195"/>
              <p:cNvGrpSpPr/>
              <p:nvPr/>
            </p:nvGrpSpPr>
            <p:grpSpPr>
              <a:xfrm>
                <a:off x="5334000" y="2667000"/>
                <a:ext cx="381000" cy="685800"/>
                <a:chOff x="7543800" y="3581400"/>
                <a:chExt cx="2362200" cy="685800"/>
              </a:xfrm>
              <a:solidFill>
                <a:schemeClr val="accent3"/>
              </a:solidFill>
            </p:grpSpPr>
            <p:sp>
              <p:nvSpPr>
                <p:cNvPr id="197" name="Rectangle 19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8" name="Rectangle 19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9" name="Rectangle 19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0" name="Rectangle 19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1" name="Rectangle 20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2" name="Rectangle 20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3" name="Rectangle 20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4" name="Rectangle 20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5" name="Rectangle 20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206" name="Group 205"/>
              <p:cNvGrpSpPr/>
              <p:nvPr/>
            </p:nvGrpSpPr>
            <p:grpSpPr>
              <a:xfrm>
                <a:off x="5715000" y="2667000"/>
                <a:ext cx="381000" cy="685800"/>
                <a:chOff x="7543800" y="3581400"/>
                <a:chExt cx="2362200" cy="685800"/>
              </a:xfrm>
              <a:solidFill>
                <a:schemeClr val="accent3"/>
              </a:solidFill>
            </p:grpSpPr>
            <p:sp>
              <p:nvSpPr>
                <p:cNvPr id="207" name="Rectangle 20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8" name="Rectangle 20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9" name="Rectangle 20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0" name="Rectangle 20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1" name="Rectangle 21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2" name="Rectangle 21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3" name="Rectangle 21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4" name="Rectangle 21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5" name="Rectangle 21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216" name="Group 215"/>
              <p:cNvGrpSpPr/>
              <p:nvPr/>
            </p:nvGrpSpPr>
            <p:grpSpPr>
              <a:xfrm>
                <a:off x="6096000" y="2667000"/>
                <a:ext cx="381000" cy="685800"/>
                <a:chOff x="7543800" y="3581400"/>
                <a:chExt cx="2362200" cy="685800"/>
              </a:xfrm>
              <a:solidFill>
                <a:schemeClr val="accent3"/>
              </a:solidFill>
            </p:grpSpPr>
            <p:sp>
              <p:nvSpPr>
                <p:cNvPr id="217" name="Rectangle 21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8" name="Rectangle 21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9" name="Rectangle 21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0" name="Rectangle 21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1" name="Rectangle 22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2" name="Rectangle 22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3" name="Rectangle 22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4" name="Rectangle 22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5" name="Rectangle 22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226" name="Group 225"/>
              <p:cNvGrpSpPr/>
              <p:nvPr/>
            </p:nvGrpSpPr>
            <p:grpSpPr>
              <a:xfrm>
                <a:off x="4953000" y="1981200"/>
                <a:ext cx="381000" cy="685800"/>
                <a:chOff x="7543800" y="3581400"/>
                <a:chExt cx="2362200" cy="685800"/>
              </a:xfrm>
              <a:solidFill>
                <a:schemeClr val="accent3"/>
              </a:solidFill>
            </p:grpSpPr>
            <p:sp>
              <p:nvSpPr>
                <p:cNvPr id="227" name="Rectangle 22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8" name="Rectangle 22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9" name="Rectangle 22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0" name="Rectangle 22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1" name="Rectangle 23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2" name="Rectangle 23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3" name="Rectangle 23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4" name="Rectangle 23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5" name="Rectangle 23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236" name="Group 235"/>
              <p:cNvGrpSpPr/>
              <p:nvPr/>
            </p:nvGrpSpPr>
            <p:grpSpPr>
              <a:xfrm>
                <a:off x="5334000" y="1981200"/>
                <a:ext cx="381000" cy="685800"/>
                <a:chOff x="7543800" y="3581400"/>
                <a:chExt cx="2362200" cy="685800"/>
              </a:xfrm>
              <a:solidFill>
                <a:schemeClr val="accent3"/>
              </a:solidFill>
            </p:grpSpPr>
            <p:sp>
              <p:nvSpPr>
                <p:cNvPr id="237" name="Rectangle 23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8" name="Rectangle 23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9" name="Rectangle 23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0" name="Rectangle 23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1" name="Rectangle 24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2" name="Rectangle 24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3" name="Rectangle 24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4" name="Rectangle 24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5" name="Rectangle 24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246" name="Group 245"/>
              <p:cNvGrpSpPr/>
              <p:nvPr/>
            </p:nvGrpSpPr>
            <p:grpSpPr>
              <a:xfrm>
                <a:off x="5715000" y="1981200"/>
                <a:ext cx="381000" cy="685800"/>
                <a:chOff x="7543800" y="3581400"/>
                <a:chExt cx="2362200" cy="685800"/>
              </a:xfrm>
              <a:solidFill>
                <a:schemeClr val="accent3"/>
              </a:solidFill>
            </p:grpSpPr>
            <p:sp>
              <p:nvSpPr>
                <p:cNvPr id="247" name="Rectangle 24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8" name="Rectangle 24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9" name="Rectangle 24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0" name="Rectangle 24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1" name="Rectangle 25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2" name="Rectangle 25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3" name="Rectangle 25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4" name="Rectangle 25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5" name="Rectangle 25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256" name="Group 255"/>
              <p:cNvGrpSpPr/>
              <p:nvPr/>
            </p:nvGrpSpPr>
            <p:grpSpPr>
              <a:xfrm>
                <a:off x="6096000" y="1981200"/>
                <a:ext cx="381000" cy="685800"/>
                <a:chOff x="7543800" y="3581400"/>
                <a:chExt cx="2362200" cy="685800"/>
              </a:xfrm>
              <a:solidFill>
                <a:schemeClr val="accent3"/>
              </a:solidFill>
            </p:grpSpPr>
            <p:sp>
              <p:nvSpPr>
                <p:cNvPr id="257" name="Rectangle 25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8" name="Rectangle 25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9" name="Rectangle 25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0" name="Rectangle 25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1" name="Rectangle 26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2" name="Rectangle 26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3" name="Rectangle 26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4" name="Rectangle 26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5" name="Rectangle 26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sp>
            <p:nvSpPr>
              <p:cNvPr id="74" name="TextBox 73"/>
              <p:cNvSpPr txBox="1"/>
              <p:nvPr/>
            </p:nvSpPr>
            <p:spPr>
              <a:xfrm>
                <a:off x="5181600" y="3352800"/>
                <a:ext cx="1066800" cy="584775"/>
              </a:xfrm>
              <a:prstGeom prst="rect">
                <a:avLst/>
              </a:prstGeom>
              <a:noFill/>
            </p:spPr>
            <p:txBody>
              <a:bodyPr wrap="square" rtlCol="0">
                <a:spAutoFit/>
              </a:bodyPr>
              <a:lstStyle/>
              <a:p>
                <a:pPr algn="ctr"/>
                <a:r>
                  <a:rPr lang="en-US" sz="3200" dirty="0">
                    <a:solidFill>
                      <a:schemeClr val="bg1"/>
                    </a:solidFill>
                    <a:effectLst/>
                  </a:rPr>
                  <a:t>Bytes</a:t>
                </a:r>
              </a:p>
            </p:txBody>
          </p:sp>
        </p:grpSp>
        <p:sp>
          <p:nvSpPr>
            <p:cNvPr id="266" name="Rectangle 265"/>
            <p:cNvSpPr/>
            <p:nvPr/>
          </p:nvSpPr>
          <p:spPr>
            <a:xfrm>
              <a:off x="7108967" y="3443217"/>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7" name="Rectangle 266"/>
            <p:cNvSpPr/>
            <p:nvPr/>
          </p:nvSpPr>
          <p:spPr>
            <a:xfrm>
              <a:off x="7108967" y="3671209"/>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8" name="Rectangle 267"/>
            <p:cNvSpPr/>
            <p:nvPr/>
          </p:nvSpPr>
          <p:spPr>
            <a:xfrm>
              <a:off x="7108967" y="3136300"/>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75" name="Rectangle 274"/>
            <p:cNvSpPr/>
            <p:nvPr/>
          </p:nvSpPr>
          <p:spPr>
            <a:xfrm>
              <a:off x="7108967" y="3214617"/>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78" name="Rectangle 277"/>
            <p:cNvSpPr/>
            <p:nvPr/>
          </p:nvSpPr>
          <p:spPr>
            <a:xfrm>
              <a:off x="7108967" y="3365521"/>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81" name="Rectangle 280"/>
            <p:cNvSpPr/>
            <p:nvPr/>
          </p:nvSpPr>
          <p:spPr>
            <a:xfrm>
              <a:off x="7108967" y="3591480"/>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82" name="Rectangle 281"/>
            <p:cNvSpPr/>
            <p:nvPr/>
          </p:nvSpPr>
          <p:spPr>
            <a:xfrm>
              <a:off x="7108967" y="3745532"/>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86" name="Rectangle 285"/>
            <p:cNvSpPr/>
            <p:nvPr/>
          </p:nvSpPr>
          <p:spPr>
            <a:xfrm>
              <a:off x="7108967" y="3288795"/>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89" name="Rectangle 288"/>
            <p:cNvSpPr/>
            <p:nvPr/>
          </p:nvSpPr>
          <p:spPr>
            <a:xfrm>
              <a:off x="7108967" y="3514521"/>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269" name="Group 268"/>
          <p:cNvGrpSpPr/>
          <p:nvPr/>
        </p:nvGrpSpPr>
        <p:grpSpPr>
          <a:xfrm>
            <a:off x="1020807" y="1310292"/>
            <a:ext cx="4064000" cy="4222592"/>
            <a:chOff x="609600" y="1676400"/>
            <a:chExt cx="3048000" cy="4077818"/>
          </a:xfrm>
        </p:grpSpPr>
        <p:sp>
          <p:nvSpPr>
            <p:cNvPr id="11" name="Rectangle 10"/>
            <p:cNvSpPr/>
            <p:nvPr/>
          </p:nvSpPr>
          <p:spPr>
            <a:xfrm>
              <a:off x="609600" y="1676400"/>
              <a:ext cx="3048000" cy="4077818"/>
            </a:xfrm>
            <a:prstGeom prst="rect">
              <a:avLst/>
            </a:prstGeom>
            <a:solidFill>
              <a:schemeClr val="bg1">
                <a:lumMod val="85000"/>
              </a:schemeClr>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2400" dirty="0">
                  <a:solidFill>
                    <a:schemeClr val="tx1"/>
                  </a:solidFill>
                </a:rPr>
                <a:t>Processor</a:t>
              </a:r>
            </a:p>
          </p:txBody>
        </p:sp>
        <p:sp>
          <p:nvSpPr>
            <p:cNvPr id="9" name="Rectangle 8"/>
            <p:cNvSpPr/>
            <p:nvPr/>
          </p:nvSpPr>
          <p:spPr>
            <a:xfrm>
              <a:off x="838200" y="2164197"/>
              <a:ext cx="2590800" cy="533400"/>
            </a:xfrm>
            <a:prstGeom prst="rect">
              <a:avLst/>
            </a:prstGeom>
            <a:solidFill>
              <a:srgbClr val="CCFFFF"/>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2400" b="1">
                  <a:solidFill>
                    <a:schemeClr val="tx1"/>
                  </a:solidFill>
                </a:rPr>
                <a:t>Control</a:t>
              </a:r>
            </a:p>
          </p:txBody>
        </p:sp>
        <p:sp>
          <p:nvSpPr>
            <p:cNvPr id="10" name="Rectangle 9"/>
            <p:cNvSpPr/>
            <p:nvPr/>
          </p:nvSpPr>
          <p:spPr>
            <a:xfrm>
              <a:off x="838200" y="3048000"/>
              <a:ext cx="2590800" cy="2602121"/>
            </a:xfrm>
            <a:prstGeom prst="rect">
              <a:avLst/>
            </a:prstGeom>
            <a:solidFill>
              <a:srgbClr val="CCFFFF"/>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2400" b="1" err="1">
                  <a:solidFill>
                    <a:schemeClr val="tx1"/>
                  </a:solidFill>
                </a:rPr>
                <a:t>Datapath</a:t>
              </a:r>
              <a:endParaRPr lang="en-US" sz="2400" b="1">
                <a:solidFill>
                  <a:schemeClr val="tx1"/>
                </a:solidFill>
              </a:endParaRPr>
            </a:p>
          </p:txBody>
        </p:sp>
        <p:cxnSp>
          <p:nvCxnSpPr>
            <p:cNvPr id="28" name="Straight Arrow Connector 27"/>
            <p:cNvCxnSpPr/>
            <p:nvPr/>
          </p:nvCxnSpPr>
          <p:spPr>
            <a:xfrm>
              <a:off x="1523206" y="2725783"/>
              <a:ext cx="0" cy="323011"/>
            </a:xfrm>
            <a:prstGeom prst="straightConnector1">
              <a:avLst/>
            </a:prstGeom>
            <a:ln w="12700" cap="flat" cmpd="sng" algn="ctr">
              <a:solidFill>
                <a:srgbClr val="000000"/>
              </a:solidFill>
              <a:prstDash val="solid"/>
              <a:round/>
              <a:headEnd type="none" w="med" len="med"/>
              <a:tailEnd type="triangle" w="lg" len="lg"/>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V="1">
              <a:off x="2668588" y="2717104"/>
              <a:ext cx="0" cy="330896"/>
            </a:xfrm>
            <a:prstGeom prst="straightConnector1">
              <a:avLst/>
            </a:prstGeom>
            <a:ln w="12700" cap="flat" cmpd="sng" algn="ctr">
              <a:solidFill>
                <a:srgbClr val="000000"/>
              </a:solidFill>
              <a:prstDash val="solid"/>
              <a:round/>
              <a:headEnd type="none" w="med" len="med"/>
              <a:tailEnd type="triangle" w="lg" len="lg"/>
            </a:ln>
          </p:spPr>
          <p:style>
            <a:lnRef idx="2">
              <a:schemeClr val="accent1"/>
            </a:lnRef>
            <a:fillRef idx="0">
              <a:schemeClr val="accent1"/>
            </a:fillRef>
            <a:effectRef idx="1">
              <a:schemeClr val="accent1"/>
            </a:effectRef>
            <a:fontRef idx="minor">
              <a:schemeClr val="tx1"/>
            </a:fontRef>
          </p:style>
        </p:cxnSp>
      </p:grpSp>
      <p:sp>
        <p:nvSpPr>
          <p:cNvPr id="5" name="Slide Number Placeholder 4"/>
          <p:cNvSpPr>
            <a:spLocks noGrp="1"/>
          </p:cNvSpPr>
          <p:nvPr>
            <p:ph type="sldNum" sz="quarter" idx="12"/>
          </p:nvPr>
        </p:nvSpPr>
        <p:spPr>
          <a:xfrm>
            <a:off x="10405425" y="6246077"/>
            <a:ext cx="1312025" cy="365125"/>
          </a:xfrm>
        </p:spPr>
        <p:txBody>
          <a:bodyPr/>
          <a:lstStyle/>
          <a:p>
            <a:fld id="{3CC63E4C-4642-794D-A2FD-70F6B81535F5}" type="slidenum">
              <a:rPr lang="en-US" smtClean="0"/>
              <a:pPr/>
              <a:t>23</a:t>
            </a:fld>
            <a:endParaRPr lang="en-US"/>
          </a:p>
        </p:txBody>
      </p:sp>
      <p:sp>
        <p:nvSpPr>
          <p:cNvPr id="8" name="Title 7"/>
          <p:cNvSpPr>
            <a:spLocks noGrp="1"/>
          </p:cNvSpPr>
          <p:nvPr>
            <p:ph type="title" idx="4294967295"/>
          </p:nvPr>
        </p:nvSpPr>
        <p:spPr>
          <a:xfrm>
            <a:off x="0" y="-13079"/>
            <a:ext cx="12192000" cy="978750"/>
          </a:xfrm>
        </p:spPr>
        <p:txBody>
          <a:bodyPr>
            <a:normAutofit/>
          </a:bodyPr>
          <a:lstStyle/>
          <a:p>
            <a:pPr algn="ctr"/>
            <a:r>
              <a:rPr lang="en-US" b="1" dirty="0"/>
              <a:t>Registers Live Inside the Processor</a:t>
            </a:r>
          </a:p>
        </p:txBody>
      </p:sp>
      <p:grpSp>
        <p:nvGrpSpPr>
          <p:cNvPr id="270" name="Group 269"/>
          <p:cNvGrpSpPr/>
          <p:nvPr/>
        </p:nvGrpSpPr>
        <p:grpSpPr>
          <a:xfrm>
            <a:off x="1471911" y="3228430"/>
            <a:ext cx="3149603" cy="2069638"/>
            <a:chOff x="914399" y="3505200"/>
            <a:chExt cx="2362202" cy="2069638"/>
          </a:xfrm>
        </p:grpSpPr>
        <p:sp>
          <p:nvSpPr>
            <p:cNvPr id="12" name="Rectangle 11"/>
            <p:cNvSpPr/>
            <p:nvPr/>
          </p:nvSpPr>
          <p:spPr>
            <a:xfrm>
              <a:off x="914400" y="3505200"/>
              <a:ext cx="2362200" cy="2286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solidFill>
                    <a:schemeClr val="bg1"/>
                  </a:solidFill>
                </a:rPr>
                <a:t>PC</a:t>
              </a:r>
            </a:p>
          </p:txBody>
        </p:sp>
        <p:grpSp>
          <p:nvGrpSpPr>
            <p:cNvPr id="26" name="Group 25"/>
            <p:cNvGrpSpPr/>
            <p:nvPr/>
          </p:nvGrpSpPr>
          <p:grpSpPr>
            <a:xfrm>
              <a:off x="914399" y="3721696"/>
              <a:ext cx="2362202" cy="913007"/>
              <a:chOff x="1600199" y="3797896"/>
              <a:chExt cx="1600201" cy="913007"/>
            </a:xfrm>
            <a:solidFill>
              <a:srgbClr val="9BBB59"/>
            </a:solidFill>
          </p:grpSpPr>
          <p:sp>
            <p:nvSpPr>
              <p:cNvPr id="13" name="Rectangle 12"/>
              <p:cNvSpPr/>
              <p:nvPr/>
            </p:nvSpPr>
            <p:spPr>
              <a:xfrm>
                <a:off x="1600200" y="39624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 name="Rectangle 13"/>
              <p:cNvSpPr/>
              <p:nvPr/>
            </p:nvSpPr>
            <p:spPr>
              <a:xfrm>
                <a:off x="1600200" y="40386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 name="Rectangle 14"/>
              <p:cNvSpPr/>
              <p:nvPr/>
            </p:nvSpPr>
            <p:spPr>
              <a:xfrm>
                <a:off x="1600200" y="41148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 name="Rectangle 15"/>
              <p:cNvSpPr/>
              <p:nvPr/>
            </p:nvSpPr>
            <p:spPr>
              <a:xfrm>
                <a:off x="1600200" y="41910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effectLst>
                    <a:glow rad="101600">
                      <a:schemeClr val="bg1">
                        <a:alpha val="75000"/>
                      </a:schemeClr>
                    </a:glow>
                  </a:effectLst>
                </a:endParaRPr>
              </a:p>
              <a:p>
                <a:pPr algn="ctr"/>
                <a:endParaRPr lang="en-US" sz="2400">
                  <a:solidFill>
                    <a:schemeClr val="tx1"/>
                  </a:solidFill>
                </a:endParaRPr>
              </a:p>
            </p:txBody>
          </p:sp>
          <p:sp>
            <p:nvSpPr>
              <p:cNvPr id="17" name="Rectangle 16"/>
              <p:cNvSpPr/>
              <p:nvPr/>
            </p:nvSpPr>
            <p:spPr>
              <a:xfrm>
                <a:off x="1600200" y="42672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 name="Rectangle 17"/>
              <p:cNvSpPr/>
              <p:nvPr/>
            </p:nvSpPr>
            <p:spPr>
              <a:xfrm>
                <a:off x="1600200" y="43434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 name="Rectangle 18"/>
              <p:cNvSpPr/>
              <p:nvPr/>
            </p:nvSpPr>
            <p:spPr>
              <a:xfrm>
                <a:off x="1600200" y="44196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 name="Rectangle 19"/>
              <p:cNvSpPr/>
              <p:nvPr/>
            </p:nvSpPr>
            <p:spPr>
              <a:xfrm>
                <a:off x="1600199" y="4495800"/>
                <a:ext cx="1600199"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 name="Rectangle 20"/>
              <p:cNvSpPr/>
              <p:nvPr/>
            </p:nvSpPr>
            <p:spPr>
              <a:xfrm>
                <a:off x="1600200" y="45720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 name="TextBox 21"/>
              <p:cNvSpPr txBox="1"/>
              <p:nvPr/>
            </p:nvSpPr>
            <p:spPr>
              <a:xfrm>
                <a:off x="1688670" y="3797896"/>
                <a:ext cx="1508091" cy="913007"/>
              </a:xfrm>
              <a:prstGeom prst="rect">
                <a:avLst/>
              </a:prstGeom>
              <a:noFill/>
            </p:spPr>
            <p:txBody>
              <a:bodyPr wrap="square" rtlCol="0">
                <a:spAutoFit/>
              </a:bodyPr>
              <a:lstStyle/>
              <a:p>
                <a:pPr algn="ctr"/>
                <a:r>
                  <a:rPr lang="en-US" sz="5333" b="1" dirty="0">
                    <a:solidFill>
                      <a:schemeClr val="bg1"/>
                    </a:solidFill>
                    <a:effectLst/>
                  </a:rPr>
                  <a:t>Registers</a:t>
                </a:r>
              </a:p>
            </p:txBody>
          </p:sp>
        </p:grpSp>
        <p:grpSp>
          <p:nvGrpSpPr>
            <p:cNvPr id="25" name="Group 24"/>
            <p:cNvGrpSpPr/>
            <p:nvPr/>
          </p:nvGrpSpPr>
          <p:grpSpPr>
            <a:xfrm>
              <a:off x="914400" y="4706244"/>
              <a:ext cx="2362200" cy="868594"/>
              <a:chOff x="4572000" y="3410844"/>
              <a:chExt cx="2362200" cy="868594"/>
            </a:xfrm>
          </p:grpSpPr>
          <p:sp>
            <p:nvSpPr>
              <p:cNvPr id="23" name="Trapezoid 22"/>
              <p:cNvSpPr/>
              <p:nvPr/>
            </p:nvSpPr>
            <p:spPr>
              <a:xfrm flipV="1">
                <a:off x="4572000" y="3428999"/>
                <a:ext cx="2362200" cy="850439"/>
              </a:xfrm>
              <a:prstGeom prst="trapezoid">
                <a:avLst>
                  <a:gd name="adj" fmla="val 25000"/>
                </a:avLst>
              </a:prstGeom>
              <a:solidFill>
                <a:srgbClr val="C0504D"/>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rtlCol="0" anchor="ctr"/>
              <a:lstStyle/>
              <a:p>
                <a:pPr algn="ctr"/>
                <a:endParaRPr lang="en-US" sz="2400">
                  <a:solidFill>
                    <a:schemeClr val="tx1"/>
                  </a:solidFill>
                </a:endParaRPr>
              </a:p>
            </p:txBody>
          </p:sp>
          <p:sp>
            <p:nvSpPr>
              <p:cNvPr id="24" name="TextBox 23"/>
              <p:cNvSpPr txBox="1"/>
              <p:nvPr/>
            </p:nvSpPr>
            <p:spPr>
              <a:xfrm>
                <a:off x="4594030" y="3410844"/>
                <a:ext cx="2318135" cy="830997"/>
              </a:xfrm>
              <a:prstGeom prst="rect">
                <a:avLst/>
              </a:prstGeom>
              <a:noFill/>
            </p:spPr>
            <p:txBody>
              <a:bodyPr wrap="none" rtlCol="0" anchor="ctr">
                <a:spAutoFit/>
              </a:bodyPr>
              <a:lstStyle/>
              <a:p>
                <a:pPr algn="ctr"/>
                <a:r>
                  <a:rPr lang="en-US" sz="2400" dirty="0">
                    <a:solidFill>
                      <a:schemeClr val="bg1"/>
                    </a:solidFill>
                    <a:effectLst/>
                  </a:rPr>
                  <a:t>Arithmetic &amp; Logic Unit</a:t>
                </a:r>
              </a:p>
              <a:p>
                <a:pPr algn="ctr"/>
                <a:r>
                  <a:rPr lang="en-US" sz="2400" dirty="0">
                    <a:solidFill>
                      <a:schemeClr val="bg1"/>
                    </a:solidFill>
                    <a:effectLst/>
                  </a:rPr>
                  <a:t>(ALU)</a:t>
                </a:r>
              </a:p>
            </p:txBody>
          </p:sp>
        </p:grpSp>
      </p:grpSp>
      <p:grpSp>
        <p:nvGrpSpPr>
          <p:cNvPr id="273" name="Group 272"/>
          <p:cNvGrpSpPr/>
          <p:nvPr/>
        </p:nvGrpSpPr>
        <p:grpSpPr>
          <a:xfrm>
            <a:off x="9445767" y="1462692"/>
            <a:ext cx="2032000" cy="762000"/>
            <a:chOff x="6705600" y="1676400"/>
            <a:chExt cx="1524000" cy="762000"/>
          </a:xfrm>
          <a:solidFill>
            <a:srgbClr val="CCFFFF"/>
          </a:solidFill>
        </p:grpSpPr>
        <p:sp>
          <p:nvSpPr>
            <p:cNvPr id="51" name="Rectangle 50"/>
            <p:cNvSpPr/>
            <p:nvPr/>
          </p:nvSpPr>
          <p:spPr>
            <a:xfrm>
              <a:off x="7315200" y="1676400"/>
              <a:ext cx="914400" cy="7620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2400" b="1">
                  <a:solidFill>
                    <a:schemeClr val="tx1"/>
                  </a:solidFill>
                </a:rPr>
                <a:t>Input</a:t>
              </a:r>
            </a:p>
          </p:txBody>
        </p:sp>
        <p:cxnSp>
          <p:nvCxnSpPr>
            <p:cNvPr id="52" name="Straight Arrow Connector 51"/>
            <p:cNvCxnSpPr/>
            <p:nvPr/>
          </p:nvCxnSpPr>
          <p:spPr>
            <a:xfrm rot="10800000">
              <a:off x="6705600" y="1981200"/>
              <a:ext cx="609600" cy="1588"/>
            </a:xfrm>
            <a:prstGeom prst="straightConnector1">
              <a:avLst/>
            </a:prstGeom>
            <a:grpFill/>
            <a:ln w="12700" cap="flat" cmpd="sng" algn="ctr">
              <a:solidFill>
                <a:srgbClr val="000000"/>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grpSp>
      <p:grpSp>
        <p:nvGrpSpPr>
          <p:cNvPr id="274" name="Group 273"/>
          <p:cNvGrpSpPr/>
          <p:nvPr/>
        </p:nvGrpSpPr>
        <p:grpSpPr>
          <a:xfrm>
            <a:off x="9445767" y="4586892"/>
            <a:ext cx="2032000" cy="762000"/>
            <a:chOff x="6705600" y="4800600"/>
            <a:chExt cx="1524000" cy="762000"/>
          </a:xfrm>
          <a:solidFill>
            <a:srgbClr val="CCFFFF"/>
          </a:solidFill>
        </p:grpSpPr>
        <p:sp>
          <p:nvSpPr>
            <p:cNvPr id="55" name="Rectangle 54"/>
            <p:cNvSpPr/>
            <p:nvPr/>
          </p:nvSpPr>
          <p:spPr>
            <a:xfrm>
              <a:off x="7315200" y="4800600"/>
              <a:ext cx="914400" cy="7620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2400" b="1">
                  <a:solidFill>
                    <a:schemeClr val="tx1"/>
                  </a:solidFill>
                </a:rPr>
                <a:t>Output</a:t>
              </a:r>
            </a:p>
          </p:txBody>
        </p:sp>
        <p:cxnSp>
          <p:nvCxnSpPr>
            <p:cNvPr id="59" name="Straight Arrow Connector 58"/>
            <p:cNvCxnSpPr/>
            <p:nvPr/>
          </p:nvCxnSpPr>
          <p:spPr>
            <a:xfrm rot="10800000" flipH="1">
              <a:off x="6705600" y="5181600"/>
              <a:ext cx="609600" cy="1588"/>
            </a:xfrm>
            <a:prstGeom prst="straightConnector1">
              <a:avLst/>
            </a:prstGeom>
            <a:grpFill/>
            <a:ln w="12700" cap="flat" cmpd="sng" algn="ctr">
              <a:solidFill>
                <a:srgbClr val="000000"/>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grpSp>
      <p:grpSp>
        <p:nvGrpSpPr>
          <p:cNvPr id="280" name="Group 279"/>
          <p:cNvGrpSpPr/>
          <p:nvPr/>
        </p:nvGrpSpPr>
        <p:grpSpPr>
          <a:xfrm>
            <a:off x="4072551" y="1515318"/>
            <a:ext cx="3753272" cy="4774151"/>
            <a:chOff x="2675688" y="1729025"/>
            <a:chExt cx="2814954" cy="4774150"/>
          </a:xfrm>
        </p:grpSpPr>
        <p:grpSp>
          <p:nvGrpSpPr>
            <p:cNvPr id="272" name="Group 271"/>
            <p:cNvGrpSpPr/>
            <p:nvPr/>
          </p:nvGrpSpPr>
          <p:grpSpPr>
            <a:xfrm>
              <a:off x="3417172" y="1729025"/>
              <a:ext cx="1383428" cy="3795940"/>
              <a:chOff x="3417172" y="1729025"/>
              <a:chExt cx="1383428" cy="3795940"/>
            </a:xfrm>
          </p:grpSpPr>
          <p:cxnSp>
            <p:nvCxnSpPr>
              <p:cNvPr id="31" name="Straight Arrow Connector 30"/>
              <p:cNvCxnSpPr/>
              <p:nvPr/>
            </p:nvCxnSpPr>
            <p:spPr>
              <a:xfrm>
                <a:off x="3429000" y="2514600"/>
                <a:ext cx="1371600" cy="1588"/>
              </a:xfrm>
              <a:prstGeom prst="straightConnector1">
                <a:avLst/>
              </a:prstGeom>
              <a:ln w="12700" cap="flat" cmpd="sng" algn="ctr">
                <a:solidFill>
                  <a:srgbClr val="000000"/>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3417172" y="3236911"/>
                <a:ext cx="1371600" cy="1588"/>
              </a:xfrm>
              <a:prstGeom prst="straightConnector1">
                <a:avLst/>
              </a:prstGeom>
              <a:ln w="12700" cap="flat" cmpd="sng" algn="ctr">
                <a:solidFill>
                  <a:srgbClr val="000000"/>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3429000" y="4535269"/>
                <a:ext cx="1371600" cy="1588"/>
              </a:xfrm>
              <a:prstGeom prst="straightConnector1">
                <a:avLst/>
              </a:prstGeom>
              <a:ln w="12700" cap="flat" cmpd="sng" algn="ctr">
                <a:solidFill>
                  <a:srgbClr val="000000"/>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rot="10800000">
                <a:off x="3429000" y="4725988"/>
                <a:ext cx="1371600" cy="1588"/>
              </a:xfrm>
              <a:prstGeom prst="straightConnector1">
                <a:avLst/>
              </a:prstGeom>
              <a:ln w="12700" cap="flat" cmpd="sng" algn="ctr">
                <a:solidFill>
                  <a:srgbClr val="000000"/>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525326" y="1729025"/>
                <a:ext cx="1218026" cy="830997"/>
              </a:xfrm>
              <a:prstGeom prst="rect">
                <a:avLst/>
              </a:prstGeom>
              <a:noFill/>
            </p:spPr>
            <p:txBody>
              <a:bodyPr wrap="none" rtlCol="0">
                <a:spAutoFit/>
              </a:bodyPr>
              <a:lstStyle/>
              <a:p>
                <a:pPr algn="ctr"/>
                <a:r>
                  <a:rPr lang="en-US" sz="2400" dirty="0"/>
                  <a:t>Enable?</a:t>
                </a:r>
              </a:p>
              <a:p>
                <a:pPr algn="ctr"/>
                <a:r>
                  <a:rPr lang="en-US" sz="2400" dirty="0"/>
                  <a:t>Read/Write</a:t>
                </a:r>
              </a:p>
            </p:txBody>
          </p:sp>
          <p:sp>
            <p:nvSpPr>
              <p:cNvPr id="44" name="TextBox 43"/>
              <p:cNvSpPr txBox="1"/>
              <p:nvPr/>
            </p:nvSpPr>
            <p:spPr>
              <a:xfrm>
                <a:off x="3690299" y="3146883"/>
                <a:ext cx="888080" cy="461665"/>
              </a:xfrm>
              <a:prstGeom prst="rect">
                <a:avLst/>
              </a:prstGeom>
              <a:noFill/>
            </p:spPr>
            <p:txBody>
              <a:bodyPr wrap="none" rtlCol="0">
                <a:spAutoFit/>
              </a:bodyPr>
              <a:lstStyle/>
              <a:p>
                <a:pPr algn="ctr"/>
                <a:r>
                  <a:rPr lang="en-US" sz="2400" dirty="0"/>
                  <a:t>Address</a:t>
                </a:r>
              </a:p>
            </p:txBody>
          </p:sp>
          <p:sp>
            <p:nvSpPr>
              <p:cNvPr id="45" name="TextBox 44"/>
              <p:cNvSpPr txBox="1"/>
              <p:nvPr/>
            </p:nvSpPr>
            <p:spPr>
              <a:xfrm>
                <a:off x="3753338" y="3760111"/>
                <a:ext cx="762000" cy="830997"/>
              </a:xfrm>
              <a:prstGeom prst="rect">
                <a:avLst/>
              </a:prstGeom>
              <a:noFill/>
            </p:spPr>
            <p:txBody>
              <a:bodyPr wrap="square" rtlCol="0">
                <a:spAutoFit/>
              </a:bodyPr>
              <a:lstStyle/>
              <a:p>
                <a:pPr algn="ctr"/>
                <a:r>
                  <a:rPr lang="en-US" sz="2400" dirty="0"/>
                  <a:t>Write Data</a:t>
                </a:r>
              </a:p>
            </p:txBody>
          </p:sp>
          <p:sp>
            <p:nvSpPr>
              <p:cNvPr id="46" name="TextBox 45"/>
              <p:cNvSpPr txBox="1"/>
              <p:nvPr/>
            </p:nvSpPr>
            <p:spPr>
              <a:xfrm>
                <a:off x="3791439" y="4693968"/>
                <a:ext cx="685799" cy="830997"/>
              </a:xfrm>
              <a:prstGeom prst="rect">
                <a:avLst/>
              </a:prstGeom>
              <a:noFill/>
            </p:spPr>
            <p:txBody>
              <a:bodyPr wrap="square" rtlCol="0">
                <a:spAutoFit/>
              </a:bodyPr>
              <a:lstStyle/>
              <a:p>
                <a:pPr algn="ctr"/>
                <a:r>
                  <a:rPr lang="en-US" sz="2400" dirty="0" err="1"/>
                  <a:t>ReadData</a:t>
                </a:r>
                <a:endParaRPr lang="en-US" sz="2400" dirty="0"/>
              </a:p>
            </p:txBody>
          </p:sp>
        </p:grpSp>
        <p:grpSp>
          <p:nvGrpSpPr>
            <p:cNvPr id="279" name="Group 278"/>
            <p:cNvGrpSpPr/>
            <p:nvPr/>
          </p:nvGrpSpPr>
          <p:grpSpPr>
            <a:xfrm>
              <a:off x="2675688" y="5746591"/>
              <a:ext cx="2814954" cy="756584"/>
              <a:chOff x="2751888" y="5822791"/>
              <a:chExt cx="2814954" cy="756584"/>
            </a:xfrm>
          </p:grpSpPr>
          <p:sp>
            <p:nvSpPr>
              <p:cNvPr id="276" name="Left Brace 275"/>
              <p:cNvSpPr/>
              <p:nvPr/>
            </p:nvSpPr>
            <p:spPr>
              <a:xfrm rot="16200000">
                <a:off x="3988672" y="5441791"/>
                <a:ext cx="381000" cy="1143000"/>
              </a:xfrm>
              <a:prstGeom prst="leftBrace">
                <a:avLst/>
              </a:prstGeom>
              <a:ln>
                <a:solidFill>
                  <a:srgbClr val="00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277" name="TextBox 276"/>
              <p:cNvSpPr txBox="1"/>
              <p:nvPr/>
            </p:nvSpPr>
            <p:spPr>
              <a:xfrm>
                <a:off x="2751888" y="6117710"/>
                <a:ext cx="2814954" cy="461665"/>
              </a:xfrm>
              <a:prstGeom prst="rect">
                <a:avLst/>
              </a:prstGeom>
              <a:noFill/>
            </p:spPr>
            <p:txBody>
              <a:bodyPr wrap="none" rtlCol="0">
                <a:spAutoFit/>
              </a:bodyPr>
              <a:lstStyle/>
              <a:p>
                <a:r>
                  <a:rPr lang="en-US" sz="2400" dirty="0"/>
                  <a:t>Processor-Memory Interface</a:t>
                </a:r>
              </a:p>
            </p:txBody>
          </p:sp>
        </p:grpSp>
      </p:grpSp>
      <p:grpSp>
        <p:nvGrpSpPr>
          <p:cNvPr id="285" name="Group 284"/>
          <p:cNvGrpSpPr/>
          <p:nvPr/>
        </p:nvGrpSpPr>
        <p:grpSpPr>
          <a:xfrm>
            <a:off x="8449631" y="5532887"/>
            <a:ext cx="3056092" cy="756582"/>
            <a:chOff x="5958498" y="5791200"/>
            <a:chExt cx="2292069" cy="756581"/>
          </a:xfrm>
        </p:grpSpPr>
        <p:sp>
          <p:nvSpPr>
            <p:cNvPr id="283" name="Left Brace 282"/>
            <p:cNvSpPr/>
            <p:nvPr/>
          </p:nvSpPr>
          <p:spPr>
            <a:xfrm rot="16200000">
              <a:off x="6934200" y="5410200"/>
              <a:ext cx="381000" cy="1143000"/>
            </a:xfrm>
            <a:prstGeom prst="leftBrace">
              <a:avLst/>
            </a:prstGeom>
            <a:ln>
              <a:solidFill>
                <a:srgbClr val="00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284" name="TextBox 283"/>
            <p:cNvSpPr txBox="1"/>
            <p:nvPr/>
          </p:nvSpPr>
          <p:spPr>
            <a:xfrm>
              <a:off x="5958498" y="6086117"/>
              <a:ext cx="2292069" cy="461664"/>
            </a:xfrm>
            <a:prstGeom prst="rect">
              <a:avLst/>
            </a:prstGeom>
            <a:noFill/>
          </p:spPr>
          <p:txBody>
            <a:bodyPr wrap="none" rtlCol="0">
              <a:spAutoFit/>
            </a:bodyPr>
            <a:lstStyle/>
            <a:p>
              <a:r>
                <a:rPr lang="en-US" sz="2400" dirty="0"/>
                <a:t>Memory-I/O Interfaces</a:t>
              </a:r>
            </a:p>
          </p:txBody>
        </p:sp>
      </p:grpSp>
      <p:sp>
        <p:nvSpPr>
          <p:cNvPr id="4" name="Rectangle 3"/>
          <p:cNvSpPr/>
          <p:nvPr/>
        </p:nvSpPr>
        <p:spPr>
          <a:xfrm>
            <a:off x="7108967" y="2304483"/>
            <a:ext cx="2022689" cy="758448"/>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Program</a:t>
            </a:r>
          </a:p>
        </p:txBody>
      </p:sp>
      <p:sp>
        <p:nvSpPr>
          <p:cNvPr id="288" name="Rectangle 287"/>
          <p:cNvSpPr/>
          <p:nvPr/>
        </p:nvSpPr>
        <p:spPr>
          <a:xfrm>
            <a:off x="7093755" y="4207167"/>
            <a:ext cx="2022689" cy="758448"/>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solidFill>
                  <a:schemeClr val="tx1"/>
                </a:solidFill>
              </a:rPr>
              <a:t>Data</a:t>
            </a:r>
          </a:p>
        </p:txBody>
      </p:sp>
    </p:spTree>
    <p:extLst>
      <p:ext uri="{BB962C8B-B14F-4D97-AF65-F5344CB8AC3E}">
        <p14:creationId xmlns:p14="http://schemas.microsoft.com/office/powerpoint/2010/main" val="1035877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4" grpId="0" animBg="1"/>
      <p:bldP spid="28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5"/>
          <p:cNvSpPr>
            <a:spLocks noGrp="1" noChangeArrowheads="1"/>
          </p:cNvSpPr>
          <p:nvPr>
            <p:ph type="title"/>
          </p:nvPr>
        </p:nvSpPr>
        <p:spPr>
          <a:ln/>
        </p:spPr>
        <p:txBody>
          <a:bodyPr>
            <a:normAutofit/>
          </a:bodyPr>
          <a:lstStyle/>
          <a:p>
            <a:pPr algn="ctr"/>
            <a:r>
              <a:rPr lang="en-US" sz="5400" b="1" dirty="0"/>
              <a:t>How many RISC-V Registers ?</a:t>
            </a:r>
          </a:p>
        </p:txBody>
      </p:sp>
      <p:sp>
        <p:nvSpPr>
          <p:cNvPr id="17414" name="Rectangle 6"/>
          <p:cNvSpPr>
            <a:spLocks noGrp="1" noChangeArrowheads="1"/>
          </p:cNvSpPr>
          <p:nvPr>
            <p:ph idx="1"/>
          </p:nvPr>
        </p:nvSpPr>
        <p:spPr>
          <a:xfrm>
            <a:off x="555170" y="1845734"/>
            <a:ext cx="11495315" cy="4023360"/>
          </a:xfrm>
          <a:ln/>
        </p:spPr>
        <p:txBody>
          <a:bodyPr>
            <a:noAutofit/>
          </a:bodyPr>
          <a:lstStyle/>
          <a:p>
            <a:pPr algn="l" rtl="0">
              <a:lnSpc>
                <a:spcPct val="85000"/>
              </a:lnSpc>
              <a:spcBef>
                <a:spcPct val="0"/>
              </a:spcBef>
            </a:pPr>
            <a:r>
              <a:rPr lang="en-US" sz="3200" dirty="0"/>
              <a:t>Drawback: Since registers are in hardware, there are a limited number of them</a:t>
            </a:r>
          </a:p>
          <a:p>
            <a:pPr lvl="1" algn="l" rtl="0">
              <a:lnSpc>
                <a:spcPct val="85000"/>
              </a:lnSpc>
            </a:pPr>
            <a:r>
              <a:rPr lang="en-US" sz="2800" dirty="0"/>
              <a:t>Solution: program must be carefully written to efficiently use registers</a:t>
            </a:r>
          </a:p>
          <a:p>
            <a:pPr algn="l" rtl="0">
              <a:lnSpc>
                <a:spcPct val="85000"/>
              </a:lnSpc>
            </a:pPr>
            <a:br>
              <a:rPr lang="en-US" sz="3200" dirty="0"/>
            </a:br>
            <a:r>
              <a:rPr lang="en-US" sz="3200" dirty="0"/>
              <a:t>32 registers in RISC-V, referred to by number </a:t>
            </a:r>
            <a:r>
              <a:rPr lang="en-US" sz="3200" b="1" dirty="0">
                <a:latin typeface="Courier"/>
                <a:cs typeface="Courier"/>
              </a:rPr>
              <a:t>x0</a:t>
            </a:r>
            <a:r>
              <a:rPr lang="en-US" sz="3200" dirty="0"/>
              <a:t> </a:t>
            </a:r>
            <a:r>
              <a:rPr lang="mr-IN" sz="3200" dirty="0"/>
              <a:t>–</a:t>
            </a:r>
            <a:r>
              <a:rPr lang="en-US" sz="3200" dirty="0"/>
              <a:t> </a:t>
            </a:r>
            <a:r>
              <a:rPr lang="en-US" sz="3200" b="1" dirty="0">
                <a:latin typeface="Courier"/>
                <a:cs typeface="Courier"/>
              </a:rPr>
              <a:t>x31</a:t>
            </a:r>
          </a:p>
          <a:p>
            <a:pPr lvl="1" algn="l" rtl="0">
              <a:lnSpc>
                <a:spcPct val="85000"/>
              </a:lnSpc>
            </a:pPr>
            <a:r>
              <a:rPr lang="en-US" sz="2800" dirty="0"/>
              <a:t>Groups of 32 bits called a </a:t>
            </a:r>
            <a:r>
              <a:rPr lang="en-US" sz="2800" u="sng" dirty="0">
                <a:solidFill>
                  <a:srgbClr val="063DE8"/>
                </a:solidFill>
              </a:rPr>
              <a:t>word</a:t>
            </a:r>
            <a:r>
              <a:rPr lang="en-US" sz="2800" dirty="0"/>
              <a:t> in RISC-V ISA (</a:t>
            </a:r>
            <a:r>
              <a:rPr lang="en-US" sz="2000" dirty="0"/>
              <a:t>In class we use RV32 and registers are 32 bits each).</a:t>
            </a:r>
          </a:p>
          <a:p>
            <a:pPr marL="201168" lvl="1" indent="0" algn="l" rtl="0">
              <a:lnSpc>
                <a:spcPct val="85000"/>
              </a:lnSpc>
              <a:buNone/>
            </a:pPr>
            <a:endParaRPr lang="en-US" sz="3200" b="1" dirty="0">
              <a:latin typeface="Courier"/>
              <a:cs typeface="Courier"/>
            </a:endParaRPr>
          </a:p>
          <a:p>
            <a:pPr marL="201168" lvl="1" indent="0" algn="l" rtl="0">
              <a:lnSpc>
                <a:spcPct val="85000"/>
              </a:lnSpc>
              <a:buNone/>
            </a:pPr>
            <a:r>
              <a:rPr lang="en-US" sz="3200" dirty="0">
                <a:latin typeface="Calibri"/>
                <a:cs typeface="Courier"/>
              </a:rPr>
              <a:t>x0 i</a:t>
            </a:r>
            <a:r>
              <a:rPr lang="en-US" sz="3200" dirty="0">
                <a:latin typeface="Calibri"/>
                <a:cs typeface="Calibri"/>
              </a:rPr>
              <a:t>s special, always holds value zero</a:t>
            </a:r>
          </a:p>
          <a:p>
            <a:pPr lvl="1" algn="l" rtl="0">
              <a:lnSpc>
                <a:spcPct val="85000"/>
              </a:lnSpc>
            </a:pPr>
            <a:r>
              <a:rPr lang="en-US" sz="2800" dirty="0">
                <a:latin typeface="Calibri"/>
                <a:cs typeface="Calibri"/>
              </a:rPr>
              <a:t>So really only 31 registers able to hold variable values</a:t>
            </a:r>
          </a:p>
        </p:txBody>
      </p:sp>
      <p:sp>
        <p:nvSpPr>
          <p:cNvPr id="4" name="Slide Number Placeholder 3"/>
          <p:cNvSpPr>
            <a:spLocks noGrp="1"/>
          </p:cNvSpPr>
          <p:nvPr>
            <p:ph type="sldNum" sz="quarter" idx="12"/>
          </p:nvPr>
        </p:nvSpPr>
        <p:spPr/>
        <p:txBody>
          <a:bodyPr/>
          <a:lstStyle/>
          <a:p>
            <a:fld id="{3CC63E4C-4642-794D-A2FD-70F6B81535F5}" type="slidenum">
              <a:rPr lang="en-US" smtClean="0"/>
              <a:pPr/>
              <a:t>24</a:t>
            </a:fld>
            <a:endParaRPr lang="en-US"/>
          </a:p>
        </p:txBody>
      </p:sp>
      <p:grpSp>
        <p:nvGrpSpPr>
          <p:cNvPr id="7" name="Group 6"/>
          <p:cNvGrpSpPr/>
          <p:nvPr/>
        </p:nvGrpSpPr>
        <p:grpSpPr>
          <a:xfrm>
            <a:off x="8301186" y="4676693"/>
            <a:ext cx="3616555" cy="1192401"/>
            <a:chOff x="1600199" y="3961492"/>
            <a:chExt cx="1600201" cy="686708"/>
          </a:xfrm>
          <a:solidFill>
            <a:srgbClr val="9BBB59"/>
          </a:solidFill>
        </p:grpSpPr>
        <p:sp>
          <p:nvSpPr>
            <p:cNvPr id="11" name="Rectangle 10"/>
            <p:cNvSpPr/>
            <p:nvPr/>
          </p:nvSpPr>
          <p:spPr>
            <a:xfrm>
              <a:off x="1600200" y="39624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 name="Rectangle 11"/>
            <p:cNvSpPr/>
            <p:nvPr/>
          </p:nvSpPr>
          <p:spPr>
            <a:xfrm>
              <a:off x="1600200" y="40386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 name="Rectangle 12"/>
            <p:cNvSpPr/>
            <p:nvPr/>
          </p:nvSpPr>
          <p:spPr>
            <a:xfrm>
              <a:off x="1600200" y="41148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 name="Rectangle 13"/>
            <p:cNvSpPr/>
            <p:nvPr/>
          </p:nvSpPr>
          <p:spPr>
            <a:xfrm>
              <a:off x="1600200" y="41910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effectLst>
                  <a:glow rad="101600">
                    <a:schemeClr val="bg1">
                      <a:alpha val="75000"/>
                    </a:schemeClr>
                  </a:glow>
                </a:effectLst>
              </a:endParaRPr>
            </a:p>
            <a:p>
              <a:pPr algn="ctr"/>
              <a:endParaRPr lang="en-US" sz="2400">
                <a:solidFill>
                  <a:schemeClr val="tx1"/>
                </a:solidFill>
              </a:endParaRPr>
            </a:p>
          </p:txBody>
        </p:sp>
        <p:sp>
          <p:nvSpPr>
            <p:cNvPr id="15" name="Rectangle 14"/>
            <p:cNvSpPr/>
            <p:nvPr/>
          </p:nvSpPr>
          <p:spPr>
            <a:xfrm>
              <a:off x="1600200" y="42672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 name="Rectangle 15"/>
            <p:cNvSpPr/>
            <p:nvPr/>
          </p:nvSpPr>
          <p:spPr>
            <a:xfrm>
              <a:off x="1600200" y="43434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 name="Rectangle 16"/>
            <p:cNvSpPr/>
            <p:nvPr/>
          </p:nvSpPr>
          <p:spPr>
            <a:xfrm>
              <a:off x="1600200" y="44196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 name="Rectangle 17"/>
            <p:cNvSpPr/>
            <p:nvPr/>
          </p:nvSpPr>
          <p:spPr>
            <a:xfrm>
              <a:off x="1600199" y="4495800"/>
              <a:ext cx="1600199"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 name="Rectangle 18"/>
            <p:cNvSpPr/>
            <p:nvPr/>
          </p:nvSpPr>
          <p:spPr>
            <a:xfrm>
              <a:off x="1600200" y="45720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 name="TextBox 19"/>
            <p:cNvSpPr txBox="1"/>
            <p:nvPr/>
          </p:nvSpPr>
          <p:spPr>
            <a:xfrm>
              <a:off x="1646253" y="3961492"/>
              <a:ext cx="1508091" cy="638099"/>
            </a:xfrm>
            <a:prstGeom prst="rect">
              <a:avLst/>
            </a:prstGeom>
            <a:noFill/>
          </p:spPr>
          <p:txBody>
            <a:bodyPr wrap="square" rtlCol="0">
              <a:spAutoFit/>
            </a:bodyPr>
            <a:lstStyle/>
            <a:p>
              <a:pPr algn="ctr"/>
              <a:r>
                <a:rPr lang="en-US" sz="6600" b="1" dirty="0">
                  <a:solidFill>
                    <a:schemeClr val="bg1"/>
                  </a:solidFill>
                  <a:effectLst/>
                </a:rPr>
                <a:t>Registers</a:t>
              </a:r>
            </a:p>
          </p:txBody>
        </p:sp>
      </p:grpSp>
    </p:spTree>
    <p:extLst>
      <p:ext uri="{BB962C8B-B14F-4D97-AF65-F5344CB8AC3E}">
        <p14:creationId xmlns:p14="http://schemas.microsoft.com/office/powerpoint/2010/main" val="3537916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41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556952" y="216131"/>
            <a:ext cx="8229600" cy="1100138"/>
          </a:xfrm>
          <a:prstGeom prst="rect">
            <a:avLst/>
          </a:prstGeom>
        </p:spPr>
        <p:txBody>
          <a:bodyPr/>
          <a:lstStyle>
            <a:lvl1pPr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ltLang="en-US"/>
              <a:t>Register Names</a:t>
            </a:r>
            <a:endParaRPr lang="en-US" altLang="en-US" dirty="0"/>
          </a:p>
        </p:txBody>
      </p:sp>
      <p:graphicFrame>
        <p:nvGraphicFramePr>
          <p:cNvPr id="3" name="Group 80"/>
          <p:cNvGraphicFramePr>
            <a:graphicFrameLocks/>
          </p:cNvGraphicFramePr>
          <p:nvPr>
            <p:extLst>
              <p:ext uri="{D42A27DB-BD31-4B8C-83A1-F6EECF244321}">
                <p14:modId xmlns:p14="http://schemas.microsoft.com/office/powerpoint/2010/main" val="4154017616"/>
              </p:ext>
            </p:extLst>
          </p:nvPr>
        </p:nvGraphicFramePr>
        <p:xfrm>
          <a:off x="1981200" y="1115910"/>
          <a:ext cx="8229600" cy="5104134"/>
        </p:xfrm>
        <a:graphic>
          <a:graphicData uri="http://schemas.openxmlformats.org/drawingml/2006/table">
            <a:tbl>
              <a:tblPr/>
              <a:tblGrid>
                <a:gridCol w="11430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3581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4608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Name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Reg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Use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Saver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4460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$zero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Constant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76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err="1">
                          <a:ln>
                            <a:noFill/>
                          </a:ln>
                          <a:solidFill>
                            <a:schemeClr val="tx1"/>
                          </a:solidFill>
                          <a:effectLst/>
                          <a:latin typeface="Arial" charset="0"/>
                        </a:rPr>
                        <a:t>ra</a:t>
                      </a:r>
                      <a:endParaRPr kumimoji="0" lang="en-US" sz="1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Return Address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Caller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60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err="1">
                          <a:ln>
                            <a:noFill/>
                          </a:ln>
                          <a:solidFill>
                            <a:schemeClr val="tx1"/>
                          </a:solidFill>
                          <a:effectLst/>
                          <a:latin typeface="Arial" charset="0"/>
                        </a:rPr>
                        <a:t>sp</a:t>
                      </a:r>
                      <a:endParaRPr kumimoji="0" lang="en-US" sz="1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Stack Pointer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err="1">
                          <a:ln>
                            <a:noFill/>
                          </a:ln>
                          <a:solidFill>
                            <a:schemeClr val="tx1"/>
                          </a:solidFill>
                          <a:effectLst/>
                          <a:latin typeface="Arial" charset="0"/>
                        </a:rPr>
                        <a:t>Callee</a:t>
                      </a: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60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err="1">
                          <a:ln>
                            <a:noFill/>
                          </a:ln>
                          <a:solidFill>
                            <a:schemeClr val="tx1"/>
                          </a:solidFill>
                          <a:effectLst/>
                          <a:latin typeface="Arial" charset="0"/>
                        </a:rPr>
                        <a:t>gp</a:t>
                      </a:r>
                      <a:endParaRPr kumimoji="0" lang="en-US" sz="1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defRPr/>
                      </a:pPr>
                      <a:r>
                        <a:rPr kumimoji="0" lang="en-US" sz="1800" b="0" i="0" u="none" strike="noStrike" cap="none" normalizeH="0" baseline="0" dirty="0">
                          <a:ln>
                            <a:noFill/>
                          </a:ln>
                          <a:solidFill>
                            <a:schemeClr val="tx1"/>
                          </a:solidFill>
                          <a:effectLst/>
                          <a:latin typeface="Arial" charset="0"/>
                        </a:rPr>
                        <a:t>Global Pointer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60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err="1">
                          <a:ln>
                            <a:noFill/>
                          </a:ln>
                          <a:solidFill>
                            <a:schemeClr val="tx1"/>
                          </a:solidFill>
                          <a:effectLst/>
                          <a:latin typeface="Arial" charset="0"/>
                        </a:rPr>
                        <a:t>tp</a:t>
                      </a:r>
                      <a:endParaRPr kumimoji="0" lang="en-US" sz="1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Thread Pointer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60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t0-t2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5-7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Temp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Caller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76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s0-s1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8-9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Saved Registers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Callee</a:t>
                      </a: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460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a0-a7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10-17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Function arguments/ return values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Caller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460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s2-s11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18-27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Saved Registers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err="1">
                          <a:ln>
                            <a:noFill/>
                          </a:ln>
                          <a:solidFill>
                            <a:schemeClr val="tx1"/>
                          </a:solidFill>
                          <a:effectLst/>
                          <a:latin typeface="Arial" charset="0"/>
                        </a:rPr>
                        <a:t>Callee</a:t>
                      </a: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460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t3-t6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28-31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Temp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dirty="0">
                          <a:ln>
                            <a:noFill/>
                          </a:ln>
                          <a:solidFill>
                            <a:schemeClr val="tx1"/>
                          </a:solidFill>
                          <a:effectLst/>
                          <a:latin typeface="Arial" charset="0"/>
                        </a:rPr>
                        <a:t>Caller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9964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ext uri="{D42A27DB-BD31-4B8C-83A1-F6EECF244321}">
                <p14:modId xmlns:p14="http://schemas.microsoft.com/office/powerpoint/2010/main" val="1965050558"/>
              </p:ext>
            </p:extLst>
          </p:nvPr>
        </p:nvGraphicFramePr>
        <p:xfrm>
          <a:off x="191396" y="1078618"/>
          <a:ext cx="6449035" cy="3301470"/>
        </p:xfrm>
        <a:graphic>
          <a:graphicData uri="http://schemas.openxmlformats.org/drawingml/2006/table">
            <a:tbl>
              <a:tblPr firstRow="1" bandRow="1">
                <a:tableStyleId>{5C22544A-7EE6-4342-B048-85BDC9FD1C3A}</a:tableStyleId>
              </a:tblPr>
              <a:tblGrid>
                <a:gridCol w="1289807">
                  <a:extLst>
                    <a:ext uri="{9D8B030D-6E8A-4147-A177-3AD203B41FA5}">
                      <a16:colId xmlns:a16="http://schemas.microsoft.com/office/drawing/2014/main" val="20000"/>
                    </a:ext>
                  </a:extLst>
                </a:gridCol>
                <a:gridCol w="1289807">
                  <a:extLst>
                    <a:ext uri="{9D8B030D-6E8A-4147-A177-3AD203B41FA5}">
                      <a16:colId xmlns:a16="http://schemas.microsoft.com/office/drawing/2014/main" val="20001"/>
                    </a:ext>
                  </a:extLst>
                </a:gridCol>
                <a:gridCol w="1289807">
                  <a:extLst>
                    <a:ext uri="{9D8B030D-6E8A-4147-A177-3AD203B41FA5}">
                      <a16:colId xmlns:a16="http://schemas.microsoft.com/office/drawing/2014/main" val="20002"/>
                    </a:ext>
                  </a:extLst>
                </a:gridCol>
                <a:gridCol w="1289807">
                  <a:extLst>
                    <a:ext uri="{9D8B030D-6E8A-4147-A177-3AD203B41FA5}">
                      <a16:colId xmlns:a16="http://schemas.microsoft.com/office/drawing/2014/main" val="20003"/>
                    </a:ext>
                  </a:extLst>
                </a:gridCol>
                <a:gridCol w="1289807">
                  <a:extLst>
                    <a:ext uri="{9D8B030D-6E8A-4147-A177-3AD203B41FA5}">
                      <a16:colId xmlns:a16="http://schemas.microsoft.com/office/drawing/2014/main" val="20004"/>
                    </a:ext>
                  </a:extLst>
                </a:gridCol>
              </a:tblGrid>
              <a:tr h="550245">
                <a:tc>
                  <a:txBody>
                    <a:bodyPr/>
                    <a:lstStyle/>
                    <a:p>
                      <a:r>
                        <a:rPr lang="en-US" sz="2000" b="1" dirty="0">
                          <a:solidFill>
                            <a:schemeClr val="tx1"/>
                          </a:solidFill>
                        </a:rPr>
                        <a:t>Address</a:t>
                      </a:r>
                      <a:endParaRPr lang="en-US" b="1" dirty="0">
                        <a:solidFill>
                          <a:schemeClr val="tx1"/>
                        </a:solidFill>
                      </a:endParaRPr>
                    </a:p>
                  </a:txBody>
                  <a:tcPr anchor="b">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chemeClr val="tx1"/>
                          </a:solidFill>
                        </a:rPr>
                        <a:t>0</a:t>
                      </a:r>
                    </a:p>
                  </a:txBody>
                  <a:tcPr anchor="b">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1" dirty="0">
                          <a:solidFill>
                            <a:schemeClr val="tx1"/>
                          </a:solidFill>
                        </a:rPr>
                        <a:t>1</a:t>
                      </a:r>
                    </a:p>
                  </a:txBody>
                  <a:tcPr anchor="b">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1" dirty="0">
                          <a:solidFill>
                            <a:schemeClr val="tx1"/>
                          </a:solidFill>
                        </a:rPr>
                        <a:t>2</a:t>
                      </a:r>
                    </a:p>
                  </a:txBody>
                  <a:tcPr anchor="b">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1" dirty="0">
                          <a:solidFill>
                            <a:schemeClr val="tx1"/>
                          </a:solidFill>
                        </a:rPr>
                        <a:t>3</a:t>
                      </a:r>
                    </a:p>
                  </a:txBody>
                  <a:tcPr anchor="b">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50245">
                <a:tc>
                  <a:txBody>
                    <a:bodyPr/>
                    <a:lstStyle/>
                    <a:p>
                      <a:r>
                        <a:rPr lang="en-US" sz="2400" b="1" dirty="0">
                          <a:solidFill>
                            <a:schemeClr val="tx1"/>
                          </a:solidFill>
                        </a:rPr>
                        <a:t>0  </a:t>
                      </a: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endParaRPr lang="en-US" sz="2000" b="1"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0001"/>
                  </a:ext>
                </a:extLst>
              </a:tr>
              <a:tr h="550245">
                <a:tc>
                  <a:txBody>
                    <a:bodyPr/>
                    <a:lstStyle/>
                    <a:p>
                      <a:r>
                        <a:rPr lang="en-US" sz="2400" b="1" dirty="0">
                          <a:solidFill>
                            <a:schemeClr val="tx1"/>
                          </a:solidFill>
                        </a:rPr>
                        <a:t>4  </a:t>
                      </a: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0002"/>
                  </a:ext>
                </a:extLst>
              </a:tr>
              <a:tr h="550245">
                <a:tc>
                  <a:txBody>
                    <a:bodyPr/>
                    <a:lstStyle/>
                    <a:p>
                      <a:r>
                        <a:rPr lang="en-US" sz="2400" b="1" dirty="0">
                          <a:solidFill>
                            <a:schemeClr val="tx1"/>
                          </a:solidFill>
                        </a:rPr>
                        <a:t>8  </a:t>
                      </a: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0003"/>
                  </a:ext>
                </a:extLst>
              </a:tr>
              <a:tr h="550245">
                <a:tc>
                  <a:txBody>
                    <a:bodyPr/>
                    <a:lstStyle/>
                    <a:p>
                      <a:r>
                        <a:rPr lang="en-US" sz="2400" b="1" dirty="0">
                          <a:solidFill>
                            <a:schemeClr val="tx1"/>
                          </a:solidFill>
                        </a:rPr>
                        <a:t>12  </a:t>
                      </a: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0004"/>
                  </a:ext>
                </a:extLst>
              </a:tr>
              <a:tr h="550245">
                <a:tc>
                  <a:txBody>
                    <a:bodyPr/>
                    <a:lstStyle/>
                    <a:p>
                      <a:endParaRPr lang="en-US" sz="2800" b="1"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30" name="Rectangle 29"/>
          <p:cNvSpPr/>
          <p:nvPr/>
        </p:nvSpPr>
        <p:spPr>
          <a:xfrm>
            <a:off x="8475389" y="1141827"/>
            <a:ext cx="3245767" cy="5005841"/>
          </a:xfrm>
          <a:prstGeom prst="rect">
            <a:avLst/>
          </a:prstGeom>
          <a:solidFill>
            <a:srgbClr val="CCFFFF"/>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2400" b="1">
                <a:solidFill>
                  <a:schemeClr val="tx1"/>
                </a:solidFill>
              </a:rPr>
              <a:t>Memory</a:t>
            </a:r>
          </a:p>
        </p:txBody>
      </p:sp>
      <p:grpSp>
        <p:nvGrpSpPr>
          <p:cNvPr id="2" name="Group 1"/>
          <p:cNvGrpSpPr/>
          <p:nvPr/>
        </p:nvGrpSpPr>
        <p:grpSpPr>
          <a:xfrm>
            <a:off x="8678588" y="1599028"/>
            <a:ext cx="2745627" cy="4171534"/>
            <a:chOff x="7108967" y="1767492"/>
            <a:chExt cx="2032000" cy="3429000"/>
          </a:xfrm>
        </p:grpSpPr>
        <p:grpSp>
          <p:nvGrpSpPr>
            <p:cNvPr id="271" name="Group 270"/>
            <p:cNvGrpSpPr/>
            <p:nvPr/>
          </p:nvGrpSpPr>
          <p:grpSpPr>
            <a:xfrm>
              <a:off x="7108967" y="1767492"/>
              <a:ext cx="2032000" cy="3429000"/>
              <a:chOff x="4953000" y="1981200"/>
              <a:chExt cx="1524000" cy="3429000"/>
            </a:xfrm>
          </p:grpSpPr>
          <p:grpSp>
            <p:nvGrpSpPr>
              <p:cNvPr id="75" name="Group 74"/>
              <p:cNvGrpSpPr/>
              <p:nvPr/>
            </p:nvGrpSpPr>
            <p:grpSpPr>
              <a:xfrm>
                <a:off x="4953000" y="4038600"/>
                <a:ext cx="381000" cy="685800"/>
                <a:chOff x="7543800" y="3581400"/>
                <a:chExt cx="2362200" cy="685800"/>
              </a:xfrm>
              <a:solidFill>
                <a:schemeClr val="accent3"/>
              </a:solidFill>
            </p:grpSpPr>
            <p:sp>
              <p:nvSpPr>
                <p:cNvPr id="65" name="Rectangle 64"/>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66" name="Rectangle 65"/>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67" name="Rectangle 66"/>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68" name="Rectangle 67"/>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69" name="Rectangle 68"/>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70" name="Rectangle 69"/>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71" name="Rectangle 70"/>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72" name="Rectangle 71"/>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73" name="Rectangle 72"/>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76" name="Group 75"/>
              <p:cNvGrpSpPr/>
              <p:nvPr/>
            </p:nvGrpSpPr>
            <p:grpSpPr>
              <a:xfrm>
                <a:off x="5334000" y="4038600"/>
                <a:ext cx="381000" cy="685800"/>
                <a:chOff x="7543800" y="3581400"/>
                <a:chExt cx="2362200" cy="685800"/>
              </a:xfrm>
              <a:solidFill>
                <a:schemeClr val="accent3"/>
              </a:solidFill>
            </p:grpSpPr>
            <p:sp>
              <p:nvSpPr>
                <p:cNvPr id="77" name="Rectangle 7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78" name="Rectangle 7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79" name="Rectangle 7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0" name="Rectangle 7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1" name="Rectangle 8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2" name="Rectangle 8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3" name="Rectangle 8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4" name="Rectangle 8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5" name="Rectangle 8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86" name="Group 85"/>
              <p:cNvGrpSpPr/>
              <p:nvPr/>
            </p:nvGrpSpPr>
            <p:grpSpPr>
              <a:xfrm>
                <a:off x="5715000" y="4038600"/>
                <a:ext cx="381000" cy="685800"/>
                <a:chOff x="7543800" y="3581400"/>
                <a:chExt cx="2362200" cy="685800"/>
              </a:xfrm>
              <a:solidFill>
                <a:schemeClr val="accent3"/>
              </a:solidFill>
            </p:grpSpPr>
            <p:sp>
              <p:nvSpPr>
                <p:cNvPr id="87" name="Rectangle 8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8" name="Rectangle 8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89" name="Rectangle 8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0" name="Rectangle 8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1" name="Rectangle 9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2" name="Rectangle 9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3" name="Rectangle 9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4" name="Rectangle 9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5" name="Rectangle 9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96" name="Group 95"/>
              <p:cNvGrpSpPr/>
              <p:nvPr/>
            </p:nvGrpSpPr>
            <p:grpSpPr>
              <a:xfrm>
                <a:off x="6096000" y="4038600"/>
                <a:ext cx="381000" cy="685800"/>
                <a:chOff x="7543800" y="3581400"/>
                <a:chExt cx="2362200" cy="685800"/>
              </a:xfrm>
              <a:solidFill>
                <a:schemeClr val="accent3"/>
              </a:solidFill>
            </p:grpSpPr>
            <p:sp>
              <p:nvSpPr>
                <p:cNvPr id="97" name="Rectangle 9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8" name="Rectangle 9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99" name="Rectangle 9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0" name="Rectangle 9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1" name="Rectangle 10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2" name="Rectangle 10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3" name="Rectangle 10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4" name="Rectangle 10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5" name="Rectangle 10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06" name="Group 105"/>
              <p:cNvGrpSpPr/>
              <p:nvPr/>
            </p:nvGrpSpPr>
            <p:grpSpPr>
              <a:xfrm>
                <a:off x="4953000" y="4724400"/>
                <a:ext cx="381000" cy="685800"/>
                <a:chOff x="7543800" y="3581400"/>
                <a:chExt cx="2362200" cy="685800"/>
              </a:xfrm>
              <a:solidFill>
                <a:schemeClr val="accent3"/>
              </a:solidFill>
            </p:grpSpPr>
            <p:sp>
              <p:nvSpPr>
                <p:cNvPr id="107" name="Rectangle 10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8" name="Rectangle 10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09" name="Rectangle 10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0" name="Rectangle 10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1" name="Rectangle 11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2" name="Rectangle 11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3" name="Rectangle 11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4" name="Rectangle 11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5" name="Rectangle 11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16" name="Group 115"/>
              <p:cNvGrpSpPr/>
              <p:nvPr/>
            </p:nvGrpSpPr>
            <p:grpSpPr>
              <a:xfrm>
                <a:off x="5334000" y="4724400"/>
                <a:ext cx="381000" cy="685800"/>
                <a:chOff x="7543800" y="3581400"/>
                <a:chExt cx="2362200" cy="685800"/>
              </a:xfrm>
              <a:solidFill>
                <a:schemeClr val="accent3"/>
              </a:solidFill>
            </p:grpSpPr>
            <p:sp>
              <p:nvSpPr>
                <p:cNvPr id="117" name="Rectangle 11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8" name="Rectangle 11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19" name="Rectangle 11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0" name="Rectangle 11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1" name="Rectangle 12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2" name="Rectangle 12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3" name="Rectangle 12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4" name="Rectangle 12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5" name="Rectangle 12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26" name="Group 125"/>
              <p:cNvGrpSpPr/>
              <p:nvPr/>
            </p:nvGrpSpPr>
            <p:grpSpPr>
              <a:xfrm>
                <a:off x="5715000" y="4724400"/>
                <a:ext cx="381000" cy="685800"/>
                <a:chOff x="7543800" y="3581400"/>
                <a:chExt cx="2362200" cy="685800"/>
              </a:xfrm>
              <a:solidFill>
                <a:schemeClr val="accent3"/>
              </a:solidFill>
            </p:grpSpPr>
            <p:sp>
              <p:nvSpPr>
                <p:cNvPr id="127" name="Rectangle 12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8" name="Rectangle 12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29" name="Rectangle 12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0" name="Rectangle 12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1" name="Rectangle 13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2" name="Rectangle 13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3" name="Rectangle 13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4" name="Rectangle 13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5" name="Rectangle 13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36" name="Group 135"/>
              <p:cNvGrpSpPr/>
              <p:nvPr/>
            </p:nvGrpSpPr>
            <p:grpSpPr>
              <a:xfrm>
                <a:off x="6096000" y="4724400"/>
                <a:ext cx="381000" cy="685800"/>
                <a:chOff x="7543800" y="3581400"/>
                <a:chExt cx="2362200" cy="685800"/>
              </a:xfrm>
              <a:solidFill>
                <a:schemeClr val="accent3"/>
              </a:solidFill>
            </p:grpSpPr>
            <p:sp>
              <p:nvSpPr>
                <p:cNvPr id="137" name="Rectangle 13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8" name="Rectangle 13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39" name="Rectangle 13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0" name="Rectangle 13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1" name="Rectangle 14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2" name="Rectangle 14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3" name="Rectangle 14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4" name="Rectangle 14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5" name="Rectangle 14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46" name="Group 145"/>
              <p:cNvGrpSpPr/>
              <p:nvPr/>
            </p:nvGrpSpPr>
            <p:grpSpPr>
              <a:xfrm>
                <a:off x="4953000" y="3352800"/>
                <a:ext cx="381000" cy="685800"/>
                <a:chOff x="7543800" y="3581400"/>
                <a:chExt cx="2362200" cy="685800"/>
              </a:xfrm>
              <a:solidFill>
                <a:srgbClr val="9BBB59"/>
              </a:solidFill>
            </p:grpSpPr>
            <p:sp>
              <p:nvSpPr>
                <p:cNvPr id="147" name="Rectangle 14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8" name="Rectangle 14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49" name="Rectangle 14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0" name="Rectangle 14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1" name="Rectangle 15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2" name="Rectangle 15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3" name="Rectangle 15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4" name="Rectangle 15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5" name="Rectangle 15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56" name="Group 155"/>
              <p:cNvGrpSpPr/>
              <p:nvPr/>
            </p:nvGrpSpPr>
            <p:grpSpPr>
              <a:xfrm>
                <a:off x="5334000" y="3352800"/>
                <a:ext cx="381000" cy="685800"/>
                <a:chOff x="7543800" y="3581400"/>
                <a:chExt cx="2362200" cy="685800"/>
              </a:xfrm>
              <a:solidFill>
                <a:schemeClr val="accent3"/>
              </a:solidFill>
            </p:grpSpPr>
            <p:sp>
              <p:nvSpPr>
                <p:cNvPr id="157" name="Rectangle 15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8" name="Rectangle 15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59" name="Rectangle 15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0" name="Rectangle 15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1" name="Rectangle 16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2" name="Rectangle 16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3" name="Rectangle 16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4" name="Rectangle 16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5" name="Rectangle 16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66" name="Group 165"/>
              <p:cNvGrpSpPr/>
              <p:nvPr/>
            </p:nvGrpSpPr>
            <p:grpSpPr>
              <a:xfrm>
                <a:off x="5715000" y="3352800"/>
                <a:ext cx="381000" cy="685800"/>
                <a:chOff x="7543800" y="3581400"/>
                <a:chExt cx="2362200" cy="685800"/>
              </a:xfrm>
              <a:solidFill>
                <a:schemeClr val="accent3"/>
              </a:solidFill>
            </p:grpSpPr>
            <p:sp>
              <p:nvSpPr>
                <p:cNvPr id="167" name="Rectangle 16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8" name="Rectangle 16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69" name="Rectangle 16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0" name="Rectangle 16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1" name="Rectangle 17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2" name="Rectangle 17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3" name="Rectangle 17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4" name="Rectangle 17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5" name="Rectangle 17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76" name="Group 175"/>
              <p:cNvGrpSpPr/>
              <p:nvPr/>
            </p:nvGrpSpPr>
            <p:grpSpPr>
              <a:xfrm>
                <a:off x="6096000" y="3352800"/>
                <a:ext cx="381000" cy="685800"/>
                <a:chOff x="7543800" y="3581400"/>
                <a:chExt cx="2362200" cy="685800"/>
              </a:xfrm>
              <a:solidFill>
                <a:schemeClr val="accent3"/>
              </a:solidFill>
            </p:grpSpPr>
            <p:sp>
              <p:nvSpPr>
                <p:cNvPr id="177" name="Rectangle 17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8" name="Rectangle 17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79" name="Rectangle 17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0" name="Rectangle 17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1" name="Rectangle 18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2" name="Rectangle 18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3" name="Rectangle 18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4" name="Rectangle 18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5" name="Rectangle 18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86" name="Group 185"/>
              <p:cNvGrpSpPr/>
              <p:nvPr/>
            </p:nvGrpSpPr>
            <p:grpSpPr>
              <a:xfrm>
                <a:off x="4953000" y="2667000"/>
                <a:ext cx="381000" cy="685800"/>
                <a:chOff x="7543800" y="3581400"/>
                <a:chExt cx="2362200" cy="685800"/>
              </a:xfrm>
              <a:solidFill>
                <a:schemeClr val="accent3"/>
              </a:solidFill>
            </p:grpSpPr>
            <p:sp>
              <p:nvSpPr>
                <p:cNvPr id="187" name="Rectangle 18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8" name="Rectangle 18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89" name="Rectangle 18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0" name="Rectangle 18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1" name="Rectangle 19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2" name="Rectangle 19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3" name="Rectangle 19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4" name="Rectangle 19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5" name="Rectangle 19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196" name="Group 195"/>
              <p:cNvGrpSpPr/>
              <p:nvPr/>
            </p:nvGrpSpPr>
            <p:grpSpPr>
              <a:xfrm>
                <a:off x="5334000" y="2667000"/>
                <a:ext cx="381000" cy="685800"/>
                <a:chOff x="7543800" y="3581400"/>
                <a:chExt cx="2362200" cy="685800"/>
              </a:xfrm>
              <a:solidFill>
                <a:schemeClr val="accent3"/>
              </a:solidFill>
            </p:grpSpPr>
            <p:sp>
              <p:nvSpPr>
                <p:cNvPr id="197" name="Rectangle 19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8" name="Rectangle 19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199" name="Rectangle 19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0" name="Rectangle 19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1" name="Rectangle 20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2" name="Rectangle 20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3" name="Rectangle 20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4" name="Rectangle 20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5" name="Rectangle 20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206" name="Group 205"/>
              <p:cNvGrpSpPr/>
              <p:nvPr/>
            </p:nvGrpSpPr>
            <p:grpSpPr>
              <a:xfrm>
                <a:off x="5715000" y="2667000"/>
                <a:ext cx="381000" cy="685800"/>
                <a:chOff x="7543800" y="3581400"/>
                <a:chExt cx="2362200" cy="685800"/>
              </a:xfrm>
              <a:solidFill>
                <a:schemeClr val="accent3"/>
              </a:solidFill>
            </p:grpSpPr>
            <p:sp>
              <p:nvSpPr>
                <p:cNvPr id="207" name="Rectangle 20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8" name="Rectangle 20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09" name="Rectangle 20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0" name="Rectangle 20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1" name="Rectangle 21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2" name="Rectangle 21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3" name="Rectangle 21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4" name="Rectangle 21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5" name="Rectangle 21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216" name="Group 215"/>
              <p:cNvGrpSpPr/>
              <p:nvPr/>
            </p:nvGrpSpPr>
            <p:grpSpPr>
              <a:xfrm>
                <a:off x="6096000" y="2667000"/>
                <a:ext cx="381000" cy="685800"/>
                <a:chOff x="7543800" y="3581400"/>
                <a:chExt cx="2362200" cy="685800"/>
              </a:xfrm>
              <a:solidFill>
                <a:schemeClr val="accent3"/>
              </a:solidFill>
            </p:grpSpPr>
            <p:sp>
              <p:nvSpPr>
                <p:cNvPr id="217" name="Rectangle 21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8" name="Rectangle 21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19" name="Rectangle 21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0" name="Rectangle 21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1" name="Rectangle 22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2" name="Rectangle 22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3" name="Rectangle 22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4" name="Rectangle 22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5" name="Rectangle 22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226" name="Group 225"/>
              <p:cNvGrpSpPr/>
              <p:nvPr/>
            </p:nvGrpSpPr>
            <p:grpSpPr>
              <a:xfrm>
                <a:off x="4953000" y="1981200"/>
                <a:ext cx="381000" cy="685800"/>
                <a:chOff x="7543800" y="3581400"/>
                <a:chExt cx="2362200" cy="685800"/>
              </a:xfrm>
              <a:solidFill>
                <a:schemeClr val="accent3"/>
              </a:solidFill>
            </p:grpSpPr>
            <p:sp>
              <p:nvSpPr>
                <p:cNvPr id="227" name="Rectangle 22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8" name="Rectangle 22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29" name="Rectangle 22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0" name="Rectangle 22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1" name="Rectangle 23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2" name="Rectangle 23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3" name="Rectangle 23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4" name="Rectangle 23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5" name="Rectangle 23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236" name="Group 235"/>
              <p:cNvGrpSpPr/>
              <p:nvPr/>
            </p:nvGrpSpPr>
            <p:grpSpPr>
              <a:xfrm>
                <a:off x="5334000" y="1981200"/>
                <a:ext cx="381000" cy="685800"/>
                <a:chOff x="7543800" y="3581400"/>
                <a:chExt cx="2362200" cy="685800"/>
              </a:xfrm>
              <a:solidFill>
                <a:schemeClr val="accent3"/>
              </a:solidFill>
            </p:grpSpPr>
            <p:sp>
              <p:nvSpPr>
                <p:cNvPr id="237" name="Rectangle 23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8" name="Rectangle 23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39" name="Rectangle 23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0" name="Rectangle 23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1" name="Rectangle 24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2" name="Rectangle 24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3" name="Rectangle 24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4" name="Rectangle 24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5" name="Rectangle 24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246" name="Group 245"/>
              <p:cNvGrpSpPr/>
              <p:nvPr/>
            </p:nvGrpSpPr>
            <p:grpSpPr>
              <a:xfrm>
                <a:off x="5715000" y="1981200"/>
                <a:ext cx="381000" cy="685800"/>
                <a:chOff x="7543800" y="3581400"/>
                <a:chExt cx="2362200" cy="685800"/>
              </a:xfrm>
              <a:solidFill>
                <a:schemeClr val="accent3"/>
              </a:solidFill>
            </p:grpSpPr>
            <p:sp>
              <p:nvSpPr>
                <p:cNvPr id="247" name="Rectangle 24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8" name="Rectangle 24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49" name="Rectangle 24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0" name="Rectangle 24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1" name="Rectangle 25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2" name="Rectangle 25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3" name="Rectangle 25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4" name="Rectangle 25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5" name="Rectangle 25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grpSp>
            <p:nvGrpSpPr>
              <p:cNvPr id="256" name="Group 255"/>
              <p:cNvGrpSpPr/>
              <p:nvPr/>
            </p:nvGrpSpPr>
            <p:grpSpPr>
              <a:xfrm>
                <a:off x="6096000" y="1981200"/>
                <a:ext cx="381000" cy="685800"/>
                <a:chOff x="7543800" y="3581400"/>
                <a:chExt cx="2362200" cy="685800"/>
              </a:xfrm>
              <a:solidFill>
                <a:schemeClr val="accent3"/>
              </a:solidFill>
            </p:grpSpPr>
            <p:sp>
              <p:nvSpPr>
                <p:cNvPr id="257" name="Rectangle 25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8" name="Rectangle 25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59" name="Rectangle 25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0" name="Rectangle 25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1" name="Rectangle 26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2" name="Rectangle 26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3" name="Rectangle 26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4" name="Rectangle 26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5" name="Rectangle 26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sp>
            <p:nvSpPr>
              <p:cNvPr id="74" name="TextBox 73"/>
              <p:cNvSpPr txBox="1"/>
              <p:nvPr/>
            </p:nvSpPr>
            <p:spPr>
              <a:xfrm>
                <a:off x="5181600" y="3352800"/>
                <a:ext cx="1066800" cy="584775"/>
              </a:xfrm>
              <a:prstGeom prst="rect">
                <a:avLst/>
              </a:prstGeom>
              <a:noFill/>
            </p:spPr>
            <p:txBody>
              <a:bodyPr wrap="square" rtlCol="0">
                <a:spAutoFit/>
              </a:bodyPr>
              <a:lstStyle/>
              <a:p>
                <a:pPr algn="ctr"/>
                <a:r>
                  <a:rPr lang="en-US" sz="3200" dirty="0">
                    <a:solidFill>
                      <a:schemeClr val="bg1"/>
                    </a:solidFill>
                    <a:effectLst/>
                  </a:rPr>
                  <a:t>Bytes</a:t>
                </a:r>
              </a:p>
            </p:txBody>
          </p:sp>
        </p:grpSp>
        <p:sp>
          <p:nvSpPr>
            <p:cNvPr id="266" name="Rectangle 265"/>
            <p:cNvSpPr/>
            <p:nvPr/>
          </p:nvSpPr>
          <p:spPr>
            <a:xfrm>
              <a:off x="7108967" y="3443217"/>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7" name="Rectangle 266"/>
            <p:cNvSpPr/>
            <p:nvPr/>
          </p:nvSpPr>
          <p:spPr>
            <a:xfrm>
              <a:off x="7108967" y="3671209"/>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68" name="Rectangle 267"/>
            <p:cNvSpPr/>
            <p:nvPr/>
          </p:nvSpPr>
          <p:spPr>
            <a:xfrm>
              <a:off x="7108967" y="3136300"/>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75" name="Rectangle 274"/>
            <p:cNvSpPr/>
            <p:nvPr/>
          </p:nvSpPr>
          <p:spPr>
            <a:xfrm>
              <a:off x="7108967" y="3214617"/>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78" name="Rectangle 277"/>
            <p:cNvSpPr/>
            <p:nvPr/>
          </p:nvSpPr>
          <p:spPr>
            <a:xfrm>
              <a:off x="7108967" y="3365521"/>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81" name="Rectangle 280"/>
            <p:cNvSpPr/>
            <p:nvPr/>
          </p:nvSpPr>
          <p:spPr>
            <a:xfrm>
              <a:off x="7108967" y="3591480"/>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82" name="Rectangle 281"/>
            <p:cNvSpPr/>
            <p:nvPr/>
          </p:nvSpPr>
          <p:spPr>
            <a:xfrm>
              <a:off x="7108967" y="3745532"/>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86" name="Rectangle 285"/>
            <p:cNvSpPr/>
            <p:nvPr/>
          </p:nvSpPr>
          <p:spPr>
            <a:xfrm>
              <a:off x="7108967" y="3288795"/>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sp>
          <p:nvSpPr>
            <p:cNvPr id="289" name="Rectangle 288"/>
            <p:cNvSpPr/>
            <p:nvPr/>
          </p:nvSpPr>
          <p:spPr>
            <a:xfrm>
              <a:off x="7108967" y="3514521"/>
              <a:ext cx="508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endParaRPr>
            </a:p>
          </p:txBody>
        </p:sp>
      </p:grpSp>
      <p:sp>
        <p:nvSpPr>
          <p:cNvPr id="8" name="Title 7"/>
          <p:cNvSpPr>
            <a:spLocks noGrp="1"/>
          </p:cNvSpPr>
          <p:nvPr>
            <p:ph type="title" idx="4294967295"/>
          </p:nvPr>
        </p:nvSpPr>
        <p:spPr>
          <a:xfrm>
            <a:off x="530003" y="0"/>
            <a:ext cx="11091688" cy="978750"/>
          </a:xfrm>
        </p:spPr>
        <p:txBody>
          <a:bodyPr>
            <a:normAutofit/>
          </a:bodyPr>
          <a:lstStyle/>
          <a:p>
            <a:pPr algn="ctr"/>
            <a:r>
              <a:rPr lang="en-US" sz="5400" b="1" dirty="0"/>
              <a:t>Memory</a:t>
            </a:r>
          </a:p>
        </p:txBody>
      </p:sp>
      <p:sp>
        <p:nvSpPr>
          <p:cNvPr id="4" name="Rectangle 3"/>
          <p:cNvSpPr/>
          <p:nvPr/>
        </p:nvSpPr>
        <p:spPr>
          <a:xfrm>
            <a:off x="8678589" y="2136019"/>
            <a:ext cx="2733046" cy="922686"/>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solidFill>
                  <a:schemeClr val="tx1"/>
                </a:solidFill>
              </a:rPr>
              <a:t>Program</a:t>
            </a:r>
          </a:p>
        </p:txBody>
      </p:sp>
      <p:sp>
        <p:nvSpPr>
          <p:cNvPr id="288" name="Rectangle 287"/>
          <p:cNvSpPr/>
          <p:nvPr/>
        </p:nvSpPr>
        <p:spPr>
          <a:xfrm>
            <a:off x="8663377" y="4038703"/>
            <a:ext cx="2733046" cy="922686"/>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solidFill>
                  <a:schemeClr val="tx1"/>
                </a:solidFill>
              </a:rPr>
              <a:t>Data</a:t>
            </a:r>
          </a:p>
        </p:txBody>
      </p:sp>
      <p:sp>
        <p:nvSpPr>
          <p:cNvPr id="3" name="Rectangle 2"/>
          <p:cNvSpPr/>
          <p:nvPr/>
        </p:nvSpPr>
        <p:spPr>
          <a:xfrm>
            <a:off x="8652933" y="1575857"/>
            <a:ext cx="2791295" cy="42417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flipH="1" flipV="1">
            <a:off x="6640431" y="1266130"/>
            <a:ext cx="2012503" cy="303027"/>
          </a:xfrm>
          <a:prstGeom prst="lin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p:cNvCxnSpPr/>
          <p:nvPr/>
        </p:nvCxnSpPr>
        <p:spPr>
          <a:xfrm flipH="1">
            <a:off x="6720812" y="2000033"/>
            <a:ext cx="1942568" cy="2621048"/>
          </a:xfrm>
          <a:prstGeom prst="lin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grpSp>
        <p:nvGrpSpPr>
          <p:cNvPr id="24" name="Group 23"/>
          <p:cNvGrpSpPr/>
          <p:nvPr/>
        </p:nvGrpSpPr>
        <p:grpSpPr>
          <a:xfrm>
            <a:off x="4003744" y="4023796"/>
            <a:ext cx="79022" cy="460464"/>
            <a:chOff x="3578578" y="3635804"/>
            <a:chExt cx="79022" cy="460464"/>
          </a:xfrm>
        </p:grpSpPr>
        <p:sp>
          <p:nvSpPr>
            <p:cNvPr id="23" name="Oval 22"/>
            <p:cNvSpPr/>
            <p:nvPr/>
          </p:nvSpPr>
          <p:spPr>
            <a:xfrm>
              <a:off x="3578578" y="3635804"/>
              <a:ext cx="79022" cy="885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0" name="Oval 269"/>
            <p:cNvSpPr/>
            <p:nvPr/>
          </p:nvSpPr>
          <p:spPr>
            <a:xfrm>
              <a:off x="3578578" y="3823847"/>
              <a:ext cx="79022" cy="885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2" name="Oval 271"/>
            <p:cNvSpPr/>
            <p:nvPr/>
          </p:nvSpPr>
          <p:spPr>
            <a:xfrm>
              <a:off x="3578578" y="4007704"/>
              <a:ext cx="79022" cy="885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73" name="Group 272"/>
          <p:cNvGrpSpPr/>
          <p:nvPr/>
        </p:nvGrpSpPr>
        <p:grpSpPr>
          <a:xfrm>
            <a:off x="1028547" y="3961413"/>
            <a:ext cx="79022" cy="460464"/>
            <a:chOff x="3578578" y="3635804"/>
            <a:chExt cx="79022" cy="460464"/>
          </a:xfrm>
        </p:grpSpPr>
        <p:sp>
          <p:nvSpPr>
            <p:cNvPr id="274" name="Oval 273"/>
            <p:cNvSpPr/>
            <p:nvPr/>
          </p:nvSpPr>
          <p:spPr>
            <a:xfrm>
              <a:off x="3578578" y="3635804"/>
              <a:ext cx="79022" cy="885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6" name="Oval 275"/>
            <p:cNvSpPr/>
            <p:nvPr/>
          </p:nvSpPr>
          <p:spPr>
            <a:xfrm>
              <a:off x="3578578" y="3823847"/>
              <a:ext cx="79022" cy="885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7" name="Oval 276"/>
            <p:cNvSpPr/>
            <p:nvPr/>
          </p:nvSpPr>
          <p:spPr>
            <a:xfrm>
              <a:off x="3578578" y="4007704"/>
              <a:ext cx="79022" cy="885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27" name="Rectangle 26"/>
          <p:cNvSpPr/>
          <p:nvPr/>
        </p:nvSpPr>
        <p:spPr>
          <a:xfrm>
            <a:off x="95870" y="4905695"/>
            <a:ext cx="8004564" cy="1077218"/>
          </a:xfrm>
          <a:prstGeom prst="rect">
            <a:avLst/>
          </a:prstGeom>
        </p:spPr>
        <p:txBody>
          <a:bodyPr wrap="none">
            <a:spAutoFit/>
          </a:bodyPr>
          <a:lstStyle/>
          <a:p>
            <a:pPr marL="571500" indent="-571500" algn="l" rtl="0">
              <a:buFont typeface="Arial" panose="020B0604020202020204" pitchFamily="34" charset="0"/>
              <a:buChar char="•"/>
            </a:pPr>
            <a:r>
              <a:rPr lang="en-US" sz="3200" b="1" dirty="0"/>
              <a:t>Address by bytes</a:t>
            </a:r>
          </a:p>
          <a:p>
            <a:pPr marL="571500" indent="-571500" algn="l" rtl="0">
              <a:buFont typeface="Arial" panose="020B0604020202020204" pitchFamily="34" charset="0"/>
              <a:buChar char="•"/>
            </a:pPr>
            <a:r>
              <a:rPr lang="en-US" sz="3200" b="1" dirty="0"/>
              <a:t>Each word/instruction is 32 bits (= 4 bytes)</a:t>
            </a:r>
            <a:endParaRPr lang="en-US" sz="3200" dirty="0"/>
          </a:p>
        </p:txBody>
      </p:sp>
      <p:graphicFrame>
        <p:nvGraphicFramePr>
          <p:cNvPr id="280" name="Table 279"/>
          <p:cNvGraphicFramePr>
            <a:graphicFrameLocks noGrp="1"/>
          </p:cNvGraphicFramePr>
          <p:nvPr>
            <p:extLst>
              <p:ext uri="{D42A27DB-BD31-4B8C-83A1-F6EECF244321}">
                <p14:modId xmlns:p14="http://schemas.microsoft.com/office/powerpoint/2010/main" val="1062604177"/>
              </p:ext>
            </p:extLst>
          </p:nvPr>
        </p:nvGraphicFramePr>
        <p:xfrm>
          <a:off x="191395" y="1078618"/>
          <a:ext cx="6449035" cy="3301470"/>
        </p:xfrm>
        <a:graphic>
          <a:graphicData uri="http://schemas.openxmlformats.org/drawingml/2006/table">
            <a:tbl>
              <a:tblPr firstRow="1" bandRow="1">
                <a:tableStyleId>{5C22544A-7EE6-4342-B048-85BDC9FD1C3A}</a:tableStyleId>
              </a:tblPr>
              <a:tblGrid>
                <a:gridCol w="1289807">
                  <a:extLst>
                    <a:ext uri="{9D8B030D-6E8A-4147-A177-3AD203B41FA5}">
                      <a16:colId xmlns:a16="http://schemas.microsoft.com/office/drawing/2014/main" val="20000"/>
                    </a:ext>
                  </a:extLst>
                </a:gridCol>
                <a:gridCol w="1289807">
                  <a:extLst>
                    <a:ext uri="{9D8B030D-6E8A-4147-A177-3AD203B41FA5}">
                      <a16:colId xmlns:a16="http://schemas.microsoft.com/office/drawing/2014/main" val="20001"/>
                    </a:ext>
                  </a:extLst>
                </a:gridCol>
                <a:gridCol w="1289807">
                  <a:extLst>
                    <a:ext uri="{9D8B030D-6E8A-4147-A177-3AD203B41FA5}">
                      <a16:colId xmlns:a16="http://schemas.microsoft.com/office/drawing/2014/main" val="20002"/>
                    </a:ext>
                  </a:extLst>
                </a:gridCol>
                <a:gridCol w="1289807">
                  <a:extLst>
                    <a:ext uri="{9D8B030D-6E8A-4147-A177-3AD203B41FA5}">
                      <a16:colId xmlns:a16="http://schemas.microsoft.com/office/drawing/2014/main" val="20003"/>
                    </a:ext>
                  </a:extLst>
                </a:gridCol>
                <a:gridCol w="1289807">
                  <a:extLst>
                    <a:ext uri="{9D8B030D-6E8A-4147-A177-3AD203B41FA5}">
                      <a16:colId xmlns:a16="http://schemas.microsoft.com/office/drawing/2014/main" val="20004"/>
                    </a:ext>
                  </a:extLst>
                </a:gridCol>
              </a:tblGrid>
              <a:tr h="550245">
                <a:tc>
                  <a:txBody>
                    <a:bodyPr/>
                    <a:lstStyle/>
                    <a:p>
                      <a:r>
                        <a:rPr lang="en-US" sz="2000" b="1" dirty="0">
                          <a:solidFill>
                            <a:schemeClr val="tx1"/>
                          </a:solidFill>
                        </a:rPr>
                        <a:t>Address</a:t>
                      </a:r>
                      <a:endParaRPr lang="en-US" b="1" dirty="0">
                        <a:solidFill>
                          <a:schemeClr val="tx1"/>
                        </a:solidFill>
                      </a:endParaRPr>
                    </a:p>
                  </a:txBody>
                  <a:tcPr anchor="b">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chemeClr val="tx1"/>
                          </a:solidFill>
                        </a:rPr>
                        <a:t>0</a:t>
                      </a:r>
                    </a:p>
                  </a:txBody>
                  <a:tcPr anchor="b">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1" dirty="0">
                          <a:solidFill>
                            <a:schemeClr val="tx1"/>
                          </a:solidFill>
                        </a:rPr>
                        <a:t>1</a:t>
                      </a:r>
                    </a:p>
                  </a:txBody>
                  <a:tcPr anchor="b">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1" dirty="0">
                          <a:solidFill>
                            <a:schemeClr val="tx1"/>
                          </a:solidFill>
                        </a:rPr>
                        <a:t>2</a:t>
                      </a:r>
                    </a:p>
                  </a:txBody>
                  <a:tcPr anchor="b">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1" dirty="0">
                          <a:solidFill>
                            <a:schemeClr val="tx1"/>
                          </a:solidFill>
                        </a:rPr>
                        <a:t>3</a:t>
                      </a:r>
                    </a:p>
                  </a:txBody>
                  <a:tcPr anchor="b">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50245">
                <a:tc>
                  <a:txBody>
                    <a:bodyPr/>
                    <a:lstStyle/>
                    <a:p>
                      <a:r>
                        <a:rPr lang="en-US" sz="2400" b="1" dirty="0">
                          <a:solidFill>
                            <a:schemeClr val="tx1"/>
                          </a:solidFill>
                        </a:rPr>
                        <a:t>0  </a:t>
                      </a: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en-US" sz="2400" b="1" dirty="0"/>
                        <a:t>Byte</a:t>
                      </a:r>
                      <a:endParaRPr lang="en-US" sz="2000" b="1"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rtl="0"/>
                      <a:r>
                        <a:rPr lang="en-US" sz="2400" b="1" kern="1200" dirty="0">
                          <a:solidFill>
                            <a:schemeClr val="dk1"/>
                          </a:solidFill>
                          <a:latin typeface="+mn-lt"/>
                          <a:ea typeface="+mn-ea"/>
                          <a:cs typeface="+mn-cs"/>
                        </a:rPr>
                        <a:t>Byte</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rtl="0"/>
                      <a:r>
                        <a:rPr lang="en-US" sz="2400" b="1" kern="1200" dirty="0">
                          <a:solidFill>
                            <a:schemeClr val="dk1"/>
                          </a:solidFill>
                          <a:latin typeface="+mn-lt"/>
                          <a:ea typeface="+mn-ea"/>
                          <a:cs typeface="+mn-cs"/>
                        </a:rPr>
                        <a:t>Byte</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rtl="0"/>
                      <a:r>
                        <a:rPr lang="en-US" sz="2400" b="1" kern="1200" dirty="0">
                          <a:solidFill>
                            <a:schemeClr val="dk1"/>
                          </a:solidFill>
                          <a:latin typeface="+mn-lt"/>
                          <a:ea typeface="+mn-ea"/>
                          <a:cs typeface="+mn-cs"/>
                        </a:rPr>
                        <a:t>Byte</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0001"/>
                  </a:ext>
                </a:extLst>
              </a:tr>
              <a:tr h="550245">
                <a:tc>
                  <a:txBody>
                    <a:bodyPr/>
                    <a:lstStyle/>
                    <a:p>
                      <a:r>
                        <a:rPr lang="en-US" sz="2400" b="1" dirty="0">
                          <a:solidFill>
                            <a:schemeClr val="tx1"/>
                          </a:solidFill>
                        </a:rPr>
                        <a:t>4  </a:t>
                      </a: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en-US" sz="2800" b="1" dirty="0"/>
                        <a:t>W</a:t>
                      </a:r>
                    </a:p>
                  </a:txBody>
                  <a:tcPr>
                    <a:lnL w="381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rtl="0"/>
                      <a:r>
                        <a:rPr lang="en-US" sz="2800" b="1" dirty="0"/>
                        <a:t>o</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rtl="0"/>
                      <a:r>
                        <a:rPr lang="en-US" sz="2800" b="1" dirty="0"/>
                        <a:t>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rtl="0"/>
                      <a:r>
                        <a:rPr lang="en-US" sz="2800" b="1" dirty="0"/>
                        <a:t>d</a:t>
                      </a:r>
                    </a:p>
                  </a:txBody>
                  <a:tcPr>
                    <a:lnL w="31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0002"/>
                  </a:ext>
                </a:extLst>
              </a:tr>
              <a:tr h="550245">
                <a:tc>
                  <a:txBody>
                    <a:bodyPr/>
                    <a:lstStyle/>
                    <a:p>
                      <a:r>
                        <a:rPr lang="en-US" sz="2400" b="1" dirty="0">
                          <a:solidFill>
                            <a:schemeClr val="tx1"/>
                          </a:solidFill>
                        </a:rPr>
                        <a:t>8  </a:t>
                      </a: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0003"/>
                  </a:ext>
                </a:extLst>
              </a:tr>
              <a:tr h="550245">
                <a:tc>
                  <a:txBody>
                    <a:bodyPr/>
                    <a:lstStyle/>
                    <a:p>
                      <a:r>
                        <a:rPr lang="en-US" sz="2400" b="1" dirty="0">
                          <a:solidFill>
                            <a:schemeClr val="tx1"/>
                          </a:solidFill>
                        </a:rPr>
                        <a:t>12  </a:t>
                      </a: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0004"/>
                  </a:ext>
                </a:extLst>
              </a:tr>
              <a:tr h="550245">
                <a:tc>
                  <a:txBody>
                    <a:bodyPr/>
                    <a:lstStyle/>
                    <a:p>
                      <a:endParaRPr lang="en-US" sz="2800" b="1"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269" name="Rectangle 268"/>
          <p:cNvSpPr/>
          <p:nvPr/>
        </p:nvSpPr>
        <p:spPr>
          <a:xfrm>
            <a:off x="437607" y="1266130"/>
            <a:ext cx="6267994" cy="3354951"/>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7048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right)">
                                      <p:cBhvr>
                                        <p:cTn id="11" dur="500"/>
                                        <p:tgtEl>
                                          <p:spTgt spid="6"/>
                                        </p:tgtEl>
                                      </p:cBhvr>
                                    </p:animEffect>
                                  </p:childTnLst>
                                </p:cTn>
                              </p:par>
                              <p:par>
                                <p:cTn id="12" presetID="22" presetClass="entr" presetSubtype="2"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500"/>
                                        <p:tgtEl>
                                          <p:spTgt spid="9"/>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269"/>
                                        </p:tgtEl>
                                        <p:attrNameLst>
                                          <p:attrName>style.visibility</p:attrName>
                                        </p:attrNameLst>
                                      </p:cBhvr>
                                      <p:to>
                                        <p:strVal val="visible"/>
                                      </p:to>
                                    </p:set>
                                    <p:animEffect transition="in" filter="fade">
                                      <p:cBhvr>
                                        <p:cTn id="18" dur="500"/>
                                        <p:tgtEl>
                                          <p:spTgt spid="269"/>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00"/>
                                        <p:tgtEl>
                                          <p:spTgt spid="24"/>
                                        </p:tgtEl>
                                      </p:cBhvr>
                                    </p:animEffect>
                                  </p:childTnLst>
                                </p:cTn>
                              </p:par>
                              <p:par>
                                <p:cTn id="22" presetID="10" presetClass="entr" presetSubtype="0" fill="hold" nodeType="withEffect">
                                  <p:stCondLst>
                                    <p:cond delay="0"/>
                                  </p:stCondLst>
                                  <p:childTnLst>
                                    <p:set>
                                      <p:cBhvr>
                                        <p:cTn id="23" dur="1" fill="hold">
                                          <p:stCondLst>
                                            <p:cond delay="0"/>
                                          </p:stCondLst>
                                        </p:cTn>
                                        <p:tgtEl>
                                          <p:spTgt spid="273"/>
                                        </p:tgtEl>
                                        <p:attrNameLst>
                                          <p:attrName>style.visibility</p:attrName>
                                        </p:attrNameLst>
                                      </p:cBhvr>
                                      <p:to>
                                        <p:strVal val="visible"/>
                                      </p:to>
                                    </p:set>
                                    <p:animEffect transition="in" filter="fade">
                                      <p:cBhvr>
                                        <p:cTn id="24" dur="500"/>
                                        <p:tgtEl>
                                          <p:spTgt spid="273"/>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7">
                                            <p:txEl>
                                              <p:pRg st="0" end="0"/>
                                            </p:txEl>
                                          </p:spTgt>
                                        </p:tgtEl>
                                        <p:attrNameLst>
                                          <p:attrName>style.visibility</p:attrName>
                                        </p:attrNameLst>
                                      </p:cBhvr>
                                      <p:to>
                                        <p:strVal val="visible"/>
                                      </p:to>
                                    </p:set>
                                  </p:childTnLst>
                                </p:cTn>
                              </p:par>
                              <p:par>
                                <p:cTn id="32" presetID="10" presetClass="entr" presetSubtype="0" fill="hold" nodeType="withEffect">
                                  <p:stCondLst>
                                    <p:cond delay="0"/>
                                  </p:stCondLst>
                                  <p:childTnLst>
                                    <p:set>
                                      <p:cBhvr>
                                        <p:cTn id="33" dur="1" fill="hold">
                                          <p:stCondLst>
                                            <p:cond delay="0"/>
                                          </p:stCondLst>
                                        </p:cTn>
                                        <p:tgtEl>
                                          <p:spTgt spid="280"/>
                                        </p:tgtEl>
                                        <p:attrNameLst>
                                          <p:attrName>style.visibility</p:attrName>
                                        </p:attrNameLst>
                                      </p:cBhvr>
                                      <p:to>
                                        <p:strVal val="visible"/>
                                      </p:to>
                                    </p:set>
                                    <p:animEffect transition="in" filter="fade">
                                      <p:cBhvr>
                                        <p:cTn id="34" dur="500"/>
                                        <p:tgtEl>
                                          <p:spTgt spid="280"/>
                                        </p:tgtEl>
                                      </p:cBhvr>
                                    </p:animEffect>
                                  </p:childTnLst>
                                </p:cTn>
                              </p:par>
                              <p:par>
                                <p:cTn id="35" presetID="1" presetClass="entr" presetSubtype="0" fill="hold" nodeType="withEffect">
                                  <p:stCondLst>
                                    <p:cond delay="0"/>
                                  </p:stCondLst>
                                  <p:childTnLst>
                                    <p:set>
                                      <p:cBhvr>
                                        <p:cTn id="36"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6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3780779"/>
              </a:xfrm>
              <a:prstGeom prst="rect">
                <a:avLst/>
              </a:prstGeom>
            </p:spPr>
            <p:txBody>
              <a:bodyPr wrap="square">
                <a:spAutoFit/>
              </a:bodyPr>
              <a:lstStyle/>
              <a:p>
                <a:pPr lvl="0" algn="l" rtl="0">
                  <a:lnSpc>
                    <a:spcPct val="107000"/>
                  </a:lnSpc>
                  <a:spcAft>
                    <a:spcPts val="800"/>
                  </a:spcAft>
                  <a:buSzPts val="1050"/>
                </a:pPr>
                <a:r>
                  <a:rPr lang="en-US" sz="4400" b="1" dirty="0">
                    <a:solidFill>
                      <a:srgbClr val="002060"/>
                    </a:solidFill>
                    <a:effectLst/>
                    <a:latin typeface="+mj-lt"/>
                    <a:ea typeface="Calibri" panose="020F0502020204030204" pitchFamily="34" charset="0"/>
                    <a:cs typeface="Arial" panose="020B0604020202020204" pitchFamily="34" charset="0"/>
                  </a:rPr>
                  <a:t>Question 1</a:t>
                </a:r>
                <a:br>
                  <a:rPr lang="en-US" sz="3600" dirty="0">
                    <a:effectLst/>
                    <a:latin typeface="+mj-lt"/>
                    <a:ea typeface="Calibri" panose="020F0502020204030204" pitchFamily="34" charset="0"/>
                    <a:cs typeface="Arial" panose="020B0604020202020204" pitchFamily="34" charset="0"/>
                  </a:rPr>
                </a:br>
                <a:r>
                  <a:rPr lang="en-US" sz="3600" dirty="0">
                    <a:effectLst/>
                    <a:latin typeface="+mj-lt"/>
                    <a:ea typeface="Calibri" panose="020F0502020204030204" pitchFamily="34" charset="0"/>
                    <a:cs typeface="Arial" panose="020B0604020202020204" pitchFamily="34" charset="0"/>
                  </a:rPr>
                  <a:t>Assume we have an array in memory that contains </a:t>
                </a:r>
                <a:br>
                  <a:rPr lang="en-US" sz="3600" b="0" i="1" dirty="0">
                    <a:effectLst/>
                    <a:latin typeface="+mj-lt"/>
                    <a:ea typeface="Calibri" panose="020F0502020204030204" pitchFamily="34" charset="0"/>
                    <a:cs typeface="Times New Roman" panose="02020603050405020304" pitchFamily="18" charset="0"/>
                  </a:rPr>
                </a:br>
                <a14:m>
                  <m:oMath xmlns:m="http://schemas.openxmlformats.org/officeDocument/2006/math">
                    <m:r>
                      <a:rPr lang="en-US" sz="3600" b="0" i="1">
                        <a:effectLst/>
                        <a:latin typeface="Cambria Math" panose="02040503050406030204" pitchFamily="18" charset="0"/>
                        <a:ea typeface="Calibri" panose="020F0502020204030204" pitchFamily="34" charset="0"/>
                        <a:cs typeface="Times New Roman" panose="02020603050405020304" pitchFamily="18" charset="0"/>
                      </a:rPr>
                      <m:t>𝑖𝑛𝑡</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a:effectLst/>
                        <a:latin typeface="Cambria Math" panose="02040503050406030204" pitchFamily="18" charset="0"/>
                        <a:ea typeface="Calibri" panose="020F0502020204030204" pitchFamily="34" charset="0"/>
                        <a:cs typeface="Times New Roman" panose="02020603050405020304" pitchFamily="18" charset="0"/>
                      </a:rPr>
                      <m:t>𝑎𝑟𝑟</m:t>
                    </m:r>
                    <m:r>
                      <a:rPr lang="en-US" sz="3600" b="0" i="1">
                        <a:effectLst/>
                        <a:latin typeface="Cambria Math" panose="02040503050406030204" pitchFamily="18" charset="0"/>
                        <a:ea typeface="Calibri" panose="020F0502020204030204" pitchFamily="34" charset="0"/>
                        <a:cs typeface="Times New Roman" panose="02020603050405020304" pitchFamily="18" charset="0"/>
                      </a:rPr>
                      <m:t> = {1,2,3,4,5,6,0}</m:t>
                    </m:r>
                  </m:oMath>
                </a14:m>
                <a:r>
                  <a:rPr lang="en-US" sz="3600" dirty="0">
                    <a:effectLst/>
                    <a:latin typeface="+mj-lt"/>
                    <a:ea typeface="Calibri" panose="020F0502020204030204" pitchFamily="34" charset="0"/>
                    <a:cs typeface="Arial" panose="020B0604020202020204" pitchFamily="34" charset="0"/>
                  </a:rPr>
                  <a:t>. </a:t>
                </a:r>
                <a:br>
                  <a:rPr lang="en-US" sz="3600" dirty="0">
                    <a:effectLst/>
                    <a:latin typeface="+mj-lt"/>
                    <a:ea typeface="Calibri" panose="020F0502020204030204" pitchFamily="34" charset="0"/>
                    <a:cs typeface="Arial" panose="020B0604020202020204" pitchFamily="34" charset="0"/>
                  </a:rPr>
                </a:br>
                <a:r>
                  <a:rPr lang="en-US" sz="3600" dirty="0">
                    <a:effectLst/>
                    <a:latin typeface="+mj-lt"/>
                    <a:ea typeface="Calibri" panose="020F0502020204030204" pitchFamily="34" charset="0"/>
                    <a:cs typeface="Arial" panose="020B0604020202020204" pitchFamily="34" charset="0"/>
                  </a:rPr>
                  <a:t>Let the value of </a:t>
                </a:r>
                <a14:m>
                  <m:oMath xmlns:m="http://schemas.openxmlformats.org/officeDocument/2006/math">
                    <m:r>
                      <a:rPr lang="en-US" sz="3600" b="0" i="1">
                        <a:effectLst/>
                        <a:latin typeface="Cambria Math" panose="02040503050406030204" pitchFamily="18" charset="0"/>
                        <a:ea typeface="Calibri" panose="020F0502020204030204" pitchFamily="34" charset="0"/>
                        <a:cs typeface="Times New Roman" panose="02020603050405020304" pitchFamily="18" charset="0"/>
                      </a:rPr>
                      <m:t>𝑎𝑟𝑟</m:t>
                    </m:r>
                  </m:oMath>
                </a14:m>
                <a:r>
                  <a:rPr lang="en-US" sz="3600" dirty="0">
                    <a:effectLst/>
                    <a:latin typeface="+mj-lt"/>
                    <a:ea typeface="Calibri" panose="020F0502020204030204" pitchFamily="34" charset="0"/>
                    <a:cs typeface="Arial" panose="020B0604020202020204" pitchFamily="34" charset="0"/>
                  </a:rPr>
                  <a:t> be a multiple of 4 and stored in register </a:t>
                </a:r>
                <a14:m>
                  <m:oMath xmlns:m="http://schemas.openxmlformats.org/officeDocument/2006/math">
                    <m:r>
                      <a:rPr lang="en-US" sz="3600" b="0" i="1">
                        <a:effectLst/>
                        <a:latin typeface="Cambria Math" panose="02040503050406030204" pitchFamily="18" charset="0"/>
                        <a:ea typeface="Calibri" panose="020F0502020204030204" pitchFamily="34" charset="0"/>
                        <a:cs typeface="Times New Roman" panose="02020603050405020304" pitchFamily="18" charset="0"/>
                      </a:rPr>
                      <m:t>𝑠</m:t>
                    </m:r>
                    <m:r>
                      <a:rPr lang="en-US" sz="3600" b="0" i="1">
                        <a:effectLst/>
                        <a:latin typeface="Cambria Math" panose="02040503050406030204" pitchFamily="18" charset="0"/>
                        <a:ea typeface="Calibri" panose="020F0502020204030204" pitchFamily="34" charset="0"/>
                        <a:cs typeface="Times New Roman" panose="02020603050405020304" pitchFamily="18" charset="0"/>
                      </a:rPr>
                      <m:t>0</m:t>
                    </m:r>
                  </m:oMath>
                </a14:m>
                <a:r>
                  <a:rPr lang="en-US" sz="3600" dirty="0">
                    <a:effectLst/>
                    <a:latin typeface="+mj-lt"/>
                    <a:ea typeface="Calibri" panose="020F0502020204030204" pitchFamily="34" charset="0"/>
                    <a:cs typeface="Arial" panose="020B0604020202020204" pitchFamily="34" charset="0"/>
                  </a:rPr>
                  <a:t>. What do the following snippets of RISC-V code do?</a:t>
                </a: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3780779"/>
              </a:xfrm>
              <a:prstGeom prst="rect">
                <a:avLst/>
              </a:prstGeom>
              <a:blipFill rotWithShape="0">
                <a:blip r:embed="rId3"/>
                <a:stretch>
                  <a:fillRect l="-2236" t="-2903" r="-2180" b="-4516"/>
                </a:stretch>
              </a:blipFill>
            </p:spPr>
            <p:txBody>
              <a:bodyPr/>
              <a:lstStyle/>
              <a:p>
                <a:r>
                  <a:rPr lang="he-IL">
                    <a:noFill/>
                  </a:rPr>
                  <a:t> </a:t>
                </a:r>
              </a:p>
            </p:txBody>
          </p:sp>
        </mc:Fallback>
      </mc:AlternateContent>
    </p:spTree>
    <p:extLst>
      <p:ext uri="{BB962C8B-B14F-4D97-AF65-F5344CB8AC3E}">
        <p14:creationId xmlns:p14="http://schemas.microsoft.com/office/powerpoint/2010/main" val="37053228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78900" y="4963433"/>
            <a:ext cx="4772619" cy="685124"/>
          </a:xfrm>
          <a:prstGeom prst="rect">
            <a:avLst/>
          </a:prstGeom>
        </p:spPr>
        <p:txBody>
          <a:bodyPr wrap="square">
            <a:spAutoFit/>
          </a:bodyPr>
          <a:lstStyle/>
          <a:p>
            <a:pPr lvl="1" algn="l" rtl="0">
              <a:lnSpc>
                <a:spcPct val="107000"/>
              </a:lnSpc>
              <a:spcAft>
                <a:spcPts val="800"/>
              </a:spcAft>
            </a:pPr>
            <a:r>
              <a:rPr lang="en-US" sz="3600" b="1" dirty="0" err="1">
                <a:effectLst/>
                <a:latin typeface="+mj-lt"/>
                <a:ea typeface="Calibri" panose="020F0502020204030204" pitchFamily="34" charset="0"/>
                <a:cs typeface="Arial" panose="020B0604020202020204" pitchFamily="34" charset="0"/>
              </a:rPr>
              <a:t>lw</a:t>
            </a:r>
            <a:r>
              <a:rPr lang="en-US" sz="3600" b="1" dirty="0">
                <a:effectLst/>
                <a:latin typeface="+mj-lt"/>
                <a:ea typeface="Calibri" panose="020F0502020204030204" pitchFamily="34" charset="0"/>
                <a:cs typeface="Arial" panose="020B0604020202020204" pitchFamily="34" charset="0"/>
              </a:rPr>
              <a:t> t0, 12(s0)</a:t>
            </a:r>
            <a:endParaRPr lang="en-US" sz="4000" b="1" dirty="0">
              <a:effectLst/>
              <a:latin typeface="+mj-lt"/>
              <a:ea typeface="Calibri" panose="020F050202020403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 name="Rectangle 4"/>
              <p:cNvSpPr/>
              <p:nvPr/>
            </p:nvSpPr>
            <p:spPr>
              <a:xfrm>
                <a:off x="803566" y="5575675"/>
                <a:ext cx="8695907" cy="646331"/>
              </a:xfrm>
              <a:prstGeom prst="rect">
                <a:avLst/>
              </a:prstGeom>
            </p:spPr>
            <p:txBody>
              <a:bodyPr wrap="none">
                <a:spAutoFit/>
              </a:bodyPr>
              <a:lstStyle/>
              <a:p>
                <a:pPr algn="l"/>
                <a:r>
                  <a:rPr lang="en-US" sz="3600" dirty="0">
                    <a:solidFill>
                      <a:srgbClr val="002060"/>
                    </a:solidFill>
                  </a:rPr>
                  <a:t>Sets register 𝒕𝟎 equal to 𝒂𝒓𝒓[𝟑]  </a:t>
                </a:r>
                <a14:m>
                  <m:oMath xmlns:m="http://schemas.openxmlformats.org/officeDocument/2006/math">
                    <m:r>
                      <a:rPr lang="en-US" sz="3600" b="0" i="1" smtClean="0">
                        <a:solidFill>
                          <a:srgbClr val="002060"/>
                        </a:solidFill>
                        <a:latin typeface="Cambria Math" panose="02040503050406030204" pitchFamily="18" charset="0"/>
                      </a:rPr>
                      <m:t>→  </m:t>
                    </m:r>
                    <m:d>
                      <m:dPr>
                        <m:begChr m:val="⟨"/>
                        <m:endChr m:val="⟩"/>
                        <m:ctrlPr>
                          <a:rPr lang="en-US" sz="3600" b="0" i="1" smtClean="0">
                            <a:solidFill>
                              <a:srgbClr val="002060"/>
                            </a:solidFill>
                            <a:latin typeface="Cambria Math" panose="02040503050406030204" pitchFamily="18" charset="0"/>
                          </a:rPr>
                        </m:ctrlPr>
                      </m:dPr>
                      <m:e>
                        <m:r>
                          <a:rPr lang="en-US" sz="3600" b="0" i="1" smtClean="0">
                            <a:solidFill>
                              <a:srgbClr val="002060"/>
                            </a:solidFill>
                            <a:latin typeface="Cambria Math" panose="02040503050406030204" pitchFamily="18" charset="0"/>
                          </a:rPr>
                          <m:t>𝑡</m:t>
                        </m:r>
                        <m:r>
                          <a:rPr lang="en-US" sz="3600" b="0" i="1" smtClean="0">
                            <a:solidFill>
                              <a:srgbClr val="002060"/>
                            </a:solidFill>
                            <a:latin typeface="Cambria Math" panose="02040503050406030204" pitchFamily="18" charset="0"/>
                          </a:rPr>
                          <m:t>0</m:t>
                        </m:r>
                      </m:e>
                    </m:d>
                    <m:r>
                      <a:rPr lang="en-US" sz="3600" b="0" i="1" smtClean="0">
                        <a:solidFill>
                          <a:srgbClr val="002060"/>
                        </a:solidFill>
                        <a:latin typeface="Cambria Math" panose="02040503050406030204" pitchFamily="18" charset="0"/>
                      </a:rPr>
                      <m:t>=4</m:t>
                    </m:r>
                  </m:oMath>
                </a14:m>
                <a:endParaRPr lang="he-IL" sz="3600" dirty="0">
                  <a:solidFill>
                    <a:srgbClr val="00206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803566" y="5575675"/>
                <a:ext cx="8695907" cy="646331"/>
              </a:xfrm>
              <a:prstGeom prst="rect">
                <a:avLst/>
              </a:prstGeom>
              <a:blipFill rotWithShape="0">
                <a:blip r:embed="rId3"/>
                <a:stretch>
                  <a:fillRect l="-2104" t="-16981" b="-35849"/>
                </a:stretch>
              </a:blipFill>
            </p:spPr>
            <p:txBody>
              <a:bodyPr/>
              <a:lstStyle/>
              <a:p>
                <a:r>
                  <a:rPr lang="en-US">
                    <a:noFill/>
                  </a:rPr>
                  <a:t> </a:t>
                </a:r>
              </a:p>
            </p:txBody>
          </p:sp>
        </mc:Fallback>
      </mc:AlternateContent>
      <p:graphicFrame>
        <p:nvGraphicFramePr>
          <p:cNvPr id="7" name="Table 6"/>
          <p:cNvGraphicFramePr>
            <a:graphicFrameLocks noGrp="1"/>
          </p:cNvGraphicFramePr>
          <p:nvPr>
            <p:extLst>
              <p:ext uri="{D42A27DB-BD31-4B8C-83A1-F6EECF244321}">
                <p14:modId xmlns:p14="http://schemas.microsoft.com/office/powerpoint/2010/main" val="1577430019"/>
              </p:ext>
            </p:extLst>
          </p:nvPr>
        </p:nvGraphicFramePr>
        <p:xfrm>
          <a:off x="4804165" y="1873641"/>
          <a:ext cx="6449035" cy="3301470"/>
        </p:xfrm>
        <a:graphic>
          <a:graphicData uri="http://schemas.openxmlformats.org/drawingml/2006/table">
            <a:tbl>
              <a:tblPr firstRow="1" bandRow="1">
                <a:tableStyleId>{5C22544A-7EE6-4342-B048-85BDC9FD1C3A}</a:tableStyleId>
              </a:tblPr>
              <a:tblGrid>
                <a:gridCol w="1289807">
                  <a:extLst>
                    <a:ext uri="{9D8B030D-6E8A-4147-A177-3AD203B41FA5}">
                      <a16:colId xmlns:a16="http://schemas.microsoft.com/office/drawing/2014/main" val="20000"/>
                    </a:ext>
                  </a:extLst>
                </a:gridCol>
                <a:gridCol w="1289807">
                  <a:extLst>
                    <a:ext uri="{9D8B030D-6E8A-4147-A177-3AD203B41FA5}">
                      <a16:colId xmlns:a16="http://schemas.microsoft.com/office/drawing/2014/main" val="20001"/>
                    </a:ext>
                  </a:extLst>
                </a:gridCol>
                <a:gridCol w="1289807">
                  <a:extLst>
                    <a:ext uri="{9D8B030D-6E8A-4147-A177-3AD203B41FA5}">
                      <a16:colId xmlns:a16="http://schemas.microsoft.com/office/drawing/2014/main" val="20002"/>
                    </a:ext>
                  </a:extLst>
                </a:gridCol>
                <a:gridCol w="1289807">
                  <a:extLst>
                    <a:ext uri="{9D8B030D-6E8A-4147-A177-3AD203B41FA5}">
                      <a16:colId xmlns:a16="http://schemas.microsoft.com/office/drawing/2014/main" val="20003"/>
                    </a:ext>
                  </a:extLst>
                </a:gridCol>
                <a:gridCol w="1289807">
                  <a:extLst>
                    <a:ext uri="{9D8B030D-6E8A-4147-A177-3AD203B41FA5}">
                      <a16:colId xmlns:a16="http://schemas.microsoft.com/office/drawing/2014/main" val="20004"/>
                    </a:ext>
                  </a:extLst>
                </a:gridCol>
              </a:tblGrid>
              <a:tr h="550245">
                <a:tc>
                  <a:txBody>
                    <a:bodyPr/>
                    <a:lstStyle/>
                    <a:p>
                      <a:r>
                        <a:rPr lang="en-US" sz="2000" b="1" dirty="0">
                          <a:solidFill>
                            <a:schemeClr val="tx1"/>
                          </a:solidFill>
                        </a:rPr>
                        <a:t>Address</a:t>
                      </a:r>
                      <a:endParaRPr lang="en-US" b="1" dirty="0">
                        <a:solidFill>
                          <a:schemeClr val="tx1"/>
                        </a:solidFill>
                      </a:endParaRPr>
                    </a:p>
                  </a:txBody>
                  <a:tcPr anchor="b">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chemeClr val="tx1"/>
                          </a:solidFill>
                        </a:rPr>
                        <a:t>0</a:t>
                      </a:r>
                    </a:p>
                  </a:txBody>
                  <a:tcPr anchor="b">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1" dirty="0">
                          <a:solidFill>
                            <a:schemeClr val="tx1"/>
                          </a:solidFill>
                        </a:rPr>
                        <a:t>1</a:t>
                      </a:r>
                    </a:p>
                  </a:txBody>
                  <a:tcPr anchor="b">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1" dirty="0">
                          <a:solidFill>
                            <a:schemeClr val="tx1"/>
                          </a:solidFill>
                        </a:rPr>
                        <a:t>2</a:t>
                      </a:r>
                    </a:p>
                  </a:txBody>
                  <a:tcPr anchor="b">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1" dirty="0">
                          <a:solidFill>
                            <a:schemeClr val="tx1"/>
                          </a:solidFill>
                        </a:rPr>
                        <a:t>3</a:t>
                      </a:r>
                    </a:p>
                  </a:txBody>
                  <a:tcPr anchor="b">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50245">
                <a:tc>
                  <a:txBody>
                    <a:bodyPr/>
                    <a:lstStyle/>
                    <a:p>
                      <a:r>
                        <a:rPr lang="en-US" sz="2400" b="1" dirty="0">
                          <a:solidFill>
                            <a:schemeClr val="tx1"/>
                          </a:solidFill>
                        </a:rPr>
                        <a:t>  </a:t>
                      </a: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endParaRPr lang="en-US" sz="2000" b="1"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endParaRPr lang="en-US" sz="2400" b="1" kern="1200" dirty="0">
                        <a:solidFill>
                          <a:schemeClr val="dk1"/>
                        </a:solidFill>
                        <a:latin typeface="+mn-lt"/>
                        <a:ea typeface="+mn-ea"/>
                        <a:cs typeface="+mn-cs"/>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endParaRPr lang="en-US" sz="2400" b="1" kern="1200" dirty="0">
                        <a:solidFill>
                          <a:schemeClr val="dk1"/>
                        </a:solidFill>
                        <a:latin typeface="+mn-lt"/>
                        <a:ea typeface="+mn-ea"/>
                        <a:cs typeface="+mn-cs"/>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endParaRPr lang="en-US" sz="2400" b="1" kern="1200" dirty="0">
                        <a:solidFill>
                          <a:schemeClr val="dk1"/>
                        </a:solidFill>
                        <a:latin typeface="+mn-lt"/>
                        <a:ea typeface="+mn-ea"/>
                        <a:cs typeface="+mn-cs"/>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50245">
                <a:tc>
                  <a:txBody>
                    <a:bodyPr/>
                    <a:lstStyle/>
                    <a:p>
                      <a:r>
                        <a:rPr lang="en-US" sz="2400" b="1" dirty="0" err="1">
                          <a:solidFill>
                            <a:schemeClr val="tx1"/>
                          </a:solidFill>
                        </a:rPr>
                        <a:t>addr</a:t>
                      </a:r>
                      <a:endParaRPr lang="en-US" sz="2400" b="1" dirty="0">
                        <a:solidFill>
                          <a:schemeClr val="tx1"/>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en-US" sz="2800" b="1" dirty="0"/>
                        <a:t>a</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rtl="0"/>
                      <a:r>
                        <a:rPr lang="en-US" sz="2800" b="1"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rtl="0"/>
                      <a:r>
                        <a:rPr lang="en-US" sz="2800" b="1"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rtl="0"/>
                      <a:r>
                        <a:rPr lang="en-US" sz="2800" b="1" dirty="0"/>
                        <a:t>[0]</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0002"/>
                  </a:ext>
                </a:extLst>
              </a:tr>
              <a:tr h="550245">
                <a:tc>
                  <a:txBody>
                    <a:bodyPr/>
                    <a:lstStyle/>
                    <a:p>
                      <a:r>
                        <a:rPr lang="en-US" sz="2400" b="1" dirty="0">
                          <a:solidFill>
                            <a:schemeClr val="tx1"/>
                          </a:solidFill>
                        </a:rPr>
                        <a:t>addr+4</a:t>
                      </a: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en-US" sz="2800" b="1" dirty="0"/>
                        <a:t>a</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rtl="0"/>
                      <a:r>
                        <a:rPr lang="en-US" sz="2800" b="1"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rtl="0"/>
                      <a:r>
                        <a:rPr lang="en-US" sz="2800" b="1"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rtl="0"/>
                      <a:r>
                        <a:rPr lang="en-US" sz="2800" b="1" dirty="0"/>
                        <a:t>[1]</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0003"/>
                  </a:ext>
                </a:extLst>
              </a:tr>
              <a:tr h="550245">
                <a:tc>
                  <a:txBody>
                    <a:bodyPr/>
                    <a:lstStyle/>
                    <a:p>
                      <a:r>
                        <a:rPr lang="en-US" sz="2400" b="1" dirty="0">
                          <a:solidFill>
                            <a:schemeClr val="tx1"/>
                          </a:solidFill>
                        </a:rPr>
                        <a:t>addr+8</a:t>
                      </a: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en-US" sz="2800" b="1" dirty="0"/>
                        <a:t>a</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rtl="0"/>
                      <a:r>
                        <a:rPr lang="en-US" sz="2800" b="1"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rtl="0"/>
                      <a:r>
                        <a:rPr lang="en-US" sz="2800" b="1"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rtl="0"/>
                      <a:r>
                        <a:rPr lang="en-US" sz="2800" b="1" dirty="0"/>
                        <a:t>[2]</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0004"/>
                  </a:ext>
                </a:extLst>
              </a:tr>
              <a:tr h="550245">
                <a:tc>
                  <a:txBody>
                    <a:bodyPr/>
                    <a:lstStyle/>
                    <a:p>
                      <a:endParaRPr lang="en-US" sz="2800" b="1"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grpSp>
        <p:nvGrpSpPr>
          <p:cNvPr id="8" name="Group 7"/>
          <p:cNvGrpSpPr/>
          <p:nvPr/>
        </p:nvGrpSpPr>
        <p:grpSpPr>
          <a:xfrm>
            <a:off x="8613113" y="4733201"/>
            <a:ext cx="79022" cy="460464"/>
            <a:chOff x="3578578" y="3635804"/>
            <a:chExt cx="79022" cy="460464"/>
          </a:xfrm>
        </p:grpSpPr>
        <p:sp>
          <p:nvSpPr>
            <p:cNvPr id="9" name="Oval 8"/>
            <p:cNvSpPr/>
            <p:nvPr/>
          </p:nvSpPr>
          <p:spPr>
            <a:xfrm>
              <a:off x="3578578" y="3635804"/>
              <a:ext cx="79022" cy="885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Oval 9"/>
            <p:cNvSpPr/>
            <p:nvPr/>
          </p:nvSpPr>
          <p:spPr>
            <a:xfrm>
              <a:off x="3578578" y="3823847"/>
              <a:ext cx="79022" cy="885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Oval 10"/>
            <p:cNvSpPr/>
            <p:nvPr/>
          </p:nvSpPr>
          <p:spPr>
            <a:xfrm>
              <a:off x="3578578" y="4007704"/>
              <a:ext cx="79022" cy="885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2" name="Group 11"/>
          <p:cNvGrpSpPr/>
          <p:nvPr/>
        </p:nvGrpSpPr>
        <p:grpSpPr>
          <a:xfrm>
            <a:off x="8613113" y="2416139"/>
            <a:ext cx="79022" cy="460464"/>
            <a:chOff x="3578578" y="3635804"/>
            <a:chExt cx="79022" cy="460464"/>
          </a:xfrm>
        </p:grpSpPr>
        <p:sp>
          <p:nvSpPr>
            <p:cNvPr id="13" name="Oval 12"/>
            <p:cNvSpPr/>
            <p:nvPr/>
          </p:nvSpPr>
          <p:spPr>
            <a:xfrm>
              <a:off x="3578578" y="3635804"/>
              <a:ext cx="79022" cy="885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p:cNvSpPr/>
            <p:nvPr/>
          </p:nvSpPr>
          <p:spPr>
            <a:xfrm>
              <a:off x="3578578" y="3823847"/>
              <a:ext cx="79022" cy="885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p:cNvSpPr/>
            <p:nvPr/>
          </p:nvSpPr>
          <p:spPr>
            <a:xfrm>
              <a:off x="3578578" y="4007704"/>
              <a:ext cx="79022" cy="885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6" name="Rectangle 15"/>
              <p:cNvSpPr/>
              <p:nvPr/>
            </p:nvSpPr>
            <p:spPr>
              <a:xfrm>
                <a:off x="873457" y="464024"/>
                <a:ext cx="10904561" cy="1409617"/>
              </a:xfrm>
              <a:prstGeom prst="rect">
                <a:avLst/>
              </a:prstGeom>
            </p:spPr>
            <p:txBody>
              <a:bodyPr wrap="square">
                <a:spAutoFit/>
              </a:bodyPr>
              <a:lstStyle/>
              <a:p>
                <a:pPr lvl="0" algn="l" rtl="0">
                  <a:lnSpc>
                    <a:spcPct val="107000"/>
                  </a:lnSpc>
                  <a:spcAft>
                    <a:spcPts val="800"/>
                  </a:spcAft>
                  <a:buSzPts val="1050"/>
                </a:pPr>
                <a:r>
                  <a:rPr lang="en-US" sz="4400" b="1" dirty="0">
                    <a:solidFill>
                      <a:srgbClr val="002060"/>
                    </a:solidFill>
                    <a:latin typeface="+mj-lt"/>
                    <a:ea typeface="Calibri" panose="020F0502020204030204" pitchFamily="34" charset="0"/>
                    <a:cs typeface="Arial" panose="020B0604020202020204" pitchFamily="34" charset="0"/>
                  </a:rPr>
                  <a:t>Question 1 </a:t>
                </a:r>
                <a:br>
                  <a:rPr lang="en-US" sz="3600" b="0" i="1" dirty="0">
                    <a:effectLst/>
                    <a:latin typeface="+mj-lt"/>
                    <a:ea typeface="Calibri" panose="020F0502020204030204" pitchFamily="34" charset="0"/>
                    <a:cs typeface="Times New Roman" panose="02020603050405020304" pitchFamily="18" charset="0"/>
                  </a:rPr>
                </a:br>
                <a:r>
                  <a:rPr lang="en-US" sz="3600" b="0" i="1" dirty="0">
                    <a:effectLst/>
                    <a:latin typeface="+mj-lt"/>
                    <a:ea typeface="Calibri" panose="020F0502020204030204" pitchFamily="34" charset="0"/>
                    <a:cs typeface="Times New Roman" panose="02020603050405020304" pitchFamily="18" charset="0"/>
                  </a:rPr>
                  <a:t># </a:t>
                </a:r>
                <a14:m>
                  <m:oMath xmlns:m="http://schemas.openxmlformats.org/officeDocument/2006/math">
                    <m:r>
                      <a:rPr lang="en-US" sz="3200" b="0" i="1">
                        <a:effectLst/>
                        <a:latin typeface="Cambria Math" panose="02040503050406030204" pitchFamily="18" charset="0"/>
                        <a:ea typeface="Calibri" panose="020F0502020204030204" pitchFamily="34" charset="0"/>
                        <a:cs typeface="Times New Roman" panose="02020603050405020304" pitchFamily="18" charset="0"/>
                      </a:rPr>
                      <m:t>𝑖𝑛𝑡</m:t>
                    </m:r>
                    <m:r>
                      <a:rPr lang="en-US" sz="3200" b="0" i="1">
                        <a:effectLst/>
                        <a:latin typeface="Cambria Math" panose="02040503050406030204" pitchFamily="18" charset="0"/>
                        <a:ea typeface="Calibri" panose="020F0502020204030204" pitchFamily="34" charset="0"/>
                        <a:cs typeface="Times New Roman" panose="02020603050405020304" pitchFamily="18" charset="0"/>
                      </a:rPr>
                      <m:t>∗ </m:t>
                    </m:r>
                    <m:r>
                      <a:rPr lang="en-US" sz="3200" b="0" i="1">
                        <a:effectLst/>
                        <a:latin typeface="Cambria Math" panose="02040503050406030204" pitchFamily="18" charset="0"/>
                        <a:ea typeface="Calibri" panose="020F0502020204030204" pitchFamily="34" charset="0"/>
                        <a:cs typeface="Times New Roman" panose="02020603050405020304" pitchFamily="18" charset="0"/>
                      </a:rPr>
                      <m:t>𝑎𝑟𝑟</m:t>
                    </m:r>
                    <m:r>
                      <a:rPr lang="en-US" sz="3200" b="0" i="1">
                        <a:effectLst/>
                        <a:latin typeface="Cambria Math" panose="02040503050406030204" pitchFamily="18" charset="0"/>
                        <a:ea typeface="Calibri" panose="020F0502020204030204" pitchFamily="34" charset="0"/>
                        <a:cs typeface="Times New Roman" panose="02020603050405020304" pitchFamily="18" charset="0"/>
                      </a:rPr>
                      <m:t> = </m:t>
                    </m:r>
                    <m:d>
                      <m:dPr>
                        <m:begChr m:val="{"/>
                        <m:endChr m:val="}"/>
                        <m:ctrlPr>
                          <a:rPr lang="en-US" sz="3200" b="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3200" b="0" i="1">
                            <a:effectLst/>
                            <a:latin typeface="Cambria Math" panose="02040503050406030204" pitchFamily="18" charset="0"/>
                            <a:ea typeface="Calibri" panose="020F0502020204030204" pitchFamily="34" charset="0"/>
                            <a:cs typeface="Times New Roman" panose="02020603050405020304" pitchFamily="18" charset="0"/>
                          </a:rPr>
                          <m:t>1,2,3,4,5,6,0</m:t>
                        </m:r>
                      </m:e>
                    </m:d>
                    <m:r>
                      <a:rPr lang="en-US" sz="3200" b="0" i="1" smtClean="0">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en-US" sz="3200" b="0" i="1" smtClean="0">
                            <a:effectLst/>
                            <a:latin typeface="Cambria Math" panose="02040503050406030204" pitchFamily="18" charset="0"/>
                            <a:cs typeface="Times New Roman" panose="02020603050405020304" pitchFamily="18" charset="0"/>
                          </a:rPr>
                        </m:ctrlPr>
                      </m:dPr>
                      <m:e>
                        <m:r>
                          <a:rPr lang="en-US" sz="3200" b="0" i="1" smtClean="0">
                            <a:effectLst/>
                            <a:latin typeface="Cambria Math" panose="02040503050406030204" pitchFamily="18" charset="0"/>
                            <a:cs typeface="Times New Roman" panose="02020603050405020304" pitchFamily="18" charset="0"/>
                          </a:rPr>
                          <m:t>𝑆</m:t>
                        </m:r>
                        <m:r>
                          <a:rPr lang="en-US" sz="3200" b="0" i="1" smtClean="0">
                            <a:effectLst/>
                            <a:latin typeface="Cambria Math" panose="02040503050406030204" pitchFamily="18" charset="0"/>
                            <a:cs typeface="Times New Roman" panose="02020603050405020304" pitchFamily="18" charset="0"/>
                          </a:rPr>
                          <m:t>0</m:t>
                        </m:r>
                      </m:e>
                    </m:d>
                    <m:r>
                      <a:rPr lang="en-US" sz="3200" b="0" i="1" smtClean="0">
                        <a:effectLst/>
                        <a:latin typeface="Cambria Math" panose="02040503050406030204" pitchFamily="18" charset="0"/>
                        <a:cs typeface="Times New Roman" panose="02020603050405020304" pitchFamily="18" charset="0"/>
                      </a:rPr>
                      <m:t>=</m:t>
                    </m:r>
                    <m:r>
                      <a:rPr lang="en-US" sz="3200" b="0" i="1" smtClean="0">
                        <a:effectLst/>
                        <a:latin typeface="Cambria Math" panose="02040503050406030204" pitchFamily="18" charset="0"/>
                        <a:cs typeface="Times New Roman" panose="02020603050405020304" pitchFamily="18" charset="0"/>
                      </a:rPr>
                      <m:t>𝑎𝑑𝑑𝑟𝑒𝑠𝑠</m:t>
                    </m:r>
                    <m:r>
                      <a:rPr lang="en-US" sz="3200" b="0" i="1" smtClean="0">
                        <a:effectLst/>
                        <a:latin typeface="Cambria Math" panose="02040503050406030204" pitchFamily="18" charset="0"/>
                        <a:cs typeface="Times New Roman" panose="02020603050405020304" pitchFamily="18" charset="0"/>
                      </a:rPr>
                      <m:t> </m:t>
                    </m:r>
                    <m:r>
                      <a:rPr lang="en-US" sz="3200" b="0" i="1" smtClean="0">
                        <a:effectLst/>
                        <a:latin typeface="Cambria Math" panose="02040503050406030204" pitchFamily="18" charset="0"/>
                        <a:cs typeface="Times New Roman" panose="02020603050405020304" pitchFamily="18" charset="0"/>
                      </a:rPr>
                      <m:t>𝑜𝑓</m:t>
                    </m:r>
                    <m:r>
                      <a:rPr lang="en-US" sz="3200" b="0" i="1" smtClean="0">
                        <a:effectLst/>
                        <a:latin typeface="Cambria Math" panose="02040503050406030204" pitchFamily="18" charset="0"/>
                        <a:cs typeface="Times New Roman" panose="02020603050405020304" pitchFamily="18" charset="0"/>
                      </a:rPr>
                      <m:t> </m:t>
                    </m:r>
                    <m:r>
                      <a:rPr lang="en-US" sz="3200" b="0" i="1" smtClean="0">
                        <a:effectLst/>
                        <a:latin typeface="Cambria Math" panose="02040503050406030204" pitchFamily="18" charset="0"/>
                        <a:cs typeface="Times New Roman" panose="02020603050405020304" pitchFamily="18" charset="0"/>
                      </a:rPr>
                      <m:t>𝑎𝑟𝑟</m:t>
                    </m:r>
                    <m:r>
                      <a:rPr lang="en-US" sz="3200" b="0" i="1" smtClean="0">
                        <a:effectLst/>
                        <a:latin typeface="Cambria Math" panose="02040503050406030204" pitchFamily="18" charset="0"/>
                        <a:cs typeface="Times New Roman" panose="02020603050405020304" pitchFamily="18" charset="0"/>
                      </a:rPr>
                      <m:t>[0]</m:t>
                    </m:r>
                  </m:oMath>
                </a14:m>
                <a:r>
                  <a:rPr lang="en-US" sz="3200" dirty="0">
                    <a:effectLst/>
                    <a:latin typeface="+mj-lt"/>
                    <a:ea typeface="Calibri" panose="020F0502020204030204" pitchFamily="34" charset="0"/>
                    <a:cs typeface="Arial" panose="020B0604020202020204" pitchFamily="34" charset="0"/>
                  </a:rPr>
                  <a:t> </a:t>
                </a:r>
                <a:endParaRPr lang="en-US" sz="3200" i="1" dirty="0">
                  <a:latin typeface="Cambria Math" panose="02040503050406030204" pitchFamily="18" charset="0"/>
                  <a:ea typeface="Calibri" panose="020F0502020204030204" pitchFamily="34" charset="0"/>
                  <a:cs typeface="Times New Roman" panose="02020603050405020304" pitchFamily="18" charset="0"/>
                </a:endParaRPr>
              </a:p>
            </p:txBody>
          </p:sp>
        </mc:Choice>
        <mc:Fallback xmlns="">
          <p:sp>
            <p:nvSpPr>
              <p:cNvPr id="16" name="Rectangle 15"/>
              <p:cNvSpPr>
                <a:spLocks noRot="1" noChangeAspect="1" noMove="1" noResize="1" noEditPoints="1" noAdjustHandles="1" noChangeArrowheads="1" noChangeShapeType="1" noTextEdit="1"/>
              </p:cNvSpPr>
              <p:nvPr/>
            </p:nvSpPr>
            <p:spPr>
              <a:xfrm>
                <a:off x="873457" y="464024"/>
                <a:ext cx="10904561" cy="1409617"/>
              </a:xfrm>
              <a:prstGeom prst="rect">
                <a:avLst/>
              </a:prstGeom>
              <a:blipFill rotWithShape="0">
                <a:blip r:embed="rId4"/>
                <a:stretch>
                  <a:fillRect l="-2236" t="-7792" b="-13853"/>
                </a:stretch>
              </a:blipFill>
            </p:spPr>
            <p:txBody>
              <a:bodyPr/>
              <a:lstStyle/>
              <a:p>
                <a:r>
                  <a:rPr lang="en-US">
                    <a:noFill/>
                  </a:rPr>
                  <a:t> </a:t>
                </a:r>
              </a:p>
            </p:txBody>
          </p:sp>
        </mc:Fallback>
      </mc:AlternateContent>
    </p:spTree>
    <p:extLst>
      <p:ext uri="{BB962C8B-B14F-4D97-AF65-F5344CB8AC3E}">
        <p14:creationId xmlns:p14="http://schemas.microsoft.com/office/powerpoint/2010/main" val="769228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0"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1409617"/>
              </a:xfrm>
              <a:prstGeom prst="rect">
                <a:avLst/>
              </a:prstGeom>
            </p:spPr>
            <p:txBody>
              <a:bodyPr wrap="square">
                <a:spAutoFit/>
              </a:bodyPr>
              <a:lstStyle/>
              <a:p>
                <a:pPr lvl="0" algn="l" rtl="0">
                  <a:lnSpc>
                    <a:spcPct val="107000"/>
                  </a:lnSpc>
                  <a:spcAft>
                    <a:spcPts val="800"/>
                  </a:spcAft>
                  <a:buSzPts val="1050"/>
                </a:pPr>
                <a:r>
                  <a:rPr lang="en-US" sz="4400" b="1" dirty="0">
                    <a:solidFill>
                      <a:srgbClr val="002060"/>
                    </a:solidFill>
                    <a:latin typeface="+mj-lt"/>
                    <a:ea typeface="Calibri" panose="020F0502020204030204" pitchFamily="34" charset="0"/>
                    <a:cs typeface="Arial" panose="020B0604020202020204" pitchFamily="34" charset="0"/>
                  </a:rPr>
                  <a:t>Question 1 </a:t>
                </a:r>
                <a:br>
                  <a:rPr lang="en-US" sz="3600" b="0" i="1" dirty="0">
                    <a:effectLst/>
                    <a:latin typeface="+mj-lt"/>
                    <a:ea typeface="Calibri" panose="020F0502020204030204" pitchFamily="34" charset="0"/>
                    <a:cs typeface="Times New Roman" panose="02020603050405020304" pitchFamily="18" charset="0"/>
                  </a:rPr>
                </a:br>
                <a:r>
                  <a:rPr lang="en-US" sz="3600" b="0" i="1" dirty="0">
                    <a:effectLst/>
                    <a:latin typeface="+mj-lt"/>
                    <a:ea typeface="Calibri" panose="020F0502020204030204" pitchFamily="34" charset="0"/>
                    <a:cs typeface="Times New Roman" panose="02020603050405020304" pitchFamily="18" charset="0"/>
                  </a:rPr>
                  <a:t># </a:t>
                </a:r>
                <a14:m>
                  <m:oMath xmlns:m="http://schemas.openxmlformats.org/officeDocument/2006/math">
                    <m:r>
                      <a:rPr lang="en-US" sz="3200" b="0" i="1">
                        <a:effectLst/>
                        <a:latin typeface="Cambria Math" panose="02040503050406030204" pitchFamily="18" charset="0"/>
                        <a:ea typeface="Calibri" panose="020F0502020204030204" pitchFamily="34" charset="0"/>
                        <a:cs typeface="Times New Roman" panose="02020603050405020304" pitchFamily="18" charset="0"/>
                      </a:rPr>
                      <m:t>𝑖𝑛𝑡</m:t>
                    </m:r>
                    <m:r>
                      <a:rPr lang="en-US" sz="3200" b="0" i="1">
                        <a:effectLst/>
                        <a:latin typeface="Cambria Math" panose="02040503050406030204" pitchFamily="18" charset="0"/>
                        <a:ea typeface="Calibri" panose="020F0502020204030204" pitchFamily="34" charset="0"/>
                        <a:cs typeface="Times New Roman" panose="02020603050405020304" pitchFamily="18" charset="0"/>
                      </a:rPr>
                      <m:t>∗ </m:t>
                    </m:r>
                    <m:r>
                      <a:rPr lang="en-US" sz="3200" b="0" i="1">
                        <a:effectLst/>
                        <a:latin typeface="Cambria Math" panose="02040503050406030204" pitchFamily="18" charset="0"/>
                        <a:ea typeface="Calibri" panose="020F0502020204030204" pitchFamily="34" charset="0"/>
                        <a:cs typeface="Times New Roman" panose="02020603050405020304" pitchFamily="18" charset="0"/>
                      </a:rPr>
                      <m:t>𝑎𝑟𝑟</m:t>
                    </m:r>
                    <m:r>
                      <a:rPr lang="en-US" sz="3200" b="0" i="1">
                        <a:effectLst/>
                        <a:latin typeface="Cambria Math" panose="02040503050406030204" pitchFamily="18" charset="0"/>
                        <a:ea typeface="Calibri" panose="020F0502020204030204" pitchFamily="34" charset="0"/>
                        <a:cs typeface="Times New Roman" panose="02020603050405020304" pitchFamily="18" charset="0"/>
                      </a:rPr>
                      <m:t> = </m:t>
                    </m:r>
                    <m:d>
                      <m:dPr>
                        <m:begChr m:val="{"/>
                        <m:endChr m:val="}"/>
                        <m:ctrlPr>
                          <a:rPr lang="en-US" sz="3200" b="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3200" b="0" i="1">
                            <a:effectLst/>
                            <a:latin typeface="Cambria Math" panose="02040503050406030204" pitchFamily="18" charset="0"/>
                            <a:ea typeface="Calibri" panose="020F0502020204030204" pitchFamily="34" charset="0"/>
                            <a:cs typeface="Times New Roman" panose="02020603050405020304" pitchFamily="18" charset="0"/>
                          </a:rPr>
                          <m:t>1,2,3,4,5,6,0</m:t>
                        </m:r>
                      </m:e>
                    </m:d>
                    <m:r>
                      <a:rPr lang="en-US" sz="3200" b="0" i="1" smtClean="0">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en-US" sz="3200" i="1">
                            <a:latin typeface="Cambria Math" panose="02040503050406030204" pitchFamily="18" charset="0"/>
                            <a:cs typeface="Times New Roman" panose="02020603050405020304" pitchFamily="18" charset="0"/>
                          </a:rPr>
                        </m:ctrlPr>
                      </m:dPr>
                      <m:e>
                        <m:r>
                          <a:rPr lang="en-US" sz="3200" i="1">
                            <a:latin typeface="Cambria Math" panose="02040503050406030204" pitchFamily="18" charset="0"/>
                            <a:cs typeface="Times New Roman" panose="02020603050405020304" pitchFamily="18" charset="0"/>
                          </a:rPr>
                          <m:t>𝑆</m:t>
                        </m:r>
                        <m:r>
                          <a:rPr lang="en-US" sz="3200" i="1">
                            <a:latin typeface="Cambria Math" panose="02040503050406030204" pitchFamily="18" charset="0"/>
                            <a:cs typeface="Times New Roman" panose="02020603050405020304" pitchFamily="18" charset="0"/>
                          </a:rPr>
                          <m:t>0</m:t>
                        </m:r>
                      </m:e>
                    </m:d>
                    <m:r>
                      <a:rPr lang="en-US" sz="3200" i="1">
                        <a:latin typeface="Cambria Math" panose="02040503050406030204" pitchFamily="18" charset="0"/>
                        <a:cs typeface="Times New Roman" panose="02020603050405020304" pitchFamily="18" charset="0"/>
                      </a:rPr>
                      <m:t>=</m:t>
                    </m:r>
                    <m:r>
                      <a:rPr lang="en-US" sz="3200" i="1">
                        <a:latin typeface="Cambria Math" panose="02040503050406030204" pitchFamily="18" charset="0"/>
                        <a:cs typeface="Times New Roman" panose="02020603050405020304" pitchFamily="18" charset="0"/>
                      </a:rPr>
                      <m:t>𝑎𝑑𝑑𝑟𝑒𝑠𝑠</m:t>
                    </m:r>
                    <m:r>
                      <a:rPr lang="en-US" sz="3200" i="1">
                        <a:latin typeface="Cambria Math" panose="02040503050406030204" pitchFamily="18" charset="0"/>
                        <a:cs typeface="Times New Roman" panose="02020603050405020304" pitchFamily="18" charset="0"/>
                      </a:rPr>
                      <m:t> </m:t>
                    </m:r>
                    <m:r>
                      <a:rPr lang="en-US" sz="3200" i="1">
                        <a:latin typeface="Cambria Math" panose="02040503050406030204" pitchFamily="18" charset="0"/>
                        <a:cs typeface="Times New Roman" panose="02020603050405020304" pitchFamily="18" charset="0"/>
                      </a:rPr>
                      <m:t>𝑜𝑓</m:t>
                    </m:r>
                    <m:r>
                      <a:rPr lang="en-US" sz="3200" i="1">
                        <a:latin typeface="Cambria Math" panose="02040503050406030204" pitchFamily="18" charset="0"/>
                        <a:cs typeface="Times New Roman" panose="02020603050405020304" pitchFamily="18" charset="0"/>
                      </a:rPr>
                      <m:t> </m:t>
                    </m:r>
                    <m:r>
                      <a:rPr lang="en-US" sz="3200" i="1">
                        <a:latin typeface="Cambria Math" panose="02040503050406030204" pitchFamily="18" charset="0"/>
                        <a:cs typeface="Times New Roman" panose="02020603050405020304" pitchFamily="18" charset="0"/>
                      </a:rPr>
                      <m:t>𝑎𝑟𝑟</m:t>
                    </m:r>
                    <m:r>
                      <a:rPr lang="en-US" sz="3200" i="1">
                        <a:latin typeface="Cambria Math" panose="02040503050406030204" pitchFamily="18" charset="0"/>
                        <a:cs typeface="Times New Roman" panose="02020603050405020304" pitchFamily="18" charset="0"/>
                      </a:rPr>
                      <m:t>[0]</m:t>
                    </m:r>
                  </m:oMath>
                </a14:m>
                <a:endParaRPr lang="en-US" sz="3200" i="1" dirty="0">
                  <a:latin typeface="Cambria Math" panose="02040503050406030204" pitchFamily="18" charset="0"/>
                  <a:ea typeface="Calibri" panose="020F0502020204030204" pitchFamily="34" charset="0"/>
                  <a:cs typeface="Times New Roman" panose="02020603050405020304"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1409617"/>
              </a:xfrm>
              <a:prstGeom prst="rect">
                <a:avLst/>
              </a:prstGeom>
              <a:blipFill rotWithShape="0">
                <a:blip r:embed="rId3"/>
                <a:stretch>
                  <a:fillRect l="-2236" t="-7792" b="-13853"/>
                </a:stretch>
              </a:blipFill>
            </p:spPr>
            <p:txBody>
              <a:bodyPr/>
              <a:lstStyle/>
              <a:p>
                <a:r>
                  <a:rPr lang="en-US">
                    <a:noFill/>
                  </a:rPr>
                  <a:t> </a:t>
                </a:r>
              </a:p>
            </p:txBody>
          </p:sp>
        </mc:Fallback>
      </mc:AlternateContent>
      <p:sp>
        <p:nvSpPr>
          <p:cNvPr id="3" name="Rectangle 2"/>
          <p:cNvSpPr/>
          <p:nvPr/>
        </p:nvSpPr>
        <p:spPr>
          <a:xfrm>
            <a:off x="435142" y="1873641"/>
            <a:ext cx="4772619" cy="3029997"/>
          </a:xfrm>
          <a:prstGeom prst="rect">
            <a:avLst/>
          </a:prstGeom>
        </p:spPr>
        <p:txBody>
          <a:bodyPr wrap="square">
            <a:spAutoFit/>
          </a:bodyPr>
          <a:lstStyle/>
          <a:p>
            <a:pPr lvl="1" algn="l" rtl="0">
              <a:lnSpc>
                <a:spcPct val="107000"/>
              </a:lnSpc>
              <a:spcAft>
                <a:spcPts val="800"/>
              </a:spcAft>
            </a:pPr>
            <a:r>
              <a:rPr lang="en-US" sz="3600" b="1" dirty="0" err="1">
                <a:effectLst/>
                <a:latin typeface="+mj-lt"/>
                <a:ea typeface="Calibri" panose="020F0502020204030204" pitchFamily="34" charset="0"/>
                <a:cs typeface="Arial" panose="020B0604020202020204" pitchFamily="34" charset="0"/>
              </a:rPr>
              <a:t>slli</a:t>
            </a:r>
            <a:r>
              <a:rPr lang="en-US" sz="3600" b="1" dirty="0">
                <a:effectLst/>
                <a:latin typeface="+mj-lt"/>
                <a:ea typeface="Calibri" panose="020F0502020204030204" pitchFamily="34" charset="0"/>
                <a:cs typeface="Arial" panose="020B0604020202020204" pitchFamily="34" charset="0"/>
              </a:rPr>
              <a:t> t1, t0, 2</a:t>
            </a:r>
            <a:br>
              <a:rPr lang="en-US" sz="3600" b="1" dirty="0">
                <a:effectLst/>
                <a:latin typeface="+mj-lt"/>
                <a:ea typeface="Calibri" panose="020F0502020204030204" pitchFamily="34" charset="0"/>
                <a:cs typeface="Arial" panose="020B0604020202020204" pitchFamily="34" charset="0"/>
              </a:rPr>
            </a:br>
            <a:r>
              <a:rPr lang="en-US" sz="3600" b="1" dirty="0">
                <a:effectLst/>
                <a:latin typeface="+mj-lt"/>
                <a:ea typeface="Calibri" panose="020F0502020204030204" pitchFamily="34" charset="0"/>
                <a:cs typeface="Arial" panose="020B0604020202020204" pitchFamily="34" charset="0"/>
              </a:rPr>
              <a:t>add t2, s0, t1</a:t>
            </a:r>
            <a:br>
              <a:rPr lang="en-US" sz="3600" b="1" dirty="0">
                <a:effectLst/>
                <a:latin typeface="+mj-lt"/>
                <a:ea typeface="Calibri" panose="020F0502020204030204" pitchFamily="34" charset="0"/>
                <a:cs typeface="Arial" panose="020B0604020202020204" pitchFamily="34" charset="0"/>
              </a:rPr>
            </a:br>
            <a:r>
              <a:rPr lang="en-US" sz="3600" b="1" dirty="0" err="1">
                <a:effectLst/>
                <a:latin typeface="+mj-lt"/>
                <a:ea typeface="Calibri" panose="020F0502020204030204" pitchFamily="34" charset="0"/>
                <a:cs typeface="Arial" panose="020B0604020202020204" pitchFamily="34" charset="0"/>
              </a:rPr>
              <a:t>lw</a:t>
            </a:r>
            <a:r>
              <a:rPr lang="en-US" sz="3600" b="1" dirty="0">
                <a:effectLst/>
                <a:latin typeface="+mj-lt"/>
                <a:ea typeface="Calibri" panose="020F0502020204030204" pitchFamily="34" charset="0"/>
                <a:cs typeface="Arial" panose="020B0604020202020204" pitchFamily="34" charset="0"/>
              </a:rPr>
              <a:t> t3, 0(t2)</a:t>
            </a:r>
            <a:br>
              <a:rPr lang="en-US" sz="3600" b="1" dirty="0">
                <a:effectLst/>
                <a:latin typeface="+mj-lt"/>
                <a:ea typeface="Calibri" panose="020F0502020204030204" pitchFamily="34" charset="0"/>
                <a:cs typeface="Arial" panose="020B0604020202020204" pitchFamily="34" charset="0"/>
              </a:rPr>
            </a:br>
            <a:r>
              <a:rPr lang="en-US" sz="3600" b="1" dirty="0" err="1">
                <a:effectLst/>
                <a:latin typeface="+mj-lt"/>
                <a:ea typeface="Calibri" panose="020F0502020204030204" pitchFamily="34" charset="0"/>
                <a:cs typeface="Arial" panose="020B0604020202020204" pitchFamily="34" charset="0"/>
              </a:rPr>
              <a:t>addi</a:t>
            </a:r>
            <a:r>
              <a:rPr lang="en-US" sz="3600" b="1" dirty="0">
                <a:effectLst/>
                <a:latin typeface="+mj-lt"/>
                <a:ea typeface="Calibri" panose="020F0502020204030204" pitchFamily="34" charset="0"/>
                <a:cs typeface="Arial" panose="020B0604020202020204" pitchFamily="34" charset="0"/>
              </a:rPr>
              <a:t> t3, t3, 1</a:t>
            </a:r>
            <a:br>
              <a:rPr lang="en-US" sz="3600" b="1" dirty="0">
                <a:effectLst/>
                <a:latin typeface="+mj-lt"/>
                <a:ea typeface="Calibri" panose="020F0502020204030204" pitchFamily="34" charset="0"/>
                <a:cs typeface="Arial" panose="020B0604020202020204" pitchFamily="34" charset="0"/>
              </a:rPr>
            </a:br>
            <a:r>
              <a:rPr lang="en-US" sz="3600" b="1" dirty="0" err="1">
                <a:effectLst/>
                <a:latin typeface="+mj-lt"/>
                <a:ea typeface="Calibri" panose="020F0502020204030204" pitchFamily="34" charset="0"/>
                <a:cs typeface="Arial" panose="020B0604020202020204" pitchFamily="34" charset="0"/>
              </a:rPr>
              <a:t>sw</a:t>
            </a:r>
            <a:r>
              <a:rPr lang="en-US" sz="3600" b="1" dirty="0">
                <a:effectLst/>
                <a:latin typeface="+mj-lt"/>
                <a:ea typeface="Calibri" panose="020F0502020204030204" pitchFamily="34" charset="0"/>
                <a:cs typeface="Arial" panose="020B0604020202020204" pitchFamily="34" charset="0"/>
              </a:rPr>
              <a:t> t3, 0(t2)</a:t>
            </a:r>
          </a:p>
        </p:txBody>
      </p:sp>
      <p:sp>
        <p:nvSpPr>
          <p:cNvPr id="5" name="Rectangle 4"/>
          <p:cNvSpPr/>
          <p:nvPr/>
        </p:nvSpPr>
        <p:spPr>
          <a:xfrm>
            <a:off x="873457" y="4903638"/>
            <a:ext cx="9531392" cy="1200329"/>
          </a:xfrm>
          <a:prstGeom prst="rect">
            <a:avLst/>
          </a:prstGeom>
        </p:spPr>
        <p:txBody>
          <a:bodyPr wrap="none">
            <a:spAutoFit/>
          </a:bodyPr>
          <a:lstStyle/>
          <a:p>
            <a:pPr algn="l"/>
            <a:r>
              <a:rPr lang="en-US" sz="3600" dirty="0">
                <a:solidFill>
                  <a:srgbClr val="002060"/>
                </a:solidFill>
              </a:rPr>
              <a:t>Increments the array element specified by 𝒕𝟎 by 1</a:t>
            </a:r>
            <a:br>
              <a:rPr lang="en-US" sz="3600" dirty="0">
                <a:solidFill>
                  <a:srgbClr val="002060"/>
                </a:solidFill>
              </a:rPr>
            </a:br>
            <a:r>
              <a:rPr lang="en-US" sz="3600" dirty="0">
                <a:solidFill>
                  <a:srgbClr val="002060"/>
                </a:solidFill>
              </a:rPr>
              <a:t>( 𝒂𝒓𝒓[𝒕𝟎]++ )</a:t>
            </a:r>
            <a:endParaRPr lang="he-IL" sz="3600" dirty="0">
              <a:solidFill>
                <a:srgbClr val="002060"/>
              </a:solidFill>
            </a:endParaRPr>
          </a:p>
        </p:txBody>
      </p:sp>
      <p:sp>
        <p:nvSpPr>
          <p:cNvPr id="4" name="Rectangle 2">
            <a:extLst>
              <a:ext uri="{FF2B5EF4-FFF2-40B4-BE49-F238E27FC236}">
                <a16:creationId xmlns:a16="http://schemas.microsoft.com/office/drawing/2014/main" id="{921DE90D-0769-2E03-A19E-6D2467C1B4D7}"/>
              </a:ext>
            </a:extLst>
          </p:cNvPr>
          <p:cNvSpPr/>
          <p:nvPr/>
        </p:nvSpPr>
        <p:spPr>
          <a:xfrm>
            <a:off x="3606932" y="1873641"/>
            <a:ext cx="2032221" cy="658835"/>
          </a:xfrm>
          <a:prstGeom prst="rect">
            <a:avLst/>
          </a:prstGeom>
        </p:spPr>
        <p:txBody>
          <a:bodyPr wrap="square">
            <a:spAutoFit/>
          </a:bodyPr>
          <a:lstStyle/>
          <a:p>
            <a:pPr lvl="1" algn="l" rtl="0">
              <a:lnSpc>
                <a:spcPct val="107000"/>
              </a:lnSpc>
              <a:spcAft>
                <a:spcPts val="800"/>
              </a:spcAft>
            </a:pPr>
            <a:r>
              <a:rPr lang="en-US" sz="3600" b="1" dirty="0">
                <a:latin typeface="+mj-lt"/>
                <a:ea typeface="Calibri" panose="020F0502020204030204" pitchFamily="34" charset="0"/>
                <a:cs typeface="Arial" panose="020B0604020202020204" pitchFamily="34" charset="0"/>
              </a:rPr>
              <a:t>t1 = 16</a:t>
            </a:r>
          </a:p>
        </p:txBody>
      </p:sp>
      <p:sp>
        <p:nvSpPr>
          <p:cNvPr id="6" name="Rectangle 2">
            <a:extLst>
              <a:ext uri="{FF2B5EF4-FFF2-40B4-BE49-F238E27FC236}">
                <a16:creationId xmlns:a16="http://schemas.microsoft.com/office/drawing/2014/main" id="{FBE6A9C0-9701-9E2D-4734-32ABF53316A4}"/>
              </a:ext>
            </a:extLst>
          </p:cNvPr>
          <p:cNvSpPr/>
          <p:nvPr/>
        </p:nvSpPr>
        <p:spPr>
          <a:xfrm>
            <a:off x="3606930" y="2493693"/>
            <a:ext cx="5844979" cy="658835"/>
          </a:xfrm>
          <a:prstGeom prst="rect">
            <a:avLst/>
          </a:prstGeom>
        </p:spPr>
        <p:txBody>
          <a:bodyPr wrap="square">
            <a:spAutoFit/>
          </a:bodyPr>
          <a:lstStyle/>
          <a:p>
            <a:pPr lvl="1" algn="l" rtl="0">
              <a:lnSpc>
                <a:spcPct val="107000"/>
              </a:lnSpc>
              <a:spcAft>
                <a:spcPts val="800"/>
              </a:spcAft>
            </a:pPr>
            <a:r>
              <a:rPr lang="en-US" sz="3600" b="1" dirty="0">
                <a:latin typeface="+mj-lt"/>
                <a:ea typeface="Calibri" panose="020F0502020204030204" pitchFamily="34" charset="0"/>
                <a:cs typeface="Arial" panose="020B0604020202020204" pitchFamily="34" charset="0"/>
              </a:rPr>
              <a:t>t2 = address of </a:t>
            </a:r>
            <a:r>
              <a:rPr lang="en-US" sz="3600" b="1" dirty="0" err="1">
                <a:latin typeface="+mj-lt"/>
                <a:ea typeface="Calibri" panose="020F0502020204030204" pitchFamily="34" charset="0"/>
                <a:cs typeface="Arial" panose="020B0604020202020204" pitchFamily="34" charset="0"/>
              </a:rPr>
              <a:t>arr</a:t>
            </a:r>
            <a:r>
              <a:rPr lang="en-US" sz="3600" b="1" dirty="0">
                <a:latin typeface="+mj-lt"/>
                <a:ea typeface="Calibri" panose="020F0502020204030204" pitchFamily="34" charset="0"/>
                <a:cs typeface="Arial" panose="020B0604020202020204" pitchFamily="34" charset="0"/>
              </a:rPr>
              <a:t>[0] + 16</a:t>
            </a:r>
          </a:p>
        </p:txBody>
      </p:sp>
      <p:sp>
        <p:nvSpPr>
          <p:cNvPr id="7" name="Rectangle 2">
            <a:extLst>
              <a:ext uri="{FF2B5EF4-FFF2-40B4-BE49-F238E27FC236}">
                <a16:creationId xmlns:a16="http://schemas.microsoft.com/office/drawing/2014/main" id="{4B87E7DB-EDA0-FC39-8857-F1BB2ED530B6}"/>
              </a:ext>
            </a:extLst>
          </p:cNvPr>
          <p:cNvSpPr/>
          <p:nvPr/>
        </p:nvSpPr>
        <p:spPr>
          <a:xfrm>
            <a:off x="3606931" y="3048671"/>
            <a:ext cx="3558979" cy="658835"/>
          </a:xfrm>
          <a:prstGeom prst="rect">
            <a:avLst/>
          </a:prstGeom>
        </p:spPr>
        <p:txBody>
          <a:bodyPr wrap="square">
            <a:spAutoFit/>
          </a:bodyPr>
          <a:lstStyle/>
          <a:p>
            <a:pPr lvl="1" algn="l" rtl="0">
              <a:lnSpc>
                <a:spcPct val="107000"/>
              </a:lnSpc>
              <a:spcAft>
                <a:spcPts val="800"/>
              </a:spcAft>
            </a:pPr>
            <a:r>
              <a:rPr lang="en-US" sz="3600" b="1" dirty="0">
                <a:latin typeface="+mj-lt"/>
                <a:ea typeface="Calibri" panose="020F0502020204030204" pitchFamily="34" charset="0"/>
                <a:cs typeface="Arial" panose="020B0604020202020204" pitchFamily="34" charset="0"/>
              </a:rPr>
              <a:t>t3 = </a:t>
            </a:r>
            <a:r>
              <a:rPr lang="en-US" sz="3600" b="1" dirty="0" err="1">
                <a:latin typeface="+mj-lt"/>
                <a:ea typeface="Calibri" panose="020F0502020204030204" pitchFamily="34" charset="0"/>
                <a:cs typeface="Arial" panose="020B0604020202020204" pitchFamily="34" charset="0"/>
              </a:rPr>
              <a:t>arr</a:t>
            </a:r>
            <a:r>
              <a:rPr lang="en-US" sz="3600" b="1" dirty="0">
                <a:latin typeface="+mj-lt"/>
                <a:ea typeface="Calibri" panose="020F0502020204030204" pitchFamily="34" charset="0"/>
                <a:cs typeface="Arial" panose="020B0604020202020204" pitchFamily="34" charset="0"/>
              </a:rPr>
              <a:t>[4]</a:t>
            </a:r>
          </a:p>
        </p:txBody>
      </p:sp>
      <p:sp>
        <p:nvSpPr>
          <p:cNvPr id="8" name="Rectangle 2">
            <a:extLst>
              <a:ext uri="{FF2B5EF4-FFF2-40B4-BE49-F238E27FC236}">
                <a16:creationId xmlns:a16="http://schemas.microsoft.com/office/drawing/2014/main" id="{8889EA46-0CE6-D159-E3E4-55A64A9035CD}"/>
              </a:ext>
            </a:extLst>
          </p:cNvPr>
          <p:cNvSpPr/>
          <p:nvPr/>
        </p:nvSpPr>
        <p:spPr>
          <a:xfrm>
            <a:off x="3606931" y="3646736"/>
            <a:ext cx="3377310" cy="658835"/>
          </a:xfrm>
          <a:prstGeom prst="rect">
            <a:avLst/>
          </a:prstGeom>
        </p:spPr>
        <p:txBody>
          <a:bodyPr wrap="square">
            <a:spAutoFit/>
          </a:bodyPr>
          <a:lstStyle/>
          <a:p>
            <a:pPr lvl="1" algn="l" rtl="0">
              <a:lnSpc>
                <a:spcPct val="107000"/>
              </a:lnSpc>
              <a:spcAft>
                <a:spcPts val="800"/>
              </a:spcAft>
            </a:pPr>
            <a:r>
              <a:rPr lang="en-US" sz="3600" b="1" dirty="0">
                <a:latin typeface="+mj-lt"/>
                <a:ea typeface="Calibri" panose="020F0502020204030204" pitchFamily="34" charset="0"/>
                <a:cs typeface="Arial" panose="020B0604020202020204" pitchFamily="34" charset="0"/>
              </a:rPr>
              <a:t>t3 = </a:t>
            </a:r>
            <a:r>
              <a:rPr lang="en-US" sz="3600" b="1" dirty="0" err="1">
                <a:latin typeface="+mj-lt"/>
                <a:ea typeface="Calibri" panose="020F0502020204030204" pitchFamily="34" charset="0"/>
                <a:cs typeface="Arial" panose="020B0604020202020204" pitchFamily="34" charset="0"/>
              </a:rPr>
              <a:t>arr</a:t>
            </a:r>
            <a:r>
              <a:rPr lang="en-US" sz="3600" b="1" dirty="0">
                <a:latin typeface="+mj-lt"/>
                <a:ea typeface="Calibri" panose="020F0502020204030204" pitchFamily="34" charset="0"/>
                <a:cs typeface="Arial" panose="020B0604020202020204" pitchFamily="34" charset="0"/>
              </a:rPr>
              <a:t>[4]+1</a:t>
            </a:r>
          </a:p>
        </p:txBody>
      </p:sp>
      <p:sp>
        <p:nvSpPr>
          <p:cNvPr id="9" name="Rectangle 2">
            <a:extLst>
              <a:ext uri="{FF2B5EF4-FFF2-40B4-BE49-F238E27FC236}">
                <a16:creationId xmlns:a16="http://schemas.microsoft.com/office/drawing/2014/main" id="{CC00A94A-E939-7AA4-E59F-5C054B48A839}"/>
              </a:ext>
            </a:extLst>
          </p:cNvPr>
          <p:cNvSpPr/>
          <p:nvPr/>
        </p:nvSpPr>
        <p:spPr>
          <a:xfrm>
            <a:off x="3606930" y="4214418"/>
            <a:ext cx="2905837" cy="658835"/>
          </a:xfrm>
          <a:prstGeom prst="rect">
            <a:avLst/>
          </a:prstGeom>
        </p:spPr>
        <p:txBody>
          <a:bodyPr wrap="square">
            <a:spAutoFit/>
          </a:bodyPr>
          <a:lstStyle/>
          <a:p>
            <a:pPr lvl="1" algn="l" rtl="0">
              <a:lnSpc>
                <a:spcPct val="107000"/>
              </a:lnSpc>
              <a:spcAft>
                <a:spcPts val="800"/>
              </a:spcAft>
            </a:pPr>
            <a:r>
              <a:rPr lang="en-US" sz="3600" b="1" dirty="0">
                <a:latin typeface="+mj-lt"/>
                <a:ea typeface="Calibri" panose="020F0502020204030204" pitchFamily="34" charset="0"/>
                <a:cs typeface="Arial" panose="020B0604020202020204" pitchFamily="34" charset="0"/>
              </a:rPr>
              <a:t>t2 = t3 </a:t>
            </a:r>
          </a:p>
        </p:txBody>
      </p:sp>
    </p:spTree>
    <p:extLst>
      <p:ext uri="{BB962C8B-B14F-4D97-AF65-F5344CB8AC3E}">
        <p14:creationId xmlns:p14="http://schemas.microsoft.com/office/powerpoint/2010/main" val="1072622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P spid="6" grpId="0"/>
      <p:bldP spid="7" grpId="0"/>
      <p:bldP spid="8"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07848" y="2190600"/>
            <a:ext cx="4772619" cy="2463495"/>
          </a:xfrm>
          <a:prstGeom prst="rect">
            <a:avLst/>
          </a:prstGeom>
        </p:spPr>
        <p:txBody>
          <a:bodyPr wrap="square">
            <a:spAutoFit/>
          </a:bodyPr>
          <a:lstStyle/>
          <a:p>
            <a:pPr lvl="1" algn="l" rtl="0">
              <a:lnSpc>
                <a:spcPct val="107000"/>
              </a:lnSpc>
              <a:spcAft>
                <a:spcPts val="800"/>
              </a:spcAft>
            </a:pPr>
            <a:r>
              <a:rPr lang="en-US" sz="3600" b="1" dirty="0" err="1">
                <a:effectLst/>
                <a:latin typeface="+mj-lt"/>
                <a:ea typeface="Calibri" panose="020F0502020204030204" pitchFamily="34" charset="0"/>
                <a:cs typeface="Arial" panose="020B0604020202020204" pitchFamily="34" charset="0"/>
              </a:rPr>
              <a:t>lw</a:t>
            </a:r>
            <a:r>
              <a:rPr lang="en-US" sz="3600" b="1" dirty="0">
                <a:effectLst/>
                <a:latin typeface="+mj-lt"/>
                <a:ea typeface="Calibri" panose="020F0502020204030204" pitchFamily="34" charset="0"/>
                <a:cs typeface="Arial" panose="020B0604020202020204" pitchFamily="34" charset="0"/>
              </a:rPr>
              <a:t> t0, 0(s0)</a:t>
            </a:r>
            <a:br>
              <a:rPr lang="en-US" sz="3600" b="1" dirty="0">
                <a:effectLst/>
                <a:latin typeface="+mj-lt"/>
                <a:ea typeface="Calibri" panose="020F0502020204030204" pitchFamily="34" charset="0"/>
                <a:cs typeface="Arial" panose="020B0604020202020204" pitchFamily="34" charset="0"/>
              </a:rPr>
            </a:br>
            <a:r>
              <a:rPr lang="en-US" sz="3600" b="1" dirty="0" err="1">
                <a:effectLst/>
                <a:latin typeface="+mj-lt"/>
                <a:ea typeface="Calibri" panose="020F0502020204030204" pitchFamily="34" charset="0"/>
                <a:cs typeface="Arial" panose="020B0604020202020204" pitchFamily="34" charset="0"/>
              </a:rPr>
              <a:t>addi</a:t>
            </a:r>
            <a:r>
              <a:rPr lang="en-US" sz="3600" b="1" dirty="0">
                <a:effectLst/>
                <a:latin typeface="+mj-lt"/>
                <a:ea typeface="Calibri" panose="020F0502020204030204" pitchFamily="34" charset="0"/>
                <a:cs typeface="Arial" panose="020B0604020202020204" pitchFamily="34" charset="0"/>
              </a:rPr>
              <a:t> t1, x0, -1</a:t>
            </a:r>
            <a:br>
              <a:rPr lang="en-US" sz="3600" b="1" dirty="0">
                <a:latin typeface="+mj-lt"/>
                <a:ea typeface="Calibri" panose="020F0502020204030204" pitchFamily="34" charset="0"/>
                <a:cs typeface="Arial" panose="020B0604020202020204" pitchFamily="34" charset="0"/>
              </a:rPr>
            </a:br>
            <a:r>
              <a:rPr lang="en-US" sz="3600" b="1" dirty="0" err="1">
                <a:effectLst/>
                <a:latin typeface="+mj-lt"/>
                <a:ea typeface="Calibri" panose="020F0502020204030204" pitchFamily="34" charset="0"/>
                <a:cs typeface="Arial" panose="020B0604020202020204" pitchFamily="34" charset="0"/>
              </a:rPr>
              <a:t>xor</a:t>
            </a:r>
            <a:r>
              <a:rPr lang="en-US" sz="3600" b="1" dirty="0">
                <a:effectLst/>
                <a:latin typeface="+mj-lt"/>
                <a:ea typeface="Calibri" panose="020F0502020204030204" pitchFamily="34" charset="0"/>
                <a:cs typeface="Arial" panose="020B0604020202020204" pitchFamily="34" charset="0"/>
              </a:rPr>
              <a:t> t0, t0, </a:t>
            </a:r>
            <a:r>
              <a:rPr lang="en-US" sz="3600" b="1" dirty="0">
                <a:latin typeface="+mj-lt"/>
                <a:ea typeface="Calibri" panose="020F0502020204030204" pitchFamily="34" charset="0"/>
                <a:cs typeface="Arial" panose="020B0604020202020204" pitchFamily="34" charset="0"/>
              </a:rPr>
              <a:t>t1</a:t>
            </a:r>
            <a:br>
              <a:rPr lang="en-US" sz="3600" b="1" dirty="0">
                <a:effectLst/>
                <a:latin typeface="+mj-lt"/>
                <a:ea typeface="Calibri" panose="020F0502020204030204" pitchFamily="34" charset="0"/>
                <a:cs typeface="Arial" panose="020B0604020202020204" pitchFamily="34" charset="0"/>
              </a:rPr>
            </a:br>
            <a:r>
              <a:rPr lang="en-US" sz="3600" b="1" dirty="0" err="1">
                <a:effectLst/>
                <a:latin typeface="+mj-lt"/>
                <a:ea typeface="Calibri" panose="020F0502020204030204" pitchFamily="34" charset="0"/>
                <a:cs typeface="Arial" panose="020B0604020202020204" pitchFamily="34" charset="0"/>
              </a:rPr>
              <a:t>addi</a:t>
            </a:r>
            <a:r>
              <a:rPr lang="en-US" sz="3600" b="1" dirty="0">
                <a:effectLst/>
                <a:latin typeface="+mj-lt"/>
                <a:ea typeface="Calibri" panose="020F0502020204030204" pitchFamily="34" charset="0"/>
                <a:cs typeface="Arial" panose="020B0604020202020204" pitchFamily="34" charset="0"/>
              </a:rPr>
              <a:t> t0, t0, 1</a:t>
            </a:r>
          </a:p>
        </p:txBody>
      </p:sp>
      <p:sp>
        <p:nvSpPr>
          <p:cNvPr id="5" name="Rectangle 4"/>
          <p:cNvSpPr/>
          <p:nvPr/>
        </p:nvSpPr>
        <p:spPr>
          <a:xfrm>
            <a:off x="873457" y="4654095"/>
            <a:ext cx="10347256" cy="1200329"/>
          </a:xfrm>
          <a:prstGeom prst="rect">
            <a:avLst/>
          </a:prstGeom>
        </p:spPr>
        <p:txBody>
          <a:bodyPr wrap="none">
            <a:spAutoFit/>
          </a:bodyPr>
          <a:lstStyle/>
          <a:p>
            <a:pPr algn="l"/>
            <a:r>
              <a:rPr lang="en-US" sz="3600" dirty="0">
                <a:solidFill>
                  <a:srgbClr val="002060"/>
                </a:solidFill>
              </a:rPr>
              <a:t>Sets the register 𝒕𝟎 to the two's complement negation</a:t>
            </a:r>
            <a:br>
              <a:rPr lang="en-US" sz="3600" dirty="0">
                <a:solidFill>
                  <a:srgbClr val="002060"/>
                </a:solidFill>
              </a:rPr>
            </a:br>
            <a:r>
              <a:rPr lang="en-US" sz="3600" dirty="0">
                <a:solidFill>
                  <a:srgbClr val="002060"/>
                </a:solidFill>
              </a:rPr>
              <a:t>of 𝒂𝒓𝒓[𝟎]</a:t>
            </a:r>
            <a:endParaRPr lang="he-IL" sz="3600" dirty="0">
              <a:solidFill>
                <a:srgbClr val="002060"/>
              </a:solidFill>
            </a:endParaRPr>
          </a:p>
        </p:txBody>
      </p:sp>
      <mc:AlternateContent xmlns:mc="http://schemas.openxmlformats.org/markup-compatibility/2006" xmlns:a14="http://schemas.microsoft.com/office/drawing/2010/main">
        <mc:Choice Requires="a14">
          <p:sp>
            <p:nvSpPr>
              <p:cNvPr id="7" name="Rectangle 6"/>
              <p:cNvSpPr/>
              <p:nvPr/>
            </p:nvSpPr>
            <p:spPr>
              <a:xfrm>
                <a:off x="873457" y="464024"/>
                <a:ext cx="10904561" cy="1409617"/>
              </a:xfrm>
              <a:prstGeom prst="rect">
                <a:avLst/>
              </a:prstGeom>
            </p:spPr>
            <p:txBody>
              <a:bodyPr wrap="square">
                <a:spAutoFit/>
              </a:bodyPr>
              <a:lstStyle/>
              <a:p>
                <a:pPr lvl="0" algn="l" rtl="0">
                  <a:lnSpc>
                    <a:spcPct val="107000"/>
                  </a:lnSpc>
                  <a:spcAft>
                    <a:spcPts val="800"/>
                  </a:spcAft>
                  <a:buSzPts val="1050"/>
                </a:pPr>
                <a:r>
                  <a:rPr lang="en-US" sz="4400" b="1" dirty="0">
                    <a:solidFill>
                      <a:srgbClr val="002060"/>
                    </a:solidFill>
                    <a:latin typeface="+mj-lt"/>
                    <a:ea typeface="Calibri" panose="020F0502020204030204" pitchFamily="34" charset="0"/>
                    <a:cs typeface="Arial" panose="020B0604020202020204" pitchFamily="34" charset="0"/>
                  </a:rPr>
                  <a:t>Question 1 </a:t>
                </a:r>
                <a:br>
                  <a:rPr lang="en-US" sz="3600" b="0" i="1" dirty="0">
                    <a:effectLst/>
                    <a:latin typeface="+mj-lt"/>
                    <a:ea typeface="Calibri" panose="020F0502020204030204" pitchFamily="34" charset="0"/>
                    <a:cs typeface="Times New Roman" panose="02020603050405020304" pitchFamily="18" charset="0"/>
                  </a:rPr>
                </a:br>
                <a:r>
                  <a:rPr lang="en-US" sz="3600" b="0" i="1" dirty="0">
                    <a:effectLst/>
                    <a:latin typeface="+mj-lt"/>
                    <a:ea typeface="Calibri" panose="020F0502020204030204" pitchFamily="34" charset="0"/>
                    <a:cs typeface="Times New Roman" panose="02020603050405020304" pitchFamily="18" charset="0"/>
                  </a:rPr>
                  <a:t># </a:t>
                </a:r>
                <a14:m>
                  <m:oMath xmlns:m="http://schemas.openxmlformats.org/officeDocument/2006/math">
                    <m:r>
                      <a:rPr lang="en-US" sz="3200" b="0" i="1">
                        <a:effectLst/>
                        <a:latin typeface="Cambria Math" panose="02040503050406030204" pitchFamily="18" charset="0"/>
                        <a:ea typeface="Calibri" panose="020F0502020204030204" pitchFamily="34" charset="0"/>
                        <a:cs typeface="Times New Roman" panose="02020603050405020304" pitchFamily="18" charset="0"/>
                      </a:rPr>
                      <m:t>𝑖𝑛𝑡</m:t>
                    </m:r>
                    <m:r>
                      <a:rPr lang="en-US" sz="3200" b="0" i="1">
                        <a:effectLst/>
                        <a:latin typeface="Cambria Math" panose="02040503050406030204" pitchFamily="18" charset="0"/>
                        <a:ea typeface="Calibri" panose="020F0502020204030204" pitchFamily="34" charset="0"/>
                        <a:cs typeface="Times New Roman" panose="02020603050405020304" pitchFamily="18" charset="0"/>
                      </a:rPr>
                      <m:t>∗ </m:t>
                    </m:r>
                    <m:r>
                      <a:rPr lang="en-US" sz="3200" b="0" i="1">
                        <a:effectLst/>
                        <a:latin typeface="Cambria Math" panose="02040503050406030204" pitchFamily="18" charset="0"/>
                        <a:ea typeface="Calibri" panose="020F0502020204030204" pitchFamily="34" charset="0"/>
                        <a:cs typeface="Times New Roman" panose="02020603050405020304" pitchFamily="18" charset="0"/>
                      </a:rPr>
                      <m:t>𝑎𝑟𝑟</m:t>
                    </m:r>
                    <m:r>
                      <a:rPr lang="en-US" sz="3200" b="0" i="1">
                        <a:effectLst/>
                        <a:latin typeface="Cambria Math" panose="02040503050406030204" pitchFamily="18" charset="0"/>
                        <a:ea typeface="Calibri" panose="020F0502020204030204" pitchFamily="34" charset="0"/>
                        <a:cs typeface="Times New Roman" panose="02020603050405020304" pitchFamily="18" charset="0"/>
                      </a:rPr>
                      <m:t> = </m:t>
                    </m:r>
                    <m:d>
                      <m:dPr>
                        <m:begChr m:val="{"/>
                        <m:endChr m:val="}"/>
                        <m:ctrlPr>
                          <a:rPr lang="en-US" sz="3200" b="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3200" b="0" i="1">
                            <a:effectLst/>
                            <a:latin typeface="Cambria Math" panose="02040503050406030204" pitchFamily="18" charset="0"/>
                            <a:ea typeface="Calibri" panose="020F0502020204030204" pitchFamily="34" charset="0"/>
                            <a:cs typeface="Times New Roman" panose="02020603050405020304" pitchFamily="18" charset="0"/>
                          </a:rPr>
                          <m:t>1,2,3,4,5,6,0</m:t>
                        </m:r>
                      </m:e>
                    </m:d>
                    <m:r>
                      <a:rPr lang="en-US" sz="3200" b="0" i="1" smtClean="0">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en-US" sz="3200" i="1">
                            <a:latin typeface="Cambria Math" panose="02040503050406030204" pitchFamily="18" charset="0"/>
                            <a:cs typeface="Times New Roman" panose="02020603050405020304" pitchFamily="18" charset="0"/>
                          </a:rPr>
                        </m:ctrlPr>
                      </m:dPr>
                      <m:e>
                        <m:r>
                          <a:rPr lang="en-US" sz="3200" i="1">
                            <a:latin typeface="Cambria Math" panose="02040503050406030204" pitchFamily="18" charset="0"/>
                            <a:cs typeface="Times New Roman" panose="02020603050405020304" pitchFamily="18" charset="0"/>
                          </a:rPr>
                          <m:t>𝑆</m:t>
                        </m:r>
                        <m:r>
                          <a:rPr lang="en-US" sz="3200" i="1">
                            <a:latin typeface="Cambria Math" panose="02040503050406030204" pitchFamily="18" charset="0"/>
                            <a:cs typeface="Times New Roman" panose="02020603050405020304" pitchFamily="18" charset="0"/>
                          </a:rPr>
                          <m:t>0</m:t>
                        </m:r>
                      </m:e>
                    </m:d>
                    <m:r>
                      <a:rPr lang="en-US" sz="3200" i="1">
                        <a:latin typeface="Cambria Math" panose="02040503050406030204" pitchFamily="18" charset="0"/>
                        <a:cs typeface="Times New Roman" panose="02020603050405020304" pitchFamily="18" charset="0"/>
                      </a:rPr>
                      <m:t>=</m:t>
                    </m:r>
                    <m:r>
                      <a:rPr lang="en-US" sz="3200" i="1">
                        <a:latin typeface="Cambria Math" panose="02040503050406030204" pitchFamily="18" charset="0"/>
                        <a:cs typeface="Times New Roman" panose="02020603050405020304" pitchFamily="18" charset="0"/>
                      </a:rPr>
                      <m:t>𝑎𝑑𝑑𝑟𝑒𝑠𝑠</m:t>
                    </m:r>
                    <m:r>
                      <a:rPr lang="en-US" sz="3200" i="1">
                        <a:latin typeface="Cambria Math" panose="02040503050406030204" pitchFamily="18" charset="0"/>
                        <a:cs typeface="Times New Roman" panose="02020603050405020304" pitchFamily="18" charset="0"/>
                      </a:rPr>
                      <m:t> </m:t>
                    </m:r>
                    <m:r>
                      <a:rPr lang="en-US" sz="3200" i="1">
                        <a:latin typeface="Cambria Math" panose="02040503050406030204" pitchFamily="18" charset="0"/>
                        <a:cs typeface="Times New Roman" panose="02020603050405020304" pitchFamily="18" charset="0"/>
                      </a:rPr>
                      <m:t>𝑜𝑓</m:t>
                    </m:r>
                    <m:r>
                      <a:rPr lang="en-US" sz="3200" i="1">
                        <a:latin typeface="Cambria Math" panose="02040503050406030204" pitchFamily="18" charset="0"/>
                        <a:cs typeface="Times New Roman" panose="02020603050405020304" pitchFamily="18" charset="0"/>
                      </a:rPr>
                      <m:t> </m:t>
                    </m:r>
                    <m:r>
                      <a:rPr lang="en-US" sz="3200" i="1">
                        <a:latin typeface="Cambria Math" panose="02040503050406030204" pitchFamily="18" charset="0"/>
                        <a:cs typeface="Times New Roman" panose="02020603050405020304" pitchFamily="18" charset="0"/>
                      </a:rPr>
                      <m:t>𝑎𝑟𝑟</m:t>
                    </m:r>
                    <m:r>
                      <a:rPr lang="en-US" sz="3200" i="1">
                        <a:latin typeface="Cambria Math" panose="02040503050406030204" pitchFamily="18" charset="0"/>
                        <a:cs typeface="Times New Roman" panose="02020603050405020304" pitchFamily="18" charset="0"/>
                      </a:rPr>
                      <m:t>[0]</m:t>
                    </m:r>
                  </m:oMath>
                </a14:m>
                <a:endParaRPr lang="en-US" sz="3200" i="1" dirty="0">
                  <a:latin typeface="Cambria Math" panose="02040503050406030204" pitchFamily="18" charset="0"/>
                  <a:ea typeface="Calibri" panose="020F0502020204030204" pitchFamily="34" charset="0"/>
                  <a:cs typeface="Times New Roman" panose="020206030504050203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873457" y="464024"/>
                <a:ext cx="10904561" cy="1409617"/>
              </a:xfrm>
              <a:prstGeom prst="rect">
                <a:avLst/>
              </a:prstGeom>
              <a:blipFill rotWithShape="0">
                <a:blip r:embed="rId3"/>
                <a:stretch>
                  <a:fillRect l="-2236" t="-7792" b="-1385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angle 2">
                <a:extLst>
                  <a:ext uri="{FF2B5EF4-FFF2-40B4-BE49-F238E27FC236}">
                    <a16:creationId xmlns:a16="http://schemas.microsoft.com/office/drawing/2014/main" id="{0704F4D6-2429-A11C-AB47-6ADE059C17AF}"/>
                  </a:ext>
                </a:extLst>
              </p:cNvPr>
              <p:cNvSpPr/>
              <p:nvPr/>
            </p:nvSpPr>
            <p:spPr>
              <a:xfrm>
                <a:off x="3494965" y="2190600"/>
                <a:ext cx="5481084" cy="657424"/>
              </a:xfrm>
              <a:prstGeom prst="rect">
                <a:avLst/>
              </a:prstGeom>
            </p:spPr>
            <p:txBody>
              <a:bodyPr wrap="square">
                <a:spAutoFit/>
              </a:bodyPr>
              <a:lstStyle/>
              <a:p>
                <a:pPr lvl="1" algn="l" rtl="0">
                  <a:lnSpc>
                    <a:spcPct val="107000"/>
                  </a:lnSpc>
                  <a:spcAft>
                    <a:spcPts val="800"/>
                  </a:spcAft>
                </a:pPr>
                <a:r>
                  <a:rPr lang="en-US" sz="3600" b="1" dirty="0">
                    <a:latin typeface="+mj-lt"/>
                    <a:ea typeface="Calibri" panose="020F0502020204030204" pitchFamily="34" charset="0"/>
                    <a:cs typeface="Arial" panose="020B0604020202020204" pitchFamily="34" charset="0"/>
                  </a:rPr>
                  <a:t>t0 = </a:t>
                </a:r>
                <a14:m>
                  <m:oMath xmlns:m="http://schemas.openxmlformats.org/officeDocument/2006/math">
                    <m:r>
                      <a:rPr lang="en-US" sz="3600" i="1">
                        <a:latin typeface="Cambria Math" panose="02040503050406030204" pitchFamily="18" charset="0"/>
                        <a:cs typeface="Times New Roman" panose="02020603050405020304" pitchFamily="18" charset="0"/>
                      </a:rPr>
                      <m:t>𝑎𝑟𝑟</m:t>
                    </m:r>
                    <m:d>
                      <m:dPr>
                        <m:begChr m:val="["/>
                        <m:endChr m:val="]"/>
                        <m:ctrlPr>
                          <a:rPr lang="en-US" sz="3600" i="1">
                            <a:latin typeface="Cambria Math" panose="02040503050406030204" pitchFamily="18" charset="0"/>
                            <a:cs typeface="Times New Roman" panose="02020603050405020304" pitchFamily="18" charset="0"/>
                          </a:rPr>
                        </m:ctrlPr>
                      </m:dPr>
                      <m:e>
                        <m:r>
                          <a:rPr lang="en-US" sz="3600" i="1">
                            <a:latin typeface="Cambria Math" panose="02040503050406030204" pitchFamily="18" charset="0"/>
                            <a:cs typeface="Times New Roman" panose="02020603050405020304" pitchFamily="18" charset="0"/>
                          </a:rPr>
                          <m:t>0</m:t>
                        </m:r>
                      </m:e>
                    </m:d>
                  </m:oMath>
                </a14:m>
                <a:endParaRPr lang="en-US" sz="3600" b="1" dirty="0">
                  <a:latin typeface="+mj-lt"/>
                  <a:ea typeface="Calibri" panose="020F0502020204030204" pitchFamily="34" charset="0"/>
                  <a:cs typeface="Arial" panose="020B0604020202020204" pitchFamily="34" charset="0"/>
                </a:endParaRPr>
              </a:p>
            </p:txBody>
          </p:sp>
        </mc:Choice>
        <mc:Fallback>
          <p:sp>
            <p:nvSpPr>
              <p:cNvPr id="9" name="Rectangle 2">
                <a:extLst>
                  <a:ext uri="{FF2B5EF4-FFF2-40B4-BE49-F238E27FC236}">
                    <a16:creationId xmlns:a16="http://schemas.microsoft.com/office/drawing/2014/main" id="{0704F4D6-2429-A11C-AB47-6ADE059C17AF}"/>
                  </a:ext>
                </a:extLst>
              </p:cNvPr>
              <p:cNvSpPr>
                <a:spLocks noRot="1" noChangeAspect="1" noMove="1" noResize="1" noEditPoints="1" noAdjustHandles="1" noChangeArrowheads="1" noChangeShapeType="1" noTextEdit="1"/>
              </p:cNvSpPr>
              <p:nvPr/>
            </p:nvSpPr>
            <p:spPr>
              <a:xfrm>
                <a:off x="3494965" y="2190600"/>
                <a:ext cx="5481084" cy="657424"/>
              </a:xfrm>
              <a:prstGeom prst="rect">
                <a:avLst/>
              </a:prstGeom>
              <a:blipFill>
                <a:blip r:embed="rId4"/>
                <a:stretch>
                  <a:fillRect t="-11321" b="-33962"/>
                </a:stretch>
              </a:blipFill>
            </p:spPr>
            <p:txBody>
              <a:bodyPr/>
              <a:lstStyle/>
              <a:p>
                <a:r>
                  <a:rPr lang="en-US">
                    <a:noFill/>
                  </a:rPr>
                  <a:t> </a:t>
                </a:r>
              </a:p>
            </p:txBody>
          </p:sp>
        </mc:Fallback>
      </mc:AlternateContent>
      <p:sp>
        <p:nvSpPr>
          <p:cNvPr id="10" name="Rectangle 2">
            <a:extLst>
              <a:ext uri="{FF2B5EF4-FFF2-40B4-BE49-F238E27FC236}">
                <a16:creationId xmlns:a16="http://schemas.microsoft.com/office/drawing/2014/main" id="{61122DAF-E15D-E8F0-1F5C-474C4A420FA4}"/>
              </a:ext>
            </a:extLst>
          </p:cNvPr>
          <p:cNvSpPr/>
          <p:nvPr/>
        </p:nvSpPr>
        <p:spPr>
          <a:xfrm>
            <a:off x="3494963" y="2810652"/>
            <a:ext cx="5844979" cy="658835"/>
          </a:xfrm>
          <a:prstGeom prst="rect">
            <a:avLst/>
          </a:prstGeom>
        </p:spPr>
        <p:txBody>
          <a:bodyPr wrap="square">
            <a:spAutoFit/>
          </a:bodyPr>
          <a:lstStyle/>
          <a:p>
            <a:pPr lvl="1" algn="l" rtl="0">
              <a:lnSpc>
                <a:spcPct val="107000"/>
              </a:lnSpc>
              <a:spcAft>
                <a:spcPts val="800"/>
              </a:spcAft>
            </a:pPr>
            <a:r>
              <a:rPr lang="en-US" sz="3600" b="1" dirty="0">
                <a:latin typeface="+mj-lt"/>
                <a:ea typeface="Calibri" panose="020F0502020204030204" pitchFamily="34" charset="0"/>
                <a:cs typeface="Arial" panose="020B0604020202020204" pitchFamily="34" charset="0"/>
              </a:rPr>
              <a:t>t1 = -1</a:t>
            </a:r>
          </a:p>
        </p:txBody>
      </p:sp>
      <p:sp>
        <p:nvSpPr>
          <p:cNvPr id="11" name="Rectangle 2">
            <a:extLst>
              <a:ext uri="{FF2B5EF4-FFF2-40B4-BE49-F238E27FC236}">
                <a16:creationId xmlns:a16="http://schemas.microsoft.com/office/drawing/2014/main" id="{14A5033E-9871-1A54-B1F4-DA326791A8D7}"/>
              </a:ext>
            </a:extLst>
          </p:cNvPr>
          <p:cNvSpPr/>
          <p:nvPr/>
        </p:nvSpPr>
        <p:spPr>
          <a:xfrm>
            <a:off x="3494964" y="3365630"/>
            <a:ext cx="4137477" cy="658835"/>
          </a:xfrm>
          <a:prstGeom prst="rect">
            <a:avLst/>
          </a:prstGeom>
        </p:spPr>
        <p:txBody>
          <a:bodyPr wrap="square">
            <a:spAutoFit/>
          </a:bodyPr>
          <a:lstStyle/>
          <a:p>
            <a:pPr lvl="1" algn="l" rtl="0">
              <a:lnSpc>
                <a:spcPct val="107000"/>
              </a:lnSpc>
              <a:spcAft>
                <a:spcPts val="800"/>
              </a:spcAft>
            </a:pPr>
            <a:r>
              <a:rPr lang="en-US" sz="3600" b="1" dirty="0">
                <a:latin typeface="+mj-lt"/>
                <a:ea typeface="Calibri" panose="020F0502020204030204" pitchFamily="34" charset="0"/>
                <a:cs typeface="Arial" panose="020B0604020202020204" pitchFamily="34" charset="0"/>
              </a:rPr>
              <a:t>t0 = not(t0)</a:t>
            </a:r>
          </a:p>
        </p:txBody>
      </p:sp>
      <p:sp>
        <p:nvSpPr>
          <p:cNvPr id="12" name="Rectangle 2">
            <a:extLst>
              <a:ext uri="{FF2B5EF4-FFF2-40B4-BE49-F238E27FC236}">
                <a16:creationId xmlns:a16="http://schemas.microsoft.com/office/drawing/2014/main" id="{276286AE-F344-FC69-8789-EB020F331F58}"/>
              </a:ext>
            </a:extLst>
          </p:cNvPr>
          <p:cNvSpPr/>
          <p:nvPr/>
        </p:nvSpPr>
        <p:spPr>
          <a:xfrm>
            <a:off x="3494964" y="3963695"/>
            <a:ext cx="4921248" cy="658835"/>
          </a:xfrm>
          <a:prstGeom prst="rect">
            <a:avLst/>
          </a:prstGeom>
        </p:spPr>
        <p:txBody>
          <a:bodyPr wrap="square">
            <a:spAutoFit/>
          </a:bodyPr>
          <a:lstStyle/>
          <a:p>
            <a:pPr lvl="1" algn="l" rtl="0">
              <a:lnSpc>
                <a:spcPct val="107000"/>
              </a:lnSpc>
              <a:spcAft>
                <a:spcPts val="800"/>
              </a:spcAft>
            </a:pPr>
            <a:r>
              <a:rPr lang="en-US" sz="3600" b="1" dirty="0">
                <a:latin typeface="+mj-lt"/>
                <a:ea typeface="Calibri" panose="020F0502020204030204" pitchFamily="34" charset="0"/>
                <a:cs typeface="Arial" panose="020B0604020202020204" pitchFamily="34" charset="0"/>
              </a:rPr>
              <a:t>t0 = t0+1</a:t>
            </a:r>
          </a:p>
        </p:txBody>
      </p:sp>
    </p:spTree>
    <p:extLst>
      <p:ext uri="{BB962C8B-B14F-4D97-AF65-F5344CB8AC3E}">
        <p14:creationId xmlns:p14="http://schemas.microsoft.com/office/powerpoint/2010/main" val="787746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P spid="11" grpId="0"/>
      <p:bldP spid="1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3290581"/>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Question 2</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14:m>
                  <m:oMathPara xmlns:m="http://schemas.openxmlformats.org/officeDocument/2006/math">
                    <m:oMathParaPr>
                      <m:jc m:val="centerGroup"/>
                    </m:oMathParaPr>
                    <m:oMath xmlns:m="http://schemas.openxmlformats.org/officeDocument/2006/math">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𝑊h𝑎𝑡</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𝑎𝑟𝑒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𝑡h𝑒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𝑖𝑛𝑠𝑡𝑟𝑢𝑐𝑡𝑖𝑜𝑛𝑠</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𝑡𝑜</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𝑏𝑟𝑎𝑛𝑐h</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𝑡𝑜</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𝑙𝑎𝑏𝑒𝑙</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𝑜𝑛</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𝑒𝑎𝑐h</m:t>
                      </m:r>
                    </m:oMath>
                    <m:oMath xmlns:m="http://schemas.openxmlformats.org/officeDocument/2006/math">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𝑜𝑓</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𝑡h𝑒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𝑓𝑜𝑙𝑙𝑜𝑤𝑖𝑛𝑔</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𝑐𝑜𝑛𝑑𝑖𝑡𝑖𝑜𝑛𝑠</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oMath>
                    <m:oMath xmlns:m="http://schemas.openxmlformats.org/officeDocument/2006/math">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𝑇h𝑒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𝑜𝑛𝑙𝑦</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𝑏𝑟𝑎𝑛𝑐h</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𝑖𝑛𝑠𝑡𝑟𝑢𝑐𝑡𝑖𝑜𝑛𝑠</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𝑦𝑜𝑢</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𝑚𝑎𝑦</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𝑢𝑠𝑒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𝑎𝑟𝑒</m:t>
                      </m:r>
                    </m:oMath>
                    <m:oMath xmlns:m="http://schemas.openxmlformats.org/officeDocument/2006/math">
                      <m:r>
                        <a:rPr lang="en-US" sz="3600" b="1" i="1" smtClean="0">
                          <a:effectLst/>
                          <a:latin typeface="Cambria Math" panose="02040503050406030204" pitchFamily="18" charset="0"/>
                          <a:ea typeface="Calibri" panose="020F0502020204030204" pitchFamily="34" charset="0"/>
                          <a:cs typeface="Times New Roman" panose="02020603050405020304" pitchFamily="18" charset="0"/>
                        </a:rPr>
                        <m:t>𝒃𝒆𝒒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𝑎𝑛𝑑</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1" i="1" smtClean="0">
                          <a:effectLst/>
                          <a:latin typeface="Cambria Math" panose="02040503050406030204" pitchFamily="18" charset="0"/>
                          <a:ea typeface="Calibri" panose="020F0502020204030204" pitchFamily="34" charset="0"/>
                          <a:cs typeface="Times New Roman" panose="02020603050405020304" pitchFamily="18" charset="0"/>
                        </a:rPr>
                        <m:t>𝒃𝒏𝒆</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3290581"/>
              </a:xfrm>
              <a:prstGeom prst="rect">
                <a:avLst/>
              </a:prstGeom>
              <a:blipFill rotWithShape="0">
                <a:blip r:embed="rId3"/>
                <a:stretch>
                  <a:fillRect l="-2236" t="-3333"/>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873457" y="3756076"/>
                <a:ext cx="1842448" cy="64633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600" b="1" i="1" dirty="0" smtClean="0">
                          <a:effectLst/>
                          <a:latin typeface="Cambria Math" panose="02040503050406030204" pitchFamily="18" charset="0"/>
                          <a:ea typeface="Calibri" panose="020F0502020204030204" pitchFamily="34" charset="0"/>
                        </a:rPr>
                        <m:t>𝒔</m:t>
                      </m:r>
                      <m:r>
                        <a:rPr lang="en-US" sz="3600" b="1" i="1" dirty="0" smtClean="0">
                          <a:effectLst/>
                          <a:latin typeface="Cambria Math" panose="02040503050406030204" pitchFamily="18" charset="0"/>
                          <a:ea typeface="Calibri" panose="020F0502020204030204" pitchFamily="34" charset="0"/>
                        </a:rPr>
                        <m:t>𝟎</m:t>
                      </m:r>
                      <m:r>
                        <a:rPr lang="en-US" sz="3600" b="1" i="1" dirty="0" smtClean="0">
                          <a:effectLst/>
                          <a:latin typeface="Cambria Math" panose="02040503050406030204" pitchFamily="18" charset="0"/>
                          <a:ea typeface="Calibri" panose="020F0502020204030204" pitchFamily="34" charset="0"/>
                        </a:rPr>
                        <m:t>&lt;</m:t>
                      </m:r>
                      <m:r>
                        <a:rPr lang="en-US" sz="3600" b="1" i="1" dirty="0" smtClean="0">
                          <a:effectLst/>
                          <a:latin typeface="Cambria Math" panose="02040503050406030204" pitchFamily="18" charset="0"/>
                          <a:ea typeface="Calibri" panose="020F0502020204030204" pitchFamily="34" charset="0"/>
                        </a:rPr>
                        <m:t>𝒔</m:t>
                      </m:r>
                      <m:r>
                        <a:rPr lang="en-US" sz="3600" b="1" i="1" dirty="0" smtClean="0">
                          <a:effectLst/>
                          <a:latin typeface="Cambria Math" panose="02040503050406030204" pitchFamily="18" charset="0"/>
                          <a:ea typeface="Calibri" panose="020F0502020204030204" pitchFamily="34" charset="0"/>
                        </a:rPr>
                        <m:t>𝟏</m:t>
                      </m:r>
                    </m:oMath>
                  </m:oMathPara>
                </a14:m>
                <a:endParaRPr lang="ar-SA" sz="3600" b="1" dirty="0">
                  <a:effectLst/>
                  <a:latin typeface="+mj-lt"/>
                  <a:ea typeface="Calibri" panose="020F0502020204030204" pitchFamily="34"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873457" y="3756076"/>
                <a:ext cx="1842448" cy="646331"/>
              </a:xfrm>
              <a:prstGeom prst="rect">
                <a:avLst/>
              </a:prstGeom>
              <a:blipFill rotWithShape="0">
                <a:blip r:embed="rId4"/>
                <a:stretch>
                  <a:fillRect/>
                </a:stretch>
              </a:blipFill>
            </p:spPr>
            <p:txBody>
              <a:bodyPr/>
              <a:lstStyle/>
              <a:p>
                <a:r>
                  <a:rPr lang="he-IL">
                    <a:noFill/>
                  </a:rPr>
                  <a:t> </a:t>
                </a:r>
              </a:p>
            </p:txBody>
          </p:sp>
        </mc:Fallback>
      </mc:AlternateContent>
      <p:sp>
        <p:nvSpPr>
          <p:cNvPr id="6" name="Rectangle 5"/>
          <p:cNvSpPr/>
          <p:nvPr/>
        </p:nvSpPr>
        <p:spPr>
          <a:xfrm>
            <a:off x="873457" y="4587656"/>
            <a:ext cx="6096000" cy="1200329"/>
          </a:xfrm>
          <a:prstGeom prst="rect">
            <a:avLst/>
          </a:prstGeom>
        </p:spPr>
        <p:txBody>
          <a:bodyPr>
            <a:spAutoFit/>
          </a:bodyPr>
          <a:lstStyle/>
          <a:p>
            <a:pPr algn="l"/>
            <a:r>
              <a:rPr lang="en-US" sz="3600" dirty="0" err="1">
                <a:solidFill>
                  <a:srgbClr val="002060"/>
                </a:solidFill>
              </a:rPr>
              <a:t>slt</a:t>
            </a:r>
            <a:r>
              <a:rPr lang="en-US" sz="3600" dirty="0">
                <a:solidFill>
                  <a:srgbClr val="002060"/>
                </a:solidFill>
              </a:rPr>
              <a:t> t0, s0, s1</a:t>
            </a:r>
          </a:p>
          <a:p>
            <a:pPr algn="l"/>
            <a:r>
              <a:rPr lang="en-US" sz="3600" dirty="0" err="1">
                <a:solidFill>
                  <a:srgbClr val="002060"/>
                </a:solidFill>
              </a:rPr>
              <a:t>bne</a:t>
            </a:r>
            <a:r>
              <a:rPr lang="en-US" sz="3600" dirty="0">
                <a:solidFill>
                  <a:srgbClr val="002060"/>
                </a:solidFill>
              </a:rPr>
              <a:t> t0, x0, label</a:t>
            </a:r>
            <a:endParaRPr lang="he-IL" sz="3600" dirty="0">
              <a:solidFill>
                <a:srgbClr val="002060"/>
              </a:solidFill>
            </a:endParaRPr>
          </a:p>
        </p:txBody>
      </p:sp>
    </p:spTree>
    <p:extLst>
      <p:ext uri="{BB962C8B-B14F-4D97-AF65-F5344CB8AC3E}">
        <p14:creationId xmlns:p14="http://schemas.microsoft.com/office/powerpoint/2010/main" val="1894652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3290581"/>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Question 2</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14:m>
                  <m:oMathPara xmlns:m="http://schemas.openxmlformats.org/officeDocument/2006/math">
                    <m:oMathParaPr>
                      <m:jc m:val="centerGroup"/>
                    </m:oMathParaPr>
                    <m:oMath xmlns:m="http://schemas.openxmlformats.org/officeDocument/2006/math">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𝑊h𝑎𝑡</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𝑎𝑟𝑒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𝑡h𝑒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𝑖𝑛𝑠𝑡𝑟𝑢𝑐𝑡𝑖𝑜𝑛𝑠</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𝑡𝑜</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𝑏𝑟𝑎𝑛𝑐h</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𝑡𝑜</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𝑙𝑎𝑏𝑒𝑙</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𝑜𝑛</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𝑒𝑎𝑐h</m:t>
                      </m:r>
                    </m:oMath>
                    <m:oMath xmlns:m="http://schemas.openxmlformats.org/officeDocument/2006/math">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𝑜𝑓</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𝑡h𝑒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𝑓𝑜𝑙𝑙𝑜𝑤𝑖𝑛𝑔</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𝑐𝑜𝑛𝑑𝑖𝑡𝑖𝑜𝑛𝑠</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oMath>
                    <m:oMath xmlns:m="http://schemas.openxmlformats.org/officeDocument/2006/math">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𝑇h𝑒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𝑜𝑛𝑙𝑦</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𝑏𝑟𝑎𝑛𝑐h</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𝑖𝑛𝑠𝑡𝑟𝑢𝑐𝑡𝑖𝑜𝑛𝑠</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𝑦𝑜𝑢</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𝑚𝑎𝑦</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𝑢𝑠𝑒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𝑎𝑟𝑒</m:t>
                      </m:r>
                    </m:oMath>
                    <m:oMath xmlns:m="http://schemas.openxmlformats.org/officeDocument/2006/math">
                      <m:r>
                        <a:rPr lang="en-US" sz="3600" b="1" i="1" smtClean="0">
                          <a:effectLst/>
                          <a:latin typeface="Cambria Math" panose="02040503050406030204" pitchFamily="18" charset="0"/>
                          <a:ea typeface="Calibri" panose="020F0502020204030204" pitchFamily="34" charset="0"/>
                          <a:cs typeface="Times New Roman" panose="02020603050405020304" pitchFamily="18" charset="0"/>
                        </a:rPr>
                        <m:t>𝒃𝒆𝒒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𝑎𝑛𝑑</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1" i="1" smtClean="0">
                          <a:effectLst/>
                          <a:latin typeface="Cambria Math" panose="02040503050406030204" pitchFamily="18" charset="0"/>
                          <a:ea typeface="Calibri" panose="020F0502020204030204" pitchFamily="34" charset="0"/>
                          <a:cs typeface="Times New Roman" panose="02020603050405020304" pitchFamily="18" charset="0"/>
                        </a:rPr>
                        <m:t>𝒃𝒏𝒆</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3290581"/>
              </a:xfrm>
              <a:prstGeom prst="rect">
                <a:avLst/>
              </a:prstGeom>
              <a:blipFill rotWithShape="0">
                <a:blip r:embed="rId3"/>
                <a:stretch>
                  <a:fillRect l="-2236" t="-3333"/>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873457" y="3756076"/>
                <a:ext cx="1842448" cy="64633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600" b="1" i="1" dirty="0" smtClean="0">
                          <a:effectLst/>
                          <a:latin typeface="Cambria Math" panose="02040503050406030204" pitchFamily="18" charset="0"/>
                          <a:ea typeface="Calibri" panose="020F0502020204030204" pitchFamily="34" charset="0"/>
                        </a:rPr>
                        <m:t>𝒔</m:t>
                      </m:r>
                      <m:r>
                        <a:rPr lang="en-US" sz="3600" b="1" i="1" dirty="0" smtClean="0">
                          <a:effectLst/>
                          <a:latin typeface="Cambria Math" panose="02040503050406030204" pitchFamily="18" charset="0"/>
                          <a:ea typeface="Calibri" panose="020F0502020204030204" pitchFamily="34" charset="0"/>
                        </a:rPr>
                        <m:t>𝟎</m:t>
                      </m:r>
                      <m:r>
                        <a:rPr lang="en-US" sz="3600" b="1" i="1" dirty="0" smtClean="0">
                          <a:effectLst/>
                          <a:latin typeface="Cambria Math" panose="02040503050406030204" pitchFamily="18" charset="0"/>
                          <a:ea typeface="Calibri" panose="020F0502020204030204" pitchFamily="34" charset="0"/>
                        </a:rPr>
                        <m:t>≤</m:t>
                      </m:r>
                      <m:r>
                        <a:rPr lang="en-US" sz="3600" b="1" i="1" dirty="0" smtClean="0">
                          <a:effectLst/>
                          <a:latin typeface="Cambria Math" panose="02040503050406030204" pitchFamily="18" charset="0"/>
                          <a:ea typeface="Calibri" panose="020F0502020204030204" pitchFamily="34" charset="0"/>
                        </a:rPr>
                        <m:t>𝒔</m:t>
                      </m:r>
                      <m:r>
                        <a:rPr lang="en-US" sz="3600" b="1" i="1" dirty="0" smtClean="0">
                          <a:effectLst/>
                          <a:latin typeface="Cambria Math" panose="02040503050406030204" pitchFamily="18" charset="0"/>
                          <a:ea typeface="Calibri" panose="020F0502020204030204" pitchFamily="34" charset="0"/>
                        </a:rPr>
                        <m:t>𝟏</m:t>
                      </m:r>
                    </m:oMath>
                  </m:oMathPara>
                </a14:m>
                <a:endParaRPr lang="ar-SA" sz="3600" b="1" dirty="0">
                  <a:effectLst/>
                  <a:latin typeface="+mj-lt"/>
                  <a:ea typeface="Calibri" panose="020F0502020204030204" pitchFamily="34"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873457" y="3756076"/>
                <a:ext cx="1842448" cy="646331"/>
              </a:xfrm>
              <a:prstGeom prst="rect">
                <a:avLst/>
              </a:prstGeom>
              <a:blipFill rotWithShape="0">
                <a:blip r:embed="rId4"/>
                <a:stretch>
                  <a:fillRect/>
                </a:stretch>
              </a:blipFill>
            </p:spPr>
            <p:txBody>
              <a:bodyPr/>
              <a:lstStyle/>
              <a:p>
                <a:r>
                  <a:rPr lang="he-IL">
                    <a:noFill/>
                  </a:rPr>
                  <a:t> </a:t>
                </a:r>
              </a:p>
            </p:txBody>
          </p:sp>
        </mc:Fallback>
      </mc:AlternateContent>
      <p:sp>
        <p:nvSpPr>
          <p:cNvPr id="6" name="Rectangle 5"/>
          <p:cNvSpPr/>
          <p:nvPr/>
        </p:nvSpPr>
        <p:spPr>
          <a:xfrm>
            <a:off x="873457" y="4587656"/>
            <a:ext cx="6096000" cy="1200329"/>
          </a:xfrm>
          <a:prstGeom prst="rect">
            <a:avLst/>
          </a:prstGeom>
        </p:spPr>
        <p:txBody>
          <a:bodyPr>
            <a:spAutoFit/>
          </a:bodyPr>
          <a:lstStyle/>
          <a:p>
            <a:pPr algn="l"/>
            <a:r>
              <a:rPr lang="en-US" sz="3600" dirty="0" err="1">
                <a:solidFill>
                  <a:srgbClr val="002060"/>
                </a:solidFill>
              </a:rPr>
              <a:t>slt</a:t>
            </a:r>
            <a:r>
              <a:rPr lang="en-US" sz="3600" dirty="0">
                <a:solidFill>
                  <a:srgbClr val="002060"/>
                </a:solidFill>
              </a:rPr>
              <a:t> t0, s1, s0</a:t>
            </a:r>
          </a:p>
          <a:p>
            <a:pPr algn="l"/>
            <a:r>
              <a:rPr lang="en-US" sz="3600" dirty="0" err="1">
                <a:solidFill>
                  <a:srgbClr val="002060"/>
                </a:solidFill>
              </a:rPr>
              <a:t>beq</a:t>
            </a:r>
            <a:r>
              <a:rPr lang="en-US" sz="3600" dirty="0">
                <a:solidFill>
                  <a:srgbClr val="002060"/>
                </a:solidFill>
              </a:rPr>
              <a:t> t0, x0, label</a:t>
            </a:r>
            <a:endParaRPr lang="he-IL" sz="3600" dirty="0">
              <a:solidFill>
                <a:srgbClr val="002060"/>
              </a:solidFill>
            </a:endParaRPr>
          </a:p>
        </p:txBody>
      </p:sp>
    </p:spTree>
    <p:extLst>
      <p:ext uri="{BB962C8B-B14F-4D97-AF65-F5344CB8AC3E}">
        <p14:creationId xmlns:p14="http://schemas.microsoft.com/office/powerpoint/2010/main" val="3641315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3290581"/>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Question 2</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14:m>
                  <m:oMathPara xmlns:m="http://schemas.openxmlformats.org/officeDocument/2006/math">
                    <m:oMathParaPr>
                      <m:jc m:val="centerGroup"/>
                    </m:oMathParaPr>
                    <m:oMath xmlns:m="http://schemas.openxmlformats.org/officeDocument/2006/math">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𝑊h𝑎𝑡</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𝑎𝑟𝑒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𝑡h𝑒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𝑖𝑛𝑠𝑡𝑟𝑢𝑐𝑡𝑖𝑜𝑛𝑠</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𝑡𝑜</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𝑏𝑟𝑎𝑛𝑐h</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𝑡𝑜</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𝑙𝑎𝑏𝑒𝑙</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𝑜𝑛</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𝑒𝑎𝑐h</m:t>
                      </m:r>
                    </m:oMath>
                    <m:oMath xmlns:m="http://schemas.openxmlformats.org/officeDocument/2006/math">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𝑜𝑓</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𝑡h𝑒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𝑓𝑜𝑙𝑙𝑜𝑤𝑖𝑛𝑔</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𝑐𝑜𝑛𝑑𝑖𝑡𝑖𝑜𝑛𝑠</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oMath>
                    <m:oMath xmlns:m="http://schemas.openxmlformats.org/officeDocument/2006/math">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𝑇h𝑒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𝑜𝑛𝑙𝑦</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𝑏𝑟𝑎𝑛𝑐h</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𝑖𝑛𝑠𝑡𝑟𝑢𝑐𝑡𝑖𝑜𝑛𝑠</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𝑦𝑜𝑢</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𝑚𝑎𝑦</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𝑢𝑠𝑒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𝑎𝑟𝑒</m:t>
                      </m:r>
                    </m:oMath>
                    <m:oMath xmlns:m="http://schemas.openxmlformats.org/officeDocument/2006/math">
                      <m:r>
                        <a:rPr lang="en-US" sz="3600" b="1" i="1" smtClean="0">
                          <a:effectLst/>
                          <a:latin typeface="Cambria Math" panose="02040503050406030204" pitchFamily="18" charset="0"/>
                          <a:ea typeface="Calibri" panose="020F0502020204030204" pitchFamily="34" charset="0"/>
                          <a:cs typeface="Times New Roman" panose="02020603050405020304" pitchFamily="18" charset="0"/>
                        </a:rPr>
                        <m:t>𝒃𝒆𝒒</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𝑎𝑛𝑑</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1" i="1" smtClean="0">
                          <a:effectLst/>
                          <a:latin typeface="Cambria Math" panose="02040503050406030204" pitchFamily="18" charset="0"/>
                          <a:ea typeface="Calibri" panose="020F0502020204030204" pitchFamily="34" charset="0"/>
                          <a:cs typeface="Times New Roman" panose="02020603050405020304" pitchFamily="18" charset="0"/>
                        </a:rPr>
                        <m:t>𝒃𝒏𝒆</m:t>
                      </m:r>
                      <m:r>
                        <a:rPr lang="en-US" sz="3600" b="0" i="1" smtClean="0">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3290581"/>
              </a:xfrm>
              <a:prstGeom prst="rect">
                <a:avLst/>
              </a:prstGeom>
              <a:blipFill rotWithShape="0">
                <a:blip r:embed="rId3"/>
                <a:stretch>
                  <a:fillRect l="-2236" t="-3333"/>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873457" y="3756076"/>
                <a:ext cx="1842448" cy="64633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600" b="1" i="1" dirty="0" smtClean="0">
                          <a:effectLst/>
                          <a:latin typeface="Cambria Math" panose="02040503050406030204" pitchFamily="18" charset="0"/>
                          <a:ea typeface="Calibri" panose="020F0502020204030204" pitchFamily="34" charset="0"/>
                        </a:rPr>
                        <m:t>𝒔</m:t>
                      </m:r>
                      <m:r>
                        <a:rPr lang="en-US" sz="3600" b="1" i="1" dirty="0" smtClean="0">
                          <a:effectLst/>
                          <a:latin typeface="Cambria Math" panose="02040503050406030204" pitchFamily="18" charset="0"/>
                          <a:ea typeface="Calibri" panose="020F0502020204030204" pitchFamily="34" charset="0"/>
                        </a:rPr>
                        <m:t>𝟎</m:t>
                      </m:r>
                      <m:r>
                        <a:rPr lang="en-US" sz="3600" b="1" i="1" dirty="0" smtClean="0">
                          <a:effectLst/>
                          <a:latin typeface="Cambria Math" panose="02040503050406030204" pitchFamily="18" charset="0"/>
                          <a:ea typeface="Calibri" panose="020F0502020204030204" pitchFamily="34" charset="0"/>
                        </a:rPr>
                        <m:t>&gt;</m:t>
                      </m:r>
                      <m:r>
                        <a:rPr lang="en-US" sz="3600" b="1" i="1" dirty="0" smtClean="0">
                          <a:effectLst/>
                          <a:latin typeface="Cambria Math" panose="02040503050406030204" pitchFamily="18" charset="0"/>
                          <a:ea typeface="Calibri" panose="020F0502020204030204" pitchFamily="34" charset="0"/>
                        </a:rPr>
                        <m:t>𝟏</m:t>
                      </m:r>
                      <m:r>
                        <a:rPr lang="en-US" sz="3600" b="1" i="1" dirty="0" smtClean="0">
                          <a:effectLst/>
                          <a:latin typeface="Cambria Math" panose="02040503050406030204" pitchFamily="18" charset="0"/>
                          <a:ea typeface="Calibri" panose="020F0502020204030204" pitchFamily="34" charset="0"/>
                        </a:rPr>
                        <m:t>  </m:t>
                      </m:r>
                    </m:oMath>
                  </m:oMathPara>
                </a14:m>
                <a:endParaRPr lang="ar-SA" sz="3600" b="1" dirty="0">
                  <a:effectLst/>
                  <a:latin typeface="+mj-lt"/>
                  <a:ea typeface="Calibri" panose="020F0502020204030204" pitchFamily="34"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873457" y="3756076"/>
                <a:ext cx="1842448" cy="646331"/>
              </a:xfrm>
              <a:prstGeom prst="rect">
                <a:avLst/>
              </a:prstGeom>
              <a:blipFill rotWithShape="0">
                <a:blip r:embed="rId4"/>
                <a:stretch>
                  <a:fillRect/>
                </a:stretch>
              </a:blipFill>
            </p:spPr>
            <p:txBody>
              <a:bodyPr/>
              <a:lstStyle/>
              <a:p>
                <a:r>
                  <a:rPr lang="he-IL">
                    <a:noFill/>
                  </a:rPr>
                  <a:t> </a:t>
                </a:r>
              </a:p>
            </p:txBody>
          </p:sp>
        </mc:Fallback>
      </mc:AlternateContent>
      <p:sp>
        <p:nvSpPr>
          <p:cNvPr id="6" name="Rectangle 5"/>
          <p:cNvSpPr/>
          <p:nvPr/>
        </p:nvSpPr>
        <p:spPr>
          <a:xfrm>
            <a:off x="873457" y="4587656"/>
            <a:ext cx="6096000" cy="1200329"/>
          </a:xfrm>
          <a:prstGeom prst="rect">
            <a:avLst/>
          </a:prstGeom>
        </p:spPr>
        <p:txBody>
          <a:bodyPr>
            <a:spAutoFit/>
          </a:bodyPr>
          <a:lstStyle/>
          <a:p>
            <a:pPr algn="l"/>
            <a:r>
              <a:rPr lang="en-US" sz="3600" dirty="0" err="1">
                <a:solidFill>
                  <a:srgbClr val="002060"/>
                </a:solidFill>
              </a:rPr>
              <a:t>slti</a:t>
            </a:r>
            <a:r>
              <a:rPr lang="en-US" sz="3600" dirty="0">
                <a:solidFill>
                  <a:srgbClr val="002060"/>
                </a:solidFill>
              </a:rPr>
              <a:t> t0, s0, 2</a:t>
            </a:r>
          </a:p>
          <a:p>
            <a:pPr algn="l"/>
            <a:r>
              <a:rPr lang="en-US" sz="3600" dirty="0" err="1">
                <a:solidFill>
                  <a:srgbClr val="002060"/>
                </a:solidFill>
              </a:rPr>
              <a:t>beq</a:t>
            </a:r>
            <a:r>
              <a:rPr lang="en-US" sz="3600" dirty="0">
                <a:solidFill>
                  <a:srgbClr val="002060"/>
                </a:solidFill>
              </a:rPr>
              <a:t> t0, x0, label</a:t>
            </a:r>
            <a:endParaRPr lang="he-IL" sz="3600" dirty="0">
              <a:solidFill>
                <a:srgbClr val="002060"/>
              </a:solidFill>
            </a:endParaRPr>
          </a:p>
        </p:txBody>
      </p:sp>
    </p:spTree>
    <p:extLst>
      <p:ext uri="{BB962C8B-B14F-4D97-AF65-F5344CB8AC3E}">
        <p14:creationId xmlns:p14="http://schemas.microsoft.com/office/powerpoint/2010/main" val="1662498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4476162"/>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Question 3</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r>
                  <a:rPr lang="en-US" sz="3600" dirty="0"/>
                  <a:t>Translate between the C and RISC-V code. </a:t>
                </a:r>
                <a:br>
                  <a:rPr lang="en-US" sz="3600" dirty="0"/>
                </a:br>
                <a:br>
                  <a:rPr lang="en-US" sz="3600" dirty="0"/>
                </a:br>
                <a:r>
                  <a:rPr lang="en-US" sz="3600" dirty="0"/>
                  <a:t>Notes:</a:t>
                </a:r>
                <a:br>
                  <a:rPr lang="en-US" sz="3600" dirty="0"/>
                </a:br>
                <a:r>
                  <a:rPr lang="en-US" sz="3600" dirty="0"/>
                  <a:t>- You don't have to worry about the stack or any </a:t>
                </a:r>
                <a:br>
                  <a:rPr lang="en-US" sz="3600" dirty="0"/>
                </a:br>
                <a:r>
                  <a:rPr lang="en-US" sz="3600" dirty="0"/>
                  <a:t>   memory-related issues.</a:t>
                </a:r>
              </a:p>
              <a:p>
                <a:pPr lvl="0" algn="l" rtl="0">
                  <a:lnSpc>
                    <a:spcPct val="107000"/>
                  </a:lnSpc>
                  <a:spcAft>
                    <a:spcPts val="800"/>
                  </a:spcAft>
                  <a:buSzPts val="1050"/>
                </a:pPr>
                <a:r>
                  <a:rPr lang="en-US" sz="3600" dirty="0"/>
                  <a:t>- You may assume all registers are initialized to zero.</a:t>
                </a:r>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4476162"/>
              </a:xfrm>
              <a:prstGeom prst="rect">
                <a:avLst/>
              </a:prstGeom>
              <a:blipFill rotWithShape="0">
                <a:blip r:embed="rId2"/>
                <a:stretch>
                  <a:fillRect l="-2236" t="-2452" b="-3678"/>
                </a:stretch>
              </a:blipFill>
            </p:spPr>
            <p:txBody>
              <a:bodyPr/>
              <a:lstStyle/>
              <a:p>
                <a:r>
                  <a:rPr lang="he-IL">
                    <a:noFill/>
                  </a:rPr>
                  <a:t> </a:t>
                </a:r>
              </a:p>
            </p:txBody>
          </p:sp>
        </mc:Fallback>
      </mc:AlternateContent>
    </p:spTree>
    <p:extLst>
      <p:ext uri="{BB962C8B-B14F-4D97-AF65-F5344CB8AC3E}">
        <p14:creationId xmlns:p14="http://schemas.microsoft.com/office/powerpoint/2010/main" val="3692992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1409617"/>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Question 3</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r>
                  <a:rPr lang="en-US" sz="3600" dirty="0"/>
                  <a:t>Translate between the C and RISC-V code. </a:t>
                </a:r>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1409617"/>
              </a:xfrm>
              <a:prstGeom prst="rect">
                <a:avLst/>
              </a:prstGeom>
              <a:blipFill rotWithShape="0">
                <a:blip r:embed="rId2"/>
                <a:stretch>
                  <a:fillRect l="-2236" t="-7792" b="-13853"/>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873457" y="2062760"/>
                <a:ext cx="4299044" cy="2732479"/>
              </a:xfrm>
              <a:prstGeom prst="rect">
                <a:avLst/>
              </a:prstGeom>
            </p:spPr>
            <p:txBody>
              <a:bodyPr wrap="square">
                <a:spAutoFit/>
              </a:bodyPr>
              <a:lstStyle/>
              <a:p>
                <a:pPr algn="l">
                  <a:lnSpc>
                    <a:spcPct val="107000"/>
                  </a:lnSpc>
                  <a:spcAft>
                    <a:spcPts val="800"/>
                  </a:spcAft>
                </a:pPr>
                <a:r>
                  <a:rPr lang="en-US" sz="3600" b="1" dirty="0">
                    <a:effectLst/>
                    <a:latin typeface="+mj-lt"/>
                    <a:ea typeface="Calibri" panose="020F0502020204030204" pitchFamily="34" charset="0"/>
                    <a:cs typeface="Arial" panose="020B0604020202020204" pitchFamily="34" charset="0"/>
                  </a:rPr>
                  <a:t>// s0 </a:t>
                </a:r>
                <a14:m>
                  <m:oMath xmlns:m="http://schemas.openxmlformats.org/officeDocument/2006/math">
                    <m:r>
                      <a:rPr lang="en-US" sz="3600" b="1" i="1">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3600" b="1" dirty="0">
                    <a:effectLst/>
                    <a:latin typeface="+mj-lt"/>
                    <a:ea typeface="Calibri" panose="020F0502020204030204" pitchFamily="34" charset="0"/>
                    <a:cs typeface="Arial" panose="020B0604020202020204" pitchFamily="34" charset="0"/>
                  </a:rPr>
                  <a:t> a, s1 </a:t>
                </a:r>
                <a14:m>
                  <m:oMath xmlns:m="http://schemas.openxmlformats.org/officeDocument/2006/math">
                    <m:r>
                      <a:rPr lang="en-US" sz="3600" b="1" i="1">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3600" b="1" dirty="0">
                    <a:effectLst/>
                    <a:latin typeface="+mj-lt"/>
                    <a:ea typeface="Calibri" panose="020F0502020204030204" pitchFamily="34" charset="0"/>
                    <a:cs typeface="Arial" panose="020B0604020202020204" pitchFamily="34" charset="0"/>
                  </a:rPr>
                  <a:t> b</a:t>
                </a:r>
              </a:p>
              <a:p>
                <a:pPr algn="l">
                  <a:lnSpc>
                    <a:spcPct val="107000"/>
                  </a:lnSpc>
                  <a:spcAft>
                    <a:spcPts val="800"/>
                  </a:spcAft>
                </a:pPr>
                <a:r>
                  <a:rPr lang="en-US" sz="3600" b="1" dirty="0">
                    <a:effectLst/>
                    <a:latin typeface="+mj-lt"/>
                    <a:ea typeface="Calibri" panose="020F0502020204030204" pitchFamily="34" charset="0"/>
                    <a:cs typeface="Arial" panose="020B0604020202020204" pitchFamily="34" charset="0"/>
                  </a:rPr>
                  <a:t>// s2 </a:t>
                </a:r>
                <a14:m>
                  <m:oMath xmlns:m="http://schemas.openxmlformats.org/officeDocument/2006/math">
                    <m:r>
                      <a:rPr lang="en-US" sz="3600" b="1" i="1">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3600" b="1" dirty="0">
                    <a:effectLst/>
                    <a:latin typeface="+mj-lt"/>
                    <a:ea typeface="Calibri" panose="020F0502020204030204" pitchFamily="34" charset="0"/>
                    <a:cs typeface="Arial" panose="020B0604020202020204" pitchFamily="34" charset="0"/>
                  </a:rPr>
                  <a:t> c, s3 </a:t>
                </a:r>
                <a14:m>
                  <m:oMath xmlns:m="http://schemas.openxmlformats.org/officeDocument/2006/math">
                    <m:r>
                      <a:rPr lang="en-US" sz="3600" b="1" i="1">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3600" b="1" dirty="0">
                    <a:effectLst/>
                    <a:latin typeface="+mj-lt"/>
                    <a:ea typeface="Calibri" panose="020F0502020204030204" pitchFamily="34" charset="0"/>
                    <a:cs typeface="Arial" panose="020B0604020202020204" pitchFamily="34" charset="0"/>
                  </a:rPr>
                  <a:t> z</a:t>
                </a:r>
              </a:p>
              <a:p>
                <a:pPr algn="l">
                  <a:lnSpc>
                    <a:spcPct val="107000"/>
                  </a:lnSpc>
                  <a:spcAft>
                    <a:spcPts val="800"/>
                  </a:spcAft>
                </a:pPr>
                <a:r>
                  <a:rPr lang="en-US" sz="3600" b="1" dirty="0" err="1">
                    <a:effectLst/>
                    <a:latin typeface="+mj-lt"/>
                    <a:ea typeface="Calibri" panose="020F0502020204030204" pitchFamily="34" charset="0"/>
                    <a:cs typeface="Arial" panose="020B0604020202020204" pitchFamily="34" charset="0"/>
                  </a:rPr>
                  <a:t>int</a:t>
                </a:r>
                <a:r>
                  <a:rPr lang="en-US" sz="3600" b="1" dirty="0">
                    <a:effectLst/>
                    <a:latin typeface="+mj-lt"/>
                    <a:ea typeface="Calibri" panose="020F0502020204030204" pitchFamily="34" charset="0"/>
                    <a:cs typeface="Arial" panose="020B0604020202020204" pitchFamily="34" charset="0"/>
                  </a:rPr>
                  <a:t> a = 4, b = 5, c = 6, z;</a:t>
                </a:r>
              </a:p>
              <a:p>
                <a:pPr algn="l"/>
                <a:r>
                  <a:rPr lang="en-US" sz="3600" b="1" dirty="0">
                    <a:effectLst/>
                    <a:latin typeface="+mj-lt"/>
                    <a:ea typeface="Calibri" panose="020F0502020204030204" pitchFamily="34" charset="0"/>
                  </a:rPr>
                  <a:t>z = a + b + c + 10;</a:t>
                </a:r>
                <a:endParaRPr lang="he-IL" sz="3600" b="1" dirty="0">
                  <a:latin typeface="+mj-lt"/>
                </a:endParaRPr>
              </a:p>
            </p:txBody>
          </p:sp>
        </mc:Choice>
        <mc:Fallback xmlns="">
          <p:sp>
            <p:nvSpPr>
              <p:cNvPr id="3" name="Rectangle 2"/>
              <p:cNvSpPr>
                <a:spLocks noRot="1" noChangeAspect="1" noMove="1" noResize="1" noEditPoints="1" noAdjustHandles="1" noChangeArrowheads="1" noChangeShapeType="1" noTextEdit="1"/>
              </p:cNvSpPr>
              <p:nvPr/>
            </p:nvSpPr>
            <p:spPr>
              <a:xfrm>
                <a:off x="873457" y="2062760"/>
                <a:ext cx="4299044" cy="2732479"/>
              </a:xfrm>
              <a:prstGeom prst="rect">
                <a:avLst/>
              </a:prstGeom>
              <a:blipFill rotWithShape="0">
                <a:blip r:embed="rId3"/>
                <a:stretch>
                  <a:fillRect l="-4108" t="-2895" r="-4391" b="-7572"/>
                </a:stretch>
              </a:blipFill>
            </p:spPr>
            <p:txBody>
              <a:bodyPr/>
              <a:lstStyle/>
              <a:p>
                <a:r>
                  <a:rPr lang="he-IL">
                    <a:noFill/>
                  </a:rPr>
                  <a:t> </a:t>
                </a:r>
              </a:p>
            </p:txBody>
          </p:sp>
        </mc:Fallback>
      </mc:AlternateContent>
      <p:sp>
        <p:nvSpPr>
          <p:cNvPr id="5" name="Rectangle 4"/>
          <p:cNvSpPr/>
          <p:nvPr/>
        </p:nvSpPr>
        <p:spPr>
          <a:xfrm>
            <a:off x="7105934" y="1873641"/>
            <a:ext cx="3155666" cy="3416320"/>
          </a:xfrm>
          <a:prstGeom prst="rect">
            <a:avLst/>
          </a:prstGeom>
        </p:spPr>
        <p:txBody>
          <a:bodyPr wrap="square">
            <a:spAutoFit/>
          </a:bodyPr>
          <a:lstStyle/>
          <a:p>
            <a:pPr algn="l" rtl="0"/>
            <a:r>
              <a:rPr lang="en-US" sz="3600" dirty="0" err="1">
                <a:solidFill>
                  <a:srgbClr val="002060"/>
                </a:solidFill>
              </a:rPr>
              <a:t>addi</a:t>
            </a:r>
            <a:r>
              <a:rPr lang="en-US" sz="3600" dirty="0">
                <a:solidFill>
                  <a:srgbClr val="002060"/>
                </a:solidFill>
              </a:rPr>
              <a:t> s0, x0, 4 </a:t>
            </a:r>
          </a:p>
          <a:p>
            <a:pPr algn="l" rtl="0"/>
            <a:r>
              <a:rPr lang="en-US" sz="3600" dirty="0" err="1">
                <a:solidFill>
                  <a:srgbClr val="002060"/>
                </a:solidFill>
              </a:rPr>
              <a:t>addi</a:t>
            </a:r>
            <a:r>
              <a:rPr lang="en-US" sz="3600" dirty="0">
                <a:solidFill>
                  <a:srgbClr val="002060"/>
                </a:solidFill>
              </a:rPr>
              <a:t> s1, x0, 5 </a:t>
            </a:r>
          </a:p>
          <a:p>
            <a:pPr algn="l" rtl="0"/>
            <a:r>
              <a:rPr lang="en-US" sz="3600" dirty="0" err="1">
                <a:solidFill>
                  <a:srgbClr val="002060"/>
                </a:solidFill>
              </a:rPr>
              <a:t>addi</a:t>
            </a:r>
            <a:r>
              <a:rPr lang="en-US" sz="3600" dirty="0">
                <a:solidFill>
                  <a:srgbClr val="002060"/>
                </a:solidFill>
              </a:rPr>
              <a:t> s2, x0, 6 </a:t>
            </a:r>
          </a:p>
          <a:p>
            <a:pPr algn="l" rtl="0"/>
            <a:r>
              <a:rPr lang="en-US" sz="3600" dirty="0">
                <a:solidFill>
                  <a:srgbClr val="002060"/>
                </a:solidFill>
              </a:rPr>
              <a:t>add s3, s0, s1 </a:t>
            </a:r>
          </a:p>
          <a:p>
            <a:pPr algn="l" rtl="0"/>
            <a:r>
              <a:rPr lang="en-US" sz="3600" dirty="0">
                <a:solidFill>
                  <a:srgbClr val="002060"/>
                </a:solidFill>
              </a:rPr>
              <a:t>add s3, s3, s2 </a:t>
            </a:r>
          </a:p>
          <a:p>
            <a:pPr algn="l" rtl="0"/>
            <a:r>
              <a:rPr lang="en-US" sz="3600" dirty="0" err="1">
                <a:solidFill>
                  <a:srgbClr val="002060"/>
                </a:solidFill>
              </a:rPr>
              <a:t>addi</a:t>
            </a:r>
            <a:r>
              <a:rPr lang="en-US" sz="3600" dirty="0">
                <a:solidFill>
                  <a:srgbClr val="002060"/>
                </a:solidFill>
              </a:rPr>
              <a:t> s3, s3, 10</a:t>
            </a:r>
            <a:endParaRPr lang="he-IL" sz="3600" dirty="0">
              <a:solidFill>
                <a:srgbClr val="002060"/>
              </a:solidFill>
            </a:endParaRPr>
          </a:p>
        </p:txBody>
      </p:sp>
    </p:spTree>
    <p:extLst>
      <p:ext uri="{BB962C8B-B14F-4D97-AF65-F5344CB8AC3E}">
        <p14:creationId xmlns:p14="http://schemas.microsoft.com/office/powerpoint/2010/main" val="4165213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1409617"/>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Question 3</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r>
                  <a:rPr lang="en-US" sz="3600" dirty="0"/>
                  <a:t>Translate between the C and RISC-V code. </a:t>
                </a:r>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1409617"/>
              </a:xfrm>
              <a:prstGeom prst="rect">
                <a:avLst/>
              </a:prstGeom>
              <a:blipFill rotWithShape="0">
                <a:blip r:embed="rId3"/>
                <a:stretch>
                  <a:fillRect l="-2236" t="-7792" b="-13853"/>
                </a:stretch>
              </a:blipFill>
            </p:spPr>
            <p:txBody>
              <a:bodyPr/>
              <a:lstStyle/>
              <a:p>
                <a:r>
                  <a:rPr lang="he-IL">
                    <a:noFill/>
                  </a:rPr>
                  <a:t> </a:t>
                </a:r>
              </a:p>
            </p:txBody>
          </p:sp>
        </mc:Fallback>
      </mc:AlternateContent>
      <p:sp>
        <p:nvSpPr>
          <p:cNvPr id="3" name="Rectangle 2"/>
          <p:cNvSpPr/>
          <p:nvPr/>
        </p:nvSpPr>
        <p:spPr>
          <a:xfrm>
            <a:off x="873457" y="1873641"/>
            <a:ext cx="4299044" cy="4652236"/>
          </a:xfrm>
          <a:prstGeom prst="rect">
            <a:avLst/>
          </a:prstGeom>
        </p:spPr>
        <p:txBody>
          <a:bodyPr wrap="square">
            <a:spAutoFit/>
          </a:bodyPr>
          <a:lstStyle/>
          <a:p>
            <a:pPr algn="l" rtl="0">
              <a:lnSpc>
                <a:spcPct val="107000"/>
              </a:lnSpc>
              <a:spcAft>
                <a:spcPts val="800"/>
              </a:spcAft>
            </a:pPr>
            <a:r>
              <a:rPr lang="en-US" sz="3600" b="1" dirty="0">
                <a:effectLst/>
                <a:latin typeface="+mj-lt"/>
                <a:ea typeface="Calibri" panose="020F0502020204030204" pitchFamily="34" charset="0"/>
                <a:cs typeface="Arial" panose="020B0604020202020204" pitchFamily="34" charset="0"/>
              </a:rPr>
              <a:t>// s0 → a, s1 → b</a:t>
            </a:r>
          </a:p>
          <a:p>
            <a:pPr algn="l" rtl="0">
              <a:lnSpc>
                <a:spcPct val="107000"/>
              </a:lnSpc>
              <a:spcAft>
                <a:spcPts val="800"/>
              </a:spcAft>
            </a:pPr>
            <a:r>
              <a:rPr lang="en-US" sz="3600" b="1" dirty="0" err="1">
                <a:effectLst/>
                <a:latin typeface="+mj-lt"/>
                <a:ea typeface="Calibri" panose="020F0502020204030204" pitchFamily="34" charset="0"/>
                <a:cs typeface="Arial" panose="020B0604020202020204" pitchFamily="34" charset="0"/>
              </a:rPr>
              <a:t>int</a:t>
            </a:r>
            <a:r>
              <a:rPr lang="en-US" sz="3600" b="1" dirty="0">
                <a:effectLst/>
                <a:latin typeface="+mj-lt"/>
                <a:ea typeface="Calibri" panose="020F0502020204030204" pitchFamily="34" charset="0"/>
                <a:cs typeface="Arial" panose="020B0604020202020204" pitchFamily="34" charset="0"/>
              </a:rPr>
              <a:t> a = 5, b = 10;</a:t>
            </a:r>
          </a:p>
          <a:p>
            <a:pPr algn="l" rtl="0">
              <a:lnSpc>
                <a:spcPct val="107000"/>
              </a:lnSpc>
              <a:spcAft>
                <a:spcPts val="800"/>
              </a:spcAft>
            </a:pPr>
            <a:r>
              <a:rPr lang="en-US" sz="3600" b="1" dirty="0">
                <a:latin typeface="+mj-lt"/>
                <a:ea typeface="Calibri" panose="020F0502020204030204" pitchFamily="34" charset="0"/>
                <a:cs typeface="Arial" panose="020B0604020202020204" pitchFamily="34" charset="0"/>
              </a:rPr>
              <a:t>i</a:t>
            </a:r>
            <a:r>
              <a:rPr lang="en-US" sz="3600" b="1" dirty="0">
                <a:effectLst/>
                <a:latin typeface="+mj-lt"/>
                <a:ea typeface="Calibri" panose="020F0502020204030204" pitchFamily="34" charset="0"/>
                <a:cs typeface="Arial" panose="020B0604020202020204" pitchFamily="34" charset="0"/>
              </a:rPr>
              <a:t>f ( a + a == b ) </a:t>
            </a:r>
            <a:br>
              <a:rPr lang="en-US" sz="3600" b="1" dirty="0">
                <a:effectLst/>
                <a:latin typeface="+mj-lt"/>
                <a:ea typeface="Calibri" panose="020F0502020204030204" pitchFamily="34" charset="0"/>
                <a:cs typeface="Arial" panose="020B0604020202020204" pitchFamily="34" charset="0"/>
              </a:rPr>
            </a:br>
            <a:r>
              <a:rPr lang="en-US" sz="3600" b="1" dirty="0">
                <a:effectLst/>
                <a:latin typeface="+mj-lt"/>
                <a:ea typeface="Calibri" panose="020F0502020204030204" pitchFamily="34" charset="0"/>
                <a:cs typeface="Arial" panose="020B0604020202020204" pitchFamily="34" charset="0"/>
              </a:rPr>
              <a:t>     a = 0;</a:t>
            </a:r>
          </a:p>
          <a:p>
            <a:pPr algn="l" rtl="0">
              <a:lnSpc>
                <a:spcPct val="107000"/>
              </a:lnSpc>
              <a:spcAft>
                <a:spcPts val="800"/>
              </a:spcAft>
            </a:pPr>
            <a:r>
              <a:rPr lang="en-US" sz="3600" b="1" dirty="0">
                <a:effectLst/>
                <a:latin typeface="+mj-lt"/>
                <a:ea typeface="Calibri" panose="020F0502020204030204" pitchFamily="34" charset="0"/>
                <a:cs typeface="Arial" panose="020B0604020202020204" pitchFamily="34" charset="0"/>
              </a:rPr>
              <a:t>else </a:t>
            </a:r>
            <a:br>
              <a:rPr lang="en-US" sz="3600" b="1" dirty="0">
                <a:effectLst/>
                <a:latin typeface="+mj-lt"/>
                <a:ea typeface="Calibri" panose="020F0502020204030204" pitchFamily="34" charset="0"/>
                <a:cs typeface="Arial" panose="020B0604020202020204" pitchFamily="34" charset="0"/>
              </a:rPr>
            </a:br>
            <a:r>
              <a:rPr lang="en-US" sz="3600" b="1" dirty="0">
                <a:effectLst/>
                <a:latin typeface="+mj-lt"/>
                <a:ea typeface="Calibri" panose="020F0502020204030204" pitchFamily="34" charset="0"/>
                <a:cs typeface="Arial" panose="020B0604020202020204" pitchFamily="34" charset="0"/>
              </a:rPr>
              <a:t>     b = a - 1;</a:t>
            </a:r>
          </a:p>
          <a:p>
            <a:pPr algn="l" rtl="0">
              <a:lnSpc>
                <a:spcPct val="107000"/>
              </a:lnSpc>
              <a:spcAft>
                <a:spcPts val="800"/>
              </a:spcAft>
            </a:pPr>
            <a:endParaRPr lang="he-IL" sz="3600" dirty="0">
              <a:latin typeface="+mj-lt"/>
            </a:endParaRPr>
          </a:p>
        </p:txBody>
      </p:sp>
      <p:sp>
        <p:nvSpPr>
          <p:cNvPr id="5" name="Rectangle 4"/>
          <p:cNvSpPr/>
          <p:nvPr/>
        </p:nvSpPr>
        <p:spPr>
          <a:xfrm>
            <a:off x="8045355" y="1194079"/>
            <a:ext cx="4215918" cy="5078313"/>
          </a:xfrm>
          <a:prstGeom prst="rect">
            <a:avLst/>
          </a:prstGeom>
        </p:spPr>
        <p:txBody>
          <a:bodyPr wrap="square">
            <a:spAutoFit/>
          </a:bodyPr>
          <a:lstStyle/>
          <a:p>
            <a:pPr algn="l" rtl="0"/>
            <a:r>
              <a:rPr lang="en-US" sz="3600" dirty="0">
                <a:solidFill>
                  <a:srgbClr val="002060"/>
                </a:solidFill>
              </a:rPr>
              <a:t>          </a:t>
            </a:r>
            <a:r>
              <a:rPr lang="en-US" sz="3600" dirty="0" err="1">
                <a:solidFill>
                  <a:srgbClr val="002060"/>
                </a:solidFill>
              </a:rPr>
              <a:t>addi</a:t>
            </a:r>
            <a:r>
              <a:rPr lang="en-US" sz="3600" dirty="0">
                <a:solidFill>
                  <a:srgbClr val="002060"/>
                </a:solidFill>
              </a:rPr>
              <a:t> s0, x0, 5</a:t>
            </a:r>
          </a:p>
          <a:p>
            <a:pPr algn="l" rtl="0"/>
            <a:r>
              <a:rPr lang="en-US" sz="3600" dirty="0">
                <a:solidFill>
                  <a:srgbClr val="002060"/>
                </a:solidFill>
              </a:rPr>
              <a:t>          </a:t>
            </a:r>
            <a:r>
              <a:rPr lang="en-US" sz="3600" dirty="0" err="1">
                <a:solidFill>
                  <a:srgbClr val="002060"/>
                </a:solidFill>
              </a:rPr>
              <a:t>addi</a:t>
            </a:r>
            <a:r>
              <a:rPr lang="en-US" sz="3600" dirty="0">
                <a:solidFill>
                  <a:srgbClr val="002060"/>
                </a:solidFill>
              </a:rPr>
              <a:t> s1, x0, 10</a:t>
            </a:r>
          </a:p>
          <a:p>
            <a:pPr algn="l" rtl="0"/>
            <a:r>
              <a:rPr lang="en-US" sz="3600" dirty="0">
                <a:solidFill>
                  <a:srgbClr val="002060"/>
                </a:solidFill>
              </a:rPr>
              <a:t>          add t0, s0, s0</a:t>
            </a:r>
          </a:p>
          <a:p>
            <a:pPr algn="l" rtl="0"/>
            <a:r>
              <a:rPr lang="en-US" sz="3600" dirty="0">
                <a:solidFill>
                  <a:srgbClr val="002060"/>
                </a:solidFill>
              </a:rPr>
              <a:t>          </a:t>
            </a:r>
            <a:r>
              <a:rPr lang="en-US" sz="3600" dirty="0" err="1">
                <a:solidFill>
                  <a:srgbClr val="002060"/>
                </a:solidFill>
              </a:rPr>
              <a:t>bne</a:t>
            </a:r>
            <a:r>
              <a:rPr lang="en-US" sz="3600" dirty="0">
                <a:solidFill>
                  <a:srgbClr val="002060"/>
                </a:solidFill>
              </a:rPr>
              <a:t> t0, s1, else</a:t>
            </a:r>
          </a:p>
          <a:p>
            <a:pPr algn="l" rtl="0"/>
            <a:r>
              <a:rPr lang="en-US" sz="3600" dirty="0">
                <a:solidFill>
                  <a:srgbClr val="002060"/>
                </a:solidFill>
              </a:rPr>
              <a:t>          </a:t>
            </a:r>
            <a:r>
              <a:rPr lang="en-US" sz="3600" dirty="0" err="1">
                <a:solidFill>
                  <a:srgbClr val="002060"/>
                </a:solidFill>
              </a:rPr>
              <a:t>xor</a:t>
            </a:r>
            <a:r>
              <a:rPr lang="en-US" sz="3600" dirty="0">
                <a:solidFill>
                  <a:srgbClr val="002060"/>
                </a:solidFill>
              </a:rPr>
              <a:t> s0, x0, x0</a:t>
            </a:r>
          </a:p>
          <a:p>
            <a:pPr algn="l" rtl="0"/>
            <a:r>
              <a:rPr lang="en-US" sz="3600" dirty="0">
                <a:solidFill>
                  <a:srgbClr val="002060"/>
                </a:solidFill>
              </a:rPr>
              <a:t>          </a:t>
            </a:r>
            <a:r>
              <a:rPr lang="en-US" sz="3600" dirty="0" err="1">
                <a:solidFill>
                  <a:srgbClr val="002060"/>
                </a:solidFill>
              </a:rPr>
              <a:t>jal</a:t>
            </a:r>
            <a:r>
              <a:rPr lang="en-US" sz="3600" dirty="0">
                <a:solidFill>
                  <a:srgbClr val="002060"/>
                </a:solidFill>
              </a:rPr>
              <a:t> x0, exit</a:t>
            </a:r>
          </a:p>
          <a:p>
            <a:pPr algn="l" rtl="0"/>
            <a:r>
              <a:rPr lang="en-US" sz="3600" dirty="0">
                <a:solidFill>
                  <a:srgbClr val="002060"/>
                </a:solidFill>
              </a:rPr>
              <a:t>else: </a:t>
            </a:r>
          </a:p>
          <a:p>
            <a:pPr algn="l" rtl="0"/>
            <a:r>
              <a:rPr lang="en-US" sz="3600" dirty="0">
                <a:solidFill>
                  <a:srgbClr val="002060"/>
                </a:solidFill>
              </a:rPr>
              <a:t>	</a:t>
            </a:r>
            <a:r>
              <a:rPr lang="en-US" sz="3600" dirty="0" err="1">
                <a:solidFill>
                  <a:srgbClr val="002060"/>
                </a:solidFill>
              </a:rPr>
              <a:t>addi</a:t>
            </a:r>
            <a:r>
              <a:rPr lang="en-US" sz="3600" dirty="0">
                <a:solidFill>
                  <a:srgbClr val="002060"/>
                </a:solidFill>
              </a:rPr>
              <a:t> s1, s0, -1</a:t>
            </a:r>
          </a:p>
          <a:p>
            <a:pPr algn="l" rtl="0"/>
            <a:r>
              <a:rPr lang="en-US" sz="3600" dirty="0">
                <a:solidFill>
                  <a:srgbClr val="002060"/>
                </a:solidFill>
              </a:rPr>
              <a:t>exit:</a:t>
            </a:r>
            <a:endParaRPr lang="he-IL" sz="3600" dirty="0">
              <a:solidFill>
                <a:srgbClr val="002060"/>
              </a:solidFill>
            </a:endParaRPr>
          </a:p>
        </p:txBody>
      </p:sp>
    </p:spTree>
    <p:extLst>
      <p:ext uri="{BB962C8B-B14F-4D97-AF65-F5344CB8AC3E}">
        <p14:creationId xmlns:p14="http://schemas.microsoft.com/office/powerpoint/2010/main" val="383299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1409617"/>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Question 3</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r>
                  <a:rPr lang="en-US" sz="3600" dirty="0"/>
                  <a:t>Translate between the C and RISC-V code. </a:t>
                </a:r>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1409617"/>
              </a:xfrm>
              <a:prstGeom prst="rect">
                <a:avLst/>
              </a:prstGeom>
              <a:blipFill rotWithShape="0">
                <a:blip r:embed="rId2"/>
                <a:stretch>
                  <a:fillRect l="-2236" t="-7792" b="-13853"/>
                </a:stretch>
              </a:blipFill>
            </p:spPr>
            <p:txBody>
              <a:bodyPr/>
              <a:lstStyle/>
              <a:p>
                <a:r>
                  <a:rPr lang="he-IL">
                    <a:noFill/>
                  </a:rPr>
                  <a:t> </a:t>
                </a:r>
              </a:p>
            </p:txBody>
          </p:sp>
        </mc:Fallback>
      </mc:AlternateContent>
      <p:sp>
        <p:nvSpPr>
          <p:cNvPr id="3" name="Rectangle 2"/>
          <p:cNvSpPr/>
          <p:nvPr/>
        </p:nvSpPr>
        <p:spPr>
          <a:xfrm>
            <a:off x="458590" y="2476417"/>
            <a:ext cx="5205610" cy="2668679"/>
          </a:xfrm>
          <a:prstGeom prst="rect">
            <a:avLst/>
          </a:prstGeom>
        </p:spPr>
        <p:txBody>
          <a:bodyPr wrap="square">
            <a:spAutoFit/>
          </a:bodyPr>
          <a:lstStyle/>
          <a:p>
            <a:pPr algn="l" rtl="0">
              <a:lnSpc>
                <a:spcPct val="107000"/>
              </a:lnSpc>
              <a:spcAft>
                <a:spcPts val="800"/>
              </a:spcAft>
            </a:pPr>
            <a:r>
              <a:rPr lang="en-US" sz="3600" b="1" dirty="0">
                <a:solidFill>
                  <a:srgbClr val="002060"/>
                </a:solidFill>
                <a:effectLst/>
                <a:latin typeface="+mj-lt"/>
                <a:ea typeface="Calibri" panose="020F0502020204030204" pitchFamily="34" charset="0"/>
                <a:cs typeface="Arial" panose="020B0604020202020204" pitchFamily="34" charset="0"/>
              </a:rPr>
              <a:t>// computes s1 = 2^30</a:t>
            </a:r>
          </a:p>
          <a:p>
            <a:pPr algn="l" rtl="0">
              <a:lnSpc>
                <a:spcPct val="107000"/>
              </a:lnSpc>
              <a:spcAft>
                <a:spcPts val="800"/>
              </a:spcAft>
            </a:pPr>
            <a:r>
              <a:rPr lang="en-US" sz="3600" b="1" dirty="0">
                <a:solidFill>
                  <a:srgbClr val="002060"/>
                </a:solidFill>
                <a:effectLst/>
                <a:latin typeface="+mj-lt"/>
                <a:ea typeface="Calibri" panose="020F0502020204030204" pitchFamily="34" charset="0"/>
                <a:cs typeface="Arial" panose="020B0604020202020204" pitchFamily="34" charset="0"/>
              </a:rPr>
              <a:t>s1 = 1;</a:t>
            </a:r>
          </a:p>
          <a:p>
            <a:pPr algn="l" rtl="0">
              <a:lnSpc>
                <a:spcPct val="107000"/>
              </a:lnSpc>
              <a:spcAft>
                <a:spcPts val="800"/>
              </a:spcAft>
            </a:pPr>
            <a:r>
              <a:rPr lang="en-US" sz="3600" b="1" dirty="0">
                <a:solidFill>
                  <a:srgbClr val="002060"/>
                </a:solidFill>
                <a:latin typeface="+mj-lt"/>
                <a:ea typeface="Calibri" panose="020F0502020204030204" pitchFamily="34" charset="0"/>
                <a:cs typeface="Arial" panose="020B0604020202020204" pitchFamily="34" charset="0"/>
              </a:rPr>
              <a:t>f</a:t>
            </a:r>
            <a:r>
              <a:rPr lang="en-US" sz="3600" b="1" dirty="0">
                <a:solidFill>
                  <a:srgbClr val="002060"/>
                </a:solidFill>
                <a:effectLst/>
                <a:latin typeface="+mj-lt"/>
                <a:ea typeface="Calibri" panose="020F0502020204030204" pitchFamily="34" charset="0"/>
                <a:cs typeface="Arial" panose="020B0604020202020204" pitchFamily="34" charset="0"/>
              </a:rPr>
              <a:t>or ( s0 = 0 ; s0 &lt; 30 ; s0++ )</a:t>
            </a:r>
            <a:br>
              <a:rPr lang="en-US" sz="3600" b="1" dirty="0">
                <a:solidFill>
                  <a:srgbClr val="002060"/>
                </a:solidFill>
                <a:effectLst/>
                <a:latin typeface="+mj-lt"/>
                <a:ea typeface="Calibri" panose="020F0502020204030204" pitchFamily="34" charset="0"/>
                <a:cs typeface="Arial" panose="020B0604020202020204" pitchFamily="34" charset="0"/>
              </a:rPr>
            </a:br>
            <a:r>
              <a:rPr lang="en-US" sz="3600" b="1" dirty="0">
                <a:solidFill>
                  <a:srgbClr val="002060"/>
                </a:solidFill>
                <a:effectLst/>
                <a:latin typeface="+mj-lt"/>
                <a:ea typeface="Calibri" panose="020F0502020204030204" pitchFamily="34" charset="0"/>
                <a:cs typeface="Arial" panose="020B0604020202020204" pitchFamily="34" charset="0"/>
              </a:rPr>
              <a:t>     s1 *= 2;</a:t>
            </a:r>
          </a:p>
        </p:txBody>
      </p:sp>
      <p:sp>
        <p:nvSpPr>
          <p:cNvPr id="5" name="Rectangle 4"/>
          <p:cNvSpPr/>
          <p:nvPr/>
        </p:nvSpPr>
        <p:spPr>
          <a:xfrm>
            <a:off x="6216555" y="1873641"/>
            <a:ext cx="4373860" cy="4524315"/>
          </a:xfrm>
          <a:prstGeom prst="rect">
            <a:avLst/>
          </a:prstGeom>
        </p:spPr>
        <p:txBody>
          <a:bodyPr wrap="square">
            <a:spAutoFit/>
          </a:bodyPr>
          <a:lstStyle/>
          <a:p>
            <a:pPr algn="l" rtl="0"/>
            <a:r>
              <a:rPr lang="en-US" sz="3600" dirty="0"/>
              <a:t>          </a:t>
            </a:r>
            <a:r>
              <a:rPr lang="en-US" sz="3600" dirty="0" err="1"/>
              <a:t>addi</a:t>
            </a:r>
            <a:r>
              <a:rPr lang="en-US" sz="3600" dirty="0"/>
              <a:t> s0, x0, 0</a:t>
            </a:r>
          </a:p>
          <a:p>
            <a:pPr algn="l" rtl="0"/>
            <a:r>
              <a:rPr lang="en-US" sz="3600" dirty="0"/>
              <a:t>          </a:t>
            </a:r>
            <a:r>
              <a:rPr lang="en-US" sz="3600" dirty="0" err="1"/>
              <a:t>addi</a:t>
            </a:r>
            <a:r>
              <a:rPr lang="en-US" sz="3600" dirty="0"/>
              <a:t> s1, x0, 1</a:t>
            </a:r>
          </a:p>
          <a:p>
            <a:pPr algn="l" rtl="0"/>
            <a:r>
              <a:rPr lang="en-US" sz="3600" dirty="0"/>
              <a:t>          </a:t>
            </a:r>
            <a:r>
              <a:rPr lang="en-US" sz="3600" dirty="0" err="1"/>
              <a:t>addi</a:t>
            </a:r>
            <a:r>
              <a:rPr lang="en-US" sz="3600" dirty="0"/>
              <a:t> t0, x0, 30</a:t>
            </a:r>
          </a:p>
          <a:p>
            <a:pPr algn="l" rtl="0"/>
            <a:r>
              <a:rPr lang="en-US" sz="3600" dirty="0"/>
              <a:t>loop: </a:t>
            </a:r>
            <a:r>
              <a:rPr lang="en-US" sz="3600" dirty="0" err="1"/>
              <a:t>beq</a:t>
            </a:r>
            <a:r>
              <a:rPr lang="en-US" sz="3600" dirty="0"/>
              <a:t> s0, t0, exit</a:t>
            </a:r>
          </a:p>
          <a:p>
            <a:pPr algn="l" rtl="0"/>
            <a:r>
              <a:rPr lang="en-US" sz="3600" dirty="0"/>
              <a:t>          add s1, s1, s1</a:t>
            </a:r>
          </a:p>
          <a:p>
            <a:pPr algn="l" rtl="0"/>
            <a:r>
              <a:rPr lang="en-US" sz="3600" dirty="0"/>
              <a:t>          </a:t>
            </a:r>
            <a:r>
              <a:rPr lang="en-US" sz="3600" dirty="0" err="1"/>
              <a:t>addi</a:t>
            </a:r>
            <a:r>
              <a:rPr lang="en-US" sz="3600" dirty="0"/>
              <a:t> s0, s0, 1</a:t>
            </a:r>
          </a:p>
          <a:p>
            <a:pPr algn="l" rtl="0"/>
            <a:r>
              <a:rPr lang="en-US" sz="3600" dirty="0"/>
              <a:t>          j loop</a:t>
            </a:r>
          </a:p>
          <a:p>
            <a:pPr algn="l" rtl="0"/>
            <a:r>
              <a:rPr lang="en-US" sz="3600" dirty="0"/>
              <a:t>exit:</a:t>
            </a:r>
            <a:endParaRPr lang="he-IL" sz="3600" dirty="0"/>
          </a:p>
        </p:txBody>
      </p:sp>
    </p:spTree>
    <p:extLst>
      <p:ext uri="{BB962C8B-B14F-4D97-AF65-F5344CB8AC3E}">
        <p14:creationId xmlns:p14="http://schemas.microsoft.com/office/powerpoint/2010/main" val="339973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4552465"/>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Question 4</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r>
                  <a:rPr lang="en-US" sz="3600" dirty="0"/>
                  <a:t>Comment each snippet with what the snippet does. Assume that there is an array:</a:t>
                </a:r>
              </a:p>
              <a:p>
                <a:pPr lvl="0" algn="l" rtl="0">
                  <a:lnSpc>
                    <a:spcPct val="107000"/>
                  </a:lnSpc>
                  <a:spcAft>
                    <a:spcPts val="800"/>
                  </a:spcAft>
                  <a:buSzPts val="1050"/>
                </a:pPr>
                <a:r>
                  <a:rPr lang="en-US" sz="3600" dirty="0"/>
                  <a:t>𝒊𝒏𝒕 𝒂𝒓𝒓[𝟔] = {𝟑,𝟏, 𝟒,𝟏,𝟓,𝟗}, starts at memory address </a:t>
                </a:r>
                <a:r>
                  <a:rPr lang="en-US" sz="3600" b="1" dirty="0"/>
                  <a:t>0xBFFFFF00</a:t>
                </a:r>
                <a:r>
                  <a:rPr lang="en-US" sz="3600" dirty="0"/>
                  <a:t>.</a:t>
                </a:r>
              </a:p>
              <a:p>
                <a:pPr lvl="0" algn="l" rtl="0">
                  <a:lnSpc>
                    <a:spcPct val="107000"/>
                  </a:lnSpc>
                  <a:spcAft>
                    <a:spcPts val="800"/>
                  </a:spcAft>
                  <a:buSzPts val="1050"/>
                </a:pPr>
                <a:r>
                  <a:rPr lang="en-US" sz="3600" dirty="0"/>
                  <a:t>Register 𝒔𝟎 contains 𝒂𝒓𝒓's address, and you may assume integers are 4 bytes.</a:t>
                </a:r>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4552465"/>
              </a:xfrm>
              <a:prstGeom prst="rect">
                <a:avLst/>
              </a:prstGeom>
              <a:blipFill rotWithShape="0">
                <a:blip r:embed="rId2"/>
                <a:stretch>
                  <a:fillRect l="-2236" t="-2410" r="-1174" b="-4150"/>
                </a:stretch>
              </a:blipFill>
            </p:spPr>
            <p:txBody>
              <a:bodyPr/>
              <a:lstStyle/>
              <a:p>
                <a:r>
                  <a:rPr lang="he-IL">
                    <a:noFill/>
                  </a:rPr>
                  <a:t> </a:t>
                </a:r>
              </a:p>
            </p:txBody>
          </p:sp>
        </mc:Fallback>
      </mc:AlternateContent>
    </p:spTree>
    <p:extLst>
      <p:ext uri="{BB962C8B-B14F-4D97-AF65-F5344CB8AC3E}">
        <p14:creationId xmlns:p14="http://schemas.microsoft.com/office/powerpoint/2010/main" val="32450480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2105000"/>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Question 4</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r>
                  <a:rPr lang="en-US" sz="3600" dirty="0"/>
                  <a:t>𝒊𝒏𝒕 𝒂𝒓𝒓[𝟔] = {𝟑,𝟏, 𝟒,𝟏,𝟓,𝟗} starts at </a:t>
                </a:r>
                <a:r>
                  <a:rPr lang="en-US" sz="3600" b="1" dirty="0"/>
                  <a:t>0xBFFFFF00</a:t>
                </a:r>
                <a:r>
                  <a:rPr lang="en-US" sz="3600" dirty="0"/>
                  <a:t>.</a:t>
                </a:r>
              </a:p>
              <a:p>
                <a:pPr lvl="0" algn="l" rtl="0">
                  <a:lnSpc>
                    <a:spcPct val="107000"/>
                  </a:lnSpc>
                  <a:spcAft>
                    <a:spcPts val="800"/>
                  </a:spcAft>
                  <a:buSzPts val="1050"/>
                </a:pPr>
                <a14:m>
                  <m:oMath xmlns:m="http://schemas.openxmlformats.org/officeDocument/2006/math">
                    <m:d>
                      <m:dPr>
                        <m:begChr m:val="⟨"/>
                        <m:endChr m:val="⟩"/>
                        <m:ctrlPr>
                          <a:rPr lang="en-US" sz="3600" i="1" smtClean="0">
                            <a:latin typeface="Cambria Math" panose="02040503050406030204" pitchFamily="18" charset="0"/>
                          </a:rPr>
                        </m:ctrlPr>
                      </m:dPr>
                      <m:e>
                        <m:r>
                          <a:rPr lang="en-US" sz="3600" b="0" i="1" smtClean="0">
                            <a:latin typeface="Cambria Math" panose="02040503050406030204" pitchFamily="18" charset="0"/>
                          </a:rPr>
                          <m:t>𝑆</m:t>
                        </m:r>
                        <m:r>
                          <a:rPr lang="en-US" sz="3600" b="0" i="1" smtClean="0">
                            <a:latin typeface="Cambria Math" panose="02040503050406030204" pitchFamily="18" charset="0"/>
                          </a:rPr>
                          <m:t>0</m:t>
                        </m:r>
                      </m:e>
                    </m:d>
                    <m:r>
                      <a:rPr lang="en-US" sz="3600" b="0" i="1" smtClean="0">
                        <a:latin typeface="Cambria Math" panose="02040503050406030204" pitchFamily="18" charset="0"/>
                      </a:rPr>
                      <m:t>=</m:t>
                    </m:r>
                    <m:r>
                      <a:rPr lang="en-US" sz="3600" b="0" i="1" smtClean="0">
                        <a:latin typeface="Cambria Math" panose="02040503050406030204" pitchFamily="18" charset="0"/>
                      </a:rPr>
                      <m:t>𝑎𝑟𝑟</m:t>
                    </m:r>
                    <m:r>
                      <a:rPr lang="en-US" sz="3600" b="0" i="0" smtClean="0">
                        <a:latin typeface="Cambria Math" panose="02040503050406030204" pitchFamily="18" charset="0"/>
                      </a:rPr>
                      <m:t>,</m:t>
                    </m:r>
                  </m:oMath>
                </a14:m>
                <a:r>
                  <a:rPr lang="en-US" sz="3600" dirty="0"/>
                  <a:t>  integers are 4 bytes.</a:t>
                </a:r>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2105000"/>
              </a:xfrm>
              <a:prstGeom prst="rect">
                <a:avLst/>
              </a:prstGeom>
              <a:blipFill rotWithShape="0">
                <a:blip r:embed="rId2"/>
                <a:stretch>
                  <a:fillRect l="-2236" t="-5217" b="-8986"/>
                </a:stretch>
              </a:blipFill>
            </p:spPr>
            <p:txBody>
              <a:bodyPr/>
              <a:lstStyle/>
              <a:p>
                <a:r>
                  <a:rPr lang="he-IL">
                    <a:noFill/>
                  </a:rPr>
                  <a:t> </a:t>
                </a:r>
              </a:p>
            </p:txBody>
          </p:sp>
        </mc:Fallback>
      </mc:AlternateContent>
      <p:sp>
        <p:nvSpPr>
          <p:cNvPr id="3" name="Rectangle 2"/>
          <p:cNvSpPr/>
          <p:nvPr/>
        </p:nvSpPr>
        <p:spPr>
          <a:xfrm>
            <a:off x="873457" y="3021926"/>
            <a:ext cx="3947925" cy="2308324"/>
          </a:xfrm>
          <a:prstGeom prst="rect">
            <a:avLst/>
          </a:prstGeom>
        </p:spPr>
        <p:txBody>
          <a:bodyPr wrap="square">
            <a:spAutoFit/>
          </a:bodyPr>
          <a:lstStyle/>
          <a:p>
            <a:pPr algn="l" rtl="0"/>
            <a:r>
              <a:rPr lang="en-US" sz="3600" dirty="0" err="1"/>
              <a:t>lw</a:t>
            </a:r>
            <a:r>
              <a:rPr lang="en-US" sz="3600" dirty="0"/>
              <a:t> t0, 0(s0) 		</a:t>
            </a:r>
          </a:p>
          <a:p>
            <a:pPr algn="l" rtl="0"/>
            <a:r>
              <a:rPr lang="en-US" sz="3600" dirty="0" err="1"/>
              <a:t>lw</a:t>
            </a:r>
            <a:r>
              <a:rPr lang="en-US" sz="3600" dirty="0"/>
              <a:t> t1, 8(s0) 		</a:t>
            </a:r>
            <a:endParaRPr lang="en-US" sz="3600" dirty="0">
              <a:solidFill>
                <a:srgbClr val="002060"/>
              </a:solidFill>
            </a:endParaRPr>
          </a:p>
          <a:p>
            <a:pPr algn="l" rtl="0"/>
            <a:r>
              <a:rPr lang="en-US" sz="3600" dirty="0"/>
              <a:t>add t2, t0, t1 		</a:t>
            </a:r>
            <a:endParaRPr lang="en-US" sz="3600" dirty="0">
              <a:solidFill>
                <a:srgbClr val="002060"/>
              </a:solidFill>
            </a:endParaRPr>
          </a:p>
          <a:p>
            <a:pPr algn="l" rtl="0"/>
            <a:r>
              <a:rPr lang="en-US" sz="3600" dirty="0" err="1"/>
              <a:t>sw</a:t>
            </a:r>
            <a:r>
              <a:rPr lang="en-US" sz="3600" dirty="0"/>
              <a:t> t2, 4(s0) 		</a:t>
            </a:r>
            <a:endParaRPr lang="he-IL" sz="3600" dirty="0">
              <a:solidFill>
                <a:srgbClr val="002060"/>
              </a:solidFill>
            </a:endParaRPr>
          </a:p>
        </p:txBody>
      </p:sp>
      <p:sp>
        <p:nvSpPr>
          <p:cNvPr id="4" name="Rectangle 3"/>
          <p:cNvSpPr/>
          <p:nvPr/>
        </p:nvSpPr>
        <p:spPr>
          <a:xfrm>
            <a:off x="4533828" y="3021926"/>
            <a:ext cx="6603379" cy="2308324"/>
          </a:xfrm>
          <a:prstGeom prst="rect">
            <a:avLst/>
          </a:prstGeom>
        </p:spPr>
        <p:txBody>
          <a:bodyPr wrap="square">
            <a:spAutoFit/>
          </a:bodyPr>
          <a:lstStyle/>
          <a:p>
            <a:pPr algn="l" rtl="0"/>
            <a:r>
              <a:rPr lang="en-US" sz="3600" dirty="0">
                <a:solidFill>
                  <a:srgbClr val="002060"/>
                </a:solidFill>
              </a:rPr>
              <a:t># Loads 𝒂𝒓𝒓[𝟎] into register 𝒕𝟎</a:t>
            </a:r>
            <a:r>
              <a:rPr lang="en-US" sz="3600" dirty="0"/>
              <a:t> </a:t>
            </a:r>
          </a:p>
          <a:p>
            <a:pPr algn="l" rtl="0"/>
            <a:r>
              <a:rPr lang="en-US" sz="3600" dirty="0">
                <a:solidFill>
                  <a:srgbClr val="002060"/>
                </a:solidFill>
              </a:rPr>
              <a:t># Loads 𝒂𝒓𝒓[𝟐] into register 𝒕𝟏 </a:t>
            </a:r>
          </a:p>
          <a:p>
            <a:pPr algn="l" rtl="0"/>
            <a:r>
              <a:rPr lang="en-US" sz="3600" dirty="0">
                <a:solidFill>
                  <a:srgbClr val="002060"/>
                </a:solidFill>
              </a:rPr>
              <a:t># Sets 𝒕𝟐 equal to 𝒕𝟎 plus 𝒕𝟏 </a:t>
            </a:r>
          </a:p>
          <a:p>
            <a:pPr algn="l" rtl="0"/>
            <a:r>
              <a:rPr lang="en-US" sz="3600" dirty="0">
                <a:solidFill>
                  <a:srgbClr val="002060"/>
                </a:solidFill>
              </a:rPr>
              <a:t># Sets 𝒂𝒓𝒓[𝟏] equal to value in 𝒕𝟐</a:t>
            </a:r>
            <a:endParaRPr lang="he-IL" sz="3600" dirty="0">
              <a:solidFill>
                <a:srgbClr val="002060"/>
              </a:solidFill>
            </a:endParaRPr>
          </a:p>
        </p:txBody>
      </p:sp>
    </p:spTree>
    <p:extLst>
      <p:ext uri="{BB962C8B-B14F-4D97-AF65-F5344CB8AC3E}">
        <p14:creationId xmlns:p14="http://schemas.microsoft.com/office/powerpoint/2010/main" val="3462918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2105000"/>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Question 4</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r>
                  <a:rPr lang="en-US" sz="3600" dirty="0"/>
                  <a:t>𝒊𝒏𝒕 𝒂𝒓𝒓[𝟔] = {𝟑,𝟏, 𝟒,𝟏,𝟓,𝟗} starts at </a:t>
                </a:r>
                <a:r>
                  <a:rPr lang="en-US" sz="3600" b="1" dirty="0"/>
                  <a:t>0xBFFFFF00</a:t>
                </a:r>
                <a:r>
                  <a:rPr lang="en-US" sz="3600" dirty="0"/>
                  <a:t>.</a:t>
                </a:r>
              </a:p>
              <a:p>
                <a:pPr lvl="0" algn="l" rtl="0">
                  <a:lnSpc>
                    <a:spcPct val="107000"/>
                  </a:lnSpc>
                  <a:spcAft>
                    <a:spcPts val="800"/>
                  </a:spcAft>
                  <a:buSzPts val="1050"/>
                </a:pPr>
                <a14:m>
                  <m:oMath xmlns:m="http://schemas.openxmlformats.org/officeDocument/2006/math">
                    <m:d>
                      <m:dPr>
                        <m:begChr m:val="⟨"/>
                        <m:endChr m:val="⟩"/>
                        <m:ctrlPr>
                          <a:rPr lang="en-US" sz="3600" i="1" smtClean="0">
                            <a:latin typeface="Cambria Math" panose="02040503050406030204" pitchFamily="18" charset="0"/>
                          </a:rPr>
                        </m:ctrlPr>
                      </m:dPr>
                      <m:e>
                        <m:r>
                          <a:rPr lang="en-US" sz="3600" b="0" i="1" smtClean="0">
                            <a:latin typeface="Cambria Math" panose="02040503050406030204" pitchFamily="18" charset="0"/>
                          </a:rPr>
                          <m:t>𝑆</m:t>
                        </m:r>
                        <m:r>
                          <a:rPr lang="en-US" sz="3600" b="0" i="1" smtClean="0">
                            <a:latin typeface="Cambria Math" panose="02040503050406030204" pitchFamily="18" charset="0"/>
                          </a:rPr>
                          <m:t>0</m:t>
                        </m:r>
                      </m:e>
                    </m:d>
                    <m:r>
                      <a:rPr lang="en-US" sz="3600" b="0" i="1" smtClean="0">
                        <a:latin typeface="Cambria Math" panose="02040503050406030204" pitchFamily="18" charset="0"/>
                      </a:rPr>
                      <m:t>=</m:t>
                    </m:r>
                    <m:r>
                      <a:rPr lang="en-US" sz="3600" b="0" i="1" smtClean="0">
                        <a:latin typeface="Cambria Math" panose="02040503050406030204" pitchFamily="18" charset="0"/>
                      </a:rPr>
                      <m:t>𝑎𝑟𝑟</m:t>
                    </m:r>
                    <m:r>
                      <a:rPr lang="en-US" sz="3600" b="0" i="0" smtClean="0">
                        <a:latin typeface="Cambria Math" panose="02040503050406030204" pitchFamily="18" charset="0"/>
                      </a:rPr>
                      <m:t>,</m:t>
                    </m:r>
                  </m:oMath>
                </a14:m>
                <a:r>
                  <a:rPr lang="en-US" sz="3600" dirty="0"/>
                  <a:t>  integers are 4 bytes.</a:t>
                </a:r>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2105000"/>
              </a:xfrm>
              <a:prstGeom prst="rect">
                <a:avLst/>
              </a:prstGeom>
              <a:blipFill rotWithShape="0">
                <a:blip r:embed="rId2"/>
                <a:stretch>
                  <a:fillRect l="-2236" t="-5217" b="-8986"/>
                </a:stretch>
              </a:blipFill>
            </p:spPr>
            <p:txBody>
              <a:bodyPr/>
              <a:lstStyle/>
              <a:p>
                <a:r>
                  <a:rPr lang="he-IL">
                    <a:noFill/>
                  </a:rPr>
                  <a:t> </a:t>
                </a:r>
              </a:p>
            </p:txBody>
          </p:sp>
        </mc:Fallback>
      </mc:AlternateContent>
      <p:sp>
        <p:nvSpPr>
          <p:cNvPr id="3" name="Rectangle 2"/>
          <p:cNvSpPr/>
          <p:nvPr/>
        </p:nvSpPr>
        <p:spPr>
          <a:xfrm>
            <a:off x="873457" y="3021926"/>
            <a:ext cx="10140286" cy="2308324"/>
          </a:xfrm>
          <a:prstGeom prst="rect">
            <a:avLst/>
          </a:prstGeom>
        </p:spPr>
        <p:txBody>
          <a:bodyPr wrap="square">
            <a:spAutoFit/>
          </a:bodyPr>
          <a:lstStyle/>
          <a:p>
            <a:pPr algn="l" rtl="0"/>
            <a:r>
              <a:rPr lang="en-US" sz="3600" dirty="0" err="1"/>
              <a:t>lw</a:t>
            </a:r>
            <a:r>
              <a:rPr lang="en-US" sz="3600" dirty="0"/>
              <a:t> t0, 0(s0) 		</a:t>
            </a:r>
            <a:r>
              <a:rPr lang="en-US" sz="3600" dirty="0">
                <a:solidFill>
                  <a:srgbClr val="002060"/>
                </a:solidFill>
              </a:rPr>
              <a:t># Loads 𝒂𝒓𝒓[𝟎] into register 𝒕𝟎</a:t>
            </a:r>
            <a:r>
              <a:rPr lang="en-US" sz="3600" dirty="0"/>
              <a:t> </a:t>
            </a:r>
          </a:p>
          <a:p>
            <a:pPr algn="l" rtl="0"/>
            <a:r>
              <a:rPr lang="en-US" sz="3600" dirty="0" err="1"/>
              <a:t>lw</a:t>
            </a:r>
            <a:r>
              <a:rPr lang="en-US" sz="3600" dirty="0"/>
              <a:t> t1, 8(s0) 		</a:t>
            </a:r>
            <a:r>
              <a:rPr lang="en-US" sz="3600" dirty="0">
                <a:solidFill>
                  <a:srgbClr val="002060"/>
                </a:solidFill>
              </a:rPr>
              <a:t># Loads 𝒂𝒓𝒓[𝟐] into register 𝒕𝟏 </a:t>
            </a:r>
          </a:p>
          <a:p>
            <a:pPr algn="l" rtl="0"/>
            <a:r>
              <a:rPr lang="en-US" sz="3600" dirty="0"/>
              <a:t>add t2, t0, t1 		</a:t>
            </a:r>
            <a:r>
              <a:rPr lang="en-US" sz="3600" dirty="0">
                <a:solidFill>
                  <a:srgbClr val="002060"/>
                </a:solidFill>
              </a:rPr>
              <a:t># Sets 𝒕𝟐 equal to 𝒕𝟎 plus 𝒕𝟏 </a:t>
            </a:r>
          </a:p>
          <a:p>
            <a:pPr algn="l" rtl="0"/>
            <a:r>
              <a:rPr lang="en-US" sz="3600" dirty="0" err="1"/>
              <a:t>sw</a:t>
            </a:r>
            <a:r>
              <a:rPr lang="en-US" sz="3600" dirty="0"/>
              <a:t> t2, 4(s0) 		</a:t>
            </a:r>
            <a:r>
              <a:rPr lang="en-US" sz="3600" dirty="0">
                <a:solidFill>
                  <a:srgbClr val="002060"/>
                </a:solidFill>
              </a:rPr>
              <a:t># Sets 𝒂𝒓𝒓[𝟏] equal to value in 𝒕𝟐</a:t>
            </a:r>
            <a:endParaRPr lang="he-IL" sz="3600" dirty="0">
              <a:solidFill>
                <a:srgbClr val="002060"/>
              </a:solidFill>
            </a:endParaRPr>
          </a:p>
        </p:txBody>
      </p:sp>
      <p:sp>
        <p:nvSpPr>
          <p:cNvPr id="4" name="Rectangle 3"/>
          <p:cNvSpPr/>
          <p:nvPr/>
        </p:nvSpPr>
        <p:spPr>
          <a:xfrm rot="20560027">
            <a:off x="4271205" y="3552362"/>
            <a:ext cx="6823881" cy="1460311"/>
          </a:xfrm>
          <a:prstGeom prst="rect">
            <a:avLst/>
          </a:prstGeom>
        </p:spPr>
        <p:style>
          <a:lnRef idx="2">
            <a:schemeClr val="accent6"/>
          </a:lnRef>
          <a:fillRef idx="1">
            <a:schemeClr val="lt1"/>
          </a:fillRef>
          <a:effectRef idx="0">
            <a:schemeClr val="accent6"/>
          </a:effectRef>
          <a:fontRef idx="minor">
            <a:schemeClr val="dk1"/>
          </a:fontRef>
        </p:style>
        <p:txBody>
          <a:bodyPr rtlCol="1" anchor="ctr"/>
          <a:lstStyle/>
          <a:p>
            <a:pPr algn="ctr" rtl="0"/>
            <a:r>
              <a:rPr lang="en-US" sz="4400" dirty="0">
                <a:solidFill>
                  <a:srgbClr val="FF0000"/>
                </a:solidFill>
              </a:rPr>
              <a:t>𝒂𝒓𝒓[𝟏] = 𝒂𝒓𝒓[𝟎] + 𝒂𝒓𝒓[𝟐] </a:t>
            </a:r>
            <a:br>
              <a:rPr lang="en-US" sz="4400" dirty="0">
                <a:solidFill>
                  <a:srgbClr val="FF0000"/>
                </a:solidFill>
              </a:rPr>
            </a:br>
            <a:r>
              <a:rPr lang="en-US" sz="4400" dirty="0">
                <a:solidFill>
                  <a:srgbClr val="FF0000"/>
                </a:solidFill>
              </a:rPr>
              <a:t>(𝒂𝒓𝒓[𝟏] =𝟑 + 𝟒 = 7)</a:t>
            </a:r>
            <a:endParaRPr lang="he-IL" dirty="0">
              <a:solidFill>
                <a:srgbClr val="FF0000"/>
              </a:solidFill>
            </a:endParaRPr>
          </a:p>
        </p:txBody>
      </p:sp>
    </p:spTree>
    <p:extLst>
      <p:ext uri="{BB962C8B-B14F-4D97-AF65-F5344CB8AC3E}">
        <p14:creationId xmlns:p14="http://schemas.microsoft.com/office/powerpoint/2010/main" val="951964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1009935" y="327547"/>
                <a:ext cx="10904561" cy="592726"/>
              </a:xfrm>
              <a:prstGeom prst="rect">
                <a:avLst/>
              </a:prstGeom>
            </p:spPr>
            <p:txBody>
              <a:bodyPr wrap="square">
                <a:spAutoFit/>
              </a:bodyPr>
              <a:lstStyle/>
              <a:p>
                <a:pPr lvl="0" algn="l" rtl="0">
                  <a:lnSpc>
                    <a:spcPct val="107000"/>
                  </a:lnSpc>
                  <a:spcAft>
                    <a:spcPts val="800"/>
                  </a:spcAft>
                  <a:buSzPts val="1050"/>
                </a:pPr>
                <a:r>
                  <a:rPr lang="en-US" sz="3200" dirty="0"/>
                  <a:t>𝒂𝒓𝒓[𝟔] = {𝟑,𝟏, 𝟒,𝟏,𝟓,𝟗} ,</a:t>
                </a:r>
                <a14:m>
                  <m:oMath xmlns:m="http://schemas.openxmlformats.org/officeDocument/2006/math">
                    <m:r>
                      <a:rPr lang="en-US" sz="3200" b="0" i="0" smtClean="0">
                        <a:latin typeface="Cambria Math" panose="02040503050406030204" pitchFamily="18" charset="0"/>
                      </a:rPr>
                      <m:t>     </m:t>
                    </m:r>
                    <m:d>
                      <m:dPr>
                        <m:begChr m:val="⟨"/>
                        <m:endChr m:val="⟩"/>
                        <m:ctrlPr>
                          <a:rPr lang="en-US" sz="3200" i="1" smtClean="0">
                            <a:latin typeface="Cambria Math" panose="02040503050406030204" pitchFamily="18" charset="0"/>
                          </a:rPr>
                        </m:ctrlPr>
                      </m:dPr>
                      <m:e>
                        <m:r>
                          <a:rPr lang="en-US" sz="3200" b="0" i="1" smtClean="0">
                            <a:latin typeface="Cambria Math" panose="02040503050406030204" pitchFamily="18" charset="0"/>
                          </a:rPr>
                          <m:t>𝑆</m:t>
                        </m:r>
                        <m:r>
                          <a:rPr lang="en-US" sz="3200" b="0" i="1" smtClean="0">
                            <a:latin typeface="Cambria Math" panose="02040503050406030204" pitchFamily="18" charset="0"/>
                          </a:rPr>
                          <m:t>0</m:t>
                        </m:r>
                      </m:e>
                    </m:d>
                    <m:r>
                      <a:rPr lang="en-US" sz="3200" b="1" i="1" dirty="0" smtClean="0">
                        <a:latin typeface="Cambria Math" panose="02040503050406030204" pitchFamily="18" charset="0"/>
                      </a:rPr>
                      <m:t> = </m:t>
                    </m:r>
                    <m:r>
                      <a:rPr lang="en-US" sz="3200" b="1" i="1" dirty="0" smtClean="0">
                        <a:latin typeface="Cambria Math" panose="02040503050406030204" pitchFamily="18" charset="0"/>
                      </a:rPr>
                      <m:t>𝟎</m:t>
                    </m:r>
                    <m:r>
                      <a:rPr lang="en-US" sz="3200" b="1" i="1" dirty="0" smtClean="0">
                        <a:latin typeface="Cambria Math" panose="02040503050406030204" pitchFamily="18" charset="0"/>
                      </a:rPr>
                      <m:t>𝒙𝑩𝑭𝑭𝑭𝑭𝑭</m:t>
                    </m:r>
                    <m:r>
                      <a:rPr lang="en-US" sz="3200" b="1" i="1" dirty="0" smtClean="0">
                        <a:latin typeface="Cambria Math" panose="02040503050406030204" pitchFamily="18" charset="0"/>
                      </a:rPr>
                      <m:t>𝟎𝟎</m:t>
                    </m:r>
                  </m:oMath>
                </a14:m>
                <a:endParaRPr lang="en-US" sz="32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1009935" y="327547"/>
                <a:ext cx="10904561" cy="592726"/>
              </a:xfrm>
              <a:prstGeom prst="rect">
                <a:avLst/>
              </a:prstGeom>
              <a:blipFill rotWithShape="0">
                <a:blip r:embed="rId2"/>
                <a:stretch>
                  <a:fillRect l="-1454" t="-14433" b="-34021"/>
                </a:stretch>
              </a:blipFill>
            </p:spPr>
            <p:txBody>
              <a:bodyPr/>
              <a:lstStyle/>
              <a:p>
                <a:r>
                  <a:rPr lang="he-IL">
                    <a:noFill/>
                  </a:rPr>
                  <a:t> </a:t>
                </a:r>
              </a:p>
            </p:txBody>
          </p:sp>
        </mc:Fallback>
      </mc:AlternateContent>
      <p:sp>
        <p:nvSpPr>
          <p:cNvPr id="3" name="Rectangle 2"/>
          <p:cNvSpPr/>
          <p:nvPr/>
        </p:nvSpPr>
        <p:spPr>
          <a:xfrm>
            <a:off x="1" y="982791"/>
            <a:ext cx="4089862" cy="5509200"/>
          </a:xfrm>
          <a:prstGeom prst="rect">
            <a:avLst/>
          </a:prstGeom>
        </p:spPr>
        <p:txBody>
          <a:bodyPr wrap="square">
            <a:spAutoFit/>
          </a:bodyPr>
          <a:lstStyle/>
          <a:p>
            <a:pPr algn="l" rtl="0"/>
            <a:r>
              <a:rPr lang="en-US" sz="3200" dirty="0"/>
              <a:t>	 add t0, x0, x0</a:t>
            </a:r>
          </a:p>
          <a:p>
            <a:pPr algn="l" rtl="0"/>
            <a:r>
              <a:rPr lang="en-US" sz="3200" dirty="0"/>
              <a:t>loop:  </a:t>
            </a:r>
            <a:r>
              <a:rPr lang="en-US" sz="3200" dirty="0" err="1"/>
              <a:t>slti</a:t>
            </a:r>
            <a:r>
              <a:rPr lang="en-US" sz="3200" dirty="0"/>
              <a:t> t1, t0, 6</a:t>
            </a:r>
            <a:endParaRPr lang="en-US" sz="3200" dirty="0">
              <a:solidFill>
                <a:srgbClr val="002060"/>
              </a:solidFill>
            </a:endParaRPr>
          </a:p>
          <a:p>
            <a:pPr algn="l" rtl="0"/>
            <a:r>
              <a:rPr lang="en-US" sz="3200" dirty="0"/>
              <a:t>	 </a:t>
            </a:r>
            <a:r>
              <a:rPr lang="en-US" sz="3200" dirty="0" err="1"/>
              <a:t>beq</a:t>
            </a:r>
            <a:r>
              <a:rPr lang="en-US" sz="3200" dirty="0"/>
              <a:t> t1, x0, end </a:t>
            </a:r>
          </a:p>
          <a:p>
            <a:pPr algn="l" rtl="0"/>
            <a:r>
              <a:rPr lang="en-US" sz="3200" dirty="0"/>
              <a:t>	 </a:t>
            </a:r>
            <a:r>
              <a:rPr lang="en-US" sz="3200" dirty="0" err="1"/>
              <a:t>slli</a:t>
            </a:r>
            <a:r>
              <a:rPr lang="en-US" sz="3200" dirty="0"/>
              <a:t> t2, t0, 2</a:t>
            </a:r>
            <a:endParaRPr lang="en-US" sz="3200" dirty="0">
              <a:solidFill>
                <a:srgbClr val="002060"/>
              </a:solidFill>
            </a:endParaRPr>
          </a:p>
          <a:p>
            <a:pPr algn="l" rtl="0"/>
            <a:r>
              <a:rPr lang="en-US" sz="3200" dirty="0"/>
              <a:t>	 add t3, s0, t2</a:t>
            </a:r>
          </a:p>
          <a:p>
            <a:pPr algn="l" rtl="0"/>
            <a:r>
              <a:rPr lang="en-US" sz="3200" dirty="0"/>
              <a:t> 	 </a:t>
            </a:r>
            <a:r>
              <a:rPr lang="en-US" sz="3200" dirty="0" err="1"/>
              <a:t>lw</a:t>
            </a:r>
            <a:r>
              <a:rPr lang="en-US" sz="3200" dirty="0"/>
              <a:t> t4, 0(t3)</a:t>
            </a:r>
            <a:endParaRPr lang="en-US" sz="3200" dirty="0">
              <a:solidFill>
                <a:srgbClr val="002060"/>
              </a:solidFill>
            </a:endParaRPr>
          </a:p>
          <a:p>
            <a:pPr algn="l" rtl="0"/>
            <a:r>
              <a:rPr lang="en-US" sz="3200" dirty="0"/>
              <a:t>	 sub t4, x0, t4</a:t>
            </a:r>
          </a:p>
          <a:p>
            <a:pPr algn="l" rtl="0"/>
            <a:r>
              <a:rPr lang="en-US" sz="3200" dirty="0"/>
              <a:t>	 </a:t>
            </a:r>
            <a:r>
              <a:rPr lang="en-US" sz="3200" dirty="0" err="1"/>
              <a:t>sw</a:t>
            </a:r>
            <a:r>
              <a:rPr lang="en-US" sz="3200" dirty="0"/>
              <a:t> t4, 0(t3)</a:t>
            </a:r>
            <a:endParaRPr lang="en-US" sz="3200" dirty="0">
              <a:solidFill>
                <a:srgbClr val="002060"/>
              </a:solidFill>
            </a:endParaRPr>
          </a:p>
          <a:p>
            <a:pPr algn="l" rtl="0"/>
            <a:r>
              <a:rPr lang="en-US" sz="3200" dirty="0"/>
              <a:t>	 </a:t>
            </a:r>
            <a:r>
              <a:rPr lang="en-US" sz="3200" dirty="0" err="1"/>
              <a:t>addi</a:t>
            </a:r>
            <a:r>
              <a:rPr lang="en-US" sz="3200" dirty="0"/>
              <a:t> t0, t0, 1 </a:t>
            </a:r>
          </a:p>
          <a:p>
            <a:pPr algn="l" rtl="0"/>
            <a:r>
              <a:rPr lang="en-US" sz="3200" dirty="0"/>
              <a:t>	 </a:t>
            </a:r>
            <a:r>
              <a:rPr lang="en-US" sz="3200" dirty="0" err="1"/>
              <a:t>jal</a:t>
            </a:r>
            <a:r>
              <a:rPr lang="en-US" sz="3200" dirty="0"/>
              <a:t> x0, loop</a:t>
            </a:r>
          </a:p>
          <a:p>
            <a:pPr algn="l" rtl="0"/>
            <a:r>
              <a:rPr lang="en-US" sz="3200" dirty="0"/>
              <a:t>end:</a:t>
            </a:r>
            <a:endParaRPr lang="he-IL" sz="3200" dirty="0">
              <a:solidFill>
                <a:srgbClr val="002060"/>
              </a:solidFill>
            </a:endParaRPr>
          </a:p>
        </p:txBody>
      </p:sp>
      <p:sp>
        <p:nvSpPr>
          <p:cNvPr id="4" name="Rectangle 3"/>
          <p:cNvSpPr/>
          <p:nvPr/>
        </p:nvSpPr>
        <p:spPr>
          <a:xfrm>
            <a:off x="4663749" y="982791"/>
            <a:ext cx="7172651" cy="5016758"/>
          </a:xfrm>
          <a:prstGeom prst="rect">
            <a:avLst/>
          </a:prstGeom>
        </p:spPr>
        <p:txBody>
          <a:bodyPr wrap="square">
            <a:spAutoFit/>
          </a:bodyPr>
          <a:lstStyle/>
          <a:p>
            <a:pPr algn="l" rtl="0"/>
            <a:r>
              <a:rPr lang="en-US" sz="3200" dirty="0">
                <a:solidFill>
                  <a:srgbClr val="002060"/>
                </a:solidFill>
              </a:rPr>
              <a:t># Sets register 𝒕𝟎 to 0</a:t>
            </a:r>
          </a:p>
          <a:p>
            <a:pPr algn="l" rtl="0"/>
            <a:r>
              <a:rPr lang="en-US" sz="3200" dirty="0">
                <a:solidFill>
                  <a:srgbClr val="002060"/>
                </a:solidFill>
              </a:rPr>
              <a:t># Sets t1 to 1 if 𝒕𝟎 &lt; 6, 0 otherwise</a:t>
            </a:r>
          </a:p>
          <a:p>
            <a:pPr algn="l" rtl="0"/>
            <a:r>
              <a:rPr lang="en-US" sz="3200" dirty="0">
                <a:solidFill>
                  <a:srgbClr val="002060"/>
                </a:solidFill>
              </a:rPr>
              <a:t># Branches to the end if t1 is 0 (𝒕𝟎 &gt;= 6)</a:t>
            </a:r>
          </a:p>
          <a:p>
            <a:pPr algn="l" rtl="0"/>
            <a:r>
              <a:rPr lang="en-US" sz="3200" dirty="0">
                <a:solidFill>
                  <a:srgbClr val="002060"/>
                </a:solidFill>
              </a:rPr>
              <a:t># Sets 𝒕𝟐 to 𝒕𝟎 * 4 </a:t>
            </a:r>
          </a:p>
          <a:p>
            <a:pPr algn="l" rtl="0"/>
            <a:r>
              <a:rPr lang="en-US" sz="3200" dirty="0">
                <a:solidFill>
                  <a:srgbClr val="002060"/>
                </a:solidFill>
              </a:rPr>
              <a:t># Sets 𝒕𝟑 to the address of 𝒂𝒓𝒓[𝒕𝟎] </a:t>
            </a:r>
          </a:p>
          <a:p>
            <a:pPr algn="l" rtl="0"/>
            <a:r>
              <a:rPr lang="en-US" sz="3200" dirty="0">
                <a:solidFill>
                  <a:srgbClr val="002060"/>
                </a:solidFill>
              </a:rPr>
              <a:t># Load 𝒂𝒓𝒓[𝒕𝟎] into register 𝒕𝟒</a:t>
            </a:r>
          </a:p>
          <a:p>
            <a:pPr algn="l" rtl="0"/>
            <a:r>
              <a:rPr lang="en-US" sz="3200" dirty="0">
                <a:solidFill>
                  <a:srgbClr val="002060"/>
                </a:solidFill>
              </a:rPr>
              <a:t># Sets 𝒕𝟒 to its negative</a:t>
            </a:r>
          </a:p>
          <a:p>
            <a:pPr algn="l" rtl="0"/>
            <a:r>
              <a:rPr lang="en-US" sz="3200" dirty="0">
                <a:solidFill>
                  <a:srgbClr val="002060"/>
                </a:solidFill>
              </a:rPr>
              <a:t># Stores this updated value at 𝒂𝒓𝒓[𝒕𝟎]</a:t>
            </a:r>
          </a:p>
          <a:p>
            <a:pPr algn="l" rtl="0"/>
            <a:r>
              <a:rPr lang="en-US" sz="3200" dirty="0">
                <a:solidFill>
                  <a:srgbClr val="002060"/>
                </a:solidFill>
              </a:rPr>
              <a:t># Increments 𝒕𝟎 (move to next element)</a:t>
            </a:r>
          </a:p>
          <a:p>
            <a:pPr algn="l" rtl="0"/>
            <a:r>
              <a:rPr lang="en-US" sz="3200" dirty="0">
                <a:solidFill>
                  <a:srgbClr val="002060"/>
                </a:solidFill>
              </a:rPr>
              <a:t># Jump back to the loop label</a:t>
            </a:r>
          </a:p>
        </p:txBody>
      </p:sp>
    </p:spTree>
    <p:extLst>
      <p:ext uri="{BB962C8B-B14F-4D97-AF65-F5344CB8AC3E}">
        <p14:creationId xmlns:p14="http://schemas.microsoft.com/office/powerpoint/2010/main" val="1907250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1009935" y="327547"/>
                <a:ext cx="10904561" cy="592726"/>
              </a:xfrm>
              <a:prstGeom prst="rect">
                <a:avLst/>
              </a:prstGeom>
            </p:spPr>
            <p:txBody>
              <a:bodyPr wrap="square">
                <a:spAutoFit/>
              </a:bodyPr>
              <a:lstStyle/>
              <a:p>
                <a:pPr lvl="0" algn="l" rtl="0">
                  <a:lnSpc>
                    <a:spcPct val="107000"/>
                  </a:lnSpc>
                  <a:spcAft>
                    <a:spcPts val="800"/>
                  </a:spcAft>
                  <a:buSzPts val="1050"/>
                </a:pPr>
                <a:r>
                  <a:rPr lang="en-US" sz="3200" dirty="0"/>
                  <a:t>𝒂𝒓𝒓[𝟔] = {𝟑,𝟏, 𝟒,𝟏,𝟓,𝟗} ,</a:t>
                </a:r>
                <a14:m>
                  <m:oMath xmlns:m="http://schemas.openxmlformats.org/officeDocument/2006/math">
                    <m:r>
                      <a:rPr lang="en-US" sz="3200" b="0" i="0" smtClean="0">
                        <a:latin typeface="Cambria Math" panose="02040503050406030204" pitchFamily="18" charset="0"/>
                      </a:rPr>
                      <m:t>     </m:t>
                    </m:r>
                    <m:d>
                      <m:dPr>
                        <m:begChr m:val="⟨"/>
                        <m:endChr m:val="⟩"/>
                        <m:ctrlPr>
                          <a:rPr lang="en-US" sz="3200" i="1" smtClean="0">
                            <a:latin typeface="Cambria Math" panose="02040503050406030204" pitchFamily="18" charset="0"/>
                          </a:rPr>
                        </m:ctrlPr>
                      </m:dPr>
                      <m:e>
                        <m:r>
                          <a:rPr lang="en-US" sz="3200" b="0" i="1" smtClean="0">
                            <a:latin typeface="Cambria Math" panose="02040503050406030204" pitchFamily="18" charset="0"/>
                          </a:rPr>
                          <m:t>𝑆</m:t>
                        </m:r>
                        <m:r>
                          <a:rPr lang="en-US" sz="3200" b="0" i="1" smtClean="0">
                            <a:latin typeface="Cambria Math" panose="02040503050406030204" pitchFamily="18" charset="0"/>
                          </a:rPr>
                          <m:t>0</m:t>
                        </m:r>
                      </m:e>
                    </m:d>
                    <m:r>
                      <a:rPr lang="en-US" sz="3200" b="1" i="1" dirty="0" smtClean="0">
                        <a:latin typeface="Cambria Math" panose="02040503050406030204" pitchFamily="18" charset="0"/>
                      </a:rPr>
                      <m:t> = </m:t>
                    </m:r>
                    <m:r>
                      <a:rPr lang="en-US" sz="3200" b="1" i="1" dirty="0" smtClean="0">
                        <a:latin typeface="Cambria Math" panose="02040503050406030204" pitchFamily="18" charset="0"/>
                      </a:rPr>
                      <m:t>𝟎</m:t>
                    </m:r>
                    <m:r>
                      <a:rPr lang="en-US" sz="3200" b="1" i="1" dirty="0" smtClean="0">
                        <a:latin typeface="Cambria Math" panose="02040503050406030204" pitchFamily="18" charset="0"/>
                      </a:rPr>
                      <m:t>𝒙𝑩𝑭𝑭𝑭𝑭𝑭</m:t>
                    </m:r>
                    <m:r>
                      <a:rPr lang="en-US" sz="3200" b="1" i="1" dirty="0" smtClean="0">
                        <a:latin typeface="Cambria Math" panose="02040503050406030204" pitchFamily="18" charset="0"/>
                      </a:rPr>
                      <m:t>𝟎𝟎</m:t>
                    </m:r>
                  </m:oMath>
                </a14:m>
                <a:endParaRPr lang="en-US" sz="32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1009935" y="327547"/>
                <a:ext cx="10904561" cy="592726"/>
              </a:xfrm>
              <a:prstGeom prst="rect">
                <a:avLst/>
              </a:prstGeom>
              <a:blipFill rotWithShape="0">
                <a:blip r:embed="rId2"/>
                <a:stretch>
                  <a:fillRect l="-1454" t="-14433" b="-34021"/>
                </a:stretch>
              </a:blipFill>
            </p:spPr>
            <p:txBody>
              <a:bodyPr/>
              <a:lstStyle/>
              <a:p>
                <a:r>
                  <a:rPr lang="he-IL">
                    <a:noFill/>
                  </a:rPr>
                  <a:t> </a:t>
                </a:r>
              </a:p>
            </p:txBody>
          </p:sp>
        </mc:Fallback>
      </mc:AlternateContent>
      <p:sp>
        <p:nvSpPr>
          <p:cNvPr id="3" name="Rectangle 2"/>
          <p:cNvSpPr/>
          <p:nvPr/>
        </p:nvSpPr>
        <p:spPr>
          <a:xfrm>
            <a:off x="0" y="982791"/>
            <a:ext cx="12337575" cy="5509200"/>
          </a:xfrm>
          <a:prstGeom prst="rect">
            <a:avLst/>
          </a:prstGeom>
        </p:spPr>
        <p:txBody>
          <a:bodyPr wrap="square">
            <a:spAutoFit/>
          </a:bodyPr>
          <a:lstStyle/>
          <a:p>
            <a:pPr algn="l" rtl="0"/>
            <a:r>
              <a:rPr lang="en-US" sz="3200" dirty="0"/>
              <a:t>	 add t0, x0, x0		 </a:t>
            </a:r>
            <a:r>
              <a:rPr lang="en-US" sz="3200" dirty="0">
                <a:solidFill>
                  <a:srgbClr val="002060"/>
                </a:solidFill>
              </a:rPr>
              <a:t># Sets register 𝒕𝟎 to 0</a:t>
            </a:r>
          </a:p>
          <a:p>
            <a:pPr algn="l" rtl="0"/>
            <a:r>
              <a:rPr lang="en-US" sz="3200" dirty="0"/>
              <a:t>loop:  </a:t>
            </a:r>
            <a:r>
              <a:rPr lang="en-US" sz="3200" dirty="0" err="1"/>
              <a:t>slti</a:t>
            </a:r>
            <a:r>
              <a:rPr lang="en-US" sz="3200" dirty="0"/>
              <a:t> t1, t0, 6 		 </a:t>
            </a:r>
            <a:r>
              <a:rPr lang="en-US" sz="3200" dirty="0">
                <a:solidFill>
                  <a:srgbClr val="002060"/>
                </a:solidFill>
              </a:rPr>
              <a:t># Sets t1 to 1 if 𝒕𝟎 &lt; 6, 0 otherwise</a:t>
            </a:r>
          </a:p>
          <a:p>
            <a:pPr algn="l" rtl="0"/>
            <a:r>
              <a:rPr lang="en-US" sz="3200" dirty="0"/>
              <a:t>	 </a:t>
            </a:r>
            <a:r>
              <a:rPr lang="en-US" sz="3200" dirty="0" err="1"/>
              <a:t>beq</a:t>
            </a:r>
            <a:r>
              <a:rPr lang="en-US" sz="3200" dirty="0"/>
              <a:t> t1, x0, end 		 </a:t>
            </a:r>
            <a:r>
              <a:rPr lang="en-US" sz="3200" dirty="0">
                <a:solidFill>
                  <a:srgbClr val="002060"/>
                </a:solidFill>
              </a:rPr>
              <a:t># Branches to the end if t1 is 1 (𝒕𝟎 &gt;= 6)</a:t>
            </a:r>
          </a:p>
          <a:p>
            <a:pPr algn="l" rtl="0"/>
            <a:r>
              <a:rPr lang="en-US" sz="3200" dirty="0"/>
              <a:t>	 </a:t>
            </a:r>
            <a:r>
              <a:rPr lang="en-US" sz="3200" dirty="0" err="1"/>
              <a:t>slli</a:t>
            </a:r>
            <a:r>
              <a:rPr lang="en-US" sz="3200" dirty="0"/>
              <a:t> t2, t0, 2 		 </a:t>
            </a:r>
            <a:r>
              <a:rPr lang="en-US" sz="3200" dirty="0">
                <a:solidFill>
                  <a:srgbClr val="002060"/>
                </a:solidFill>
              </a:rPr>
              <a:t># Sets 𝒕𝟐 to 𝒕𝟎 * 4 </a:t>
            </a:r>
          </a:p>
          <a:p>
            <a:pPr algn="l" rtl="0"/>
            <a:r>
              <a:rPr lang="en-US" sz="3200" dirty="0"/>
              <a:t>	 add t3, s0, t2		 </a:t>
            </a:r>
            <a:r>
              <a:rPr lang="en-US" sz="3200" dirty="0">
                <a:solidFill>
                  <a:srgbClr val="002060"/>
                </a:solidFill>
              </a:rPr>
              <a:t># Sets 𝒕𝟑 to the address of 𝒂𝒓𝒓[𝒕𝟎] 		</a:t>
            </a:r>
            <a:r>
              <a:rPr lang="en-US" sz="3200" dirty="0"/>
              <a:t> 	 </a:t>
            </a:r>
            <a:r>
              <a:rPr lang="en-US" sz="3200" dirty="0" err="1"/>
              <a:t>lw</a:t>
            </a:r>
            <a:r>
              <a:rPr lang="en-US" sz="3200" dirty="0"/>
              <a:t> t4, 0(t3) 		 </a:t>
            </a:r>
            <a:r>
              <a:rPr lang="en-US" sz="3200" dirty="0">
                <a:solidFill>
                  <a:srgbClr val="002060"/>
                </a:solidFill>
              </a:rPr>
              <a:t># Load 𝒂𝒓𝒓[𝒕𝟎] into register 𝒕𝟒</a:t>
            </a:r>
          </a:p>
          <a:p>
            <a:pPr algn="l" rtl="0"/>
            <a:r>
              <a:rPr lang="en-US" sz="3200" dirty="0"/>
              <a:t>	 sub t4, x0, t4		 </a:t>
            </a:r>
            <a:r>
              <a:rPr lang="en-US" sz="3200" dirty="0">
                <a:solidFill>
                  <a:srgbClr val="002060"/>
                </a:solidFill>
              </a:rPr>
              <a:t># Sets 𝒕𝟒 to its negative</a:t>
            </a:r>
          </a:p>
          <a:p>
            <a:pPr algn="l" rtl="0"/>
            <a:r>
              <a:rPr lang="en-US" sz="3200" dirty="0"/>
              <a:t>	 </a:t>
            </a:r>
            <a:r>
              <a:rPr lang="en-US" sz="3200" dirty="0" err="1"/>
              <a:t>sw</a:t>
            </a:r>
            <a:r>
              <a:rPr lang="en-US" sz="3200" dirty="0"/>
              <a:t> t4, 0(t3) 		 </a:t>
            </a:r>
            <a:r>
              <a:rPr lang="en-US" sz="3200" dirty="0">
                <a:solidFill>
                  <a:srgbClr val="002060"/>
                </a:solidFill>
              </a:rPr>
              <a:t># Stores this updated value at 𝒂𝒓𝒓[𝒕𝟎]</a:t>
            </a:r>
          </a:p>
          <a:p>
            <a:pPr algn="l" rtl="0"/>
            <a:r>
              <a:rPr lang="en-US" sz="3200" dirty="0"/>
              <a:t>	 </a:t>
            </a:r>
            <a:r>
              <a:rPr lang="en-US" sz="3200" dirty="0" err="1"/>
              <a:t>addi</a:t>
            </a:r>
            <a:r>
              <a:rPr lang="en-US" sz="3200" dirty="0"/>
              <a:t> t0, t0, 1 		 </a:t>
            </a:r>
            <a:r>
              <a:rPr lang="en-US" sz="3200" dirty="0">
                <a:solidFill>
                  <a:srgbClr val="002060"/>
                </a:solidFill>
              </a:rPr>
              <a:t># Increments 𝒕𝟎 (move to next element)</a:t>
            </a:r>
          </a:p>
          <a:p>
            <a:pPr algn="l" rtl="0"/>
            <a:r>
              <a:rPr lang="en-US" sz="3200" dirty="0"/>
              <a:t>	 </a:t>
            </a:r>
            <a:r>
              <a:rPr lang="en-US" sz="3200" dirty="0" err="1"/>
              <a:t>jal</a:t>
            </a:r>
            <a:r>
              <a:rPr lang="en-US" sz="3200" dirty="0"/>
              <a:t> x0, loop		 </a:t>
            </a:r>
            <a:r>
              <a:rPr lang="en-US" sz="3200" dirty="0">
                <a:solidFill>
                  <a:srgbClr val="002060"/>
                </a:solidFill>
              </a:rPr>
              <a:t># Jump back to the loop label</a:t>
            </a:r>
          </a:p>
          <a:p>
            <a:pPr algn="l" rtl="0"/>
            <a:r>
              <a:rPr lang="en-US" sz="3200" dirty="0"/>
              <a:t>end:</a:t>
            </a:r>
            <a:endParaRPr lang="he-IL" sz="3200" dirty="0">
              <a:solidFill>
                <a:srgbClr val="002060"/>
              </a:solidFill>
            </a:endParaRPr>
          </a:p>
        </p:txBody>
      </p:sp>
      <p:sp>
        <p:nvSpPr>
          <p:cNvPr id="4" name="Rectangle 3"/>
          <p:cNvSpPr/>
          <p:nvPr/>
        </p:nvSpPr>
        <p:spPr>
          <a:xfrm rot="20571331">
            <a:off x="7420902" y="2884095"/>
            <a:ext cx="184731" cy="646331"/>
          </a:xfrm>
          <a:prstGeom prst="rect">
            <a:avLst/>
          </a:prstGeom>
        </p:spPr>
        <p:txBody>
          <a:bodyPr wrap="none">
            <a:spAutoFit/>
          </a:bodyPr>
          <a:lstStyle/>
          <a:p>
            <a:pPr algn="l" rtl="0"/>
            <a:endParaRPr lang="he-IL" sz="3600" dirty="0"/>
          </a:p>
        </p:txBody>
      </p:sp>
      <p:sp>
        <p:nvSpPr>
          <p:cNvPr id="5" name="Rectangle 4"/>
          <p:cNvSpPr/>
          <p:nvPr/>
        </p:nvSpPr>
        <p:spPr>
          <a:xfrm rot="20560027">
            <a:off x="4284851" y="2477105"/>
            <a:ext cx="6823881" cy="1460311"/>
          </a:xfrm>
          <a:prstGeom prst="rect">
            <a:avLst/>
          </a:prstGeom>
        </p:spPr>
        <p:style>
          <a:lnRef idx="2">
            <a:schemeClr val="accent6"/>
          </a:lnRef>
          <a:fillRef idx="1">
            <a:schemeClr val="lt1"/>
          </a:fillRef>
          <a:effectRef idx="0">
            <a:schemeClr val="accent6"/>
          </a:effectRef>
          <a:fontRef idx="minor">
            <a:schemeClr val="dk1"/>
          </a:fontRef>
        </p:style>
        <p:txBody>
          <a:bodyPr rtlCol="1" anchor="ctr"/>
          <a:lstStyle/>
          <a:p>
            <a:pPr algn="ctr"/>
            <a:r>
              <a:rPr lang="en-US" sz="4400" b="1" dirty="0">
                <a:solidFill>
                  <a:srgbClr val="FF0000"/>
                </a:solidFill>
                <a:latin typeface="+mj-lt"/>
              </a:rPr>
              <a:t>Negates all elements in 𝒂𝒓𝒓</a:t>
            </a:r>
            <a:endParaRPr lang="he-IL" sz="4400" b="1" dirty="0">
              <a:solidFill>
                <a:srgbClr val="FF0000"/>
              </a:solidFill>
              <a:latin typeface="+mj-lt"/>
            </a:endParaRPr>
          </a:p>
          <a:p>
            <a:pPr algn="ctr"/>
            <a:endParaRPr lang="he-IL" dirty="0"/>
          </a:p>
        </p:txBody>
      </p:sp>
    </p:spTree>
    <p:extLst>
      <p:ext uri="{BB962C8B-B14F-4D97-AF65-F5344CB8AC3E}">
        <p14:creationId xmlns:p14="http://schemas.microsoft.com/office/powerpoint/2010/main" val="25781588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1383327"/>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Assembly with RISC-V Simulator</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1383327"/>
              </a:xfrm>
              <a:prstGeom prst="rect">
                <a:avLst/>
              </a:prstGeom>
              <a:blipFill rotWithShape="0">
                <a:blip r:embed="rId2"/>
                <a:stretch>
                  <a:fillRect l="-2236" t="-7930"/>
                </a:stretch>
              </a:blipFill>
            </p:spPr>
            <p:txBody>
              <a:bodyPr/>
              <a:lstStyle/>
              <a:p>
                <a:r>
                  <a:rPr lang="he-IL">
                    <a:noFill/>
                  </a:rPr>
                  <a:t> </a:t>
                </a:r>
              </a:p>
            </p:txBody>
          </p:sp>
        </mc:Fallback>
      </mc:AlternateContent>
      <p:sp>
        <p:nvSpPr>
          <p:cNvPr id="3" name="Rectangle 2"/>
          <p:cNvSpPr/>
          <p:nvPr/>
        </p:nvSpPr>
        <p:spPr>
          <a:xfrm>
            <a:off x="873456" y="1493376"/>
            <a:ext cx="10904561" cy="1754326"/>
          </a:xfrm>
          <a:prstGeom prst="rect">
            <a:avLst/>
          </a:prstGeom>
        </p:spPr>
        <p:txBody>
          <a:bodyPr wrap="square">
            <a:spAutoFit/>
          </a:bodyPr>
          <a:lstStyle/>
          <a:p>
            <a:pPr algn="l" rtl="0"/>
            <a:r>
              <a:rPr lang="en-US" sz="3600" dirty="0"/>
              <a:t>The following exercises use a RISC-V simulator developed by </a:t>
            </a:r>
            <a:r>
              <a:rPr lang="en-US" sz="3600" dirty="0" err="1"/>
              <a:t>Keyhan</a:t>
            </a:r>
            <a:r>
              <a:rPr lang="en-US" sz="3600" dirty="0"/>
              <a:t> </a:t>
            </a:r>
            <a:r>
              <a:rPr lang="en-US" sz="3600" dirty="0" err="1"/>
              <a:t>Vakil</a:t>
            </a:r>
            <a:r>
              <a:rPr lang="en-US" sz="3600" dirty="0"/>
              <a:t> from Berkeley. The simulator is called Venus and can be found online.</a:t>
            </a:r>
            <a:endParaRPr lang="he-IL" sz="3600" dirty="0">
              <a:solidFill>
                <a:srgbClr val="002060"/>
              </a:solidFill>
            </a:endParaRPr>
          </a:p>
        </p:txBody>
      </p:sp>
    </p:spTree>
    <p:extLst>
      <p:ext uri="{BB962C8B-B14F-4D97-AF65-F5344CB8AC3E}">
        <p14:creationId xmlns:p14="http://schemas.microsoft.com/office/powerpoint/2010/main" val="17323740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1383327"/>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Assembly with RISC-V Simulator</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1383327"/>
              </a:xfrm>
              <a:prstGeom prst="rect">
                <a:avLst/>
              </a:prstGeom>
              <a:blipFill rotWithShape="0">
                <a:blip r:embed="rId3"/>
                <a:stretch>
                  <a:fillRect l="-2236" t="-7930"/>
                </a:stretch>
              </a:blipFill>
            </p:spPr>
            <p:txBody>
              <a:bodyPr/>
              <a:lstStyle/>
              <a:p>
                <a:r>
                  <a:rPr lang="he-IL">
                    <a:noFill/>
                  </a:rPr>
                  <a:t> </a:t>
                </a:r>
              </a:p>
            </p:txBody>
          </p:sp>
        </mc:Fallback>
      </mc:AlternateContent>
      <p:sp>
        <p:nvSpPr>
          <p:cNvPr id="3" name="Rectangle 2"/>
          <p:cNvSpPr/>
          <p:nvPr/>
        </p:nvSpPr>
        <p:spPr>
          <a:xfrm>
            <a:off x="873457" y="1493376"/>
            <a:ext cx="3008588" cy="4770537"/>
          </a:xfrm>
          <a:prstGeom prst="rect">
            <a:avLst/>
          </a:prstGeom>
        </p:spPr>
        <p:txBody>
          <a:bodyPr wrap="square">
            <a:spAutoFit/>
          </a:bodyPr>
          <a:lstStyle/>
          <a:p>
            <a:pPr algn="l" rtl="0"/>
            <a:r>
              <a:rPr lang="en-US" sz="1600" dirty="0"/>
              <a:t>.data</a:t>
            </a:r>
          </a:p>
          <a:p>
            <a:pPr algn="l" rtl="0"/>
            <a:r>
              <a:rPr lang="en-US" sz="1600" dirty="0" err="1"/>
              <a:t>arr</a:t>
            </a:r>
            <a:r>
              <a:rPr lang="en-US" sz="1600" dirty="0"/>
              <a:t>: .word 2, 4, 6, 8</a:t>
            </a:r>
          </a:p>
          <a:p>
            <a:pPr algn="l" rtl="0"/>
            <a:r>
              <a:rPr lang="en-US" sz="1600" dirty="0"/>
              <a:t>n: .word 9</a:t>
            </a:r>
          </a:p>
          <a:p>
            <a:pPr algn="l" rtl="0"/>
            <a:r>
              <a:rPr lang="en-US" sz="1600" dirty="0"/>
              <a:t>.text</a:t>
            </a:r>
          </a:p>
          <a:p>
            <a:pPr algn="l" rtl="0"/>
            <a:r>
              <a:rPr lang="en-US" sz="1600" dirty="0"/>
              <a:t>main:   add     t0, x0, x0</a:t>
            </a:r>
          </a:p>
          <a:p>
            <a:pPr algn="l" rtl="0"/>
            <a:r>
              <a:rPr lang="en-US" sz="1600" dirty="0"/>
              <a:t>             </a:t>
            </a:r>
            <a:r>
              <a:rPr lang="en-US" sz="1600" dirty="0" err="1"/>
              <a:t>addi</a:t>
            </a:r>
            <a:r>
              <a:rPr lang="en-US" sz="1600" dirty="0"/>
              <a:t>    t1, x0, 1</a:t>
            </a:r>
          </a:p>
          <a:p>
            <a:pPr algn="l" rtl="0"/>
            <a:r>
              <a:rPr lang="en-US" sz="1600" dirty="0"/>
              <a:t>             la      t3, n</a:t>
            </a:r>
          </a:p>
          <a:p>
            <a:pPr algn="l" rtl="0"/>
            <a:r>
              <a:rPr lang="en-US" sz="1600" dirty="0"/>
              <a:t>             </a:t>
            </a:r>
            <a:r>
              <a:rPr lang="en-US" sz="1600" dirty="0" err="1"/>
              <a:t>lw</a:t>
            </a:r>
            <a:r>
              <a:rPr lang="en-US" sz="1600" dirty="0"/>
              <a:t>      t3, 0(t3)</a:t>
            </a:r>
          </a:p>
          <a:p>
            <a:pPr algn="l" rtl="0"/>
            <a:r>
              <a:rPr lang="en-US" sz="1600" dirty="0"/>
              <a:t>fib:       </a:t>
            </a:r>
            <a:r>
              <a:rPr lang="en-US" sz="1600" dirty="0" err="1"/>
              <a:t>beq</a:t>
            </a:r>
            <a:r>
              <a:rPr lang="en-US" sz="1600" dirty="0"/>
              <a:t>     t3, x0, finish</a:t>
            </a:r>
          </a:p>
          <a:p>
            <a:pPr algn="l" rtl="0"/>
            <a:r>
              <a:rPr lang="en-US" sz="1600" dirty="0"/>
              <a:t>             add     t2, t1, t0</a:t>
            </a:r>
          </a:p>
          <a:p>
            <a:pPr algn="l" rtl="0"/>
            <a:r>
              <a:rPr lang="en-US" sz="1600" dirty="0"/>
              <a:t>             mv      t0, t1</a:t>
            </a:r>
          </a:p>
          <a:p>
            <a:pPr algn="l" rtl="0"/>
            <a:r>
              <a:rPr lang="en-US" sz="1600" dirty="0"/>
              <a:t>             mv      t1, t2</a:t>
            </a:r>
          </a:p>
          <a:p>
            <a:pPr algn="l" rtl="0"/>
            <a:r>
              <a:rPr lang="en-US" sz="1600" dirty="0"/>
              <a:t>             </a:t>
            </a:r>
            <a:r>
              <a:rPr lang="en-US" sz="1600" dirty="0" err="1"/>
              <a:t>addi</a:t>
            </a:r>
            <a:r>
              <a:rPr lang="en-US" sz="1600" dirty="0"/>
              <a:t>    t3, t3, -1</a:t>
            </a:r>
          </a:p>
          <a:p>
            <a:pPr algn="l" rtl="0"/>
            <a:r>
              <a:rPr lang="en-US" sz="1600" dirty="0"/>
              <a:t>             j       fib</a:t>
            </a:r>
          </a:p>
          <a:p>
            <a:pPr algn="l" rtl="0"/>
            <a:r>
              <a:rPr lang="en-US" sz="1600" dirty="0"/>
              <a:t>finish:  </a:t>
            </a:r>
            <a:r>
              <a:rPr lang="en-US" sz="1600" dirty="0" err="1"/>
              <a:t>addi</a:t>
            </a:r>
            <a:r>
              <a:rPr lang="en-US" sz="1600" dirty="0"/>
              <a:t>    a0, x0, 1</a:t>
            </a:r>
          </a:p>
          <a:p>
            <a:pPr algn="l" rtl="0"/>
            <a:r>
              <a:rPr lang="en-US" sz="1600" dirty="0"/>
              <a:t>             </a:t>
            </a:r>
            <a:r>
              <a:rPr lang="en-US" sz="1600" dirty="0" err="1"/>
              <a:t>addi</a:t>
            </a:r>
            <a:r>
              <a:rPr lang="en-US" sz="1600" dirty="0"/>
              <a:t>    a1, t0, 0</a:t>
            </a:r>
          </a:p>
          <a:p>
            <a:pPr algn="l" rtl="0"/>
            <a:r>
              <a:rPr lang="en-US" sz="1600" dirty="0"/>
              <a:t>             </a:t>
            </a:r>
            <a:r>
              <a:rPr lang="en-US" sz="1600" dirty="0" err="1"/>
              <a:t>ecall</a:t>
            </a:r>
            <a:r>
              <a:rPr lang="en-US" sz="1600" dirty="0"/>
              <a:t> # print integer </a:t>
            </a:r>
            <a:r>
              <a:rPr lang="en-US" sz="1600" dirty="0" err="1"/>
              <a:t>ecall</a:t>
            </a:r>
            <a:endParaRPr lang="en-US" sz="1600" dirty="0"/>
          </a:p>
          <a:p>
            <a:pPr algn="l" rtl="0"/>
            <a:r>
              <a:rPr lang="en-US" sz="1600" dirty="0"/>
              <a:t>             </a:t>
            </a:r>
            <a:r>
              <a:rPr lang="en-US" sz="1600" dirty="0" err="1"/>
              <a:t>addi</a:t>
            </a:r>
            <a:r>
              <a:rPr lang="en-US" sz="1600" dirty="0"/>
              <a:t>    a0, x0, 10</a:t>
            </a:r>
          </a:p>
          <a:p>
            <a:pPr algn="l" rtl="0"/>
            <a:r>
              <a:rPr lang="en-US" sz="1600" dirty="0"/>
              <a:t>             </a:t>
            </a:r>
            <a:r>
              <a:rPr lang="en-US" sz="1600" dirty="0" err="1"/>
              <a:t>ecall</a:t>
            </a:r>
            <a:r>
              <a:rPr lang="en-US" sz="1600" dirty="0"/>
              <a:t> # terminate </a:t>
            </a:r>
            <a:r>
              <a:rPr lang="en-US" sz="1600" dirty="0" err="1"/>
              <a:t>ecall</a:t>
            </a:r>
            <a:endParaRPr lang="en-US" sz="1600" dirty="0"/>
          </a:p>
        </p:txBody>
      </p:sp>
      <p:sp>
        <p:nvSpPr>
          <p:cNvPr id="4" name="Rectangle 3"/>
          <p:cNvSpPr/>
          <p:nvPr/>
        </p:nvSpPr>
        <p:spPr>
          <a:xfrm>
            <a:off x="5183837" y="3293869"/>
            <a:ext cx="5542608" cy="1323439"/>
          </a:xfrm>
          <a:prstGeom prst="rect">
            <a:avLst/>
          </a:prstGeom>
        </p:spPr>
        <p:txBody>
          <a:bodyPr wrap="none">
            <a:spAutoFit/>
          </a:bodyPr>
          <a:lstStyle/>
          <a:p>
            <a:pPr algn="l" rtl="0"/>
            <a:r>
              <a:rPr lang="en-US" sz="4000" dirty="0"/>
              <a:t>Paste the code into Venus</a:t>
            </a:r>
          </a:p>
          <a:p>
            <a:pPr algn="l" rtl="0"/>
            <a:r>
              <a:rPr lang="en-US" sz="4000" dirty="0"/>
              <a:t>https://venus.cs61c.org/</a:t>
            </a:r>
            <a:endParaRPr lang="he-IL" sz="4000" dirty="0"/>
          </a:p>
        </p:txBody>
      </p:sp>
    </p:spTree>
    <p:extLst>
      <p:ext uri="{BB962C8B-B14F-4D97-AF65-F5344CB8AC3E}">
        <p14:creationId xmlns:p14="http://schemas.microsoft.com/office/powerpoint/2010/main" val="7582956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1383327"/>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Assembly with RISC-V Simulator</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1383327"/>
              </a:xfrm>
              <a:prstGeom prst="rect">
                <a:avLst/>
              </a:prstGeom>
              <a:blipFill rotWithShape="0">
                <a:blip r:embed="rId2"/>
                <a:stretch>
                  <a:fillRect l="-2236" t="-7930"/>
                </a:stretch>
              </a:blipFill>
            </p:spPr>
            <p:txBody>
              <a:bodyPr/>
              <a:lstStyle/>
              <a:p>
                <a:r>
                  <a:rPr lang="he-IL">
                    <a:noFill/>
                  </a:rPr>
                  <a:t> </a:t>
                </a:r>
              </a:p>
            </p:txBody>
          </p:sp>
        </mc:Fallback>
      </mc:AlternateContent>
      <p:sp>
        <p:nvSpPr>
          <p:cNvPr id="3" name="Rectangle 2"/>
          <p:cNvSpPr/>
          <p:nvPr/>
        </p:nvSpPr>
        <p:spPr>
          <a:xfrm>
            <a:off x="873456" y="1493376"/>
            <a:ext cx="10904561" cy="4524315"/>
          </a:xfrm>
          <a:prstGeom prst="rect">
            <a:avLst/>
          </a:prstGeom>
        </p:spPr>
        <p:txBody>
          <a:bodyPr wrap="square">
            <a:spAutoFit/>
          </a:bodyPr>
          <a:lstStyle/>
          <a:p>
            <a:pPr algn="l" rtl="0"/>
            <a:r>
              <a:rPr lang="en-US" sz="3600" dirty="0"/>
              <a:t>What do the </a:t>
            </a:r>
            <a:r>
              <a:rPr lang="en-US" sz="3600" b="1" dirty="0"/>
              <a:t>.data</a:t>
            </a:r>
            <a:r>
              <a:rPr lang="en-US" sz="3600" dirty="0"/>
              <a:t>, </a:t>
            </a:r>
            <a:r>
              <a:rPr lang="en-US" sz="3600" b="1" dirty="0"/>
              <a:t>.text, .word</a:t>
            </a:r>
            <a:r>
              <a:rPr lang="en-US" sz="3600" dirty="0"/>
              <a:t> directives mean?</a:t>
            </a:r>
          </a:p>
          <a:p>
            <a:pPr algn="l" rtl="0"/>
            <a:endParaRPr lang="en-US" sz="3600" dirty="0">
              <a:solidFill>
                <a:srgbClr val="002060"/>
              </a:solidFill>
            </a:endParaRPr>
          </a:p>
          <a:p>
            <a:pPr algn="l" rtl="0"/>
            <a:r>
              <a:rPr lang="en-US" sz="3600" dirty="0">
                <a:solidFill>
                  <a:srgbClr val="002060"/>
                </a:solidFill>
              </a:rPr>
              <a:t>.data	variable declarations follow this line</a:t>
            </a:r>
          </a:p>
          <a:p>
            <a:pPr algn="l" rtl="0"/>
            <a:r>
              <a:rPr lang="en-US" sz="3600" dirty="0">
                <a:solidFill>
                  <a:srgbClr val="002060"/>
                </a:solidFill>
              </a:rPr>
              <a:t>.text 	instructions follow this line</a:t>
            </a:r>
          </a:p>
          <a:p>
            <a:pPr algn="l" rtl="0"/>
            <a:r>
              <a:rPr lang="en-US" sz="3600" dirty="0">
                <a:solidFill>
                  <a:srgbClr val="002060"/>
                </a:solidFill>
              </a:rPr>
              <a:t>name:</a:t>
            </a:r>
            <a:r>
              <a:rPr lang="he-IL" sz="3600" dirty="0">
                <a:solidFill>
                  <a:srgbClr val="002060"/>
                </a:solidFill>
              </a:rPr>
              <a:t>	</a:t>
            </a:r>
            <a:r>
              <a:rPr lang="en-US" sz="3600" dirty="0">
                <a:solidFill>
                  <a:srgbClr val="002060"/>
                </a:solidFill>
              </a:rPr>
              <a:t>.</a:t>
            </a:r>
            <a:r>
              <a:rPr lang="en-US" sz="3600" dirty="0" err="1">
                <a:solidFill>
                  <a:srgbClr val="002060"/>
                </a:solidFill>
              </a:rPr>
              <a:t>storage_type</a:t>
            </a:r>
            <a:r>
              <a:rPr lang="en-US" sz="3600" dirty="0">
                <a:solidFill>
                  <a:srgbClr val="002060"/>
                </a:solidFill>
              </a:rPr>
              <a:t>  value(s) </a:t>
            </a:r>
            <a:br>
              <a:rPr lang="en-US" sz="3600" dirty="0">
                <a:solidFill>
                  <a:srgbClr val="002060"/>
                </a:solidFill>
              </a:rPr>
            </a:br>
            <a:r>
              <a:rPr lang="en-US" sz="3600" dirty="0">
                <a:solidFill>
                  <a:srgbClr val="002060"/>
                </a:solidFill>
              </a:rPr>
              <a:t>		create storage for variable of specified type 			with given name and specified value.</a:t>
            </a:r>
          </a:p>
          <a:p>
            <a:pPr algn="l" rtl="0"/>
            <a:r>
              <a:rPr lang="en-US" sz="3600" dirty="0">
                <a:solidFill>
                  <a:srgbClr val="002060"/>
                </a:solidFill>
              </a:rPr>
              <a:t>		value(s) usually gives initial value(s).</a:t>
            </a:r>
          </a:p>
        </p:txBody>
      </p:sp>
    </p:spTree>
    <p:extLst>
      <p:ext uri="{BB962C8B-B14F-4D97-AF65-F5344CB8AC3E}">
        <p14:creationId xmlns:p14="http://schemas.microsoft.com/office/powerpoint/2010/main" val="347907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1383327"/>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Assembly with RISC-V Simulator</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1383327"/>
              </a:xfrm>
              <a:prstGeom prst="rect">
                <a:avLst/>
              </a:prstGeom>
              <a:blipFill rotWithShape="0">
                <a:blip r:embed="rId2"/>
                <a:stretch>
                  <a:fillRect l="-2236" t="-7930"/>
                </a:stretch>
              </a:blipFill>
            </p:spPr>
            <p:txBody>
              <a:bodyPr/>
              <a:lstStyle/>
              <a:p>
                <a:r>
                  <a:rPr lang="he-IL">
                    <a:noFill/>
                  </a:rPr>
                  <a:t> </a:t>
                </a:r>
              </a:p>
            </p:txBody>
          </p:sp>
        </mc:Fallback>
      </mc:AlternateContent>
      <p:sp>
        <p:nvSpPr>
          <p:cNvPr id="3" name="Rectangle 2"/>
          <p:cNvSpPr/>
          <p:nvPr/>
        </p:nvSpPr>
        <p:spPr>
          <a:xfrm>
            <a:off x="873456" y="1493376"/>
            <a:ext cx="10904561" cy="4524315"/>
          </a:xfrm>
          <a:prstGeom prst="rect">
            <a:avLst/>
          </a:prstGeom>
        </p:spPr>
        <p:txBody>
          <a:bodyPr wrap="square">
            <a:spAutoFit/>
          </a:bodyPr>
          <a:lstStyle/>
          <a:p>
            <a:pPr algn="l" rtl="0"/>
            <a:r>
              <a:rPr lang="en-US" sz="3600" dirty="0"/>
              <a:t>What do the </a:t>
            </a:r>
            <a:r>
              <a:rPr lang="en-US" sz="3600" b="1" dirty="0"/>
              <a:t>.data</a:t>
            </a:r>
            <a:r>
              <a:rPr lang="en-US" sz="3600" dirty="0"/>
              <a:t>, </a:t>
            </a:r>
            <a:r>
              <a:rPr lang="en-US" sz="3600" b="1" dirty="0"/>
              <a:t>.text</a:t>
            </a:r>
            <a:r>
              <a:rPr lang="en-US" sz="3600" dirty="0"/>
              <a:t>, </a:t>
            </a:r>
            <a:r>
              <a:rPr lang="en-US" sz="3600" b="1" dirty="0"/>
              <a:t>.word </a:t>
            </a:r>
            <a:r>
              <a:rPr lang="en-US" sz="3600" dirty="0"/>
              <a:t>directives mean?</a:t>
            </a:r>
            <a:br>
              <a:rPr lang="en-US" sz="3600" dirty="0"/>
            </a:br>
            <a:endParaRPr lang="en-US" sz="3600" dirty="0"/>
          </a:p>
          <a:p>
            <a:pPr algn="l" rtl="0"/>
            <a:r>
              <a:rPr lang="en-US" sz="3600" dirty="0">
                <a:solidFill>
                  <a:srgbClr val="002060"/>
                </a:solidFill>
              </a:rPr>
              <a:t>examples:</a:t>
            </a:r>
          </a:p>
          <a:p>
            <a:pPr algn="l" rtl="0"/>
            <a:r>
              <a:rPr lang="en-US" sz="3600" dirty="0">
                <a:solidFill>
                  <a:srgbClr val="002060"/>
                </a:solidFill>
              </a:rPr>
              <a:t>	var1: .word 3 		# create a single integer variable 					   with initial value 3 </a:t>
            </a:r>
          </a:p>
          <a:p>
            <a:pPr algn="l" rtl="0"/>
            <a:r>
              <a:rPr lang="en-US" sz="3600" dirty="0">
                <a:solidFill>
                  <a:srgbClr val="002060"/>
                </a:solidFill>
              </a:rPr>
              <a:t>	array1: .byte '</a:t>
            </a:r>
            <a:r>
              <a:rPr lang="en-US" sz="3600" dirty="0" err="1">
                <a:solidFill>
                  <a:srgbClr val="002060"/>
                </a:solidFill>
              </a:rPr>
              <a:t>a','b</a:t>
            </a:r>
            <a:r>
              <a:rPr lang="en-US" sz="3600" dirty="0">
                <a:solidFill>
                  <a:srgbClr val="002060"/>
                </a:solidFill>
              </a:rPr>
              <a:t>'  # create a 2-element character 					   array with elements initialized 					   to a and b </a:t>
            </a:r>
          </a:p>
        </p:txBody>
      </p:sp>
    </p:spTree>
    <p:extLst>
      <p:ext uri="{BB962C8B-B14F-4D97-AF65-F5344CB8AC3E}">
        <p14:creationId xmlns:p14="http://schemas.microsoft.com/office/powerpoint/2010/main" val="894681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1383327"/>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Assembly with RISC-V Simulator</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1383327"/>
              </a:xfrm>
              <a:prstGeom prst="rect">
                <a:avLst/>
              </a:prstGeom>
              <a:blipFill rotWithShape="0">
                <a:blip r:embed="rId2"/>
                <a:stretch>
                  <a:fillRect l="-2236" t="-7930"/>
                </a:stretch>
              </a:blipFill>
            </p:spPr>
            <p:txBody>
              <a:bodyPr/>
              <a:lstStyle/>
              <a:p>
                <a:r>
                  <a:rPr lang="he-IL">
                    <a:noFill/>
                  </a:rPr>
                  <a:t> </a:t>
                </a:r>
              </a:p>
            </p:txBody>
          </p:sp>
        </mc:Fallback>
      </mc:AlternateContent>
      <p:sp>
        <p:nvSpPr>
          <p:cNvPr id="3" name="Rectangle 2"/>
          <p:cNvSpPr/>
          <p:nvPr/>
        </p:nvSpPr>
        <p:spPr>
          <a:xfrm>
            <a:off x="873456" y="1493376"/>
            <a:ext cx="10904561" cy="2308324"/>
          </a:xfrm>
          <a:prstGeom prst="rect">
            <a:avLst/>
          </a:prstGeom>
        </p:spPr>
        <p:txBody>
          <a:bodyPr wrap="square">
            <a:spAutoFit/>
          </a:bodyPr>
          <a:lstStyle/>
          <a:p>
            <a:pPr algn="l" rtl="0"/>
            <a:r>
              <a:rPr lang="en-US" sz="3600" dirty="0"/>
              <a:t>What does the </a:t>
            </a:r>
            <a:r>
              <a:rPr lang="en-US" sz="3600" b="1" dirty="0"/>
              <a:t>main </a:t>
            </a:r>
            <a:r>
              <a:rPr lang="en-US" sz="3600" dirty="0"/>
              <a:t>label</a:t>
            </a:r>
            <a:r>
              <a:rPr lang="en-US" sz="3600" b="1" dirty="0"/>
              <a:t> </a:t>
            </a:r>
            <a:r>
              <a:rPr lang="en-US" sz="3600" dirty="0"/>
              <a:t>mean?</a:t>
            </a:r>
            <a:br>
              <a:rPr lang="en-US" sz="3600" dirty="0"/>
            </a:br>
            <a:endParaRPr lang="en-US" sz="3600" dirty="0"/>
          </a:p>
          <a:p>
            <a:pPr algn="l" rtl="0"/>
            <a:r>
              <a:rPr lang="en-US" sz="3600" dirty="0">
                <a:solidFill>
                  <a:srgbClr val="002060"/>
                </a:solidFill>
              </a:rPr>
              <a:t>main: 	# indicates start of code </a:t>
            </a:r>
          </a:p>
          <a:p>
            <a:pPr algn="l" rtl="0"/>
            <a:r>
              <a:rPr lang="en-US" sz="3600" dirty="0">
                <a:solidFill>
                  <a:srgbClr val="002060"/>
                </a:solidFill>
              </a:rPr>
              <a:t>		   (first instruction to execute)</a:t>
            </a:r>
            <a:endParaRPr lang="he-IL" sz="3600" dirty="0">
              <a:solidFill>
                <a:srgbClr val="002060"/>
              </a:solidFill>
            </a:endParaRPr>
          </a:p>
        </p:txBody>
      </p:sp>
    </p:spTree>
    <p:extLst>
      <p:ext uri="{BB962C8B-B14F-4D97-AF65-F5344CB8AC3E}">
        <p14:creationId xmlns:p14="http://schemas.microsoft.com/office/powerpoint/2010/main" val="1441291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1383327"/>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Assembly with RISC-V Simulator</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1383327"/>
              </a:xfrm>
              <a:prstGeom prst="rect">
                <a:avLst/>
              </a:prstGeom>
              <a:blipFill rotWithShape="0">
                <a:blip r:embed="rId2"/>
                <a:stretch>
                  <a:fillRect l="-2236" t="-7930"/>
                </a:stretch>
              </a:blipFill>
            </p:spPr>
            <p:txBody>
              <a:bodyPr/>
              <a:lstStyle/>
              <a:p>
                <a:r>
                  <a:rPr lang="he-IL">
                    <a:noFill/>
                  </a:rPr>
                  <a:t> </a:t>
                </a:r>
              </a:p>
            </p:txBody>
          </p:sp>
        </mc:Fallback>
      </mc:AlternateContent>
      <p:sp>
        <p:nvSpPr>
          <p:cNvPr id="3" name="Rectangle 2"/>
          <p:cNvSpPr/>
          <p:nvPr/>
        </p:nvSpPr>
        <p:spPr>
          <a:xfrm>
            <a:off x="873456" y="1493376"/>
            <a:ext cx="10904561" cy="2862322"/>
          </a:xfrm>
          <a:prstGeom prst="rect">
            <a:avLst/>
          </a:prstGeom>
        </p:spPr>
        <p:txBody>
          <a:bodyPr wrap="square">
            <a:spAutoFit/>
          </a:bodyPr>
          <a:lstStyle/>
          <a:p>
            <a:pPr algn="l" rtl="0"/>
            <a:r>
              <a:rPr lang="en-US" sz="3600" dirty="0"/>
              <a:t>Run the program to completion. What number did the program output? What does this number represent? </a:t>
            </a:r>
          </a:p>
          <a:p>
            <a:pPr algn="l" rtl="0"/>
            <a:endParaRPr lang="en-US" sz="3600" dirty="0">
              <a:solidFill>
                <a:srgbClr val="002060"/>
              </a:solidFill>
            </a:endParaRPr>
          </a:p>
          <a:p>
            <a:pPr algn="l" rtl="0"/>
            <a:r>
              <a:rPr lang="en-US" sz="3600" dirty="0">
                <a:solidFill>
                  <a:srgbClr val="002060"/>
                </a:solidFill>
              </a:rPr>
              <a:t>It outputs 34, which is the ninth element in the Fibonacci series.</a:t>
            </a:r>
            <a:endParaRPr lang="he-IL" sz="3600" dirty="0">
              <a:solidFill>
                <a:srgbClr val="002060"/>
              </a:solidFill>
            </a:endParaRPr>
          </a:p>
        </p:txBody>
      </p:sp>
    </p:spTree>
    <p:extLst>
      <p:ext uri="{BB962C8B-B14F-4D97-AF65-F5344CB8AC3E}">
        <p14:creationId xmlns:p14="http://schemas.microsoft.com/office/powerpoint/2010/main" val="2969317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1383327"/>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Assembly with RISC-V Simulator</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1383327"/>
              </a:xfrm>
              <a:prstGeom prst="rect">
                <a:avLst/>
              </a:prstGeom>
              <a:blipFill rotWithShape="0">
                <a:blip r:embed="rId2"/>
                <a:stretch>
                  <a:fillRect l="-2236" t="-7930"/>
                </a:stretch>
              </a:blipFill>
            </p:spPr>
            <p:txBody>
              <a:bodyPr/>
              <a:lstStyle/>
              <a:p>
                <a:r>
                  <a:rPr lang="he-IL">
                    <a:noFill/>
                  </a:rPr>
                  <a:t> </a:t>
                </a:r>
              </a:p>
            </p:txBody>
          </p:sp>
        </mc:Fallback>
      </mc:AlternateContent>
      <p:sp>
        <p:nvSpPr>
          <p:cNvPr id="3" name="Rectangle 2"/>
          <p:cNvSpPr/>
          <p:nvPr/>
        </p:nvSpPr>
        <p:spPr>
          <a:xfrm>
            <a:off x="873456" y="1493376"/>
            <a:ext cx="10904561" cy="2308324"/>
          </a:xfrm>
          <a:prstGeom prst="rect">
            <a:avLst/>
          </a:prstGeom>
        </p:spPr>
        <p:txBody>
          <a:bodyPr wrap="square">
            <a:spAutoFit/>
          </a:bodyPr>
          <a:lstStyle/>
          <a:p>
            <a:pPr algn="l" rtl="0"/>
            <a:r>
              <a:rPr lang="en-US" sz="3600" dirty="0"/>
              <a:t>At what address is n stored in memory?</a:t>
            </a:r>
            <a:br>
              <a:rPr lang="en-US" sz="3600" dirty="0"/>
            </a:br>
            <a:r>
              <a:rPr lang="en-US" sz="3600" dirty="0"/>
              <a:t>Hint: Look at the contents of the registers. </a:t>
            </a:r>
          </a:p>
          <a:p>
            <a:pPr algn="l" rtl="0"/>
            <a:endParaRPr lang="en-US" sz="3600" dirty="0">
              <a:solidFill>
                <a:srgbClr val="002060"/>
              </a:solidFill>
            </a:endParaRPr>
          </a:p>
          <a:p>
            <a:pPr algn="l" rtl="0"/>
            <a:r>
              <a:rPr lang="en-US" sz="3600" dirty="0">
                <a:solidFill>
                  <a:srgbClr val="002060"/>
                </a:solidFill>
              </a:rPr>
              <a:t>0x10000010</a:t>
            </a:r>
            <a:endParaRPr lang="he-IL" sz="3600" dirty="0">
              <a:solidFill>
                <a:srgbClr val="002060"/>
              </a:solidFill>
            </a:endParaRPr>
          </a:p>
        </p:txBody>
      </p:sp>
    </p:spTree>
    <p:extLst>
      <p:ext uri="{BB962C8B-B14F-4D97-AF65-F5344CB8AC3E}">
        <p14:creationId xmlns:p14="http://schemas.microsoft.com/office/powerpoint/2010/main" val="64138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873457" y="464024"/>
                <a:ext cx="10904561" cy="1383327"/>
              </a:xfrm>
              <a:prstGeom prst="rect">
                <a:avLst/>
              </a:prstGeom>
            </p:spPr>
            <p:txBody>
              <a:bodyPr wrap="square">
                <a:spAutoFit/>
              </a:bodyPr>
              <a:lstStyle/>
              <a:p>
                <a:pPr lvl="0" algn="l"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Assembly with RISC-V Simulator</a:t>
                </a:r>
                <a14:m>
                  <m:oMath xmlns:m="http://schemas.openxmlformats.org/officeDocument/2006/math">
                    <m:r>
                      <a:rPr lang="en-US" sz="4400" b="0" i="1"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	</m:t>
                    </m:r>
                  </m:oMath>
                </a14:m>
                <a:br>
                  <a:rPr lang="en-US" sz="3600" b="0" i="1" dirty="0">
                    <a:effectLst/>
                    <a:latin typeface="+mj-lt"/>
                    <a:ea typeface="Calibri" panose="020F0502020204030204" pitchFamily="34" charset="0"/>
                    <a:cs typeface="Times New Roman" panose="02020603050405020304" pitchFamily="18" charset="0"/>
                  </a:rPr>
                </a:br>
                <a:endParaRPr lang="en-US" sz="3600" dirty="0">
                  <a:effectLst/>
                  <a:latin typeface="+mj-lt"/>
                  <a:ea typeface="Calibri" panose="020F050202020403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73457" y="464024"/>
                <a:ext cx="10904561" cy="1383327"/>
              </a:xfrm>
              <a:prstGeom prst="rect">
                <a:avLst/>
              </a:prstGeom>
              <a:blipFill rotWithShape="0">
                <a:blip r:embed="rId2"/>
                <a:stretch>
                  <a:fillRect l="-2236" t="-7930"/>
                </a:stretch>
              </a:blipFill>
            </p:spPr>
            <p:txBody>
              <a:bodyPr/>
              <a:lstStyle/>
              <a:p>
                <a:r>
                  <a:rPr lang="he-IL">
                    <a:noFill/>
                  </a:rPr>
                  <a:t> </a:t>
                </a:r>
              </a:p>
            </p:txBody>
          </p:sp>
        </mc:Fallback>
      </mc:AlternateContent>
      <p:sp>
        <p:nvSpPr>
          <p:cNvPr id="3" name="Rectangle 2"/>
          <p:cNvSpPr/>
          <p:nvPr/>
        </p:nvSpPr>
        <p:spPr>
          <a:xfrm>
            <a:off x="873456" y="1493376"/>
            <a:ext cx="10904561" cy="4524315"/>
          </a:xfrm>
          <a:prstGeom prst="rect">
            <a:avLst/>
          </a:prstGeom>
        </p:spPr>
        <p:txBody>
          <a:bodyPr wrap="square">
            <a:spAutoFit/>
          </a:bodyPr>
          <a:lstStyle/>
          <a:p>
            <a:pPr algn="l" rtl="0"/>
            <a:r>
              <a:rPr lang="en-US" sz="3600" dirty="0"/>
              <a:t>Without using the "Edit" tab, have the program calculate the 13th fib number (0-indexed) by manually modifying the value of a register. You may find it helpful to first step through the code. If you prefer to look at decimal values, change the "Display Settings" option at the bottom. What number did the program output?  </a:t>
            </a:r>
            <a:endParaRPr lang="en-US" sz="3600" dirty="0">
              <a:solidFill>
                <a:srgbClr val="002060"/>
              </a:solidFill>
            </a:endParaRPr>
          </a:p>
          <a:p>
            <a:pPr algn="l" rtl="0"/>
            <a:r>
              <a:rPr lang="en-US" sz="3600" dirty="0">
                <a:solidFill>
                  <a:srgbClr val="002060"/>
                </a:solidFill>
              </a:rPr>
              <a:t>It outputs 233, which is the 13th element in the Fibonacci series.</a:t>
            </a:r>
            <a:endParaRPr lang="he-IL" sz="3600" dirty="0">
              <a:solidFill>
                <a:srgbClr val="002060"/>
              </a:solidFill>
            </a:endParaRPr>
          </a:p>
        </p:txBody>
      </p:sp>
    </p:spTree>
    <p:extLst>
      <p:ext uri="{BB962C8B-B14F-4D97-AF65-F5344CB8AC3E}">
        <p14:creationId xmlns:p14="http://schemas.microsoft.com/office/powerpoint/2010/main" val="354072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C88ADF-2685-EA2A-F512-1107544BABF4}"/>
              </a:ext>
            </a:extLst>
          </p:cNvPr>
          <p:cNvSpPr/>
          <p:nvPr/>
        </p:nvSpPr>
        <p:spPr>
          <a:xfrm>
            <a:off x="2289896" y="2644298"/>
            <a:ext cx="7612207" cy="784702"/>
          </a:xfrm>
          <a:prstGeom prst="rect">
            <a:avLst/>
          </a:prstGeom>
        </p:spPr>
        <p:txBody>
          <a:bodyPr wrap="square">
            <a:spAutoFit/>
          </a:bodyPr>
          <a:lstStyle/>
          <a:p>
            <a:pPr lvl="0" algn="ctr" rtl="0">
              <a:lnSpc>
                <a:spcPct val="107000"/>
              </a:lnSpc>
              <a:spcAft>
                <a:spcPts val="800"/>
              </a:spcAft>
              <a:buSzPts val="1050"/>
            </a:pPr>
            <a:r>
              <a:rPr lang="en-US" sz="4400" b="0" dirty="0">
                <a:solidFill>
                  <a:srgbClr val="002060"/>
                </a:solidFill>
                <a:effectLst/>
                <a:ea typeface="Calibri" panose="020F0502020204030204" pitchFamily="34" charset="0"/>
                <a:cs typeface="Times New Roman" panose="02020603050405020304" pitchFamily="18" charset="0"/>
              </a:rPr>
              <a:t>Questions? </a:t>
            </a:r>
            <a:endParaRPr lang="en-US" sz="3600" dirty="0">
              <a:effectLst/>
              <a:latin typeface="+mj-lt"/>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0886622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8B9C8-B614-B02A-14CC-0B5007B0248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485CE752-E7AB-6851-A670-405393A9AA8B}"/>
              </a:ext>
            </a:extLst>
          </p:cNvPr>
          <p:cNvSpPr>
            <a:spLocks noGrp="1"/>
          </p:cNvSpPr>
          <p:nvPr>
            <p:ph type="title"/>
          </p:nvPr>
        </p:nvSpPr>
        <p:spPr/>
        <p:txBody>
          <a:bodyPr vert="horz" lIns="91440" tIns="45720" rIns="91440" bIns="45720" rtlCol="0" anchor="b">
            <a:normAutofit/>
          </a:bodyPr>
          <a:lstStyle/>
          <a:p>
            <a:pPr algn="r"/>
            <a:r>
              <a:rPr lang="he-IL" dirty="0"/>
              <a:t>סיכום</a:t>
            </a:r>
          </a:p>
        </p:txBody>
      </p:sp>
      <p:sp>
        <p:nvSpPr>
          <p:cNvPr id="3" name="מציין מיקום תוכן 2">
            <a:extLst>
              <a:ext uri="{FF2B5EF4-FFF2-40B4-BE49-F238E27FC236}">
                <a16:creationId xmlns:a16="http://schemas.microsoft.com/office/drawing/2014/main" id="{054E1A84-491B-8394-2182-27699EA25990}"/>
              </a:ext>
            </a:extLst>
          </p:cNvPr>
          <p:cNvSpPr>
            <a:spLocks noGrp="1"/>
          </p:cNvSpPr>
          <p:nvPr>
            <p:ph idx="1"/>
          </p:nvPr>
        </p:nvSpPr>
        <p:spPr>
          <a:xfrm>
            <a:off x="1097280" y="1845734"/>
            <a:ext cx="10058400" cy="3086993"/>
          </a:xfrm>
        </p:spPr>
        <p:txBody>
          <a:bodyPr>
            <a:normAutofit/>
          </a:bodyPr>
          <a:lstStyle/>
          <a:p>
            <a:pPr algn="r">
              <a:buFont typeface="Wingdings" panose="05000000000000000000" pitchFamily="2" charset="2"/>
              <a:buChar char="§"/>
            </a:pPr>
            <a:r>
              <a:rPr lang="he-IL" sz="3200" dirty="0"/>
              <a:t> הגדרות – קוד, מרחק קוד, מרחק </a:t>
            </a:r>
            <a:r>
              <a:rPr lang="he-IL" sz="3200" dirty="0" err="1"/>
              <a:t>המינג</a:t>
            </a:r>
            <a:endParaRPr lang="he-IL" sz="3200" dirty="0"/>
          </a:p>
          <a:p>
            <a:pPr algn="r">
              <a:buFont typeface="Wingdings" panose="05000000000000000000" pitchFamily="2" charset="2"/>
              <a:buChar char="§"/>
            </a:pPr>
            <a:r>
              <a:rPr lang="he-IL" sz="3200" dirty="0"/>
              <a:t> קודים לגילוי שגיאות – </a:t>
            </a:r>
            <a:r>
              <a:rPr lang="en-US" sz="3200" dirty="0"/>
              <a:t>Error Correction Codes (ECC)</a:t>
            </a:r>
            <a:endParaRPr lang="he-IL" sz="3200" dirty="0"/>
          </a:p>
          <a:p>
            <a:pPr algn="r">
              <a:buFont typeface="Wingdings" panose="05000000000000000000" pitchFamily="2" charset="2"/>
              <a:buChar char="§"/>
            </a:pPr>
            <a:r>
              <a:rPr lang="he-IL" sz="3200" dirty="0"/>
              <a:t> שפת </a:t>
            </a:r>
            <a:r>
              <a:rPr lang="he-IL" sz="3200" dirty="0" err="1"/>
              <a:t>Assembly</a:t>
            </a:r>
            <a:endParaRPr lang="he-IL" sz="3200" dirty="0"/>
          </a:p>
          <a:p>
            <a:pPr marL="0" indent="0" algn="r">
              <a:buNone/>
            </a:pPr>
            <a:endParaRPr lang="en-US" sz="3200" dirty="0"/>
          </a:p>
          <a:p>
            <a:pPr algn="l" rtl="0">
              <a:buFont typeface="Wingdings" panose="05000000000000000000" pitchFamily="2" charset="2"/>
              <a:buChar char="§"/>
            </a:pPr>
            <a:endParaRPr lang="en-US" sz="3200" dirty="0"/>
          </a:p>
          <a:p>
            <a:pPr algn="l" rtl="0">
              <a:buFont typeface="Wingdings" panose="05000000000000000000" pitchFamily="2" charset="2"/>
              <a:buChar char="§"/>
            </a:pPr>
            <a:endParaRPr lang="en-US" sz="3200" dirty="0"/>
          </a:p>
          <a:p>
            <a:pPr algn="l"/>
            <a:endParaRPr lang="he-IL" dirty="0"/>
          </a:p>
        </p:txBody>
      </p:sp>
    </p:spTree>
    <p:extLst>
      <p:ext uri="{BB962C8B-B14F-4D97-AF65-F5344CB8AC3E}">
        <p14:creationId xmlns:p14="http://schemas.microsoft.com/office/powerpoint/2010/main" val="16516103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1A307-0D7B-CA5B-16F5-0758644D914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053CAF65-79BF-899F-D76C-4FB83481F29F}"/>
              </a:ext>
            </a:extLst>
          </p:cNvPr>
          <p:cNvSpPr>
            <a:spLocks noGrp="1"/>
          </p:cNvSpPr>
          <p:nvPr>
            <p:ph type="title"/>
          </p:nvPr>
        </p:nvSpPr>
        <p:spPr/>
        <p:txBody>
          <a:bodyPr vert="horz" lIns="91440" tIns="45720" rIns="91440" bIns="45720" rtlCol="0" anchor="b">
            <a:normAutofit/>
          </a:bodyPr>
          <a:lstStyle/>
          <a:p>
            <a:pPr algn="r"/>
            <a:r>
              <a:rPr lang="he-IL" dirty="0"/>
              <a:t>תרגול הבא</a:t>
            </a:r>
          </a:p>
        </p:txBody>
      </p:sp>
      <p:sp>
        <p:nvSpPr>
          <p:cNvPr id="3" name="מציין מיקום תוכן 2">
            <a:extLst>
              <a:ext uri="{FF2B5EF4-FFF2-40B4-BE49-F238E27FC236}">
                <a16:creationId xmlns:a16="http://schemas.microsoft.com/office/drawing/2014/main" id="{82D2D883-232F-2926-BEBA-9159AEC211BF}"/>
              </a:ext>
            </a:extLst>
          </p:cNvPr>
          <p:cNvSpPr>
            <a:spLocks noGrp="1"/>
          </p:cNvSpPr>
          <p:nvPr>
            <p:ph idx="1"/>
          </p:nvPr>
        </p:nvSpPr>
        <p:spPr>
          <a:xfrm>
            <a:off x="1097280" y="1845734"/>
            <a:ext cx="10058400" cy="3086993"/>
          </a:xfrm>
        </p:spPr>
        <p:txBody>
          <a:bodyPr>
            <a:normAutofit/>
          </a:bodyPr>
          <a:lstStyle/>
          <a:p>
            <a:pPr algn="r">
              <a:buFont typeface="Wingdings" panose="05000000000000000000" pitchFamily="2" charset="2"/>
              <a:buChar char="§"/>
            </a:pPr>
            <a:r>
              <a:rPr lang="he-IL" sz="3200" dirty="0"/>
              <a:t> אלגברה בוליאנית</a:t>
            </a:r>
          </a:p>
          <a:p>
            <a:pPr algn="r">
              <a:buFont typeface="Wingdings" panose="05000000000000000000" pitchFamily="2" charset="2"/>
              <a:buChar char="§"/>
            </a:pPr>
            <a:r>
              <a:rPr lang="he-IL" sz="3200" dirty="0"/>
              <a:t> פונקציות מיתוג</a:t>
            </a:r>
          </a:p>
          <a:p>
            <a:pPr algn="r">
              <a:buFont typeface="Wingdings" panose="05000000000000000000" pitchFamily="2" charset="2"/>
              <a:buChar char="§"/>
            </a:pPr>
            <a:r>
              <a:rPr lang="he-IL" sz="3200" dirty="0"/>
              <a:t> מערכת פעולות שלמה</a:t>
            </a:r>
          </a:p>
          <a:p>
            <a:pPr marL="0" indent="0" algn="r">
              <a:buNone/>
            </a:pPr>
            <a:endParaRPr lang="en-US" sz="3200" dirty="0"/>
          </a:p>
          <a:p>
            <a:pPr algn="l" rtl="0">
              <a:buFont typeface="Wingdings" panose="05000000000000000000" pitchFamily="2" charset="2"/>
              <a:buChar char="§"/>
            </a:pPr>
            <a:endParaRPr lang="en-US" sz="3200" dirty="0"/>
          </a:p>
          <a:p>
            <a:pPr algn="l" rtl="0">
              <a:buFont typeface="Wingdings" panose="05000000000000000000" pitchFamily="2" charset="2"/>
              <a:buChar char="§"/>
            </a:pPr>
            <a:endParaRPr lang="en-US" sz="3200" dirty="0"/>
          </a:p>
          <a:p>
            <a:pPr algn="l"/>
            <a:endParaRPr lang="he-IL" dirty="0"/>
          </a:p>
        </p:txBody>
      </p:sp>
    </p:spTree>
    <p:extLst>
      <p:ext uri="{BB962C8B-B14F-4D97-AF65-F5344CB8AC3E}">
        <p14:creationId xmlns:p14="http://schemas.microsoft.com/office/powerpoint/2010/main" val="107371889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8295</TotalTime>
  <Words>3810</Words>
  <Application>Microsoft Macintosh PowerPoint</Application>
  <PresentationFormat>Widescreen</PresentationFormat>
  <Paragraphs>661</Paragraphs>
  <Slides>53</Slides>
  <Notes>24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53</vt:i4>
      </vt:variant>
    </vt:vector>
  </HeadingPairs>
  <TitlesOfParts>
    <vt:vector size="63" baseType="lpstr">
      <vt:lpstr>Arial</vt:lpstr>
      <vt:lpstr>Calibri</vt:lpstr>
      <vt:lpstr>Calibri Light</vt:lpstr>
      <vt:lpstr>Cambria Math</vt:lpstr>
      <vt:lpstr>Courier</vt:lpstr>
      <vt:lpstr>Narkisim</vt:lpstr>
      <vt:lpstr>Symbol</vt:lpstr>
      <vt:lpstr>Wingdings</vt:lpstr>
      <vt:lpstr>Retrospect</vt:lpstr>
      <vt:lpstr>Equation</vt:lpstr>
      <vt:lpstr>מערכות ספרתיות ומבנה המחשב </vt:lpstr>
      <vt:lpstr>שבוע שעבר (תזכורת)</vt:lpstr>
      <vt:lpstr>נושאים</vt:lpstr>
      <vt:lpstr>קודים לגילוי ותיקון שגיאות</vt:lpstr>
      <vt:lpstr>מוטיבציה</vt:lpstr>
      <vt:lpstr>הגדרות</vt:lpstr>
      <vt:lpstr>הגדרות</vt:lpstr>
      <vt:lpstr>קודים</vt:lpstr>
      <vt:lpstr>יכולת לגילוי/תיקון שגיאות</vt:lpstr>
      <vt:lpstr>גילוי שגיאות</vt:lpstr>
      <vt:lpstr>גילוי שגיאות</vt:lpstr>
      <vt:lpstr>גילוי ותיקון שגיאות</vt:lpstr>
      <vt:lpstr>גילוי ותיקון שגיאות</vt:lpstr>
      <vt:lpstr>דוגמא: בדיקת זוגיות (Parity)</vt:lpstr>
      <vt:lpstr>דוגמא: קוד חזרות (Repetition)</vt:lpstr>
      <vt:lpstr>דוגמא: קוד חזרות (Repetition)</vt:lpstr>
      <vt:lpstr>דוגמא: X out of Y</vt:lpstr>
      <vt:lpstr>אביב 2023 – בוחן אמצע</vt:lpstr>
      <vt:lpstr>PowerPoint Presentation</vt:lpstr>
      <vt:lpstr>Assembly</vt:lpstr>
      <vt:lpstr>High-Level Code to Machine Instructions</vt:lpstr>
      <vt:lpstr>Assembly Variables: Registers</vt:lpstr>
      <vt:lpstr>Registers Live Inside the Processor</vt:lpstr>
      <vt:lpstr>How many RISC-V Registers ?</vt:lpstr>
      <vt:lpstr>PowerPoint Presentation</vt:lpstr>
      <vt:lpstr>Memory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סיכום</vt:lpstr>
      <vt:lpstr>תרגול הבא</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1  Assembly and Machine Code 044252</dc:title>
  <dc:creator>user</dc:creator>
  <cp:lastModifiedBy>Ben Hanuka</cp:lastModifiedBy>
  <cp:revision>176</cp:revision>
  <dcterms:created xsi:type="dcterms:W3CDTF">2018-09-14T14:50:12Z</dcterms:created>
  <dcterms:modified xsi:type="dcterms:W3CDTF">2026-04-18T14:11:57Z</dcterms:modified>
</cp:coreProperties>
</file>