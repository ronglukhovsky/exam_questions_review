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3" r:id="rId1"/>
  </p:sldMasterIdLst>
  <p:notesMasterIdLst>
    <p:notesMasterId r:id="rId63"/>
  </p:notesMasterIdLst>
  <p:sldIdLst>
    <p:sldId id="507" r:id="rId2"/>
    <p:sldId id="670" r:id="rId3"/>
    <p:sldId id="671" r:id="rId4"/>
    <p:sldId id="672" r:id="rId5"/>
    <p:sldId id="598" r:id="rId6"/>
    <p:sldId id="599" r:id="rId7"/>
    <p:sldId id="669" r:id="rId8"/>
    <p:sldId id="610" r:id="rId9"/>
    <p:sldId id="611" r:id="rId10"/>
    <p:sldId id="660" r:id="rId11"/>
    <p:sldId id="600" r:id="rId12"/>
    <p:sldId id="673" r:id="rId13"/>
    <p:sldId id="674" r:id="rId14"/>
    <p:sldId id="566" r:id="rId15"/>
    <p:sldId id="661" r:id="rId16"/>
    <p:sldId id="601" r:id="rId17"/>
    <p:sldId id="662" r:id="rId18"/>
    <p:sldId id="663" r:id="rId19"/>
    <p:sldId id="567" r:id="rId20"/>
    <p:sldId id="607" r:id="rId21"/>
    <p:sldId id="664" r:id="rId22"/>
    <p:sldId id="603" r:id="rId23"/>
    <p:sldId id="665" r:id="rId24"/>
    <p:sldId id="602" r:id="rId25"/>
    <p:sldId id="640" r:id="rId26"/>
    <p:sldId id="641" r:id="rId27"/>
    <p:sldId id="642" r:id="rId28"/>
    <p:sldId id="666" r:id="rId29"/>
    <p:sldId id="604" r:id="rId30"/>
    <p:sldId id="605" r:id="rId31"/>
    <p:sldId id="653" r:id="rId32"/>
    <p:sldId id="654" r:id="rId33"/>
    <p:sldId id="655" r:id="rId34"/>
    <p:sldId id="656" r:id="rId35"/>
    <p:sldId id="657" r:id="rId36"/>
    <p:sldId id="658" r:id="rId37"/>
    <p:sldId id="659" r:id="rId38"/>
    <p:sldId id="667" r:id="rId39"/>
    <p:sldId id="614" r:id="rId40"/>
    <p:sldId id="615" r:id="rId41"/>
    <p:sldId id="644" r:id="rId42"/>
    <p:sldId id="643" r:id="rId43"/>
    <p:sldId id="616" r:id="rId44"/>
    <p:sldId id="639" r:id="rId45"/>
    <p:sldId id="618" r:id="rId46"/>
    <p:sldId id="626" r:id="rId47"/>
    <p:sldId id="627" r:id="rId48"/>
    <p:sldId id="631" r:id="rId49"/>
    <p:sldId id="630" r:id="rId50"/>
    <p:sldId id="629" r:id="rId51"/>
    <p:sldId id="668" r:id="rId52"/>
    <p:sldId id="632" r:id="rId53"/>
    <p:sldId id="635" r:id="rId54"/>
    <p:sldId id="634" r:id="rId55"/>
    <p:sldId id="633" r:id="rId56"/>
    <p:sldId id="652" r:id="rId57"/>
    <p:sldId id="636" r:id="rId58"/>
    <p:sldId id="637" r:id="rId59"/>
    <p:sldId id="638" r:id="rId60"/>
    <p:sldId id="675" r:id="rId61"/>
    <p:sldId id="676" r:id="rId6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CCCC"/>
    <a:srgbClr val="306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C4427-9EF5-F345-9643-4FA46F0D7D03}" v="4" dt="2026-01-14T15:18:05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8" autoAdjust="0"/>
    <p:restoredTop sz="71918" autoAdjust="0"/>
  </p:normalViewPr>
  <p:slideViewPr>
    <p:cSldViewPr>
      <p:cViewPr varScale="1">
        <p:scale>
          <a:sx n="113" d="100"/>
          <a:sy n="113" d="100"/>
        </p:scale>
        <p:origin x="220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nuka" userId="8fcfd652-4ae7-4605-9bfd-5ff0d9da73a0" providerId="ADAL" clId="{E64352B5-F0D7-55D7-BDA8-47CEA1D5C864}"/>
    <pc:docChg chg="undo custSel addSld delSld modSld">
      <pc:chgData name="Ben Hanuka" userId="8fcfd652-4ae7-4605-9bfd-5ff0d9da73a0" providerId="ADAL" clId="{E64352B5-F0D7-55D7-BDA8-47CEA1D5C864}" dt="2026-01-14T15:18:05.070" v="106"/>
      <pc:docMkLst>
        <pc:docMk/>
      </pc:docMkLst>
      <pc:sldChg chg="modSp mod">
        <pc:chgData name="Ben Hanuka" userId="8fcfd652-4ae7-4605-9bfd-5ff0d9da73a0" providerId="ADAL" clId="{E64352B5-F0D7-55D7-BDA8-47CEA1D5C864}" dt="2026-01-14T15:17:54.752" v="102" actId="20577"/>
        <pc:sldMkLst>
          <pc:docMk/>
          <pc:sldMk cId="83937048" sldId="615"/>
        </pc:sldMkLst>
        <pc:spChg chg="mod">
          <ac:chgData name="Ben Hanuka" userId="8fcfd652-4ae7-4605-9bfd-5ff0d9da73a0" providerId="ADAL" clId="{E64352B5-F0D7-55D7-BDA8-47CEA1D5C864}" dt="2026-01-14T15:17:54.752" v="102" actId="20577"/>
          <ac:spMkLst>
            <pc:docMk/>
            <pc:sldMk cId="83937048" sldId="615"/>
            <ac:spMk id="5" creationId="{00000000-0000-0000-0000-000000000000}"/>
          </ac:spMkLst>
        </pc:spChg>
      </pc:sldChg>
      <pc:sldChg chg="addSp delSp modSp mod">
        <pc:chgData name="Ben Hanuka" userId="8fcfd652-4ae7-4605-9bfd-5ff0d9da73a0" providerId="ADAL" clId="{E64352B5-F0D7-55D7-BDA8-47CEA1D5C864}" dt="2026-01-14T15:18:05.070" v="106"/>
        <pc:sldMkLst>
          <pc:docMk/>
          <pc:sldMk cId="3033962324" sldId="643"/>
        </pc:sldMkLst>
        <pc:spChg chg="add mod">
          <ac:chgData name="Ben Hanuka" userId="8fcfd652-4ae7-4605-9bfd-5ff0d9da73a0" providerId="ADAL" clId="{E64352B5-F0D7-55D7-BDA8-47CEA1D5C864}" dt="2026-01-14T15:18:05.070" v="106"/>
          <ac:spMkLst>
            <pc:docMk/>
            <pc:sldMk cId="3033962324" sldId="643"/>
            <ac:spMk id="2" creationId="{51064070-A7BC-6C94-155A-38C701B67949}"/>
          </ac:spMkLst>
        </pc:spChg>
        <pc:spChg chg="del">
          <ac:chgData name="Ben Hanuka" userId="8fcfd652-4ae7-4605-9bfd-5ff0d9da73a0" providerId="ADAL" clId="{E64352B5-F0D7-55D7-BDA8-47CEA1D5C864}" dt="2026-01-14T15:18:04.835" v="105" actId="478"/>
          <ac:spMkLst>
            <pc:docMk/>
            <pc:sldMk cId="3033962324" sldId="643"/>
            <ac:spMk id="7" creationId="{74FD3AAD-9020-CB44-C11C-30B6467E0FC5}"/>
          </ac:spMkLst>
        </pc:spChg>
      </pc:sldChg>
      <pc:sldChg chg="addSp delSp modSp mod">
        <pc:chgData name="Ben Hanuka" userId="8fcfd652-4ae7-4605-9bfd-5ff0d9da73a0" providerId="ADAL" clId="{E64352B5-F0D7-55D7-BDA8-47CEA1D5C864}" dt="2026-01-14T15:18:01.280" v="104"/>
        <pc:sldMkLst>
          <pc:docMk/>
          <pc:sldMk cId="1665157917" sldId="644"/>
        </pc:sldMkLst>
        <pc:spChg chg="add mod">
          <ac:chgData name="Ben Hanuka" userId="8fcfd652-4ae7-4605-9bfd-5ff0d9da73a0" providerId="ADAL" clId="{E64352B5-F0D7-55D7-BDA8-47CEA1D5C864}" dt="2026-01-14T15:18:01.280" v="104"/>
          <ac:spMkLst>
            <pc:docMk/>
            <pc:sldMk cId="1665157917" sldId="644"/>
            <ac:spMk id="2" creationId="{810B23C7-C992-5D7D-CEFA-BE8E2A46961F}"/>
          </ac:spMkLst>
        </pc:spChg>
        <pc:spChg chg="del">
          <ac:chgData name="Ben Hanuka" userId="8fcfd652-4ae7-4605-9bfd-5ff0d9da73a0" providerId="ADAL" clId="{E64352B5-F0D7-55D7-BDA8-47CEA1D5C864}" dt="2026-01-14T15:18:01.142" v="103" actId="478"/>
          <ac:spMkLst>
            <pc:docMk/>
            <pc:sldMk cId="1665157917" sldId="644"/>
            <ac:spMk id="6" creationId="{60249191-BD28-EB4E-AA0A-B170DEBCE60B}"/>
          </ac:spMkLst>
        </pc:spChg>
      </pc:sldChg>
      <pc:sldChg chg="add del">
        <pc:chgData name="Ben Hanuka" userId="8fcfd652-4ae7-4605-9bfd-5ff0d9da73a0" providerId="ADAL" clId="{E64352B5-F0D7-55D7-BDA8-47CEA1D5C864}" dt="2026-01-14T15:16:41.711" v="1"/>
        <pc:sldMkLst>
          <pc:docMk/>
          <pc:sldMk cId="3457014159" sldId="6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B085A-4E97-294F-B761-3E1B782AFE9F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BD9A7-939F-844E-AA9E-BD9AA155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55CDF0-A155-4232-85ED-D0E3D016321A}" type="slidenum">
              <a:rPr lang="en-US" altLang="en-US" smtClean="0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811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E5FA-D908-47A6-D184-946954C2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FFA5D-29AF-1B5D-1DBF-1BB74DC8E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1E863-1469-FBB2-348E-E71591CD2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9C3A-4221-D91C-709B-FD04B8AE4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47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DD2F-8560-2770-D507-2D544955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316F4-3BFB-103F-99A6-C1CCFFB03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25796-19E4-ED76-1790-D08A61520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E897C-74C2-31C4-995D-0309DFD4A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CE97-DE30-1CBE-3998-EBAA1F38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09771-27E7-7BE2-5EF3-A99F873EC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3A6B2-20DE-E2EA-0E33-7D9BC8BD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82960-DB6B-A525-695E-8C52132BA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67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07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50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DA05-862E-C6F9-D3A6-63ABEC2A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1A10F-06C6-B69E-C3AB-1DB811B53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EC9B0-AFD4-4E05-4301-B3D5E9065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EA273-06E8-D41F-4794-5D1FAC1D9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6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65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79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r" rtl="1">
              <a:buAutoNum type="arabicPlain" startAt="2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6F2D-7BC6-F6B3-E3CB-EB0529DE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F65F2-4407-6F01-F8DA-921D34DF1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4C867-D4F4-3A0B-E8BA-52B4295A4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r" rtl="1">
              <a:buAutoNum type="arabicPlain" startAt="2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BC42B-3754-1357-26C7-E97447138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32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9C4A-EC80-5376-2DBB-7EF5A0CD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AE365-33E3-CC3D-F4BF-3AC85A70F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1936F-3CBA-39F3-9809-133ACCC3F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r" rtl="1">
              <a:buAutoNum type="arabicPlain" startAt="2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64BD-3800-A2E3-95A3-65096CD66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78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baseline="0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A7A4757A-15ED-4AE8-89D4-0FD7AB890A0F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382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03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A7A4757A-15ED-4AE8-89D4-0FD7AB890A0F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13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endParaRPr lang="he-IL" alt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796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he-IL" altLang="en-US" b="0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7363269D-2046-4E5F-AA68-0FA5298A9F9A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00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he-IL" alt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11C9D582-682E-4B7E-B30A-132E5B2B12A0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396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41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he-IL" altLang="en-US" b="1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7363269D-2046-4E5F-AA68-0FA5298A9F9A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65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586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algn="r" defTabSz="914400" rtl="1" eaLnBrk="1" latinLnBrk="0" hangingPunct="1"/>
            <a:endParaRPr lang="en-US" alt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7363269D-2046-4E5F-AA68-0FA5298A9F9A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83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he-IL" alt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11C9D582-682E-4B7E-B30A-132E5B2B12A0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50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11C9D582-682E-4B7E-B30A-132E5B2B12A0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071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115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1185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algn="r" defTabSz="914400" rtl="1" eaLnBrk="1" latinLnBrk="0" hangingPunct="1"/>
            <a:endParaRPr lang="he-IL" altLang="en-US" b="0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7363269D-2046-4E5F-AA68-0FA5298A9F9A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3062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defTabSz="914400" rtl="1" eaLnBrk="1" latinLnBrk="0" hangingPunct="1">
              <a:buAutoNum type="arabicParenR"/>
            </a:pPr>
            <a:endParaRPr lang="he-IL" altLang="en-US" b="1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7363269D-2046-4E5F-AA68-0FA5298A9F9A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30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75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22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98E45-6FD8-4225-93D9-FAEC905B2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 algn="r" rtl="1">
              <a:buAutoNum type="arabicParenR"/>
              <a:defRPr/>
            </a:pPr>
            <a:endParaRPr lang="he-IL" dirty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4634151F-9999-4967-9F07-8E74D8A1BFCE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32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37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23BC1D0F-8A18-4703-9123-9B9F4A185EC5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33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909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D4F7995F-DC64-4CBC-AC91-53C357834744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53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5E4D0024-CDEF-4029-A595-F03AB6C0B0C4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35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509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endParaRPr lang="en-US" altLang="en-US" dirty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C29EA00-36BE-49D5-A8D5-281CCD89C24B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36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007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536C8F13-C5DE-43E4-92F4-86CE43EDBF86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37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78DF17B-D6A0-4E31-BFE0-38C333B34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</p:spPr>
        <p:txBody>
          <a:bodyPr lIns="97999" tIns="48140" rIns="97999" bIns="48140"/>
          <a:lstStyle/>
          <a:p>
            <a:pPr marL="228600" indent="-228600" algn="r" rtl="1" eaLnBrk="1" hangingPunct="1">
              <a:defRPr/>
            </a:pPr>
            <a:endParaRPr lang="en-US" altLang="en-US" dirty="0">
              <a:latin typeface="Arial" charset="0"/>
            </a:endParaRPr>
          </a:p>
        </p:txBody>
      </p:sp>
      <p:sp>
        <p:nvSpPr>
          <p:cNvPr id="7475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3988" y="776288"/>
            <a:ext cx="6792912" cy="3822700"/>
          </a:xfrm>
          <a:noFill/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0091898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999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1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166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410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11C9D582-682E-4B7E-B30A-132E5B2B12A0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49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4709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50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8609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51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5196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202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53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4191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521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8422-A517-42FD-9DD1-405C55F7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r" defTabSz="914400" rtl="1" eaLnBrk="1" latinLnBrk="0" hangingPunct="1"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976313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9763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B28BB222-0C84-45D2-9E4D-4EEE750228F7}" type="slidenum">
              <a:rPr lang="he-IL" altLang="en-US" sz="13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55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2595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573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D9A7-939F-844E-AA9E-BD9AA155276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542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7056-463E-5169-802E-2DDD683C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92B1D-656A-A370-FC3E-224E3F1FC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51C08-1BFB-3127-A8E2-491A54747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EF4C-C89D-45DC-58D1-851807CAB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448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912D-0600-0074-A1C6-0B8BDF01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9FF0D-F2DA-E200-2B71-87A17ADFE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9C170-6D16-282C-C6F3-D961CF3A8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F8D0-53EC-2310-9A01-0E5866E9B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93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8385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46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5888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Technion EE 044252 Spring 2018 Lecture 11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718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4449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915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5419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4300"/>
            <a:ext cx="7772400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800100"/>
            <a:ext cx="7772400" cy="3771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790114-B29F-4836-A909-11A437904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839891"/>
            <a:ext cx="2590800" cy="18930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373043-3E99-4ED1-8FFF-48C56FA401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Technion EE 044252 Spring 2018 Lecture 11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28D313-7AC2-4202-8712-E8A8DD9035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D1AEE-648A-4DAE-B576-60771FC38A5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201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4300"/>
            <a:ext cx="7772400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800100"/>
            <a:ext cx="3810000" cy="3771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00100"/>
            <a:ext cx="3810000" cy="3771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90114-B29F-4836-A909-11A437904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839891"/>
            <a:ext cx="2590800" cy="18930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73043-3E99-4ED1-8FFF-48C56FA401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Technion EE 044252 Spring 2018 Lecture 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8D313-7AC2-4202-8712-E8A8DD9035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F534B-B2FE-438D-A8D4-D3234E633F7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39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2739" y="573207"/>
            <a:ext cx="8628184" cy="214361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222251" y="3183341"/>
            <a:ext cx="8628063" cy="1136176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rgbClr val="0070C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72862" y="4767264"/>
            <a:ext cx="3950676" cy="273844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</a:lstStyle>
          <a:p>
            <a:r>
              <a:rPr lang="en-US"/>
              <a:t>Technion EE 044252 Spring 2018 Lecture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1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Technion EE 044252 Spring 2018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3FF131CF-B26C-E347-9AC9-78212C099DD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61" r:id="rId14"/>
  </p:sldLayoutIdLst>
  <p:hf hdr="0" dt="0"/>
  <p:txStyles>
    <p:titleStyle>
      <a:lvl1pPr algn="l" defTabSz="685800" rtl="1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r" defTabSz="685800" rtl="1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r" defTabSz="685800" rtl="1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idx="4294967295"/>
          </p:nvPr>
        </p:nvSpPr>
        <p:spPr>
          <a:xfrm>
            <a:off x="0" y="133350"/>
            <a:ext cx="8839200" cy="3581400"/>
          </a:xfrm>
        </p:spPr>
        <p:txBody>
          <a:bodyPr>
            <a:noAutofit/>
          </a:bodyPr>
          <a:lstStyle/>
          <a:p>
            <a:pPr algn="ctr"/>
            <a:br>
              <a:rPr lang="en-US" sz="6600" dirty="0">
                <a:solidFill>
                  <a:schemeClr val="tx1"/>
                </a:solidFill>
                <a:latin typeface="+mn-lt"/>
              </a:rPr>
            </a:br>
            <a:r>
              <a:rPr lang="he-IL" sz="6600" dirty="0">
                <a:solidFill>
                  <a:schemeClr val="tx1"/>
                </a:solidFill>
                <a:latin typeface="+mn-lt"/>
              </a:rPr>
              <a:t>תרגול 11</a:t>
            </a:r>
            <a:br>
              <a:rPr lang="en-US" sz="6600" dirty="0">
                <a:solidFill>
                  <a:schemeClr val="tx1"/>
                </a:solidFill>
                <a:latin typeface="+mn-lt"/>
              </a:rPr>
            </a:br>
            <a:br>
              <a:rPr lang="en-US" sz="6600" dirty="0">
                <a:solidFill>
                  <a:schemeClr val="tx1"/>
                </a:solidFill>
                <a:latin typeface="+mn-lt"/>
              </a:rPr>
            </a:br>
            <a:r>
              <a:rPr lang="en-US" sz="6600" dirty="0">
                <a:solidFill>
                  <a:schemeClr val="tx1"/>
                </a:solidFill>
                <a:latin typeface="+mn-lt"/>
              </a:rPr>
              <a:t> RISC-V Multi Cycle</a:t>
            </a:r>
            <a:endParaRPr lang="en-US" sz="6600"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AutoShape 4" descr="JohnW.png"/>
          <p:cNvSpPr>
            <a:spLocks noChangeAspect="1" noChangeArrowheads="1"/>
          </p:cNvSpPr>
          <p:nvPr/>
        </p:nvSpPr>
        <p:spPr bwMode="auto">
          <a:xfrm>
            <a:off x="178461" y="5954"/>
            <a:ext cx="1424122" cy="14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 sz="135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461" y="4400550"/>
            <a:ext cx="412228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he-IL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altLang="he-IL" dirty="0"/>
              <a:t>Ben Hanuka, 2025,</a:t>
            </a:r>
            <a:r>
              <a:rPr lang="he-IL" altLang="he-IL" dirty="0"/>
              <a:t> </a:t>
            </a:r>
            <a:r>
              <a:rPr lang="en-US" altLang="he-IL" dirty="0"/>
              <a:t>Based on Maroun Tork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9481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39350-D6D6-C48E-8476-02897AB8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87F3C4-8895-3D3C-EB6F-1A30636D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8576" tIns="19289" rIns="38576" bIns="19289" rtlCol="0" anchor="b">
            <a:normAutofit/>
          </a:bodyPr>
          <a:lstStyle/>
          <a:p>
            <a:pPr algn="r"/>
            <a:r>
              <a:rPr lang="he-IL" dirty="0"/>
              <a:t>שבוע שעבר - </a:t>
            </a:r>
            <a:r>
              <a:rPr lang="he-IL" dirty="0" err="1"/>
              <a:t>תזכרות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E08565-AE7E-CB48-E823-E004B041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61993"/>
            <a:ext cx="7543800" cy="3267157"/>
          </a:xfrm>
        </p:spPr>
        <p:txBody>
          <a:bodyPr>
            <a:normAutofit/>
          </a:bodyPr>
          <a:lstStyle/>
          <a:p>
            <a:pPr marL="68580" indent="-6858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 </a:t>
            </a:r>
            <a:r>
              <a:rPr lang="he-IL" sz="2100" dirty="0"/>
              <a:t>ארכיטקטורת </a:t>
            </a:r>
            <a:r>
              <a:rPr lang="en-US" sz="2100" dirty="0"/>
              <a:t> Single Cycle RISC-V</a:t>
            </a:r>
            <a:endParaRPr lang="he-IL" sz="2100" dirty="0"/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סדר פעולות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/>
              <a:t>  IF 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/>
              <a:t>ID 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/>
              <a:t>EX 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/>
              <a:t>MEM 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/>
              <a:t>WB </a:t>
            </a:r>
            <a:endParaRPr lang="he-IL" sz="1350" dirty="0"/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מימוש פקודות לדוגמה</a:t>
            </a:r>
          </a:p>
        </p:txBody>
      </p:sp>
    </p:spTree>
    <p:extLst>
      <p:ext uri="{BB962C8B-B14F-4D97-AF65-F5344CB8AC3E}">
        <p14:creationId xmlns:p14="http://schemas.microsoft.com/office/powerpoint/2010/main" val="293563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01B2-561D-46A9-9C1C-819C5FF2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CD4F97-CD90-8DBE-9BF5-50946EEE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8576" tIns="19289" rIns="38576" bIns="19289" rtlCol="0" anchor="b">
            <a:normAutofit/>
          </a:bodyPr>
          <a:lstStyle/>
          <a:p>
            <a:pPr algn="r"/>
            <a:r>
              <a:rPr lang="he-IL" dirty="0"/>
              <a:t>השבוע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8BC505-2CF8-0DC5-A19E-76C659AB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61993"/>
            <a:ext cx="7543800" cy="3267157"/>
          </a:xfrm>
        </p:spPr>
        <p:txBody>
          <a:bodyPr>
            <a:normAutofit/>
          </a:bodyPr>
          <a:lstStyle/>
          <a:p>
            <a:pPr marL="68580" indent="-6858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 </a:t>
            </a:r>
            <a:r>
              <a:rPr lang="he-IL" sz="2100" dirty="0"/>
              <a:t>ארכיטקטורת </a:t>
            </a:r>
            <a:r>
              <a:rPr lang="en-US" sz="2100" dirty="0"/>
              <a:t>Multi Cycle RISC-V</a:t>
            </a:r>
            <a:endParaRPr lang="he-IL" sz="2100" dirty="0"/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שינויים ב-</a:t>
            </a:r>
            <a:r>
              <a:rPr lang="en-US" sz="1650" dirty="0"/>
              <a:t>Data Path</a:t>
            </a:r>
            <a:endParaRPr lang="he-IL" sz="1650" dirty="0"/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בקר (</a:t>
            </a:r>
            <a:r>
              <a:rPr lang="en-US" sz="1650" dirty="0"/>
              <a:t>Controller</a:t>
            </a:r>
            <a:r>
              <a:rPr lang="he-IL" sz="1650" dirty="0"/>
              <a:t>) כמכונת מצבים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53863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7444-3774-A29E-AD4F-3840B07B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1CFF7E-64D9-0F0C-732C-A3B1EADB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8576" tIns="19289" rIns="38576" bIns="19289" rtlCol="0" anchor="b">
            <a:normAutofit/>
          </a:bodyPr>
          <a:lstStyle/>
          <a:p>
            <a:pPr algn="r"/>
            <a:r>
              <a:rPr lang="he-IL" dirty="0"/>
              <a:t>מוטיבציה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C5F22A-A8AC-F6DE-1D7E-31C48E2C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03021"/>
            <a:ext cx="7543800" cy="3402329"/>
          </a:xfrm>
        </p:spPr>
        <p:txBody>
          <a:bodyPr>
            <a:noAutofit/>
          </a:bodyPr>
          <a:lstStyle/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r>
              <a:rPr lang="he-IL" sz="1800" dirty="0"/>
              <a:t>שבוע שעבר ראינו מימוש ראשון למעבד </a:t>
            </a:r>
            <a:r>
              <a:rPr lang="en-US" sz="1800" dirty="0"/>
              <a:t>Single Cycle RISCV</a:t>
            </a:r>
            <a:r>
              <a:rPr lang="he-IL" sz="1800" dirty="0"/>
              <a:t>.</a:t>
            </a:r>
            <a:r>
              <a:rPr lang="en-US" sz="1800" dirty="0"/>
              <a:t> </a:t>
            </a:r>
            <a:r>
              <a:rPr lang="he-IL" sz="1800" dirty="0"/>
              <a:t>המעבד עבד, אבל יש מקום לשיפור.</a:t>
            </a:r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1800" dirty="0"/>
          </a:p>
          <a:p>
            <a:pPr marL="0" indent="0" algn="ct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r>
              <a:rPr lang="he-IL" sz="1800" dirty="0"/>
              <a:t>היום נראה דרך אחת לשפר את הביצועים של המעבד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3C785C-4DD9-6752-FEB8-81F7B6998CD5}"/>
              </a:ext>
            </a:extLst>
          </p:cNvPr>
          <p:cNvGrpSpPr/>
          <p:nvPr/>
        </p:nvGrpSpPr>
        <p:grpSpPr>
          <a:xfrm>
            <a:off x="3581400" y="1733550"/>
            <a:ext cx="1857867" cy="2320811"/>
            <a:chOff x="3451225" y="1622539"/>
            <a:chExt cx="2241550" cy="2800100"/>
          </a:xfrm>
        </p:grpSpPr>
        <p:pic>
          <p:nvPicPr>
            <p:cNvPr id="44034" name="Picture 2" descr="2018: Rebuilding as a runner | Time to go ultra - #projectultra was just  the start">
              <a:extLst>
                <a:ext uri="{FF2B5EF4-FFF2-40B4-BE49-F238E27FC236}">
                  <a16:creationId xmlns:a16="http://schemas.microsoft.com/office/drawing/2014/main" id="{03838F00-80D0-48F7-3089-5095C17AB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1225" y="1622539"/>
              <a:ext cx="2241550" cy="2800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036" name="Picture 4" descr="Home - RISC-V International">
              <a:extLst>
                <a:ext uri="{FF2B5EF4-FFF2-40B4-BE49-F238E27FC236}">
                  <a16:creationId xmlns:a16="http://schemas.microsoft.com/office/drawing/2014/main" id="{D1EC526B-FE01-2B73-81D2-8922A500F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448" y="2015361"/>
              <a:ext cx="700275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8524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Arrow Connector 87"/>
          <p:cNvCxnSpPr/>
          <p:nvPr/>
        </p:nvCxnSpPr>
        <p:spPr>
          <a:xfrm>
            <a:off x="5183902" y="2611219"/>
            <a:ext cx="0" cy="14083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5031502" y="2611219"/>
            <a:ext cx="0" cy="14083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0" y="141695"/>
            <a:ext cx="9144000" cy="67620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Single-Cycle RISC-V RV32I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133600" y="2001619"/>
            <a:ext cx="609600" cy="6858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IMEM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172200" y="1696819"/>
            <a:ext cx="521297" cy="990600"/>
            <a:chOff x="6324600" y="3115310"/>
            <a:chExt cx="521297" cy="1056640"/>
          </a:xfrm>
        </p:grpSpPr>
        <p:sp>
          <p:nvSpPr>
            <p:cNvPr id="28" name="Trapezoid 27"/>
            <p:cNvSpPr/>
            <p:nvPr/>
          </p:nvSpPr>
          <p:spPr>
            <a:xfrm rot="5400000">
              <a:off x="6062980" y="3453130"/>
              <a:ext cx="1056640" cy="381000"/>
            </a:xfrm>
            <a:prstGeom prst="trapezoid">
              <a:avLst>
                <a:gd name="adj" fmla="val 4659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6362707" y="3641091"/>
              <a:ext cx="152400" cy="76200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29" idx="2"/>
              <a:endCxn id="29" idx="4"/>
            </p:cNvCxnSpPr>
            <p:nvPr/>
          </p:nvCxnSpPr>
          <p:spPr>
            <a:xfrm>
              <a:off x="6400808" y="3602991"/>
              <a:ext cx="0" cy="152400"/>
            </a:xfrm>
            <a:prstGeom prst="line">
              <a:avLst/>
            </a:prstGeom>
            <a:ln w="28575" cmpd="sng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6324600" y="3181350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ALU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3429000" y="2992219"/>
            <a:ext cx="615974" cy="762000"/>
            <a:chOff x="3733800" y="3105150"/>
            <a:chExt cx="615974" cy="762000"/>
          </a:xfrm>
        </p:grpSpPr>
        <p:sp>
          <p:nvSpPr>
            <p:cNvPr id="51" name="Trapezoid 50"/>
            <p:cNvSpPr/>
            <p:nvPr/>
          </p:nvSpPr>
          <p:spPr>
            <a:xfrm rot="5400000">
              <a:off x="3695700" y="3219450"/>
              <a:ext cx="762000" cy="533400"/>
            </a:xfrm>
            <a:prstGeom prst="trapezoid">
              <a:avLst>
                <a:gd name="adj" fmla="val 30656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33800" y="3218081"/>
              <a:ext cx="61597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Imm</a:t>
              </a:r>
              <a:r>
                <a:rPr lang="en-US" sz="1600" dirty="0"/>
                <a:t>.</a:t>
              </a:r>
            </a:p>
            <a:p>
              <a:r>
                <a:rPr lang="en-US" sz="1600" dirty="0"/>
                <a:t>Gen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2133600" y="1392019"/>
            <a:ext cx="304800" cy="457200"/>
            <a:chOff x="5181600" y="3257550"/>
            <a:chExt cx="304800" cy="457200"/>
          </a:xfrm>
        </p:grpSpPr>
        <p:sp>
          <p:nvSpPr>
            <p:cNvPr id="58" name="Trapezoid 57"/>
            <p:cNvSpPr/>
            <p:nvPr/>
          </p:nvSpPr>
          <p:spPr>
            <a:xfrm rot="5400000">
              <a:off x="5143500" y="3371850"/>
              <a:ext cx="457200" cy="228600"/>
            </a:xfrm>
            <a:prstGeom prst="trapezoid">
              <a:avLst>
                <a:gd name="adj" fmla="val 30656"/>
              </a:avLst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600" y="3333750"/>
              <a:ext cx="298519" cy="246221"/>
            </a:xfrm>
            <a:prstGeom prst="rect">
              <a:avLst/>
            </a:prstGeom>
            <a:noFill/>
          </p:spPr>
          <p:txBody>
            <a:bodyPr wrap="none" tIns="0" rIns="0" bIns="0" rtlCol="0">
              <a:spAutoFit/>
            </a:bodyPr>
            <a:lstStyle/>
            <a:p>
              <a:r>
                <a:rPr lang="en-US" sz="1600" dirty="0"/>
                <a:t>+4</a:t>
              </a:r>
            </a:p>
          </p:txBody>
        </p:sp>
      </p:grpSp>
      <p:cxnSp>
        <p:nvCxnSpPr>
          <p:cNvPr id="65" name="Straight Arrow Connector 64"/>
          <p:cNvCxnSpPr>
            <a:endCxn id="179" idx="3"/>
          </p:cNvCxnSpPr>
          <p:nvPr/>
        </p:nvCxnSpPr>
        <p:spPr>
          <a:xfrm flipH="1" flipV="1">
            <a:off x="1219200" y="2258635"/>
            <a:ext cx="10391" cy="1770729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4879102" y="2724150"/>
            <a:ext cx="0" cy="12954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7010400" y="1849219"/>
            <a:ext cx="990600" cy="838200"/>
            <a:chOff x="6324600" y="1733550"/>
            <a:chExt cx="990600" cy="838200"/>
          </a:xfrm>
        </p:grpSpPr>
        <p:sp>
          <p:nvSpPr>
            <p:cNvPr id="13" name="Rectangle 12"/>
            <p:cNvSpPr/>
            <p:nvPr/>
          </p:nvSpPr>
          <p:spPr>
            <a:xfrm>
              <a:off x="6324600" y="1733550"/>
              <a:ext cx="990600" cy="8382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/>
                  <a:cs typeface="Calibri"/>
                </a:rPr>
                <a:t>DMEM</a:t>
              </a:r>
              <a:endParaRPr lang="en-US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69" name="Isosceles Triangle 68"/>
            <p:cNvSpPr/>
            <p:nvPr/>
          </p:nvSpPr>
          <p:spPr>
            <a:xfrm>
              <a:off x="7010400" y="2419350"/>
              <a:ext cx="152400" cy="152400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726702" y="2077819"/>
            <a:ext cx="762000" cy="685800"/>
            <a:chOff x="5029200" y="3333750"/>
            <a:chExt cx="762000" cy="685800"/>
          </a:xfrm>
        </p:grpSpPr>
        <p:sp>
          <p:nvSpPr>
            <p:cNvPr id="73" name="Trapezoid 72"/>
            <p:cNvSpPr/>
            <p:nvPr/>
          </p:nvSpPr>
          <p:spPr>
            <a:xfrm rot="5400000">
              <a:off x="4989949" y="3449201"/>
              <a:ext cx="685800" cy="454898"/>
            </a:xfrm>
            <a:prstGeom prst="trapezoid">
              <a:avLst>
                <a:gd name="adj" fmla="val 30656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029200" y="3409950"/>
              <a:ext cx="76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Branch Comp.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3657600" y="1468219"/>
            <a:ext cx="841921" cy="1447800"/>
            <a:chOff x="3657600" y="1428750"/>
            <a:chExt cx="841921" cy="1447800"/>
          </a:xfrm>
        </p:grpSpPr>
        <p:grpSp>
          <p:nvGrpSpPr>
            <p:cNvPr id="63" name="Group 62"/>
            <p:cNvGrpSpPr/>
            <p:nvPr/>
          </p:nvGrpSpPr>
          <p:grpSpPr>
            <a:xfrm>
              <a:off x="3657600" y="1428750"/>
              <a:ext cx="838199" cy="1447800"/>
              <a:chOff x="3810000" y="1412681"/>
              <a:chExt cx="838199" cy="14478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810000" y="1412681"/>
                <a:ext cx="838199" cy="14478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  <a:latin typeface="Calibri"/>
                    <a:cs typeface="Calibri"/>
                  </a:rPr>
                  <a:t>Reg</a:t>
                </a:r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[]</a:t>
                </a:r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>
                <a:off x="4419600" y="2708081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3657600" y="2234684"/>
              <a:ext cx="39754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AddrA</a:t>
              </a:r>
              <a:endParaRPr lang="en-US" sz="120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657600" y="2463284"/>
              <a:ext cx="388102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AddrB</a:t>
              </a:r>
              <a:endParaRPr lang="en-US" sz="1200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114800" y="2234684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DataA</a:t>
              </a:r>
              <a:endParaRPr lang="en-US" sz="1200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657600" y="1998881"/>
              <a:ext cx="3990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AddrD</a:t>
              </a:r>
              <a:endParaRPr lang="en-US" sz="1200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114800" y="2463284"/>
              <a:ext cx="37735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DataB</a:t>
              </a:r>
              <a:endParaRPr lang="en-US" sz="1200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657600" y="1694081"/>
              <a:ext cx="38832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DataD</a:t>
              </a:r>
              <a:endParaRPr lang="en-US" sz="1200" dirty="0"/>
            </a:p>
          </p:txBody>
        </p:sp>
      </p:grpSp>
      <p:cxnSp>
        <p:nvCxnSpPr>
          <p:cNvPr id="91" name="Straight Arrow Connector 90"/>
          <p:cNvCxnSpPr/>
          <p:nvPr/>
        </p:nvCxnSpPr>
        <p:spPr>
          <a:xfrm flipV="1">
            <a:off x="6454320" y="2584700"/>
            <a:ext cx="0" cy="143485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V="1">
            <a:off x="4191000" y="2916019"/>
            <a:ext cx="0" cy="1103531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7233228" y="2681198"/>
            <a:ext cx="0" cy="1338352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010400" y="2077819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7031583" y="2350353"/>
            <a:ext cx="4360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DataW</a:t>
            </a:r>
            <a:endParaRPr 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7543800" y="2154019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DataR</a:t>
            </a:r>
            <a:endParaRPr lang="en-US" sz="1200" dirty="0"/>
          </a:p>
        </p:txBody>
      </p:sp>
      <p:cxnSp>
        <p:nvCxnSpPr>
          <p:cNvPr id="100" name="Straight Arrow Connector 99"/>
          <p:cNvCxnSpPr>
            <a:endCxn id="116" idx="3"/>
          </p:cNvCxnSpPr>
          <p:nvPr/>
        </p:nvCxnSpPr>
        <p:spPr>
          <a:xfrm flipV="1">
            <a:off x="5867400" y="2676366"/>
            <a:ext cx="0" cy="1343184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endCxn id="72" idx="3"/>
          </p:cNvCxnSpPr>
          <p:nvPr/>
        </p:nvCxnSpPr>
        <p:spPr>
          <a:xfrm flipV="1">
            <a:off x="6019800" y="2106235"/>
            <a:ext cx="0" cy="1913315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/>
          <p:cNvGrpSpPr/>
          <p:nvPr/>
        </p:nvGrpSpPr>
        <p:grpSpPr>
          <a:xfrm>
            <a:off x="5943600" y="1620619"/>
            <a:ext cx="152400" cy="533400"/>
            <a:chOff x="5791200" y="1352550"/>
            <a:chExt cx="152400" cy="533400"/>
          </a:xfrm>
        </p:grpSpPr>
        <p:sp>
          <p:nvSpPr>
            <p:cNvPr id="72" name="Trapezoid 71"/>
            <p:cNvSpPr/>
            <p:nvPr/>
          </p:nvSpPr>
          <p:spPr>
            <a:xfrm rot="5400000">
              <a:off x="5600700" y="1543050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807075" y="1390650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810250" y="1638300"/>
              <a:ext cx="7799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</p:grpSp>
      <p:cxnSp>
        <p:nvCxnSpPr>
          <p:cNvPr id="124" name="Straight Arrow Connector 123"/>
          <p:cNvCxnSpPr>
            <a:stCxn id="13" idx="3"/>
          </p:cNvCxnSpPr>
          <p:nvPr/>
        </p:nvCxnSpPr>
        <p:spPr>
          <a:xfrm flipV="1">
            <a:off x="8001000" y="2253007"/>
            <a:ext cx="367652" cy="153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/>
          <p:cNvGrpSpPr/>
          <p:nvPr/>
        </p:nvGrpSpPr>
        <p:grpSpPr>
          <a:xfrm>
            <a:off x="8382000" y="1696819"/>
            <a:ext cx="152400" cy="762000"/>
            <a:chOff x="8229600" y="1733550"/>
            <a:chExt cx="152400" cy="762000"/>
          </a:xfrm>
        </p:grpSpPr>
        <p:sp>
          <p:nvSpPr>
            <p:cNvPr id="66" name="Trapezoid 65"/>
            <p:cNvSpPr/>
            <p:nvPr/>
          </p:nvSpPr>
          <p:spPr>
            <a:xfrm rot="5400000">
              <a:off x="7924800" y="2038350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8255000" y="2232025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255000" y="2016125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255000" y="1800225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</p:grpSp>
      <p:cxnSp>
        <p:nvCxnSpPr>
          <p:cNvPr id="127" name="Straight Arrow Connector 126"/>
          <p:cNvCxnSpPr>
            <a:stCxn id="28" idx="0"/>
            <a:endCxn id="97" idx="1"/>
          </p:cNvCxnSpPr>
          <p:nvPr/>
        </p:nvCxnSpPr>
        <p:spPr>
          <a:xfrm flipV="1">
            <a:off x="6629400" y="2170152"/>
            <a:ext cx="381000" cy="2196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flipV="1">
            <a:off x="8458200" y="2382619"/>
            <a:ext cx="0" cy="1636931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6781800" y="1260547"/>
            <a:ext cx="0" cy="924428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/>
          <p:cNvCxnSpPr>
            <a:endCxn id="66" idx="2"/>
          </p:cNvCxnSpPr>
          <p:nvPr/>
        </p:nvCxnSpPr>
        <p:spPr>
          <a:xfrm>
            <a:off x="914399" y="1260547"/>
            <a:ext cx="7467601" cy="817272"/>
          </a:xfrm>
          <a:prstGeom prst="bentConnector3">
            <a:avLst>
              <a:gd name="adj1" fmla="val 96694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/>
          <p:nvPr/>
        </p:nvCxnSpPr>
        <p:spPr>
          <a:xfrm rot="16200000" flipH="1">
            <a:off x="715313" y="1456782"/>
            <a:ext cx="626772" cy="228600"/>
          </a:xfrm>
          <a:prstGeom prst="bentConnector3">
            <a:avLst>
              <a:gd name="adj1" fmla="val 1015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/>
          <p:cNvGrpSpPr/>
          <p:nvPr/>
        </p:nvGrpSpPr>
        <p:grpSpPr>
          <a:xfrm>
            <a:off x="1143000" y="1773019"/>
            <a:ext cx="152400" cy="533400"/>
            <a:chOff x="5791200" y="1352550"/>
            <a:chExt cx="152400" cy="533400"/>
          </a:xfrm>
        </p:grpSpPr>
        <p:sp>
          <p:nvSpPr>
            <p:cNvPr id="179" name="Trapezoid 178"/>
            <p:cNvSpPr/>
            <p:nvPr/>
          </p:nvSpPr>
          <p:spPr>
            <a:xfrm rot="5400000">
              <a:off x="5600700" y="1543050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5807075" y="1390650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5810250" y="1638300"/>
              <a:ext cx="7799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</p:grpSp>
      <p:cxnSp>
        <p:nvCxnSpPr>
          <p:cNvPr id="183" name="Straight Connector 182"/>
          <p:cNvCxnSpPr>
            <a:stCxn id="179" idx="0"/>
            <a:endCxn id="19" idx="1"/>
          </p:cNvCxnSpPr>
          <p:nvPr/>
        </p:nvCxnSpPr>
        <p:spPr>
          <a:xfrm>
            <a:off x="1295400" y="2039719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9" idx="3"/>
            <a:endCxn id="16" idx="1"/>
          </p:cNvCxnSpPr>
          <p:nvPr/>
        </p:nvCxnSpPr>
        <p:spPr>
          <a:xfrm>
            <a:off x="1813263" y="2039719"/>
            <a:ext cx="320337" cy="3048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lbow Connector 202"/>
          <p:cNvCxnSpPr/>
          <p:nvPr/>
        </p:nvCxnSpPr>
        <p:spPr>
          <a:xfrm flipV="1">
            <a:off x="1782931" y="1620939"/>
            <a:ext cx="396537" cy="4191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Elbow Connector 213"/>
          <p:cNvCxnSpPr>
            <a:stCxn id="58" idx="0"/>
          </p:cNvCxnSpPr>
          <p:nvPr/>
        </p:nvCxnSpPr>
        <p:spPr>
          <a:xfrm flipV="1">
            <a:off x="2438400" y="1163419"/>
            <a:ext cx="304800" cy="457200"/>
          </a:xfrm>
          <a:prstGeom prst="bentConnector2">
            <a:avLst/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/>
          <p:nvPr/>
        </p:nvCxnSpPr>
        <p:spPr>
          <a:xfrm>
            <a:off x="2743200" y="1163419"/>
            <a:ext cx="5638800" cy="685800"/>
          </a:xfrm>
          <a:prstGeom prst="bentConnector3">
            <a:avLst>
              <a:gd name="adj1" fmla="val 971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/>
          <p:cNvCxnSpPr/>
          <p:nvPr/>
        </p:nvCxnSpPr>
        <p:spPr>
          <a:xfrm rot="10800000" flipV="1">
            <a:off x="1143000" y="1163419"/>
            <a:ext cx="1600200" cy="990600"/>
          </a:xfrm>
          <a:prstGeom prst="bentConnector3">
            <a:avLst>
              <a:gd name="adj1" fmla="val 124407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>
            <a:stCxn id="72" idx="0"/>
          </p:cNvCxnSpPr>
          <p:nvPr/>
        </p:nvCxnSpPr>
        <p:spPr>
          <a:xfrm flipV="1">
            <a:off x="6096000" y="1885950"/>
            <a:ext cx="152400" cy="136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Elbow Connector 250"/>
          <p:cNvCxnSpPr>
            <a:stCxn id="79" idx="3"/>
            <a:endCxn id="105" idx="1"/>
          </p:cNvCxnSpPr>
          <p:nvPr/>
        </p:nvCxnSpPr>
        <p:spPr>
          <a:xfrm flipV="1">
            <a:off x="4499521" y="1998702"/>
            <a:ext cx="1463129" cy="367784"/>
          </a:xfrm>
          <a:prstGeom prst="bentConnector3">
            <a:avLst>
              <a:gd name="adj1" fmla="val 8536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Elbow Connector 253"/>
          <p:cNvCxnSpPr/>
          <p:nvPr/>
        </p:nvCxnSpPr>
        <p:spPr>
          <a:xfrm>
            <a:off x="4457521" y="2595086"/>
            <a:ext cx="957297" cy="320141"/>
          </a:xfrm>
          <a:prstGeom prst="bentConnector3">
            <a:avLst>
              <a:gd name="adj1" fmla="val 1683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V="1">
            <a:off x="4648200" y="2361045"/>
            <a:ext cx="183573" cy="1127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 flipV="1">
            <a:off x="4537364" y="2586182"/>
            <a:ext cx="259772" cy="577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274"/>
          <p:cNvCxnSpPr/>
          <p:nvPr/>
        </p:nvCxnSpPr>
        <p:spPr>
          <a:xfrm flipV="1">
            <a:off x="1978767" y="1371841"/>
            <a:ext cx="3214173" cy="535336"/>
          </a:xfrm>
          <a:prstGeom prst="bentConnector3">
            <a:avLst>
              <a:gd name="adj1" fmla="val 27385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lbow Connector 304"/>
          <p:cNvCxnSpPr/>
          <p:nvPr/>
        </p:nvCxnSpPr>
        <p:spPr>
          <a:xfrm>
            <a:off x="5181600" y="1366060"/>
            <a:ext cx="762000" cy="3674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1447800" y="1620619"/>
            <a:ext cx="365463" cy="838199"/>
            <a:chOff x="1447800" y="1809750"/>
            <a:chExt cx="365463" cy="838199"/>
          </a:xfrm>
        </p:grpSpPr>
        <p:sp>
          <p:nvSpPr>
            <p:cNvPr id="19" name="Rectangle 18"/>
            <p:cNvSpPr/>
            <p:nvPr/>
          </p:nvSpPr>
          <p:spPr>
            <a:xfrm>
              <a:off x="1447800" y="1809750"/>
              <a:ext cx="365463" cy="838199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/>
                  <a:cs typeface="Courier New"/>
                </a:rPr>
                <a:t>pc</a:t>
              </a:r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600200" y="2495550"/>
              <a:ext cx="152400" cy="152399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5791200" y="2190750"/>
            <a:ext cx="152400" cy="533400"/>
            <a:chOff x="5791200" y="1352550"/>
            <a:chExt cx="152400" cy="533400"/>
          </a:xfrm>
        </p:grpSpPr>
        <p:sp>
          <p:nvSpPr>
            <p:cNvPr id="116" name="Trapezoid 115"/>
            <p:cNvSpPr/>
            <p:nvPr/>
          </p:nvSpPr>
          <p:spPr>
            <a:xfrm rot="5400000">
              <a:off x="5600700" y="1543050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07075" y="1390650"/>
              <a:ext cx="762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810250" y="1638300"/>
              <a:ext cx="7799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</p:grpSp>
      <p:cxnSp>
        <p:nvCxnSpPr>
          <p:cNvPr id="394" name="Elbow Connector 393"/>
          <p:cNvCxnSpPr>
            <a:stCxn id="16" idx="3"/>
            <a:endCxn id="22" idx="1"/>
          </p:cNvCxnSpPr>
          <p:nvPr/>
        </p:nvCxnSpPr>
        <p:spPr>
          <a:xfrm flipV="1">
            <a:off x="2743200" y="2192119"/>
            <a:ext cx="914400" cy="152400"/>
          </a:xfrm>
          <a:prstGeom prst="bentConnector3">
            <a:avLst>
              <a:gd name="adj1" fmla="val 1780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/>
          <p:cNvCxnSpPr/>
          <p:nvPr/>
        </p:nvCxnSpPr>
        <p:spPr>
          <a:xfrm>
            <a:off x="2895600" y="2343150"/>
            <a:ext cx="0" cy="16764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/>
          <p:cNvCxnSpPr/>
          <p:nvPr/>
        </p:nvCxnSpPr>
        <p:spPr>
          <a:xfrm flipV="1">
            <a:off x="2886364" y="2458819"/>
            <a:ext cx="771236" cy="36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/>
          <p:cNvCxnSpPr/>
          <p:nvPr/>
        </p:nvCxnSpPr>
        <p:spPr>
          <a:xfrm flipV="1">
            <a:off x="2897909" y="2687420"/>
            <a:ext cx="759691" cy="267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/>
          <p:cNvCxnSpPr/>
          <p:nvPr/>
        </p:nvCxnSpPr>
        <p:spPr>
          <a:xfrm flipV="1">
            <a:off x="2886364" y="3373219"/>
            <a:ext cx="618836" cy="959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Elbow Connector 405"/>
          <p:cNvCxnSpPr>
            <a:stCxn id="66" idx="0"/>
          </p:cNvCxnSpPr>
          <p:nvPr/>
        </p:nvCxnSpPr>
        <p:spPr>
          <a:xfrm flipH="1" flipV="1">
            <a:off x="3330864" y="1044864"/>
            <a:ext cx="5203536" cy="1032955"/>
          </a:xfrm>
          <a:prstGeom prst="bentConnector3">
            <a:avLst>
              <a:gd name="adj1" fmla="val -237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16"/>
          <p:cNvCxnSpPr/>
          <p:nvPr/>
        </p:nvCxnSpPr>
        <p:spPr>
          <a:xfrm rot="16200000" flipH="1">
            <a:off x="3086100" y="1314450"/>
            <a:ext cx="838200" cy="304800"/>
          </a:xfrm>
          <a:prstGeom prst="bentConnector3">
            <a:avLst>
              <a:gd name="adj1" fmla="val 10027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/>
          <p:cNvCxnSpPr/>
          <p:nvPr/>
        </p:nvCxnSpPr>
        <p:spPr>
          <a:xfrm flipV="1">
            <a:off x="3810000" y="3638550"/>
            <a:ext cx="0" cy="3810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/>
          <p:cNvCxnSpPr/>
          <p:nvPr/>
        </p:nvCxnSpPr>
        <p:spPr>
          <a:xfrm flipV="1">
            <a:off x="5943600" y="2495550"/>
            <a:ext cx="370610" cy="231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Elbow Connector 473"/>
          <p:cNvCxnSpPr/>
          <p:nvPr/>
        </p:nvCxnSpPr>
        <p:spPr>
          <a:xfrm flipV="1">
            <a:off x="5410200" y="2530186"/>
            <a:ext cx="1600200" cy="381000"/>
          </a:xfrm>
          <a:prstGeom prst="bentConnector3">
            <a:avLst>
              <a:gd name="adj1" fmla="val 8607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/>
          <p:cNvSpPr txBox="1"/>
          <p:nvPr/>
        </p:nvSpPr>
        <p:spPr>
          <a:xfrm>
            <a:off x="2988810" y="1984827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[11:7]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2971800" y="22669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[19:15]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2971800" y="24955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[24:20]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2918691" y="3135168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[31:7]</a:t>
            </a:r>
          </a:p>
        </p:txBody>
      </p:sp>
      <p:cxnSp>
        <p:nvCxnSpPr>
          <p:cNvPr id="513" name="Elbow Connector 512"/>
          <p:cNvCxnSpPr/>
          <p:nvPr/>
        </p:nvCxnSpPr>
        <p:spPr>
          <a:xfrm rot="5400000" flipH="1" flipV="1">
            <a:off x="5310189" y="2446338"/>
            <a:ext cx="584201" cy="377826"/>
          </a:xfrm>
          <a:prstGeom prst="bentConnector3">
            <a:avLst>
              <a:gd name="adj1" fmla="val 10046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8250383" y="1416049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7923646" y="1556904"/>
            <a:ext cx="1740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29" name="TextBox 528"/>
          <p:cNvSpPr txBox="1"/>
          <p:nvPr/>
        </p:nvSpPr>
        <p:spPr>
          <a:xfrm>
            <a:off x="8029863" y="2355849"/>
            <a:ext cx="33481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mem</a:t>
            </a:r>
            <a:endParaRPr lang="en-US" sz="1100" dirty="0"/>
          </a:p>
        </p:txBody>
      </p:sp>
      <p:sp>
        <p:nvSpPr>
          <p:cNvPr id="530" name="TextBox 529"/>
          <p:cNvSpPr txBox="1"/>
          <p:nvPr/>
        </p:nvSpPr>
        <p:spPr>
          <a:xfrm>
            <a:off x="8581737" y="2087995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sp>
        <p:nvSpPr>
          <p:cNvPr id="531" name="TextBox 530"/>
          <p:cNvSpPr txBox="1"/>
          <p:nvPr/>
        </p:nvSpPr>
        <p:spPr>
          <a:xfrm>
            <a:off x="813954" y="1859395"/>
            <a:ext cx="2086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32" name="TextBox 531"/>
          <p:cNvSpPr txBox="1"/>
          <p:nvPr/>
        </p:nvSpPr>
        <p:spPr>
          <a:xfrm>
            <a:off x="701965" y="2151495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5312006" y="1809750"/>
            <a:ext cx="5241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[rs1]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5395683" y="1499281"/>
            <a:ext cx="2193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pc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4247574" y="3209059"/>
            <a:ext cx="62922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imm</a:t>
            </a:r>
            <a:r>
              <a:rPr lang="en-US" sz="1100" dirty="0"/>
              <a:t>[31:0]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5299981" y="2108881"/>
            <a:ext cx="5334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[rs2]</a:t>
            </a:r>
          </a:p>
        </p:txBody>
      </p:sp>
      <p:cxnSp>
        <p:nvCxnSpPr>
          <p:cNvPr id="563" name="Elbow Connector 562"/>
          <p:cNvCxnSpPr>
            <a:stCxn id="52" idx="3"/>
          </p:cNvCxnSpPr>
          <p:nvPr/>
        </p:nvCxnSpPr>
        <p:spPr>
          <a:xfrm flipV="1">
            <a:off x="4044974" y="2571750"/>
            <a:ext cx="1746226" cy="825788"/>
          </a:xfrm>
          <a:prstGeom prst="bentConnector3">
            <a:avLst>
              <a:gd name="adj1" fmla="val 8344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Rectangle 568"/>
          <p:cNvSpPr/>
          <p:nvPr/>
        </p:nvSpPr>
        <p:spPr>
          <a:xfrm>
            <a:off x="838200" y="4019550"/>
            <a:ext cx="7868227" cy="715818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3" name="TextBox 522"/>
          <p:cNvSpPr txBox="1"/>
          <p:nvPr/>
        </p:nvSpPr>
        <p:spPr>
          <a:xfrm>
            <a:off x="2590800" y="4078873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[31:0]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3429000" y="4095750"/>
            <a:ext cx="42829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ImmSel</a:t>
            </a:r>
            <a:endParaRPr lang="en-US" sz="1100" dirty="0"/>
          </a:p>
        </p:txBody>
      </p:sp>
      <p:sp>
        <p:nvSpPr>
          <p:cNvPr id="583" name="TextBox 582"/>
          <p:cNvSpPr txBox="1"/>
          <p:nvPr/>
        </p:nvSpPr>
        <p:spPr>
          <a:xfrm>
            <a:off x="3962400" y="4095750"/>
            <a:ext cx="48167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RegWEn</a:t>
            </a:r>
            <a:endParaRPr lang="en-US" sz="1100" dirty="0"/>
          </a:p>
        </p:txBody>
      </p:sp>
      <p:sp>
        <p:nvSpPr>
          <p:cNvPr id="584" name="TextBox 583"/>
          <p:cNvSpPr txBox="1"/>
          <p:nvPr/>
        </p:nvSpPr>
        <p:spPr>
          <a:xfrm>
            <a:off x="4572000" y="4095750"/>
            <a:ext cx="29053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BrUn</a:t>
            </a:r>
            <a:endParaRPr lang="en-US" sz="1100" dirty="0"/>
          </a:p>
        </p:txBody>
      </p:sp>
      <p:sp>
        <p:nvSpPr>
          <p:cNvPr id="585" name="TextBox 584"/>
          <p:cNvSpPr txBox="1"/>
          <p:nvPr/>
        </p:nvSpPr>
        <p:spPr>
          <a:xfrm>
            <a:off x="4876800" y="4095750"/>
            <a:ext cx="26890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BrEq</a:t>
            </a:r>
            <a:endParaRPr lang="en-US" sz="1100" dirty="0"/>
          </a:p>
        </p:txBody>
      </p:sp>
      <p:sp>
        <p:nvSpPr>
          <p:cNvPr id="586" name="TextBox 585"/>
          <p:cNvSpPr txBox="1"/>
          <p:nvPr/>
        </p:nvSpPr>
        <p:spPr>
          <a:xfrm>
            <a:off x="5181600" y="4095750"/>
            <a:ext cx="2539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BrLT</a:t>
            </a:r>
            <a:endParaRPr lang="en-US" sz="1100" dirty="0"/>
          </a:p>
        </p:txBody>
      </p:sp>
      <p:sp>
        <p:nvSpPr>
          <p:cNvPr id="587" name="TextBox 586"/>
          <p:cNvSpPr txBox="1"/>
          <p:nvPr/>
        </p:nvSpPr>
        <p:spPr>
          <a:xfrm>
            <a:off x="5943600" y="4095750"/>
            <a:ext cx="24899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ASel</a:t>
            </a:r>
            <a:endParaRPr lang="en-US" sz="1100" dirty="0"/>
          </a:p>
        </p:txBody>
      </p:sp>
      <p:sp>
        <p:nvSpPr>
          <p:cNvPr id="588" name="TextBox 587"/>
          <p:cNvSpPr txBox="1"/>
          <p:nvPr/>
        </p:nvSpPr>
        <p:spPr>
          <a:xfrm>
            <a:off x="5638800" y="4095750"/>
            <a:ext cx="24410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BSel</a:t>
            </a:r>
            <a:endParaRPr lang="en-US" sz="1100" dirty="0"/>
          </a:p>
        </p:txBody>
      </p:sp>
      <p:sp>
        <p:nvSpPr>
          <p:cNvPr id="589" name="TextBox 588"/>
          <p:cNvSpPr txBox="1"/>
          <p:nvPr/>
        </p:nvSpPr>
        <p:spPr>
          <a:xfrm>
            <a:off x="6324600" y="4095750"/>
            <a:ext cx="39881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ALUSel</a:t>
            </a:r>
            <a:endParaRPr lang="en-US" sz="1100" dirty="0"/>
          </a:p>
        </p:txBody>
      </p:sp>
      <p:sp>
        <p:nvSpPr>
          <p:cNvPr id="591" name="TextBox 590"/>
          <p:cNvSpPr txBox="1"/>
          <p:nvPr/>
        </p:nvSpPr>
        <p:spPr>
          <a:xfrm>
            <a:off x="6934200" y="4095750"/>
            <a:ext cx="51296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MemRW</a:t>
            </a:r>
            <a:endParaRPr lang="en-US" sz="1100" dirty="0"/>
          </a:p>
        </p:txBody>
      </p:sp>
      <p:sp>
        <p:nvSpPr>
          <p:cNvPr id="593" name="TextBox 592"/>
          <p:cNvSpPr txBox="1"/>
          <p:nvPr/>
        </p:nvSpPr>
        <p:spPr>
          <a:xfrm>
            <a:off x="8229600" y="4095750"/>
            <a:ext cx="36960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WBSel</a:t>
            </a:r>
            <a:endParaRPr lang="en-US" sz="1100" dirty="0"/>
          </a:p>
        </p:txBody>
      </p:sp>
      <p:sp>
        <p:nvSpPr>
          <p:cNvPr id="594" name="TextBox 593"/>
          <p:cNvSpPr txBox="1"/>
          <p:nvPr/>
        </p:nvSpPr>
        <p:spPr>
          <a:xfrm>
            <a:off x="990600" y="4095750"/>
            <a:ext cx="31546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PCSel</a:t>
            </a:r>
            <a:endParaRPr lang="en-US" sz="1100" dirty="0"/>
          </a:p>
        </p:txBody>
      </p:sp>
      <p:sp>
        <p:nvSpPr>
          <p:cNvPr id="596" name="TextBox 595"/>
          <p:cNvSpPr txBox="1"/>
          <p:nvPr/>
        </p:nvSpPr>
        <p:spPr>
          <a:xfrm>
            <a:off x="3406447" y="1657350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7780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Arrow Connector 87"/>
          <p:cNvCxnSpPr/>
          <p:nvPr/>
        </p:nvCxnSpPr>
        <p:spPr>
          <a:xfrm flipH="1">
            <a:off x="46320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44796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0" y="166966"/>
            <a:ext cx="9144000" cy="643743"/>
          </a:xfrm>
        </p:spPr>
        <p:txBody>
          <a:bodyPr>
            <a:normAutofit/>
          </a:bodyPr>
          <a:lstStyle/>
          <a:p>
            <a:pPr marL="168275" algn="r"/>
            <a:r>
              <a:rPr lang="he-IL" dirty="0"/>
              <a:t>נחלק את ה-</a:t>
            </a:r>
            <a:r>
              <a:rPr lang="en-US" dirty="0"/>
              <a:t>Datapath</a:t>
            </a:r>
            <a:r>
              <a:rPr lang="he-IL" dirty="0"/>
              <a:t> ל-5 שלבים כמו שראינו...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84035" y="2001619"/>
            <a:ext cx="609600" cy="6858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IMEM</a:t>
            </a:r>
          </a:p>
        </p:txBody>
      </p:sp>
      <p:sp>
        <p:nvSpPr>
          <p:cNvPr id="28" name="Trapezoid 27"/>
          <p:cNvSpPr/>
          <p:nvPr/>
        </p:nvSpPr>
        <p:spPr>
          <a:xfrm rot="5400000">
            <a:off x="5394035" y="2001619"/>
            <a:ext cx="990600" cy="381000"/>
          </a:xfrm>
          <a:prstGeom prst="trapezoid">
            <a:avLst>
              <a:gd name="adj" fmla="val 4659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665505" y="2187357"/>
            <a:ext cx="142875" cy="762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29" idx="2"/>
            <a:endCxn id="29" idx="4"/>
          </p:cNvCxnSpPr>
          <p:nvPr/>
        </p:nvCxnSpPr>
        <p:spPr>
          <a:xfrm>
            <a:off x="5698843" y="2154020"/>
            <a:ext cx="0" cy="142875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22635" y="1758732"/>
            <a:ext cx="521297" cy="317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ALU</a:t>
            </a:r>
          </a:p>
        </p:txBody>
      </p:sp>
      <p:sp>
        <p:nvSpPr>
          <p:cNvPr id="51" name="Trapezoid 50"/>
          <p:cNvSpPr/>
          <p:nvPr/>
        </p:nvSpPr>
        <p:spPr>
          <a:xfrm rot="5400000">
            <a:off x="2841335" y="3106519"/>
            <a:ext cx="762000" cy="533400"/>
          </a:xfrm>
          <a:prstGeom prst="trapezoid">
            <a:avLst>
              <a:gd name="adj" fmla="val 30656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879435" y="3105150"/>
            <a:ext cx="6159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Imm</a:t>
            </a:r>
            <a:r>
              <a:rPr lang="en-US" sz="1600" dirty="0"/>
              <a:t>.</a:t>
            </a:r>
          </a:p>
          <a:p>
            <a:r>
              <a:rPr lang="en-US" sz="1600" dirty="0"/>
              <a:t>Gen</a:t>
            </a:r>
          </a:p>
        </p:txBody>
      </p:sp>
      <p:sp>
        <p:nvSpPr>
          <p:cNvPr id="58" name="Trapezoid 57"/>
          <p:cNvSpPr/>
          <p:nvPr/>
        </p:nvSpPr>
        <p:spPr>
          <a:xfrm rot="5400000">
            <a:off x="1545935" y="1506319"/>
            <a:ext cx="457200" cy="228600"/>
          </a:xfrm>
          <a:prstGeom prst="trapezoid">
            <a:avLst>
              <a:gd name="adj" fmla="val 30656"/>
            </a:avLst>
          </a:prstGeom>
          <a:solidFill>
            <a:schemeClr val="bg1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584035" y="1468219"/>
            <a:ext cx="298519" cy="246221"/>
          </a:xfrm>
          <a:prstGeom prst="rect">
            <a:avLst/>
          </a:prstGeom>
          <a:noFill/>
        </p:spPr>
        <p:txBody>
          <a:bodyPr wrap="none" tIns="0" rIns="0" bIns="0" rtlCol="0">
            <a:spAutoFit/>
          </a:bodyPr>
          <a:lstStyle/>
          <a:p>
            <a:r>
              <a:rPr lang="en-US" sz="1600" dirty="0"/>
              <a:t>+4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0835" y="1849219"/>
            <a:ext cx="990600" cy="8382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DMEM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9" name="Isosceles Triangle 68"/>
          <p:cNvSpPr/>
          <p:nvPr/>
        </p:nvSpPr>
        <p:spPr>
          <a:xfrm>
            <a:off x="7146635" y="2535019"/>
            <a:ext cx="152400" cy="1524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Trapezoid 72"/>
          <p:cNvSpPr/>
          <p:nvPr/>
        </p:nvSpPr>
        <p:spPr>
          <a:xfrm rot="5400000">
            <a:off x="4137886" y="2193270"/>
            <a:ext cx="685800" cy="454898"/>
          </a:xfrm>
          <a:prstGeom prst="trapezoid">
            <a:avLst>
              <a:gd name="adj" fmla="val 30656"/>
            </a:avLst>
          </a:prstGeom>
          <a:solidFill>
            <a:schemeClr val="bg1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4177137" y="2154019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Branch Comp.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3108035" y="1468219"/>
            <a:ext cx="838199" cy="1447800"/>
            <a:chOff x="3810000" y="1412681"/>
            <a:chExt cx="838199" cy="1447800"/>
          </a:xfrm>
        </p:grpSpPr>
        <p:sp>
          <p:nvSpPr>
            <p:cNvPr id="22" name="Rectangle 21"/>
            <p:cNvSpPr/>
            <p:nvPr/>
          </p:nvSpPr>
          <p:spPr>
            <a:xfrm>
              <a:off x="3810000" y="1412681"/>
              <a:ext cx="838199" cy="1447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alibri"/>
                  <a:cs typeface="Calibri"/>
                </a:rPr>
                <a:t>Reg</a:t>
              </a:r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[]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>
              <a:off x="4419600" y="2708081"/>
              <a:ext cx="152400" cy="152400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3108035" y="2274153"/>
            <a:ext cx="3975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AddrA</a:t>
            </a:r>
            <a:endParaRPr lang="en-US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3108035" y="2502753"/>
            <a:ext cx="38810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AddrB</a:t>
            </a:r>
            <a:endParaRPr lang="en-US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3565235" y="2274153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DataA</a:t>
            </a:r>
            <a:endParaRPr lang="en-US"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3108035" y="2038350"/>
            <a:ext cx="39907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AddrD</a:t>
            </a:r>
            <a:endParaRPr lang="en-US" sz="1200" dirty="0"/>
          </a:p>
        </p:txBody>
      </p:sp>
      <p:sp>
        <p:nvSpPr>
          <p:cNvPr id="81" name="TextBox 80"/>
          <p:cNvSpPr txBox="1"/>
          <p:nvPr/>
        </p:nvSpPr>
        <p:spPr>
          <a:xfrm>
            <a:off x="3565235" y="2502753"/>
            <a:ext cx="3773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DataB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3108035" y="1733550"/>
            <a:ext cx="3883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DataD</a:t>
            </a:r>
            <a:endParaRPr 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6460835" y="2077819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6482018" y="2350353"/>
            <a:ext cx="4360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DataW</a:t>
            </a:r>
            <a:endParaRPr 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6994235" y="2154019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DataR</a:t>
            </a:r>
            <a:endParaRPr lang="en-US" sz="1200" dirty="0"/>
          </a:p>
        </p:txBody>
      </p:sp>
      <p:sp>
        <p:nvSpPr>
          <p:cNvPr id="72" name="Trapezoid 71"/>
          <p:cNvSpPr/>
          <p:nvPr/>
        </p:nvSpPr>
        <p:spPr>
          <a:xfrm rot="5400000">
            <a:off x="5203535" y="18111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5409910" y="16587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13085" y="19063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24" name="Straight Arrow Connector 123"/>
          <p:cNvCxnSpPr>
            <a:stCxn id="13" idx="3"/>
          </p:cNvCxnSpPr>
          <p:nvPr/>
        </p:nvCxnSpPr>
        <p:spPr>
          <a:xfrm flipV="1">
            <a:off x="7451435" y="2253007"/>
            <a:ext cx="367652" cy="153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rapezoid 65"/>
          <p:cNvSpPr/>
          <p:nvPr/>
        </p:nvSpPr>
        <p:spPr>
          <a:xfrm rot="5400000">
            <a:off x="7527635" y="2001619"/>
            <a:ext cx="7620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7857835" y="21952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57835" y="19793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57835" y="17634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cxnSp>
        <p:nvCxnSpPr>
          <p:cNvPr id="127" name="Straight Arrow Connector 126"/>
          <p:cNvCxnSpPr>
            <a:stCxn id="28" idx="0"/>
            <a:endCxn id="97" idx="1"/>
          </p:cNvCxnSpPr>
          <p:nvPr/>
        </p:nvCxnSpPr>
        <p:spPr>
          <a:xfrm flipV="1">
            <a:off x="6079835" y="2170152"/>
            <a:ext cx="381000" cy="2196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6172200" y="1276350"/>
            <a:ext cx="0" cy="924428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/>
          <p:cNvCxnSpPr>
            <a:endCxn id="66" idx="2"/>
          </p:cNvCxnSpPr>
          <p:nvPr/>
        </p:nvCxnSpPr>
        <p:spPr>
          <a:xfrm>
            <a:off x="6172200" y="1276350"/>
            <a:ext cx="1660235" cy="801469"/>
          </a:xfrm>
          <a:prstGeom prst="bentConnector3">
            <a:avLst>
              <a:gd name="adj1" fmla="val 83032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/>
          <p:nvPr/>
        </p:nvCxnSpPr>
        <p:spPr>
          <a:xfrm rot="16200000" flipH="1">
            <a:off x="165748" y="1456782"/>
            <a:ext cx="626772" cy="228600"/>
          </a:xfrm>
          <a:prstGeom prst="bentConnector3">
            <a:avLst>
              <a:gd name="adj1" fmla="val 1015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rapezoid 178"/>
          <p:cNvSpPr/>
          <p:nvPr/>
        </p:nvSpPr>
        <p:spPr>
          <a:xfrm rot="5400000">
            <a:off x="402935" y="19635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0" name="TextBox 179"/>
          <p:cNvSpPr txBox="1"/>
          <p:nvPr/>
        </p:nvSpPr>
        <p:spPr>
          <a:xfrm>
            <a:off x="609310" y="18111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12485" y="20587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83" name="Straight Connector 182"/>
          <p:cNvCxnSpPr>
            <a:stCxn id="179" idx="0"/>
            <a:endCxn id="19" idx="1"/>
          </p:cNvCxnSpPr>
          <p:nvPr/>
        </p:nvCxnSpPr>
        <p:spPr>
          <a:xfrm>
            <a:off x="745835" y="2039719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9" idx="3"/>
            <a:endCxn id="16" idx="1"/>
          </p:cNvCxnSpPr>
          <p:nvPr/>
        </p:nvCxnSpPr>
        <p:spPr>
          <a:xfrm>
            <a:off x="1263698" y="2039719"/>
            <a:ext cx="320337" cy="3048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lbow Connector 202"/>
          <p:cNvCxnSpPr/>
          <p:nvPr/>
        </p:nvCxnSpPr>
        <p:spPr>
          <a:xfrm flipV="1">
            <a:off x="1233366" y="1620939"/>
            <a:ext cx="396537" cy="4191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Elbow Connector 213"/>
          <p:cNvCxnSpPr>
            <a:stCxn id="58" idx="0"/>
          </p:cNvCxnSpPr>
          <p:nvPr/>
        </p:nvCxnSpPr>
        <p:spPr>
          <a:xfrm flipV="1">
            <a:off x="1888835" y="1163419"/>
            <a:ext cx="304800" cy="457200"/>
          </a:xfrm>
          <a:prstGeom prst="bentConnector2">
            <a:avLst/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/>
          <p:nvPr/>
        </p:nvCxnSpPr>
        <p:spPr>
          <a:xfrm>
            <a:off x="2193635" y="1163419"/>
            <a:ext cx="5638800" cy="685800"/>
          </a:xfrm>
          <a:prstGeom prst="bentConnector3">
            <a:avLst>
              <a:gd name="adj1" fmla="val 971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/>
          <p:cNvCxnSpPr/>
          <p:nvPr/>
        </p:nvCxnSpPr>
        <p:spPr>
          <a:xfrm rot="10800000" flipV="1">
            <a:off x="593435" y="1163419"/>
            <a:ext cx="1600200" cy="990600"/>
          </a:xfrm>
          <a:prstGeom prst="bentConnector3">
            <a:avLst>
              <a:gd name="adj1" fmla="val 124407"/>
            </a:avLst>
          </a:prstGeom>
          <a:ln w="2857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>
            <a:stCxn id="72" idx="0"/>
          </p:cNvCxnSpPr>
          <p:nvPr/>
        </p:nvCxnSpPr>
        <p:spPr>
          <a:xfrm flipV="1">
            <a:off x="5546435" y="1885950"/>
            <a:ext cx="152400" cy="136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Elbow Connector 250"/>
          <p:cNvCxnSpPr>
            <a:stCxn id="79" idx="3"/>
            <a:endCxn id="105" idx="1"/>
          </p:cNvCxnSpPr>
          <p:nvPr/>
        </p:nvCxnSpPr>
        <p:spPr>
          <a:xfrm flipV="1">
            <a:off x="3949956" y="1998702"/>
            <a:ext cx="1463129" cy="367784"/>
          </a:xfrm>
          <a:prstGeom prst="bentConnector3">
            <a:avLst>
              <a:gd name="adj1" fmla="val 8536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Elbow Connector 253"/>
          <p:cNvCxnSpPr/>
          <p:nvPr/>
        </p:nvCxnSpPr>
        <p:spPr>
          <a:xfrm>
            <a:off x="3907956" y="2595086"/>
            <a:ext cx="957297" cy="320141"/>
          </a:xfrm>
          <a:prstGeom prst="bentConnector3">
            <a:avLst>
              <a:gd name="adj1" fmla="val 1683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V="1">
            <a:off x="4098635" y="2361045"/>
            <a:ext cx="183573" cy="1127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 flipV="1">
            <a:off x="3987799" y="2586182"/>
            <a:ext cx="259772" cy="577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274"/>
          <p:cNvCxnSpPr/>
          <p:nvPr/>
        </p:nvCxnSpPr>
        <p:spPr>
          <a:xfrm flipV="1">
            <a:off x="1429202" y="1371841"/>
            <a:ext cx="3214173" cy="535336"/>
          </a:xfrm>
          <a:prstGeom prst="bentConnector3">
            <a:avLst>
              <a:gd name="adj1" fmla="val 27385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lbow Connector 304"/>
          <p:cNvCxnSpPr/>
          <p:nvPr/>
        </p:nvCxnSpPr>
        <p:spPr>
          <a:xfrm>
            <a:off x="4632035" y="1366060"/>
            <a:ext cx="762000" cy="3674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8235" y="1620619"/>
            <a:ext cx="365463" cy="838199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pc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1050635" y="2306419"/>
            <a:ext cx="152400" cy="152399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6" name="Trapezoid 115"/>
          <p:cNvSpPr/>
          <p:nvPr/>
        </p:nvSpPr>
        <p:spPr>
          <a:xfrm rot="5400000">
            <a:off x="5051135" y="2381250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5257510" y="2228850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60685" y="2476500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cxnSp>
        <p:nvCxnSpPr>
          <p:cNvPr id="394" name="Elbow Connector 393"/>
          <p:cNvCxnSpPr>
            <a:stCxn id="16" idx="3"/>
            <a:endCxn id="22" idx="1"/>
          </p:cNvCxnSpPr>
          <p:nvPr/>
        </p:nvCxnSpPr>
        <p:spPr>
          <a:xfrm flipV="1">
            <a:off x="2193635" y="2192119"/>
            <a:ext cx="914400" cy="152400"/>
          </a:xfrm>
          <a:prstGeom prst="bentConnector3">
            <a:avLst>
              <a:gd name="adj1" fmla="val 1780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/>
          <p:cNvCxnSpPr/>
          <p:nvPr/>
        </p:nvCxnSpPr>
        <p:spPr>
          <a:xfrm>
            <a:off x="2346035" y="2343150"/>
            <a:ext cx="0" cy="12954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/>
          <p:cNvCxnSpPr/>
          <p:nvPr/>
        </p:nvCxnSpPr>
        <p:spPr>
          <a:xfrm flipV="1">
            <a:off x="2336799" y="2458819"/>
            <a:ext cx="771236" cy="36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/>
          <p:cNvCxnSpPr/>
          <p:nvPr/>
        </p:nvCxnSpPr>
        <p:spPr>
          <a:xfrm flipV="1">
            <a:off x="2348344" y="2687420"/>
            <a:ext cx="759691" cy="267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/>
          <p:cNvCxnSpPr/>
          <p:nvPr/>
        </p:nvCxnSpPr>
        <p:spPr>
          <a:xfrm flipV="1">
            <a:off x="2336799" y="3373219"/>
            <a:ext cx="618836" cy="959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Elbow Connector 405"/>
          <p:cNvCxnSpPr>
            <a:stCxn id="66" idx="0"/>
          </p:cNvCxnSpPr>
          <p:nvPr/>
        </p:nvCxnSpPr>
        <p:spPr>
          <a:xfrm flipH="1" flipV="1">
            <a:off x="2781299" y="1044864"/>
            <a:ext cx="5203536" cy="1032955"/>
          </a:xfrm>
          <a:prstGeom prst="bentConnector3">
            <a:avLst>
              <a:gd name="adj1" fmla="val -237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16"/>
          <p:cNvCxnSpPr/>
          <p:nvPr/>
        </p:nvCxnSpPr>
        <p:spPr>
          <a:xfrm rot="16200000" flipH="1">
            <a:off x="2536535" y="1314450"/>
            <a:ext cx="838200" cy="304800"/>
          </a:xfrm>
          <a:prstGeom prst="bentConnector3">
            <a:avLst>
              <a:gd name="adj1" fmla="val 10027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/>
          <p:cNvCxnSpPr/>
          <p:nvPr/>
        </p:nvCxnSpPr>
        <p:spPr>
          <a:xfrm flipV="1">
            <a:off x="5394035" y="2495550"/>
            <a:ext cx="370610" cy="231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Elbow Connector 473"/>
          <p:cNvCxnSpPr/>
          <p:nvPr/>
        </p:nvCxnSpPr>
        <p:spPr>
          <a:xfrm flipV="1">
            <a:off x="4860635" y="2530186"/>
            <a:ext cx="1600200" cy="381000"/>
          </a:xfrm>
          <a:prstGeom prst="bentConnector3">
            <a:avLst>
              <a:gd name="adj1" fmla="val 9076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/>
          <p:cNvSpPr txBox="1"/>
          <p:nvPr/>
        </p:nvSpPr>
        <p:spPr>
          <a:xfrm>
            <a:off x="2439245" y="1984827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[11:7]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2422235" y="22669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[19:15]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2422235" y="24955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[24:20]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2369126" y="3135168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[31:7]</a:t>
            </a:r>
          </a:p>
        </p:txBody>
      </p:sp>
      <p:cxnSp>
        <p:nvCxnSpPr>
          <p:cNvPr id="513" name="Elbow Connector 512"/>
          <p:cNvCxnSpPr/>
          <p:nvPr/>
        </p:nvCxnSpPr>
        <p:spPr>
          <a:xfrm rot="5400000" flipH="1" flipV="1">
            <a:off x="4760624" y="2446338"/>
            <a:ext cx="584201" cy="377826"/>
          </a:xfrm>
          <a:prstGeom prst="bentConnector3">
            <a:avLst>
              <a:gd name="adj1" fmla="val 10046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7700818" y="1416049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7374081" y="1556904"/>
            <a:ext cx="1740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29" name="TextBox 528"/>
          <p:cNvSpPr txBox="1"/>
          <p:nvPr/>
        </p:nvSpPr>
        <p:spPr>
          <a:xfrm>
            <a:off x="7480298" y="2355849"/>
            <a:ext cx="33481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mem</a:t>
            </a:r>
            <a:endParaRPr lang="en-US" sz="1100" dirty="0"/>
          </a:p>
        </p:txBody>
      </p:sp>
      <p:sp>
        <p:nvSpPr>
          <p:cNvPr id="530" name="TextBox 529"/>
          <p:cNvSpPr txBox="1"/>
          <p:nvPr/>
        </p:nvSpPr>
        <p:spPr>
          <a:xfrm>
            <a:off x="8032172" y="2087995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sp>
        <p:nvSpPr>
          <p:cNvPr id="531" name="TextBox 530"/>
          <p:cNvSpPr txBox="1"/>
          <p:nvPr/>
        </p:nvSpPr>
        <p:spPr>
          <a:xfrm>
            <a:off x="264389" y="1859395"/>
            <a:ext cx="2086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32" name="TextBox 531"/>
          <p:cNvSpPr txBox="1"/>
          <p:nvPr/>
        </p:nvSpPr>
        <p:spPr>
          <a:xfrm>
            <a:off x="152400" y="2151495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762441" y="1809750"/>
            <a:ext cx="5241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[rs1]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846118" y="1499281"/>
            <a:ext cx="2193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pc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3698009" y="3209059"/>
            <a:ext cx="62922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imm</a:t>
            </a:r>
            <a:r>
              <a:rPr lang="en-US" sz="1100" dirty="0"/>
              <a:t>[31:0]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4750416" y="2108881"/>
            <a:ext cx="5334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[rs2]</a:t>
            </a:r>
          </a:p>
        </p:txBody>
      </p:sp>
      <p:cxnSp>
        <p:nvCxnSpPr>
          <p:cNvPr id="563" name="Elbow Connector 562"/>
          <p:cNvCxnSpPr>
            <a:stCxn id="52" idx="3"/>
          </p:cNvCxnSpPr>
          <p:nvPr/>
        </p:nvCxnSpPr>
        <p:spPr>
          <a:xfrm flipV="1">
            <a:off x="3495409" y="2571750"/>
            <a:ext cx="1746226" cy="825788"/>
          </a:xfrm>
          <a:prstGeom prst="bentConnector3">
            <a:avLst>
              <a:gd name="adj1" fmla="val 8344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TextBox 595"/>
          <p:cNvSpPr txBox="1"/>
          <p:nvPr/>
        </p:nvSpPr>
        <p:spPr>
          <a:xfrm>
            <a:off x="2856882" y="1657350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64835" y="1276350"/>
            <a:ext cx="580736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2269835" y="895350"/>
            <a:ext cx="0" cy="3657600"/>
          </a:xfrm>
          <a:prstGeom prst="line">
            <a:avLst/>
          </a:prstGeom>
          <a:ln w="38100" cmpd="sng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88635" y="3867150"/>
            <a:ext cx="159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Instruction Fetch</a:t>
            </a:r>
          </a:p>
          <a:p>
            <a:pPr algn="ctr"/>
            <a:r>
              <a:rPr lang="en-US" sz="1600" dirty="0"/>
              <a:t>(IF)</a:t>
            </a:r>
          </a:p>
        </p:txBody>
      </p:sp>
      <p:cxnSp>
        <p:nvCxnSpPr>
          <p:cNvPr id="142" name="Straight Connector 141"/>
          <p:cNvCxnSpPr/>
          <p:nvPr/>
        </p:nvCxnSpPr>
        <p:spPr>
          <a:xfrm flipV="1">
            <a:off x="4022435" y="895350"/>
            <a:ext cx="0" cy="3581400"/>
          </a:xfrm>
          <a:prstGeom prst="line">
            <a:avLst/>
          </a:prstGeom>
          <a:ln w="38100" cmpd="sng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965035" y="3790950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 Decode/Register </a:t>
            </a:r>
            <a:br>
              <a:rPr lang="en-US" sz="1600" dirty="0"/>
            </a:br>
            <a:r>
              <a:rPr lang="en-US" sz="1600" dirty="0"/>
              <a:t>Read (ID)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6248400" y="895350"/>
            <a:ext cx="16165" cy="3581400"/>
          </a:xfrm>
          <a:prstGeom prst="line">
            <a:avLst/>
          </a:prstGeom>
          <a:ln w="38100" cmpd="sng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946235" y="3867150"/>
            <a:ext cx="2362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ALU Execute</a:t>
            </a:r>
          </a:p>
          <a:p>
            <a:pPr algn="ctr"/>
            <a:r>
              <a:rPr lang="en-US" sz="1600" dirty="0"/>
              <a:t>(EX)</a:t>
            </a:r>
          </a:p>
        </p:txBody>
      </p:sp>
      <p:cxnSp>
        <p:nvCxnSpPr>
          <p:cNvPr id="145" name="Straight Connector 144"/>
          <p:cNvCxnSpPr/>
          <p:nvPr/>
        </p:nvCxnSpPr>
        <p:spPr>
          <a:xfrm>
            <a:off x="8061035" y="895350"/>
            <a:ext cx="16165" cy="3657600"/>
          </a:xfrm>
          <a:prstGeom prst="line">
            <a:avLst/>
          </a:prstGeom>
          <a:ln w="38100" cmpd="sng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6232235" y="3867150"/>
            <a:ext cx="1676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Memory Access</a:t>
            </a:r>
          </a:p>
          <a:p>
            <a:pPr algn="ctr"/>
            <a:r>
              <a:rPr lang="en-US" sz="1600" dirty="0"/>
              <a:t>(M)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924800" y="3867150"/>
            <a:ext cx="1295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Write Back</a:t>
            </a:r>
          </a:p>
          <a:p>
            <a:pPr algn="ctr"/>
            <a:r>
              <a:rPr lang="en-US" sz="1600" dirty="0"/>
              <a:t>(WB)</a:t>
            </a:r>
          </a:p>
        </p:txBody>
      </p:sp>
    </p:spTree>
    <p:extLst>
      <p:ext uri="{BB962C8B-B14F-4D97-AF65-F5344CB8AC3E}">
        <p14:creationId xmlns:p14="http://schemas.microsoft.com/office/powerpoint/2010/main" val="288846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174" grpId="0"/>
      <p:bldP spid="176" grpId="0"/>
      <p:bldP spid="177" grpId="0"/>
      <p:bldP spid="1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E2E9-5A30-68F2-A7FB-D2FA8805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F74E718-237E-4678-924C-B1ED34CA44C5}"/>
              </a:ext>
            </a:extLst>
          </p:cNvPr>
          <p:cNvCxnSpPr/>
          <p:nvPr/>
        </p:nvCxnSpPr>
        <p:spPr>
          <a:xfrm flipH="1">
            <a:off x="46320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1B693BC-1AE8-3807-63E9-ECDA26E754EB}"/>
              </a:ext>
            </a:extLst>
          </p:cNvPr>
          <p:cNvCxnSpPr/>
          <p:nvPr/>
        </p:nvCxnSpPr>
        <p:spPr>
          <a:xfrm flipH="1">
            <a:off x="44796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083A2-7D16-D3FE-DF72-48E5404C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7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778B7-391A-FBA1-1962-B728DD07A234}"/>
              </a:ext>
            </a:extLst>
          </p:cNvPr>
          <p:cNvSpPr/>
          <p:nvPr/>
        </p:nvSpPr>
        <p:spPr>
          <a:xfrm>
            <a:off x="1584035" y="2001619"/>
            <a:ext cx="609600" cy="6858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IMEM</a:t>
            </a:r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69F51F68-22C0-05B4-D8AC-03FCD9585011}"/>
              </a:ext>
            </a:extLst>
          </p:cNvPr>
          <p:cNvSpPr/>
          <p:nvPr/>
        </p:nvSpPr>
        <p:spPr>
          <a:xfrm rot="5400000">
            <a:off x="5394035" y="2001619"/>
            <a:ext cx="990600" cy="381000"/>
          </a:xfrm>
          <a:prstGeom prst="trapezoid">
            <a:avLst>
              <a:gd name="adj" fmla="val 4659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9210D83-2F9B-42C2-DE4D-9728FC08F5AE}"/>
              </a:ext>
            </a:extLst>
          </p:cNvPr>
          <p:cNvSpPr/>
          <p:nvPr/>
        </p:nvSpPr>
        <p:spPr>
          <a:xfrm rot="5400000">
            <a:off x="5665505" y="2187357"/>
            <a:ext cx="142875" cy="762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28ECD1-56A4-5DA2-3FAC-79BEFA9BAD7B}"/>
              </a:ext>
            </a:extLst>
          </p:cNvPr>
          <p:cNvCxnSpPr>
            <a:stCxn id="29" idx="2"/>
            <a:endCxn id="29" idx="4"/>
          </p:cNvCxnSpPr>
          <p:nvPr/>
        </p:nvCxnSpPr>
        <p:spPr>
          <a:xfrm>
            <a:off x="5698843" y="2154020"/>
            <a:ext cx="0" cy="142875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67C4D25-11AF-2D45-BC9C-E1EA8E744E1D}"/>
              </a:ext>
            </a:extLst>
          </p:cNvPr>
          <p:cNvSpPr txBox="1"/>
          <p:nvPr/>
        </p:nvSpPr>
        <p:spPr>
          <a:xfrm>
            <a:off x="5622635" y="1758732"/>
            <a:ext cx="521297" cy="317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ALU</a:t>
            </a:r>
          </a:p>
        </p:txBody>
      </p:sp>
      <p:sp>
        <p:nvSpPr>
          <p:cNvPr id="51" name="Trapezoid 50">
            <a:extLst>
              <a:ext uri="{FF2B5EF4-FFF2-40B4-BE49-F238E27FC236}">
                <a16:creationId xmlns:a16="http://schemas.microsoft.com/office/drawing/2014/main" id="{62DB43F9-352C-AFD2-7022-093B0BCC3FE0}"/>
              </a:ext>
            </a:extLst>
          </p:cNvPr>
          <p:cNvSpPr/>
          <p:nvPr/>
        </p:nvSpPr>
        <p:spPr>
          <a:xfrm rot="5400000">
            <a:off x="2841335" y="3106519"/>
            <a:ext cx="762000" cy="533400"/>
          </a:xfrm>
          <a:prstGeom prst="trapezoid">
            <a:avLst>
              <a:gd name="adj" fmla="val 30656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BAB254-716A-47EB-7AB2-DFCD75A0B1D3}"/>
              </a:ext>
            </a:extLst>
          </p:cNvPr>
          <p:cNvSpPr txBox="1"/>
          <p:nvPr/>
        </p:nvSpPr>
        <p:spPr>
          <a:xfrm>
            <a:off x="2879435" y="3105150"/>
            <a:ext cx="6159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Imm</a:t>
            </a:r>
            <a:r>
              <a:rPr lang="en-US" sz="1600" dirty="0"/>
              <a:t>.</a:t>
            </a:r>
          </a:p>
          <a:p>
            <a:r>
              <a:rPr lang="en-US" sz="1600" dirty="0"/>
              <a:t>Gen</a:t>
            </a:r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CEA3B346-F7C3-288A-D9B0-0C381DC2D84E}"/>
              </a:ext>
            </a:extLst>
          </p:cNvPr>
          <p:cNvSpPr/>
          <p:nvPr/>
        </p:nvSpPr>
        <p:spPr>
          <a:xfrm rot="5400000">
            <a:off x="1545935" y="1506319"/>
            <a:ext cx="457200" cy="228600"/>
          </a:xfrm>
          <a:prstGeom prst="trapezoid">
            <a:avLst>
              <a:gd name="adj" fmla="val 30656"/>
            </a:avLst>
          </a:prstGeom>
          <a:solidFill>
            <a:schemeClr val="bg1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76701E-6858-61BF-D3F7-22AC97F9FD3F}"/>
              </a:ext>
            </a:extLst>
          </p:cNvPr>
          <p:cNvSpPr txBox="1"/>
          <p:nvPr/>
        </p:nvSpPr>
        <p:spPr>
          <a:xfrm>
            <a:off x="1584035" y="1468219"/>
            <a:ext cx="298519" cy="246221"/>
          </a:xfrm>
          <a:prstGeom prst="rect">
            <a:avLst/>
          </a:prstGeom>
          <a:noFill/>
        </p:spPr>
        <p:txBody>
          <a:bodyPr wrap="none" tIns="0" rIns="0" bIns="0" rtlCol="0">
            <a:spAutoFit/>
          </a:bodyPr>
          <a:lstStyle/>
          <a:p>
            <a:r>
              <a:rPr lang="en-US" sz="1600" dirty="0"/>
              <a:t>+4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9FE21C-D629-8F54-F2CC-A1CAAE0CB46C}"/>
              </a:ext>
            </a:extLst>
          </p:cNvPr>
          <p:cNvSpPr/>
          <p:nvPr/>
        </p:nvSpPr>
        <p:spPr>
          <a:xfrm>
            <a:off x="6460835" y="1849219"/>
            <a:ext cx="990600" cy="8382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DMEM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C94AFD5F-46B6-F968-1B47-7167C57EFFD4}"/>
              </a:ext>
            </a:extLst>
          </p:cNvPr>
          <p:cNvSpPr/>
          <p:nvPr/>
        </p:nvSpPr>
        <p:spPr>
          <a:xfrm>
            <a:off x="7146635" y="2535019"/>
            <a:ext cx="152400" cy="1524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Trapezoid 72">
            <a:extLst>
              <a:ext uri="{FF2B5EF4-FFF2-40B4-BE49-F238E27FC236}">
                <a16:creationId xmlns:a16="http://schemas.microsoft.com/office/drawing/2014/main" id="{E0D1388D-0058-0AA0-AAF7-5D5172A1312B}"/>
              </a:ext>
            </a:extLst>
          </p:cNvPr>
          <p:cNvSpPr/>
          <p:nvPr/>
        </p:nvSpPr>
        <p:spPr>
          <a:xfrm rot="5400000">
            <a:off x="4137886" y="2193270"/>
            <a:ext cx="685800" cy="454898"/>
          </a:xfrm>
          <a:prstGeom prst="trapezoid">
            <a:avLst>
              <a:gd name="adj" fmla="val 30656"/>
            </a:avLst>
          </a:prstGeom>
          <a:solidFill>
            <a:schemeClr val="bg1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7DAD1E-174F-9085-B98D-9A69A4D04E09}"/>
              </a:ext>
            </a:extLst>
          </p:cNvPr>
          <p:cNvSpPr txBox="1"/>
          <p:nvPr/>
        </p:nvSpPr>
        <p:spPr>
          <a:xfrm>
            <a:off x="4177137" y="2154019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Branch Comp.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1A41004-F1D0-080E-C761-5EC456891354}"/>
              </a:ext>
            </a:extLst>
          </p:cNvPr>
          <p:cNvGrpSpPr/>
          <p:nvPr/>
        </p:nvGrpSpPr>
        <p:grpSpPr>
          <a:xfrm>
            <a:off x="3108035" y="1468219"/>
            <a:ext cx="838199" cy="1447800"/>
            <a:chOff x="3810000" y="1412681"/>
            <a:chExt cx="838199" cy="14478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D468BC-B31F-6175-9454-222FE2DE4678}"/>
                </a:ext>
              </a:extLst>
            </p:cNvPr>
            <p:cNvSpPr/>
            <p:nvPr/>
          </p:nvSpPr>
          <p:spPr>
            <a:xfrm>
              <a:off x="3810000" y="1412681"/>
              <a:ext cx="838199" cy="1447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alibri"/>
                  <a:cs typeface="Calibri"/>
                </a:rPr>
                <a:t>Reg</a:t>
              </a:r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[]</a:t>
              </a: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523FD8E-018E-8317-4373-FA7F6B20D2B8}"/>
                </a:ext>
              </a:extLst>
            </p:cNvPr>
            <p:cNvSpPr/>
            <p:nvPr/>
          </p:nvSpPr>
          <p:spPr>
            <a:xfrm>
              <a:off x="4419600" y="2708081"/>
              <a:ext cx="152400" cy="152400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4780514-F25F-E619-C203-FC624948FE4B}"/>
              </a:ext>
            </a:extLst>
          </p:cNvPr>
          <p:cNvSpPr txBox="1"/>
          <p:nvPr/>
        </p:nvSpPr>
        <p:spPr>
          <a:xfrm>
            <a:off x="3108035" y="2274153"/>
            <a:ext cx="3975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AddrA</a:t>
            </a:r>
            <a:endParaRPr lang="en-US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8DFC4B-2253-9E25-2A94-EDEEAEFAC6BA}"/>
              </a:ext>
            </a:extLst>
          </p:cNvPr>
          <p:cNvSpPr txBox="1"/>
          <p:nvPr/>
        </p:nvSpPr>
        <p:spPr>
          <a:xfrm>
            <a:off x="3108035" y="2502753"/>
            <a:ext cx="38810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AddrB</a:t>
            </a:r>
            <a:endParaRPr 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2A7B35-44BB-E75B-45B8-0EA2478066AF}"/>
              </a:ext>
            </a:extLst>
          </p:cNvPr>
          <p:cNvSpPr txBox="1"/>
          <p:nvPr/>
        </p:nvSpPr>
        <p:spPr>
          <a:xfrm>
            <a:off x="3565235" y="2274153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DataA</a:t>
            </a:r>
            <a:endParaRPr lang="en-US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3882EE-A804-327B-D984-3DDA641EACAE}"/>
              </a:ext>
            </a:extLst>
          </p:cNvPr>
          <p:cNvSpPr txBox="1"/>
          <p:nvPr/>
        </p:nvSpPr>
        <p:spPr>
          <a:xfrm>
            <a:off x="3108035" y="2038350"/>
            <a:ext cx="39907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AddrD</a:t>
            </a:r>
            <a:endParaRPr lang="en-US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25F530F-5C9D-94D1-FDF5-CCCA426D04E2}"/>
              </a:ext>
            </a:extLst>
          </p:cNvPr>
          <p:cNvSpPr txBox="1"/>
          <p:nvPr/>
        </p:nvSpPr>
        <p:spPr>
          <a:xfrm>
            <a:off x="3565235" y="2502753"/>
            <a:ext cx="3773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DataB</a:t>
            </a:r>
            <a:endParaRPr lang="en-US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7A21D7-D7A5-8A02-6C88-E0A481C06CE0}"/>
              </a:ext>
            </a:extLst>
          </p:cNvPr>
          <p:cNvSpPr txBox="1"/>
          <p:nvPr/>
        </p:nvSpPr>
        <p:spPr>
          <a:xfrm>
            <a:off x="3108035" y="1733550"/>
            <a:ext cx="3883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DataD</a:t>
            </a:r>
            <a:endParaRPr 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4B094B9-09E1-9DF4-4203-968821ADF1A3}"/>
              </a:ext>
            </a:extLst>
          </p:cNvPr>
          <p:cNvSpPr txBox="1"/>
          <p:nvPr/>
        </p:nvSpPr>
        <p:spPr>
          <a:xfrm>
            <a:off x="6460835" y="2077819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</a:t>
            </a:r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56C267-DC6B-2253-1834-9F0BDFAFFA19}"/>
              </a:ext>
            </a:extLst>
          </p:cNvPr>
          <p:cNvSpPr txBox="1"/>
          <p:nvPr/>
        </p:nvSpPr>
        <p:spPr>
          <a:xfrm>
            <a:off x="6482018" y="2350353"/>
            <a:ext cx="4360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DataW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BECFAC4-B79F-696E-088D-F785C87D52B2}"/>
              </a:ext>
            </a:extLst>
          </p:cNvPr>
          <p:cNvSpPr txBox="1"/>
          <p:nvPr/>
        </p:nvSpPr>
        <p:spPr>
          <a:xfrm>
            <a:off x="6994235" y="2154019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DataR</a:t>
            </a:r>
            <a:endParaRPr lang="en-US" sz="1200" dirty="0"/>
          </a:p>
        </p:txBody>
      </p:sp>
      <p:sp>
        <p:nvSpPr>
          <p:cNvPr id="72" name="Trapezoid 71">
            <a:extLst>
              <a:ext uri="{FF2B5EF4-FFF2-40B4-BE49-F238E27FC236}">
                <a16:creationId xmlns:a16="http://schemas.microsoft.com/office/drawing/2014/main" id="{00E164C3-0804-0638-203A-D8F18165FBFE}"/>
              </a:ext>
            </a:extLst>
          </p:cNvPr>
          <p:cNvSpPr/>
          <p:nvPr/>
        </p:nvSpPr>
        <p:spPr>
          <a:xfrm rot="5400000">
            <a:off x="5203535" y="18111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0E10384-55B5-D1E8-DDC8-9876496515CC}"/>
              </a:ext>
            </a:extLst>
          </p:cNvPr>
          <p:cNvSpPr txBox="1"/>
          <p:nvPr/>
        </p:nvSpPr>
        <p:spPr>
          <a:xfrm>
            <a:off x="5409910" y="16587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C4AA0B9-769F-A2F2-B60C-4BCEDEA76B5B}"/>
              </a:ext>
            </a:extLst>
          </p:cNvPr>
          <p:cNvSpPr txBox="1"/>
          <p:nvPr/>
        </p:nvSpPr>
        <p:spPr>
          <a:xfrm>
            <a:off x="5413085" y="19063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4DE7EC1-77B1-BF80-4321-B5F1BD666AD8}"/>
              </a:ext>
            </a:extLst>
          </p:cNvPr>
          <p:cNvCxnSpPr>
            <a:stCxn id="13" idx="3"/>
          </p:cNvCxnSpPr>
          <p:nvPr/>
        </p:nvCxnSpPr>
        <p:spPr>
          <a:xfrm flipV="1">
            <a:off x="7451435" y="2253007"/>
            <a:ext cx="367652" cy="153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rapezoid 65">
            <a:extLst>
              <a:ext uri="{FF2B5EF4-FFF2-40B4-BE49-F238E27FC236}">
                <a16:creationId xmlns:a16="http://schemas.microsoft.com/office/drawing/2014/main" id="{2CCB89F1-2341-334B-DF01-7B1A2119458A}"/>
              </a:ext>
            </a:extLst>
          </p:cNvPr>
          <p:cNvSpPr/>
          <p:nvPr/>
        </p:nvSpPr>
        <p:spPr>
          <a:xfrm rot="5400000">
            <a:off x="7527635" y="2001619"/>
            <a:ext cx="7620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8D2E1E-EBFD-444B-CF09-744314803796}"/>
              </a:ext>
            </a:extLst>
          </p:cNvPr>
          <p:cNvSpPr txBox="1"/>
          <p:nvPr/>
        </p:nvSpPr>
        <p:spPr>
          <a:xfrm>
            <a:off x="7857835" y="21952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BD87570-9AB1-2213-0A93-AE2889F9DBDA}"/>
              </a:ext>
            </a:extLst>
          </p:cNvPr>
          <p:cNvSpPr txBox="1"/>
          <p:nvPr/>
        </p:nvSpPr>
        <p:spPr>
          <a:xfrm>
            <a:off x="7857835" y="19793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9B20C8-AE6E-F78C-CFF7-7B11379FB681}"/>
              </a:ext>
            </a:extLst>
          </p:cNvPr>
          <p:cNvSpPr txBox="1"/>
          <p:nvPr/>
        </p:nvSpPr>
        <p:spPr>
          <a:xfrm>
            <a:off x="7857835" y="17634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633E3AF-130A-34A6-C243-01C11C9160C9}"/>
              </a:ext>
            </a:extLst>
          </p:cNvPr>
          <p:cNvCxnSpPr>
            <a:stCxn id="28" idx="0"/>
            <a:endCxn id="97" idx="1"/>
          </p:cNvCxnSpPr>
          <p:nvPr/>
        </p:nvCxnSpPr>
        <p:spPr>
          <a:xfrm flipV="1">
            <a:off x="6079835" y="2170152"/>
            <a:ext cx="381000" cy="2196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3BDDDC0-206E-765C-ED5D-341A275CF1C1}"/>
              </a:ext>
            </a:extLst>
          </p:cNvPr>
          <p:cNvCxnSpPr/>
          <p:nvPr/>
        </p:nvCxnSpPr>
        <p:spPr>
          <a:xfrm flipV="1">
            <a:off x="6172200" y="1276350"/>
            <a:ext cx="0" cy="924428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6F6E7CB7-219B-6526-31A2-8B5FD75357B1}"/>
              </a:ext>
            </a:extLst>
          </p:cNvPr>
          <p:cNvCxnSpPr>
            <a:endCxn id="66" idx="2"/>
          </p:cNvCxnSpPr>
          <p:nvPr/>
        </p:nvCxnSpPr>
        <p:spPr>
          <a:xfrm>
            <a:off x="6172200" y="1276350"/>
            <a:ext cx="1660235" cy="801469"/>
          </a:xfrm>
          <a:prstGeom prst="bentConnector3">
            <a:avLst>
              <a:gd name="adj1" fmla="val 83032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95BA072A-4942-75A5-71B2-9F712B6D68E2}"/>
              </a:ext>
            </a:extLst>
          </p:cNvPr>
          <p:cNvCxnSpPr/>
          <p:nvPr/>
        </p:nvCxnSpPr>
        <p:spPr>
          <a:xfrm rot="16200000" flipH="1">
            <a:off x="165748" y="1456782"/>
            <a:ext cx="626772" cy="228600"/>
          </a:xfrm>
          <a:prstGeom prst="bentConnector3">
            <a:avLst>
              <a:gd name="adj1" fmla="val 1015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rapezoid 178">
            <a:extLst>
              <a:ext uri="{FF2B5EF4-FFF2-40B4-BE49-F238E27FC236}">
                <a16:creationId xmlns:a16="http://schemas.microsoft.com/office/drawing/2014/main" id="{8B8E72BB-15D8-1FC0-4D9B-D78ECFA1445A}"/>
              </a:ext>
            </a:extLst>
          </p:cNvPr>
          <p:cNvSpPr/>
          <p:nvPr/>
        </p:nvSpPr>
        <p:spPr>
          <a:xfrm rot="5400000">
            <a:off x="402935" y="19635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AEB23AF-9BBA-9A6D-AECA-A158C08B6207}"/>
              </a:ext>
            </a:extLst>
          </p:cNvPr>
          <p:cNvSpPr txBox="1"/>
          <p:nvPr/>
        </p:nvSpPr>
        <p:spPr>
          <a:xfrm>
            <a:off x="609310" y="18111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B7E5AD6-23A4-7391-0CBB-E439FF6E9CE6}"/>
              </a:ext>
            </a:extLst>
          </p:cNvPr>
          <p:cNvSpPr txBox="1"/>
          <p:nvPr/>
        </p:nvSpPr>
        <p:spPr>
          <a:xfrm>
            <a:off x="612485" y="20587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FCC4E21-2F0B-CE9F-4F5F-98A9F603FF5B}"/>
              </a:ext>
            </a:extLst>
          </p:cNvPr>
          <p:cNvCxnSpPr>
            <a:stCxn id="179" idx="0"/>
            <a:endCxn id="19" idx="1"/>
          </p:cNvCxnSpPr>
          <p:nvPr/>
        </p:nvCxnSpPr>
        <p:spPr>
          <a:xfrm>
            <a:off x="745835" y="2039719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BB6CEAD9-A13B-B6D5-7EC3-63570692E193}"/>
              </a:ext>
            </a:extLst>
          </p:cNvPr>
          <p:cNvCxnSpPr>
            <a:stCxn id="19" idx="3"/>
            <a:endCxn id="16" idx="1"/>
          </p:cNvCxnSpPr>
          <p:nvPr/>
        </p:nvCxnSpPr>
        <p:spPr>
          <a:xfrm>
            <a:off x="1263698" y="2039719"/>
            <a:ext cx="320337" cy="3048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3E85E3C4-B116-31D3-C5DF-E18949508A40}"/>
              </a:ext>
            </a:extLst>
          </p:cNvPr>
          <p:cNvCxnSpPr/>
          <p:nvPr/>
        </p:nvCxnSpPr>
        <p:spPr>
          <a:xfrm flipV="1">
            <a:off x="1233366" y="1620939"/>
            <a:ext cx="396537" cy="4191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Elbow Connector 213">
            <a:extLst>
              <a:ext uri="{FF2B5EF4-FFF2-40B4-BE49-F238E27FC236}">
                <a16:creationId xmlns:a16="http://schemas.microsoft.com/office/drawing/2014/main" id="{E52B1F5D-857C-32BF-C30A-C0C3A0783111}"/>
              </a:ext>
            </a:extLst>
          </p:cNvPr>
          <p:cNvCxnSpPr>
            <a:stCxn id="58" idx="0"/>
          </p:cNvCxnSpPr>
          <p:nvPr/>
        </p:nvCxnSpPr>
        <p:spPr>
          <a:xfrm flipV="1">
            <a:off x="1888835" y="1163419"/>
            <a:ext cx="304800" cy="457200"/>
          </a:xfrm>
          <a:prstGeom prst="bentConnector2">
            <a:avLst/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>
            <a:extLst>
              <a:ext uri="{FF2B5EF4-FFF2-40B4-BE49-F238E27FC236}">
                <a16:creationId xmlns:a16="http://schemas.microsoft.com/office/drawing/2014/main" id="{2430184B-3E7F-0BA0-97DB-AFBE6415AF18}"/>
              </a:ext>
            </a:extLst>
          </p:cNvPr>
          <p:cNvCxnSpPr/>
          <p:nvPr/>
        </p:nvCxnSpPr>
        <p:spPr>
          <a:xfrm>
            <a:off x="2193635" y="1163419"/>
            <a:ext cx="5638800" cy="685800"/>
          </a:xfrm>
          <a:prstGeom prst="bentConnector3">
            <a:avLst>
              <a:gd name="adj1" fmla="val 971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>
            <a:extLst>
              <a:ext uri="{FF2B5EF4-FFF2-40B4-BE49-F238E27FC236}">
                <a16:creationId xmlns:a16="http://schemas.microsoft.com/office/drawing/2014/main" id="{20D709F4-53CB-9966-E3F9-7D4408086EA3}"/>
              </a:ext>
            </a:extLst>
          </p:cNvPr>
          <p:cNvCxnSpPr/>
          <p:nvPr/>
        </p:nvCxnSpPr>
        <p:spPr>
          <a:xfrm rot="10800000" flipV="1">
            <a:off x="593435" y="1163419"/>
            <a:ext cx="1600200" cy="990600"/>
          </a:xfrm>
          <a:prstGeom prst="bentConnector3">
            <a:avLst>
              <a:gd name="adj1" fmla="val 124407"/>
            </a:avLst>
          </a:prstGeom>
          <a:ln w="2857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905535B3-A6E7-A808-DF35-2A639508F66F}"/>
              </a:ext>
            </a:extLst>
          </p:cNvPr>
          <p:cNvCxnSpPr>
            <a:stCxn id="72" idx="0"/>
          </p:cNvCxnSpPr>
          <p:nvPr/>
        </p:nvCxnSpPr>
        <p:spPr>
          <a:xfrm flipV="1">
            <a:off x="5546435" y="1885950"/>
            <a:ext cx="152400" cy="136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9F50723E-5231-773F-07B7-928E2D5300B6}"/>
              </a:ext>
            </a:extLst>
          </p:cNvPr>
          <p:cNvCxnSpPr>
            <a:stCxn id="79" idx="3"/>
            <a:endCxn id="105" idx="1"/>
          </p:cNvCxnSpPr>
          <p:nvPr/>
        </p:nvCxnSpPr>
        <p:spPr>
          <a:xfrm flipV="1">
            <a:off x="3949956" y="1998702"/>
            <a:ext cx="1463129" cy="367784"/>
          </a:xfrm>
          <a:prstGeom prst="bentConnector3">
            <a:avLst>
              <a:gd name="adj1" fmla="val 8536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Elbow Connector 253">
            <a:extLst>
              <a:ext uri="{FF2B5EF4-FFF2-40B4-BE49-F238E27FC236}">
                <a16:creationId xmlns:a16="http://schemas.microsoft.com/office/drawing/2014/main" id="{B555D0E1-53B0-B8D3-5325-D776298227EF}"/>
              </a:ext>
            </a:extLst>
          </p:cNvPr>
          <p:cNvCxnSpPr/>
          <p:nvPr/>
        </p:nvCxnSpPr>
        <p:spPr>
          <a:xfrm>
            <a:off x="3907956" y="2595086"/>
            <a:ext cx="957297" cy="320141"/>
          </a:xfrm>
          <a:prstGeom prst="bentConnector3">
            <a:avLst>
              <a:gd name="adj1" fmla="val 1683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6996F428-87CD-E768-A3F4-4BF66B178FC6}"/>
              </a:ext>
            </a:extLst>
          </p:cNvPr>
          <p:cNvCxnSpPr/>
          <p:nvPr/>
        </p:nvCxnSpPr>
        <p:spPr>
          <a:xfrm flipV="1">
            <a:off x="4098635" y="2361045"/>
            <a:ext cx="183573" cy="1127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0A30DF2B-5C20-97C8-B318-E5973FAAE298}"/>
              </a:ext>
            </a:extLst>
          </p:cNvPr>
          <p:cNvCxnSpPr/>
          <p:nvPr/>
        </p:nvCxnSpPr>
        <p:spPr>
          <a:xfrm flipV="1">
            <a:off x="3987799" y="2586182"/>
            <a:ext cx="259772" cy="577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274">
            <a:extLst>
              <a:ext uri="{FF2B5EF4-FFF2-40B4-BE49-F238E27FC236}">
                <a16:creationId xmlns:a16="http://schemas.microsoft.com/office/drawing/2014/main" id="{E8720C93-C60E-EC50-E75B-C5AC807E4749}"/>
              </a:ext>
            </a:extLst>
          </p:cNvPr>
          <p:cNvCxnSpPr/>
          <p:nvPr/>
        </p:nvCxnSpPr>
        <p:spPr>
          <a:xfrm flipV="1">
            <a:off x="1429202" y="1371841"/>
            <a:ext cx="3214173" cy="535336"/>
          </a:xfrm>
          <a:prstGeom prst="bentConnector3">
            <a:avLst>
              <a:gd name="adj1" fmla="val 27385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lbow Connector 304">
            <a:extLst>
              <a:ext uri="{FF2B5EF4-FFF2-40B4-BE49-F238E27FC236}">
                <a16:creationId xmlns:a16="http://schemas.microsoft.com/office/drawing/2014/main" id="{46FFAC1D-8D6E-91D5-E472-4BCA82F55E21}"/>
              </a:ext>
            </a:extLst>
          </p:cNvPr>
          <p:cNvCxnSpPr/>
          <p:nvPr/>
        </p:nvCxnSpPr>
        <p:spPr>
          <a:xfrm>
            <a:off x="4632035" y="1366060"/>
            <a:ext cx="762000" cy="3674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D1097-4041-AEDC-9DDE-33899A816662}"/>
              </a:ext>
            </a:extLst>
          </p:cNvPr>
          <p:cNvSpPr/>
          <p:nvPr/>
        </p:nvSpPr>
        <p:spPr>
          <a:xfrm>
            <a:off x="898235" y="1620619"/>
            <a:ext cx="365463" cy="838199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pc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9B2261F-D575-3512-F46B-96296621A270}"/>
              </a:ext>
            </a:extLst>
          </p:cNvPr>
          <p:cNvSpPr/>
          <p:nvPr/>
        </p:nvSpPr>
        <p:spPr>
          <a:xfrm>
            <a:off x="1050635" y="2306419"/>
            <a:ext cx="152400" cy="152399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6" name="Trapezoid 115">
            <a:extLst>
              <a:ext uri="{FF2B5EF4-FFF2-40B4-BE49-F238E27FC236}">
                <a16:creationId xmlns:a16="http://schemas.microsoft.com/office/drawing/2014/main" id="{7A0932A7-2BBF-3B50-2B2A-6150BCEC5C10}"/>
              </a:ext>
            </a:extLst>
          </p:cNvPr>
          <p:cNvSpPr/>
          <p:nvPr/>
        </p:nvSpPr>
        <p:spPr>
          <a:xfrm rot="5400000">
            <a:off x="5051135" y="2381250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C3E952F-3A5A-0E53-0076-0F909E5C417A}"/>
              </a:ext>
            </a:extLst>
          </p:cNvPr>
          <p:cNvSpPr txBox="1"/>
          <p:nvPr/>
        </p:nvSpPr>
        <p:spPr>
          <a:xfrm>
            <a:off x="5257510" y="2228850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174F3D8-5C22-6154-928E-49A4378D69DA}"/>
              </a:ext>
            </a:extLst>
          </p:cNvPr>
          <p:cNvSpPr txBox="1"/>
          <p:nvPr/>
        </p:nvSpPr>
        <p:spPr>
          <a:xfrm>
            <a:off x="5260685" y="2476500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cxnSp>
        <p:nvCxnSpPr>
          <p:cNvPr id="394" name="Elbow Connector 393">
            <a:extLst>
              <a:ext uri="{FF2B5EF4-FFF2-40B4-BE49-F238E27FC236}">
                <a16:creationId xmlns:a16="http://schemas.microsoft.com/office/drawing/2014/main" id="{66BB16B2-4B6F-A207-198E-E84E490A2A31}"/>
              </a:ext>
            </a:extLst>
          </p:cNvPr>
          <p:cNvCxnSpPr>
            <a:stCxn id="16" idx="3"/>
            <a:endCxn id="22" idx="1"/>
          </p:cNvCxnSpPr>
          <p:nvPr/>
        </p:nvCxnSpPr>
        <p:spPr>
          <a:xfrm flipV="1">
            <a:off x="2193635" y="2192119"/>
            <a:ext cx="914400" cy="152400"/>
          </a:xfrm>
          <a:prstGeom prst="bentConnector3">
            <a:avLst>
              <a:gd name="adj1" fmla="val 1780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A6DD144F-BAD0-471F-6337-60C5EF6F8A95}"/>
              </a:ext>
            </a:extLst>
          </p:cNvPr>
          <p:cNvCxnSpPr/>
          <p:nvPr/>
        </p:nvCxnSpPr>
        <p:spPr>
          <a:xfrm>
            <a:off x="2346035" y="2343150"/>
            <a:ext cx="0" cy="12954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E713FC68-8E78-6440-6DDC-4B474BCBF7A6}"/>
              </a:ext>
            </a:extLst>
          </p:cNvPr>
          <p:cNvCxnSpPr/>
          <p:nvPr/>
        </p:nvCxnSpPr>
        <p:spPr>
          <a:xfrm flipV="1">
            <a:off x="2336799" y="2458819"/>
            <a:ext cx="771236" cy="36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3E80844E-8F41-8702-D91A-4C01AAE75BE3}"/>
              </a:ext>
            </a:extLst>
          </p:cNvPr>
          <p:cNvCxnSpPr/>
          <p:nvPr/>
        </p:nvCxnSpPr>
        <p:spPr>
          <a:xfrm flipV="1">
            <a:off x="2348344" y="2687420"/>
            <a:ext cx="759691" cy="267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E091126D-D05B-BF4E-318A-626FF3818C9D}"/>
              </a:ext>
            </a:extLst>
          </p:cNvPr>
          <p:cNvCxnSpPr/>
          <p:nvPr/>
        </p:nvCxnSpPr>
        <p:spPr>
          <a:xfrm flipV="1">
            <a:off x="2336799" y="3373219"/>
            <a:ext cx="618836" cy="959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Elbow Connector 405">
            <a:extLst>
              <a:ext uri="{FF2B5EF4-FFF2-40B4-BE49-F238E27FC236}">
                <a16:creationId xmlns:a16="http://schemas.microsoft.com/office/drawing/2014/main" id="{82B13D9A-5895-EEF9-A458-F11974C02B55}"/>
              </a:ext>
            </a:extLst>
          </p:cNvPr>
          <p:cNvCxnSpPr>
            <a:stCxn id="66" idx="0"/>
          </p:cNvCxnSpPr>
          <p:nvPr/>
        </p:nvCxnSpPr>
        <p:spPr>
          <a:xfrm flipH="1" flipV="1">
            <a:off x="2781299" y="1044864"/>
            <a:ext cx="5203536" cy="1032955"/>
          </a:xfrm>
          <a:prstGeom prst="bentConnector3">
            <a:avLst>
              <a:gd name="adj1" fmla="val -237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16">
            <a:extLst>
              <a:ext uri="{FF2B5EF4-FFF2-40B4-BE49-F238E27FC236}">
                <a16:creationId xmlns:a16="http://schemas.microsoft.com/office/drawing/2014/main" id="{4649D365-115A-51B4-A020-F6D0B665AA0C}"/>
              </a:ext>
            </a:extLst>
          </p:cNvPr>
          <p:cNvCxnSpPr/>
          <p:nvPr/>
        </p:nvCxnSpPr>
        <p:spPr>
          <a:xfrm rot="16200000" flipH="1">
            <a:off x="2536535" y="1314450"/>
            <a:ext cx="838200" cy="304800"/>
          </a:xfrm>
          <a:prstGeom prst="bentConnector3">
            <a:avLst>
              <a:gd name="adj1" fmla="val 10027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18B91F8-1322-6F98-D755-A4446635E888}"/>
              </a:ext>
            </a:extLst>
          </p:cNvPr>
          <p:cNvCxnSpPr/>
          <p:nvPr/>
        </p:nvCxnSpPr>
        <p:spPr>
          <a:xfrm flipV="1">
            <a:off x="5394035" y="2495550"/>
            <a:ext cx="370610" cy="231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Elbow Connector 473">
            <a:extLst>
              <a:ext uri="{FF2B5EF4-FFF2-40B4-BE49-F238E27FC236}">
                <a16:creationId xmlns:a16="http://schemas.microsoft.com/office/drawing/2014/main" id="{7D7EB326-D5FC-7FDC-E804-44D0508A2338}"/>
              </a:ext>
            </a:extLst>
          </p:cNvPr>
          <p:cNvCxnSpPr/>
          <p:nvPr/>
        </p:nvCxnSpPr>
        <p:spPr>
          <a:xfrm flipV="1">
            <a:off x="4860635" y="2530186"/>
            <a:ext cx="1600200" cy="381000"/>
          </a:xfrm>
          <a:prstGeom prst="bentConnector3">
            <a:avLst>
              <a:gd name="adj1" fmla="val 9076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>
            <a:extLst>
              <a:ext uri="{FF2B5EF4-FFF2-40B4-BE49-F238E27FC236}">
                <a16:creationId xmlns:a16="http://schemas.microsoft.com/office/drawing/2014/main" id="{C605695C-9DE8-D21F-E65A-AF410B3DEC31}"/>
              </a:ext>
            </a:extLst>
          </p:cNvPr>
          <p:cNvSpPr txBox="1"/>
          <p:nvPr/>
        </p:nvSpPr>
        <p:spPr>
          <a:xfrm>
            <a:off x="2439245" y="1984827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[11:7]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7BDE2A6D-F3B0-AF67-8A5E-A3D3B0AFBAF2}"/>
              </a:ext>
            </a:extLst>
          </p:cNvPr>
          <p:cNvSpPr txBox="1"/>
          <p:nvPr/>
        </p:nvSpPr>
        <p:spPr>
          <a:xfrm>
            <a:off x="2422235" y="22669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[19:15]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F7735484-FADB-F36B-CCE8-74234F60E0CD}"/>
              </a:ext>
            </a:extLst>
          </p:cNvPr>
          <p:cNvSpPr txBox="1"/>
          <p:nvPr/>
        </p:nvSpPr>
        <p:spPr>
          <a:xfrm>
            <a:off x="2422235" y="24955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[24:20]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2C5E69B5-D0AE-F0EE-BDC2-78D11FC0EFDC}"/>
              </a:ext>
            </a:extLst>
          </p:cNvPr>
          <p:cNvSpPr txBox="1"/>
          <p:nvPr/>
        </p:nvSpPr>
        <p:spPr>
          <a:xfrm>
            <a:off x="2369126" y="3135168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[31:7]</a:t>
            </a:r>
          </a:p>
        </p:txBody>
      </p:sp>
      <p:cxnSp>
        <p:nvCxnSpPr>
          <p:cNvPr id="513" name="Elbow Connector 512">
            <a:extLst>
              <a:ext uri="{FF2B5EF4-FFF2-40B4-BE49-F238E27FC236}">
                <a16:creationId xmlns:a16="http://schemas.microsoft.com/office/drawing/2014/main" id="{81542292-7115-4249-36B5-6FD49853F0F2}"/>
              </a:ext>
            </a:extLst>
          </p:cNvPr>
          <p:cNvCxnSpPr/>
          <p:nvPr/>
        </p:nvCxnSpPr>
        <p:spPr>
          <a:xfrm rot="5400000" flipH="1" flipV="1">
            <a:off x="4760624" y="2446338"/>
            <a:ext cx="584201" cy="377826"/>
          </a:xfrm>
          <a:prstGeom prst="bentConnector3">
            <a:avLst>
              <a:gd name="adj1" fmla="val 10046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>
            <a:extLst>
              <a:ext uri="{FF2B5EF4-FFF2-40B4-BE49-F238E27FC236}">
                <a16:creationId xmlns:a16="http://schemas.microsoft.com/office/drawing/2014/main" id="{5580BE4C-7C1C-568E-3616-885F826B9306}"/>
              </a:ext>
            </a:extLst>
          </p:cNvPr>
          <p:cNvSpPr txBox="1"/>
          <p:nvPr/>
        </p:nvSpPr>
        <p:spPr>
          <a:xfrm>
            <a:off x="7700818" y="1416049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4DC8252D-4B94-ABE3-6528-FC99A5F17726}"/>
              </a:ext>
            </a:extLst>
          </p:cNvPr>
          <p:cNvSpPr txBox="1"/>
          <p:nvPr/>
        </p:nvSpPr>
        <p:spPr>
          <a:xfrm>
            <a:off x="7374081" y="1556904"/>
            <a:ext cx="1740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B6832206-5480-D44E-B04B-E1ED70E3B12A}"/>
              </a:ext>
            </a:extLst>
          </p:cNvPr>
          <p:cNvSpPr txBox="1"/>
          <p:nvPr/>
        </p:nvSpPr>
        <p:spPr>
          <a:xfrm>
            <a:off x="7480298" y="2355849"/>
            <a:ext cx="33481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mem</a:t>
            </a:r>
            <a:endParaRPr lang="en-US" sz="1100" dirty="0"/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6F509A42-5C72-E22D-B3CF-459F23715E40}"/>
              </a:ext>
            </a:extLst>
          </p:cNvPr>
          <p:cNvSpPr txBox="1"/>
          <p:nvPr/>
        </p:nvSpPr>
        <p:spPr>
          <a:xfrm>
            <a:off x="8032172" y="2087995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A82C77E-2AFF-204A-AF67-B76792EA31CE}"/>
              </a:ext>
            </a:extLst>
          </p:cNvPr>
          <p:cNvSpPr txBox="1"/>
          <p:nvPr/>
        </p:nvSpPr>
        <p:spPr>
          <a:xfrm>
            <a:off x="264389" y="1859395"/>
            <a:ext cx="2086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B6DCBDCB-DB93-7296-5A5D-60AB233A46F8}"/>
              </a:ext>
            </a:extLst>
          </p:cNvPr>
          <p:cNvSpPr txBox="1"/>
          <p:nvPr/>
        </p:nvSpPr>
        <p:spPr>
          <a:xfrm>
            <a:off x="152400" y="2151495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31C376B5-CE17-4FED-4EF0-BD46728CB4F8}"/>
              </a:ext>
            </a:extLst>
          </p:cNvPr>
          <p:cNvSpPr txBox="1"/>
          <p:nvPr/>
        </p:nvSpPr>
        <p:spPr>
          <a:xfrm>
            <a:off x="4762441" y="1809750"/>
            <a:ext cx="5241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[rs1]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B290F5E5-56B8-9CAD-DED0-2C17228E9778}"/>
              </a:ext>
            </a:extLst>
          </p:cNvPr>
          <p:cNvSpPr txBox="1"/>
          <p:nvPr/>
        </p:nvSpPr>
        <p:spPr>
          <a:xfrm>
            <a:off x="4846118" y="1499281"/>
            <a:ext cx="2193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pc</a:t>
            </a: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63DD6047-2051-8CFA-23E1-8E72B793FEC2}"/>
              </a:ext>
            </a:extLst>
          </p:cNvPr>
          <p:cNvSpPr txBox="1"/>
          <p:nvPr/>
        </p:nvSpPr>
        <p:spPr>
          <a:xfrm>
            <a:off x="3698009" y="3209059"/>
            <a:ext cx="62922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imm</a:t>
            </a:r>
            <a:r>
              <a:rPr lang="en-US" sz="1100" dirty="0"/>
              <a:t>[31:0]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ADE9485-421A-CEBF-0798-D3B41F940AF0}"/>
              </a:ext>
            </a:extLst>
          </p:cNvPr>
          <p:cNvSpPr txBox="1"/>
          <p:nvPr/>
        </p:nvSpPr>
        <p:spPr>
          <a:xfrm>
            <a:off x="4750416" y="2108881"/>
            <a:ext cx="5334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[rs2]</a:t>
            </a:r>
          </a:p>
        </p:txBody>
      </p:sp>
      <p:cxnSp>
        <p:nvCxnSpPr>
          <p:cNvPr id="563" name="Elbow Connector 562">
            <a:extLst>
              <a:ext uri="{FF2B5EF4-FFF2-40B4-BE49-F238E27FC236}">
                <a16:creationId xmlns:a16="http://schemas.microsoft.com/office/drawing/2014/main" id="{CDFD43A2-FEF7-593A-FA71-CAD6AB356A9E}"/>
              </a:ext>
            </a:extLst>
          </p:cNvPr>
          <p:cNvCxnSpPr>
            <a:stCxn id="52" idx="3"/>
          </p:cNvCxnSpPr>
          <p:nvPr/>
        </p:nvCxnSpPr>
        <p:spPr>
          <a:xfrm flipV="1">
            <a:off x="3495409" y="2571750"/>
            <a:ext cx="1746226" cy="825788"/>
          </a:xfrm>
          <a:prstGeom prst="bentConnector3">
            <a:avLst>
              <a:gd name="adj1" fmla="val 8344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TextBox 595">
            <a:extLst>
              <a:ext uri="{FF2B5EF4-FFF2-40B4-BE49-F238E27FC236}">
                <a16:creationId xmlns:a16="http://schemas.microsoft.com/office/drawing/2014/main" id="{EE6EAFE4-DF4B-ACDF-5D5B-421A2790A631}"/>
              </a:ext>
            </a:extLst>
          </p:cNvPr>
          <p:cNvSpPr txBox="1"/>
          <p:nvPr/>
        </p:nvSpPr>
        <p:spPr>
          <a:xfrm>
            <a:off x="2856882" y="1657350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9F0505-8B52-214B-27EB-C4FC21A01C5F}"/>
              </a:ext>
            </a:extLst>
          </p:cNvPr>
          <p:cNvCxnSpPr/>
          <p:nvPr/>
        </p:nvCxnSpPr>
        <p:spPr>
          <a:xfrm flipH="1">
            <a:off x="364835" y="1276350"/>
            <a:ext cx="5807365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FDB2B04-756A-1879-629C-66891EA91E01}"/>
              </a:ext>
            </a:extLst>
          </p:cNvPr>
          <p:cNvCxnSpPr/>
          <p:nvPr/>
        </p:nvCxnSpPr>
        <p:spPr>
          <a:xfrm>
            <a:off x="2269835" y="895350"/>
            <a:ext cx="0" cy="36576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C186A96-1F33-F2B3-4134-4E53B6E724D8}"/>
              </a:ext>
            </a:extLst>
          </p:cNvPr>
          <p:cNvSpPr txBox="1"/>
          <p:nvPr/>
        </p:nvSpPr>
        <p:spPr>
          <a:xfrm>
            <a:off x="288635" y="3867150"/>
            <a:ext cx="159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Instruction Fetch</a:t>
            </a:r>
          </a:p>
          <a:p>
            <a:pPr algn="ctr"/>
            <a:r>
              <a:rPr lang="en-US" sz="1600" dirty="0"/>
              <a:t>(IF)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133B771-8C75-8B6E-4291-0E002D667C8C}"/>
              </a:ext>
            </a:extLst>
          </p:cNvPr>
          <p:cNvCxnSpPr/>
          <p:nvPr/>
        </p:nvCxnSpPr>
        <p:spPr>
          <a:xfrm flipV="1">
            <a:off x="4022435" y="895350"/>
            <a:ext cx="0" cy="35814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36D4DCD-F033-B6AB-A5A9-DD5849A6EE8C}"/>
              </a:ext>
            </a:extLst>
          </p:cNvPr>
          <p:cNvSpPr txBox="1"/>
          <p:nvPr/>
        </p:nvSpPr>
        <p:spPr>
          <a:xfrm>
            <a:off x="1965035" y="3790950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 Decode/Register </a:t>
            </a:r>
            <a:br>
              <a:rPr lang="en-US" sz="1600" dirty="0"/>
            </a:br>
            <a:r>
              <a:rPr lang="en-US" sz="1600" dirty="0"/>
              <a:t>Read (ID)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ED7F443-2E09-04E2-CEC1-FA1B89309C84}"/>
              </a:ext>
            </a:extLst>
          </p:cNvPr>
          <p:cNvCxnSpPr/>
          <p:nvPr/>
        </p:nvCxnSpPr>
        <p:spPr>
          <a:xfrm>
            <a:off x="6248400" y="895350"/>
            <a:ext cx="16165" cy="35814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BA51723-8EED-509D-223A-FC89F7CA0F87}"/>
              </a:ext>
            </a:extLst>
          </p:cNvPr>
          <p:cNvSpPr txBox="1"/>
          <p:nvPr/>
        </p:nvSpPr>
        <p:spPr>
          <a:xfrm>
            <a:off x="3946235" y="3867150"/>
            <a:ext cx="2362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ALU Execute</a:t>
            </a:r>
          </a:p>
          <a:p>
            <a:pPr algn="ctr"/>
            <a:r>
              <a:rPr lang="en-US" sz="1600" dirty="0"/>
              <a:t>(EX)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875F034-9EEC-6FAE-9769-CDD5A82F5E20}"/>
              </a:ext>
            </a:extLst>
          </p:cNvPr>
          <p:cNvCxnSpPr/>
          <p:nvPr/>
        </p:nvCxnSpPr>
        <p:spPr>
          <a:xfrm>
            <a:off x="8061035" y="895350"/>
            <a:ext cx="16165" cy="36576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DC8DDE3D-CA31-5DFE-9F57-F478C02A5D99}"/>
              </a:ext>
            </a:extLst>
          </p:cNvPr>
          <p:cNvSpPr txBox="1"/>
          <p:nvPr/>
        </p:nvSpPr>
        <p:spPr>
          <a:xfrm>
            <a:off x="6232235" y="3867150"/>
            <a:ext cx="1676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Memory Access</a:t>
            </a:r>
          </a:p>
          <a:p>
            <a:pPr algn="ctr"/>
            <a:r>
              <a:rPr lang="en-US" sz="1600" dirty="0"/>
              <a:t>(M)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79671DC-283A-59B1-CEA3-783146469C49}"/>
              </a:ext>
            </a:extLst>
          </p:cNvPr>
          <p:cNvSpPr txBox="1"/>
          <p:nvPr/>
        </p:nvSpPr>
        <p:spPr>
          <a:xfrm>
            <a:off x="7924800" y="3867150"/>
            <a:ext cx="1295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Write Back</a:t>
            </a:r>
          </a:p>
          <a:p>
            <a:pPr algn="ctr"/>
            <a:r>
              <a:rPr lang="en-US" sz="1600" dirty="0"/>
              <a:t>(WB)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C5C295-FF6B-35FD-E4F2-81EAC0CFEFDB}"/>
              </a:ext>
            </a:extLst>
          </p:cNvPr>
          <p:cNvSpPr/>
          <p:nvPr/>
        </p:nvSpPr>
        <p:spPr>
          <a:xfrm>
            <a:off x="264389" y="3714750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9B5A412-2C06-215D-A926-CBF0E1F6E839}"/>
              </a:ext>
            </a:extLst>
          </p:cNvPr>
          <p:cNvSpPr/>
          <p:nvPr/>
        </p:nvSpPr>
        <p:spPr>
          <a:xfrm>
            <a:off x="2241946" y="3714750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AA7BCCE-647D-DA7E-CB7A-48D5CE99024F}"/>
              </a:ext>
            </a:extLst>
          </p:cNvPr>
          <p:cNvSpPr/>
          <p:nvPr/>
        </p:nvSpPr>
        <p:spPr>
          <a:xfrm>
            <a:off x="4435765" y="3714750"/>
            <a:ext cx="1339270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C45DCEA-27A6-B6D5-6A88-8287239FED05}"/>
              </a:ext>
            </a:extLst>
          </p:cNvPr>
          <p:cNvSpPr/>
          <p:nvPr/>
        </p:nvSpPr>
        <p:spPr>
          <a:xfrm>
            <a:off x="6324599" y="3714750"/>
            <a:ext cx="1470275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8159907-7637-D72F-D7C7-83ADA91AA3B8}"/>
              </a:ext>
            </a:extLst>
          </p:cNvPr>
          <p:cNvSpPr/>
          <p:nvPr/>
        </p:nvSpPr>
        <p:spPr>
          <a:xfrm>
            <a:off x="8061034" y="3714750"/>
            <a:ext cx="1028722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88A8E6-6D2D-B7BB-D695-DD3D472D7BD0}"/>
              </a:ext>
            </a:extLst>
          </p:cNvPr>
          <p:cNvCxnSpPr>
            <a:cxnSpLocks/>
            <a:stCxn id="3" idx="6"/>
            <a:endCxn id="102" idx="2"/>
          </p:cNvCxnSpPr>
          <p:nvPr/>
        </p:nvCxnSpPr>
        <p:spPr>
          <a:xfrm>
            <a:off x="1965035" y="4168349"/>
            <a:ext cx="276911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862F783-8558-3C4D-6C07-F15500FFE633}"/>
              </a:ext>
            </a:extLst>
          </p:cNvPr>
          <p:cNvCxnSpPr>
            <a:cxnSpLocks/>
            <a:stCxn id="102" idx="6"/>
            <a:endCxn id="103" idx="2"/>
          </p:cNvCxnSpPr>
          <p:nvPr/>
        </p:nvCxnSpPr>
        <p:spPr>
          <a:xfrm>
            <a:off x="3942592" y="4168349"/>
            <a:ext cx="493173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C6ABD93-569F-11E1-D163-E5B601A7740D}"/>
              </a:ext>
            </a:extLst>
          </p:cNvPr>
          <p:cNvCxnSpPr>
            <a:stCxn id="103" idx="6"/>
            <a:endCxn id="106" idx="2"/>
          </p:cNvCxnSpPr>
          <p:nvPr/>
        </p:nvCxnSpPr>
        <p:spPr>
          <a:xfrm>
            <a:off x="5775035" y="4168349"/>
            <a:ext cx="549564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2111C6B-04E3-00FF-2E40-9CD0912B24D0}"/>
              </a:ext>
            </a:extLst>
          </p:cNvPr>
          <p:cNvCxnSpPr>
            <a:cxnSpLocks/>
            <a:stCxn id="106" idx="6"/>
            <a:endCxn id="109" idx="2"/>
          </p:cNvCxnSpPr>
          <p:nvPr/>
        </p:nvCxnSpPr>
        <p:spPr>
          <a:xfrm>
            <a:off x="7794874" y="4168349"/>
            <a:ext cx="266160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C5A7DC6D-CCC7-0D62-F09F-DB3D13A07969}"/>
              </a:ext>
            </a:extLst>
          </p:cNvPr>
          <p:cNvSpPr/>
          <p:nvPr/>
        </p:nvSpPr>
        <p:spPr>
          <a:xfrm>
            <a:off x="1100890" y="4620126"/>
            <a:ext cx="7543800" cy="347883"/>
          </a:xfrm>
          <a:custGeom>
            <a:avLst/>
            <a:gdLst>
              <a:gd name="connsiteX0" fmla="*/ 7889621 w 8361725"/>
              <a:gd name="connsiteY0" fmla="*/ 0 h 195381"/>
              <a:gd name="connsiteX1" fmla="*/ 7582816 w 8361725"/>
              <a:gd name="connsiteY1" fmla="*/ 150395 h 195381"/>
              <a:gd name="connsiteX2" fmla="*/ 616532 w 8361725"/>
              <a:gd name="connsiteY2" fmla="*/ 186490 h 195381"/>
              <a:gd name="connsiteX3" fmla="*/ 345821 w 8361725"/>
              <a:gd name="connsiteY3" fmla="*/ 6016 h 195381"/>
              <a:gd name="connsiteX0" fmla="*/ 7819728 w 7982072"/>
              <a:gd name="connsiteY0" fmla="*/ 0 h 206197"/>
              <a:gd name="connsiteX1" fmla="*/ 6544381 w 7982072"/>
              <a:gd name="connsiteY1" fmla="*/ 180474 h 206197"/>
              <a:gd name="connsiteX2" fmla="*/ 546639 w 7982072"/>
              <a:gd name="connsiteY2" fmla="*/ 186490 h 206197"/>
              <a:gd name="connsiteX3" fmla="*/ 275928 w 7982072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52644 w 7878086"/>
              <a:gd name="connsiteY0" fmla="*/ 0 h 209426"/>
              <a:gd name="connsiteX1" fmla="*/ 7034497 w 7878086"/>
              <a:gd name="connsiteY1" fmla="*/ 186490 h 209426"/>
              <a:gd name="connsiteX2" fmla="*/ 579555 w 7878086"/>
              <a:gd name="connsiteY2" fmla="*/ 186490 h 209426"/>
              <a:gd name="connsiteX3" fmla="*/ 308844 w 7878086"/>
              <a:gd name="connsiteY3" fmla="*/ 6016 h 209426"/>
              <a:gd name="connsiteX0" fmla="*/ 7852644 w 7852644"/>
              <a:gd name="connsiteY0" fmla="*/ 0 h 201559"/>
              <a:gd name="connsiteX1" fmla="*/ 7034497 w 7852644"/>
              <a:gd name="connsiteY1" fmla="*/ 186490 h 201559"/>
              <a:gd name="connsiteX2" fmla="*/ 579555 w 7852644"/>
              <a:gd name="connsiteY2" fmla="*/ 186490 h 201559"/>
              <a:gd name="connsiteX3" fmla="*/ 308844 w 7852644"/>
              <a:gd name="connsiteY3" fmla="*/ 6016 h 201559"/>
              <a:gd name="connsiteX0" fmla="*/ 7570072 w 7570072"/>
              <a:gd name="connsiteY0" fmla="*/ 0 h 230193"/>
              <a:gd name="connsiteX1" fmla="*/ 6751925 w 7570072"/>
              <a:gd name="connsiteY1" fmla="*/ 186490 h 230193"/>
              <a:gd name="connsiteX2" fmla="*/ 886530 w 7570072"/>
              <a:gd name="connsiteY2" fmla="*/ 216569 h 230193"/>
              <a:gd name="connsiteX3" fmla="*/ 26272 w 7570072"/>
              <a:gd name="connsiteY3" fmla="*/ 6016 h 230193"/>
              <a:gd name="connsiteX0" fmla="*/ 7543800 w 7543800"/>
              <a:gd name="connsiteY0" fmla="*/ 0 h 219551"/>
              <a:gd name="connsiteX1" fmla="*/ 6725653 w 7543800"/>
              <a:gd name="connsiteY1" fmla="*/ 186490 h 219551"/>
              <a:gd name="connsiteX2" fmla="*/ 860258 w 7543800"/>
              <a:gd name="connsiteY2" fmla="*/ 216569 h 219551"/>
              <a:gd name="connsiteX3" fmla="*/ 0 w 7543800"/>
              <a:gd name="connsiteY3" fmla="*/ 6016 h 219551"/>
              <a:gd name="connsiteX0" fmla="*/ 7543800 w 7550493"/>
              <a:gd name="connsiteY0" fmla="*/ 0 h 224730"/>
              <a:gd name="connsiteX1" fmla="*/ 6725653 w 7550493"/>
              <a:gd name="connsiteY1" fmla="*/ 186490 h 224730"/>
              <a:gd name="connsiteX2" fmla="*/ 673769 w 7550493"/>
              <a:gd name="connsiteY2" fmla="*/ 222585 h 224730"/>
              <a:gd name="connsiteX3" fmla="*/ 0 w 7550493"/>
              <a:gd name="connsiteY3" fmla="*/ 6016 h 224730"/>
              <a:gd name="connsiteX0" fmla="*/ 7543800 w 7543800"/>
              <a:gd name="connsiteY0" fmla="*/ 0 h 224730"/>
              <a:gd name="connsiteX1" fmla="*/ 6725653 w 7543800"/>
              <a:gd name="connsiteY1" fmla="*/ 186490 h 224730"/>
              <a:gd name="connsiteX2" fmla="*/ 673769 w 7543800"/>
              <a:gd name="connsiteY2" fmla="*/ 222585 h 224730"/>
              <a:gd name="connsiteX3" fmla="*/ 0 w 7543800"/>
              <a:gd name="connsiteY3" fmla="*/ 6016 h 224730"/>
              <a:gd name="connsiteX0" fmla="*/ 7543800 w 7543800"/>
              <a:gd name="connsiteY0" fmla="*/ 0 h 222585"/>
              <a:gd name="connsiteX1" fmla="*/ 6725653 w 7543800"/>
              <a:gd name="connsiteY1" fmla="*/ 186490 h 222585"/>
              <a:gd name="connsiteX2" fmla="*/ 673769 w 7543800"/>
              <a:gd name="connsiteY2" fmla="*/ 222585 h 222585"/>
              <a:gd name="connsiteX3" fmla="*/ 0 w 7543800"/>
              <a:gd name="connsiteY3" fmla="*/ 6016 h 222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3800" h="222585">
                <a:moveTo>
                  <a:pt x="7543800" y="0"/>
                </a:moveTo>
                <a:cubicBezTo>
                  <a:pt x="7388893" y="149892"/>
                  <a:pt x="7220952" y="185486"/>
                  <a:pt x="6725653" y="186490"/>
                </a:cubicBezTo>
                <a:lnTo>
                  <a:pt x="673769" y="222585"/>
                </a:lnTo>
                <a:cubicBezTo>
                  <a:pt x="172454" y="216569"/>
                  <a:pt x="0" y="6016"/>
                  <a:pt x="0" y="6016"/>
                </a:cubicBezTo>
              </a:path>
            </a:pathLst>
          </a:custGeom>
          <a:noFill/>
          <a:ln w="28575" cmpd="sng">
            <a:solidFill>
              <a:srgbClr val="0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EC579A1A-7E7B-9E92-AA91-5550356392F4}"/>
              </a:ext>
            </a:extLst>
          </p:cNvPr>
          <p:cNvSpPr txBox="1">
            <a:spLocks/>
          </p:cNvSpPr>
          <p:nvPr/>
        </p:nvSpPr>
        <p:spPr>
          <a:xfrm>
            <a:off x="0" y="142478"/>
            <a:ext cx="9144000" cy="6437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algn="r"/>
            <a:r>
              <a:rPr lang="he-IL" dirty="0"/>
              <a:t>5 שלבים ← 5 מחזורים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Arrow Connector 87"/>
          <p:cNvCxnSpPr/>
          <p:nvPr/>
        </p:nvCxnSpPr>
        <p:spPr>
          <a:xfrm flipH="1">
            <a:off x="46320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4479635" y="2611219"/>
            <a:ext cx="2302" cy="110353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0" y="142478"/>
            <a:ext cx="9144000" cy="643743"/>
          </a:xfrm>
        </p:spPr>
        <p:txBody>
          <a:bodyPr>
            <a:normAutofit/>
          </a:bodyPr>
          <a:lstStyle/>
          <a:p>
            <a:pPr marL="168275" algn="r"/>
            <a:r>
              <a:rPr lang="he-IL" dirty="0"/>
              <a:t>5 שלבים ← 5 מחזורים (עם לולאות)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84035" y="2001619"/>
            <a:ext cx="609600" cy="6858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IMEM</a:t>
            </a:r>
          </a:p>
        </p:txBody>
      </p:sp>
      <p:sp>
        <p:nvSpPr>
          <p:cNvPr id="28" name="Trapezoid 27"/>
          <p:cNvSpPr/>
          <p:nvPr/>
        </p:nvSpPr>
        <p:spPr>
          <a:xfrm rot="5400000">
            <a:off x="5394035" y="2001619"/>
            <a:ext cx="990600" cy="381000"/>
          </a:xfrm>
          <a:prstGeom prst="trapezoid">
            <a:avLst>
              <a:gd name="adj" fmla="val 4659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665505" y="2187357"/>
            <a:ext cx="142875" cy="762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29" idx="2"/>
            <a:endCxn id="29" idx="4"/>
          </p:cNvCxnSpPr>
          <p:nvPr/>
        </p:nvCxnSpPr>
        <p:spPr>
          <a:xfrm>
            <a:off x="5698843" y="2154020"/>
            <a:ext cx="0" cy="142875"/>
          </a:xfrm>
          <a:prstGeom prst="line">
            <a:avLst/>
          </a:prstGeom>
          <a:ln w="28575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22635" y="1758732"/>
            <a:ext cx="521297" cy="317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ALU</a:t>
            </a:r>
          </a:p>
        </p:txBody>
      </p:sp>
      <p:sp>
        <p:nvSpPr>
          <p:cNvPr id="51" name="Trapezoid 50"/>
          <p:cNvSpPr/>
          <p:nvPr/>
        </p:nvSpPr>
        <p:spPr>
          <a:xfrm rot="5400000">
            <a:off x="2841335" y="3106519"/>
            <a:ext cx="762000" cy="533400"/>
          </a:xfrm>
          <a:prstGeom prst="trapezoid">
            <a:avLst>
              <a:gd name="adj" fmla="val 30656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879435" y="3105150"/>
            <a:ext cx="6159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Imm</a:t>
            </a:r>
            <a:r>
              <a:rPr lang="en-US" sz="1600" dirty="0"/>
              <a:t>.</a:t>
            </a:r>
          </a:p>
          <a:p>
            <a:r>
              <a:rPr lang="en-US" sz="1600" dirty="0"/>
              <a:t>Gen</a:t>
            </a:r>
          </a:p>
        </p:txBody>
      </p:sp>
      <p:sp>
        <p:nvSpPr>
          <p:cNvPr id="58" name="Trapezoid 57"/>
          <p:cNvSpPr/>
          <p:nvPr/>
        </p:nvSpPr>
        <p:spPr>
          <a:xfrm rot="5400000">
            <a:off x="1545935" y="1506319"/>
            <a:ext cx="457200" cy="228600"/>
          </a:xfrm>
          <a:prstGeom prst="trapezoid">
            <a:avLst>
              <a:gd name="adj" fmla="val 30656"/>
            </a:avLst>
          </a:prstGeom>
          <a:solidFill>
            <a:srgbClr val="FFFF00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584035" y="1468219"/>
            <a:ext cx="298519" cy="246221"/>
          </a:xfrm>
          <a:prstGeom prst="rect">
            <a:avLst/>
          </a:prstGeom>
          <a:noFill/>
        </p:spPr>
        <p:txBody>
          <a:bodyPr wrap="none" tIns="0" rIns="0" bIns="0" rtlCol="0">
            <a:spAutoFit/>
          </a:bodyPr>
          <a:lstStyle/>
          <a:p>
            <a:r>
              <a:rPr lang="en-US" sz="1600" dirty="0"/>
              <a:t>+4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0835" y="1849219"/>
            <a:ext cx="990600" cy="8382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DMEM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9" name="Isosceles Triangle 68"/>
          <p:cNvSpPr/>
          <p:nvPr/>
        </p:nvSpPr>
        <p:spPr>
          <a:xfrm>
            <a:off x="7146635" y="2535019"/>
            <a:ext cx="152400" cy="152400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Trapezoid 72"/>
          <p:cNvSpPr/>
          <p:nvPr/>
        </p:nvSpPr>
        <p:spPr>
          <a:xfrm rot="5400000">
            <a:off x="4137886" y="2193270"/>
            <a:ext cx="685800" cy="454898"/>
          </a:xfrm>
          <a:prstGeom prst="trapezoid">
            <a:avLst>
              <a:gd name="adj" fmla="val 30656"/>
            </a:avLst>
          </a:prstGeom>
          <a:solidFill>
            <a:srgbClr val="FFFF00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4177137" y="2154019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Branch Comp.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3108035" y="1468219"/>
            <a:ext cx="838199" cy="1447800"/>
            <a:chOff x="3810000" y="1412681"/>
            <a:chExt cx="838199" cy="1447800"/>
          </a:xfrm>
        </p:grpSpPr>
        <p:sp>
          <p:nvSpPr>
            <p:cNvPr id="22" name="Rectangle 21"/>
            <p:cNvSpPr/>
            <p:nvPr/>
          </p:nvSpPr>
          <p:spPr>
            <a:xfrm>
              <a:off x="3810000" y="1412681"/>
              <a:ext cx="838199" cy="1447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alibri"/>
                  <a:cs typeface="Calibri"/>
                </a:rPr>
                <a:t>Reg</a:t>
              </a:r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[]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>
              <a:off x="4419600" y="2708081"/>
              <a:ext cx="152400" cy="152400"/>
            </a:xfrm>
            <a:prstGeom prst="triangl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3108035" y="2274153"/>
            <a:ext cx="3975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AddrA</a:t>
            </a:r>
            <a:endParaRPr lang="en-US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3108035" y="2502753"/>
            <a:ext cx="38810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AddrB</a:t>
            </a:r>
            <a:endParaRPr lang="en-US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3565235" y="2274153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DataA</a:t>
            </a:r>
            <a:endParaRPr lang="en-US"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3108035" y="2038350"/>
            <a:ext cx="39907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AddrD</a:t>
            </a:r>
            <a:endParaRPr lang="en-US" sz="1200" dirty="0"/>
          </a:p>
        </p:txBody>
      </p:sp>
      <p:sp>
        <p:nvSpPr>
          <p:cNvPr id="81" name="TextBox 80"/>
          <p:cNvSpPr txBox="1"/>
          <p:nvPr/>
        </p:nvSpPr>
        <p:spPr>
          <a:xfrm>
            <a:off x="3565235" y="2502753"/>
            <a:ext cx="3773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DataB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3108035" y="1733550"/>
            <a:ext cx="3883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DataD</a:t>
            </a:r>
            <a:endParaRPr 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6460835" y="2077819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Addr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6482018" y="2350353"/>
            <a:ext cx="4360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DataW</a:t>
            </a:r>
            <a:endParaRPr 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6994235" y="2154019"/>
            <a:ext cx="3847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DataR</a:t>
            </a:r>
            <a:endParaRPr lang="en-US" sz="1200" dirty="0"/>
          </a:p>
        </p:txBody>
      </p:sp>
      <p:sp>
        <p:nvSpPr>
          <p:cNvPr id="72" name="Trapezoid 71"/>
          <p:cNvSpPr/>
          <p:nvPr/>
        </p:nvSpPr>
        <p:spPr>
          <a:xfrm rot="5400000">
            <a:off x="5203535" y="18111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5409910" y="16587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13085" y="19063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24" name="Straight Arrow Connector 123"/>
          <p:cNvCxnSpPr>
            <a:stCxn id="13" idx="3"/>
          </p:cNvCxnSpPr>
          <p:nvPr/>
        </p:nvCxnSpPr>
        <p:spPr>
          <a:xfrm flipV="1">
            <a:off x="7451435" y="2253007"/>
            <a:ext cx="367652" cy="1531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rapezoid 65"/>
          <p:cNvSpPr/>
          <p:nvPr/>
        </p:nvSpPr>
        <p:spPr>
          <a:xfrm rot="5400000">
            <a:off x="7527635" y="2001619"/>
            <a:ext cx="7620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7857835" y="21952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57835" y="19793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57835" y="1763494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cxnSp>
        <p:nvCxnSpPr>
          <p:cNvPr id="127" name="Straight Arrow Connector 126"/>
          <p:cNvCxnSpPr>
            <a:stCxn id="28" idx="0"/>
            <a:endCxn id="97" idx="1"/>
          </p:cNvCxnSpPr>
          <p:nvPr/>
        </p:nvCxnSpPr>
        <p:spPr>
          <a:xfrm flipV="1">
            <a:off x="6079835" y="2170152"/>
            <a:ext cx="381000" cy="21967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6172200" y="1276350"/>
            <a:ext cx="0" cy="924428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/>
          <p:cNvCxnSpPr>
            <a:endCxn id="66" idx="2"/>
          </p:cNvCxnSpPr>
          <p:nvPr/>
        </p:nvCxnSpPr>
        <p:spPr>
          <a:xfrm>
            <a:off x="6172200" y="1276350"/>
            <a:ext cx="1660235" cy="801469"/>
          </a:xfrm>
          <a:prstGeom prst="bentConnector3">
            <a:avLst>
              <a:gd name="adj1" fmla="val 83032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/>
          <p:nvPr/>
        </p:nvCxnSpPr>
        <p:spPr>
          <a:xfrm rot="16200000" flipH="1">
            <a:off x="165748" y="1456782"/>
            <a:ext cx="626772" cy="228600"/>
          </a:xfrm>
          <a:prstGeom prst="bentConnector3">
            <a:avLst>
              <a:gd name="adj1" fmla="val 101558"/>
            </a:avLst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rapezoid 178"/>
          <p:cNvSpPr/>
          <p:nvPr/>
        </p:nvSpPr>
        <p:spPr>
          <a:xfrm rot="5400000">
            <a:off x="402935" y="1963519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0" name="TextBox 179"/>
          <p:cNvSpPr txBox="1"/>
          <p:nvPr/>
        </p:nvSpPr>
        <p:spPr>
          <a:xfrm>
            <a:off x="609310" y="1811119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12485" y="2058769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cxnSp>
        <p:nvCxnSpPr>
          <p:cNvPr id="183" name="Straight Connector 182"/>
          <p:cNvCxnSpPr>
            <a:stCxn id="179" idx="0"/>
            <a:endCxn id="19" idx="1"/>
          </p:cNvCxnSpPr>
          <p:nvPr/>
        </p:nvCxnSpPr>
        <p:spPr>
          <a:xfrm>
            <a:off x="745835" y="2039719"/>
            <a:ext cx="1524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19" idx="3"/>
            <a:endCxn id="16" idx="1"/>
          </p:cNvCxnSpPr>
          <p:nvPr/>
        </p:nvCxnSpPr>
        <p:spPr>
          <a:xfrm>
            <a:off x="1263698" y="2039719"/>
            <a:ext cx="320337" cy="3048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lbow Connector 202"/>
          <p:cNvCxnSpPr/>
          <p:nvPr/>
        </p:nvCxnSpPr>
        <p:spPr>
          <a:xfrm flipV="1">
            <a:off x="1233366" y="1620939"/>
            <a:ext cx="396537" cy="41910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Elbow Connector 213"/>
          <p:cNvCxnSpPr>
            <a:stCxn id="58" idx="0"/>
          </p:cNvCxnSpPr>
          <p:nvPr/>
        </p:nvCxnSpPr>
        <p:spPr>
          <a:xfrm flipV="1">
            <a:off x="1888835" y="1163419"/>
            <a:ext cx="304800" cy="457200"/>
          </a:xfrm>
          <a:prstGeom prst="bentConnector2">
            <a:avLst/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/>
          <p:nvPr/>
        </p:nvCxnSpPr>
        <p:spPr>
          <a:xfrm>
            <a:off x="2193635" y="1163419"/>
            <a:ext cx="5638800" cy="685800"/>
          </a:xfrm>
          <a:prstGeom prst="bentConnector3">
            <a:avLst>
              <a:gd name="adj1" fmla="val 97158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/>
          <p:cNvCxnSpPr/>
          <p:nvPr/>
        </p:nvCxnSpPr>
        <p:spPr>
          <a:xfrm rot="10800000" flipV="1">
            <a:off x="593435" y="1163419"/>
            <a:ext cx="1600200" cy="990600"/>
          </a:xfrm>
          <a:prstGeom prst="bentConnector3">
            <a:avLst>
              <a:gd name="adj1" fmla="val 124407"/>
            </a:avLst>
          </a:prstGeom>
          <a:ln w="28575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/>
          <p:cNvCxnSpPr>
            <a:stCxn id="72" idx="0"/>
          </p:cNvCxnSpPr>
          <p:nvPr/>
        </p:nvCxnSpPr>
        <p:spPr>
          <a:xfrm flipV="1">
            <a:off x="5546435" y="1885950"/>
            <a:ext cx="152400" cy="136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Elbow Connector 250"/>
          <p:cNvCxnSpPr>
            <a:stCxn id="79" idx="3"/>
            <a:endCxn id="105" idx="1"/>
          </p:cNvCxnSpPr>
          <p:nvPr/>
        </p:nvCxnSpPr>
        <p:spPr>
          <a:xfrm flipV="1">
            <a:off x="3949956" y="1998702"/>
            <a:ext cx="1463129" cy="367784"/>
          </a:xfrm>
          <a:prstGeom prst="bentConnector3">
            <a:avLst>
              <a:gd name="adj1" fmla="val 8536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Elbow Connector 253"/>
          <p:cNvCxnSpPr/>
          <p:nvPr/>
        </p:nvCxnSpPr>
        <p:spPr>
          <a:xfrm>
            <a:off x="3907956" y="2595086"/>
            <a:ext cx="957297" cy="320141"/>
          </a:xfrm>
          <a:prstGeom prst="bentConnector3">
            <a:avLst>
              <a:gd name="adj1" fmla="val 1683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V="1">
            <a:off x="4098635" y="2361045"/>
            <a:ext cx="183573" cy="1127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 flipV="1">
            <a:off x="3987799" y="2586182"/>
            <a:ext cx="259772" cy="577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274"/>
          <p:cNvCxnSpPr/>
          <p:nvPr/>
        </p:nvCxnSpPr>
        <p:spPr>
          <a:xfrm flipV="1">
            <a:off x="1429202" y="1371841"/>
            <a:ext cx="3214173" cy="535336"/>
          </a:xfrm>
          <a:prstGeom prst="bentConnector3">
            <a:avLst>
              <a:gd name="adj1" fmla="val 27385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Elbow Connector 304"/>
          <p:cNvCxnSpPr/>
          <p:nvPr/>
        </p:nvCxnSpPr>
        <p:spPr>
          <a:xfrm>
            <a:off x="4632035" y="1366060"/>
            <a:ext cx="762000" cy="36749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8235" y="1620619"/>
            <a:ext cx="365463" cy="838199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pc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1050635" y="2306419"/>
            <a:ext cx="152400" cy="152399"/>
          </a:xfrm>
          <a:prstGeom prst="triangle">
            <a:avLst/>
          </a:prstGeom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6" name="Trapezoid 115"/>
          <p:cNvSpPr/>
          <p:nvPr/>
        </p:nvSpPr>
        <p:spPr>
          <a:xfrm rot="5400000">
            <a:off x="5051135" y="2381250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5257510" y="2228850"/>
            <a:ext cx="76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60685" y="2476500"/>
            <a:ext cx="779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cxnSp>
        <p:nvCxnSpPr>
          <p:cNvPr id="394" name="Elbow Connector 393"/>
          <p:cNvCxnSpPr>
            <a:stCxn id="16" idx="3"/>
            <a:endCxn id="22" idx="1"/>
          </p:cNvCxnSpPr>
          <p:nvPr/>
        </p:nvCxnSpPr>
        <p:spPr>
          <a:xfrm flipV="1">
            <a:off x="2193635" y="2192119"/>
            <a:ext cx="914400" cy="152400"/>
          </a:xfrm>
          <a:prstGeom prst="bentConnector3">
            <a:avLst>
              <a:gd name="adj1" fmla="val 1780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/>
          <p:cNvCxnSpPr/>
          <p:nvPr/>
        </p:nvCxnSpPr>
        <p:spPr>
          <a:xfrm>
            <a:off x="2346035" y="2343150"/>
            <a:ext cx="0" cy="129540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/>
          <p:cNvCxnSpPr/>
          <p:nvPr/>
        </p:nvCxnSpPr>
        <p:spPr>
          <a:xfrm flipV="1">
            <a:off x="2336799" y="2458819"/>
            <a:ext cx="771236" cy="363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/>
          <p:cNvCxnSpPr/>
          <p:nvPr/>
        </p:nvCxnSpPr>
        <p:spPr>
          <a:xfrm flipV="1">
            <a:off x="2348344" y="2687420"/>
            <a:ext cx="759691" cy="2671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/>
          <p:cNvCxnSpPr/>
          <p:nvPr/>
        </p:nvCxnSpPr>
        <p:spPr>
          <a:xfrm flipV="1">
            <a:off x="2336799" y="3373219"/>
            <a:ext cx="618836" cy="9599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Elbow Connector 405"/>
          <p:cNvCxnSpPr>
            <a:stCxn id="66" idx="0"/>
          </p:cNvCxnSpPr>
          <p:nvPr/>
        </p:nvCxnSpPr>
        <p:spPr>
          <a:xfrm flipH="1" flipV="1">
            <a:off x="2781299" y="1044864"/>
            <a:ext cx="5203536" cy="1032955"/>
          </a:xfrm>
          <a:prstGeom prst="bentConnector3">
            <a:avLst>
              <a:gd name="adj1" fmla="val -2374"/>
            </a:avLst>
          </a:prstGeom>
          <a:ln w="28575" cmpd="sng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Elbow Connector 416"/>
          <p:cNvCxnSpPr/>
          <p:nvPr/>
        </p:nvCxnSpPr>
        <p:spPr>
          <a:xfrm rot="16200000" flipH="1">
            <a:off x="2536535" y="1314450"/>
            <a:ext cx="838200" cy="304800"/>
          </a:xfrm>
          <a:prstGeom prst="bentConnector3">
            <a:avLst>
              <a:gd name="adj1" fmla="val 10027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/>
          <p:cNvCxnSpPr/>
          <p:nvPr/>
        </p:nvCxnSpPr>
        <p:spPr>
          <a:xfrm flipV="1">
            <a:off x="5394035" y="2495550"/>
            <a:ext cx="370610" cy="231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Elbow Connector 473"/>
          <p:cNvCxnSpPr/>
          <p:nvPr/>
        </p:nvCxnSpPr>
        <p:spPr>
          <a:xfrm flipV="1">
            <a:off x="4860635" y="2530186"/>
            <a:ext cx="1600200" cy="381000"/>
          </a:xfrm>
          <a:prstGeom prst="bentConnector3">
            <a:avLst>
              <a:gd name="adj1" fmla="val 90765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/>
          <p:cNvSpPr txBox="1"/>
          <p:nvPr/>
        </p:nvSpPr>
        <p:spPr>
          <a:xfrm>
            <a:off x="2439245" y="1984827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[11:7]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2422235" y="22669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[19:15]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2422235" y="2495550"/>
            <a:ext cx="61915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[24:20]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2369126" y="3135168"/>
            <a:ext cx="5476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inst</a:t>
            </a:r>
            <a:r>
              <a:rPr lang="en-US" sz="1100" dirty="0"/>
              <a:t>[31:7]</a:t>
            </a:r>
          </a:p>
        </p:txBody>
      </p:sp>
      <p:cxnSp>
        <p:nvCxnSpPr>
          <p:cNvPr id="513" name="Elbow Connector 512"/>
          <p:cNvCxnSpPr/>
          <p:nvPr/>
        </p:nvCxnSpPr>
        <p:spPr>
          <a:xfrm rot="5400000" flipH="1" flipV="1">
            <a:off x="4760624" y="2446338"/>
            <a:ext cx="584201" cy="377826"/>
          </a:xfrm>
          <a:prstGeom prst="bentConnector3">
            <a:avLst>
              <a:gd name="adj1" fmla="val 10046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7700818" y="1416049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7374081" y="1556904"/>
            <a:ext cx="17405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29" name="TextBox 528"/>
          <p:cNvSpPr txBox="1"/>
          <p:nvPr/>
        </p:nvSpPr>
        <p:spPr>
          <a:xfrm>
            <a:off x="7480298" y="2355849"/>
            <a:ext cx="33481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mem</a:t>
            </a:r>
            <a:endParaRPr lang="en-US" sz="1100" dirty="0"/>
          </a:p>
        </p:txBody>
      </p:sp>
      <p:sp>
        <p:nvSpPr>
          <p:cNvPr id="530" name="TextBox 529"/>
          <p:cNvSpPr txBox="1"/>
          <p:nvPr/>
        </p:nvSpPr>
        <p:spPr>
          <a:xfrm>
            <a:off x="8032172" y="2087995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sp>
        <p:nvSpPr>
          <p:cNvPr id="531" name="TextBox 530"/>
          <p:cNvSpPr txBox="1"/>
          <p:nvPr/>
        </p:nvSpPr>
        <p:spPr>
          <a:xfrm>
            <a:off x="264389" y="1859395"/>
            <a:ext cx="2086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alu</a:t>
            </a:r>
            <a:endParaRPr lang="en-US" sz="1100" dirty="0"/>
          </a:p>
        </p:txBody>
      </p:sp>
      <p:sp>
        <p:nvSpPr>
          <p:cNvPr id="532" name="TextBox 531"/>
          <p:cNvSpPr txBox="1"/>
          <p:nvPr/>
        </p:nvSpPr>
        <p:spPr>
          <a:xfrm>
            <a:off x="152400" y="2151495"/>
            <a:ext cx="28212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pc+4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762441" y="1809750"/>
            <a:ext cx="5241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[rs1]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846118" y="1499281"/>
            <a:ext cx="21936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pc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3698009" y="3209059"/>
            <a:ext cx="62922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imm</a:t>
            </a:r>
            <a:r>
              <a:rPr lang="en-US" sz="1100" dirty="0"/>
              <a:t>[31:0]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4750416" y="2108881"/>
            <a:ext cx="5334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 err="1"/>
              <a:t>Reg</a:t>
            </a:r>
            <a:r>
              <a:rPr lang="en-US" sz="1100" dirty="0"/>
              <a:t>[rs2]</a:t>
            </a:r>
          </a:p>
        </p:txBody>
      </p:sp>
      <p:cxnSp>
        <p:nvCxnSpPr>
          <p:cNvPr id="563" name="Elbow Connector 562"/>
          <p:cNvCxnSpPr>
            <a:stCxn id="52" idx="3"/>
          </p:cNvCxnSpPr>
          <p:nvPr/>
        </p:nvCxnSpPr>
        <p:spPr>
          <a:xfrm flipV="1">
            <a:off x="3495409" y="2571750"/>
            <a:ext cx="1746226" cy="825788"/>
          </a:xfrm>
          <a:prstGeom prst="bentConnector3">
            <a:avLst>
              <a:gd name="adj1" fmla="val 83443"/>
            </a:avLst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TextBox 595"/>
          <p:cNvSpPr txBox="1"/>
          <p:nvPr/>
        </p:nvSpPr>
        <p:spPr>
          <a:xfrm>
            <a:off x="2856882" y="1657350"/>
            <a:ext cx="1749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err="1"/>
              <a:t>wb</a:t>
            </a:r>
            <a:endParaRPr lang="en-US" sz="110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64835" y="1276350"/>
            <a:ext cx="5807365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2269835" y="895350"/>
            <a:ext cx="0" cy="36576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88635" y="3867150"/>
            <a:ext cx="159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Instruction Fetch</a:t>
            </a:r>
          </a:p>
          <a:p>
            <a:pPr algn="ctr"/>
            <a:r>
              <a:rPr lang="en-US" sz="1600" dirty="0"/>
              <a:t>(IF)</a:t>
            </a:r>
          </a:p>
        </p:txBody>
      </p:sp>
      <p:cxnSp>
        <p:nvCxnSpPr>
          <p:cNvPr id="142" name="Straight Connector 141"/>
          <p:cNvCxnSpPr/>
          <p:nvPr/>
        </p:nvCxnSpPr>
        <p:spPr>
          <a:xfrm flipV="1">
            <a:off x="4022435" y="895350"/>
            <a:ext cx="0" cy="35814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965035" y="3790950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 Decode/Register </a:t>
            </a:r>
            <a:br>
              <a:rPr lang="en-US" sz="1600" dirty="0"/>
            </a:br>
            <a:r>
              <a:rPr lang="en-US" sz="1600" dirty="0"/>
              <a:t>Read (ID)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6248400" y="895350"/>
            <a:ext cx="16165" cy="35814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946235" y="3867150"/>
            <a:ext cx="2362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ALU Execute</a:t>
            </a:r>
          </a:p>
          <a:p>
            <a:pPr algn="ctr"/>
            <a:r>
              <a:rPr lang="en-US" sz="1600" dirty="0"/>
              <a:t>(EX)</a:t>
            </a:r>
          </a:p>
        </p:txBody>
      </p:sp>
      <p:cxnSp>
        <p:nvCxnSpPr>
          <p:cNvPr id="145" name="Straight Connector 144"/>
          <p:cNvCxnSpPr/>
          <p:nvPr/>
        </p:nvCxnSpPr>
        <p:spPr>
          <a:xfrm>
            <a:off x="8061035" y="895350"/>
            <a:ext cx="16165" cy="3657600"/>
          </a:xfrm>
          <a:prstGeom prst="line">
            <a:avLst/>
          </a:prstGeom>
          <a:ln w="38100" cmpd="sng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6232235" y="3867150"/>
            <a:ext cx="1676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Memory Access</a:t>
            </a:r>
          </a:p>
          <a:p>
            <a:pPr algn="ctr"/>
            <a:r>
              <a:rPr lang="en-US" sz="1600" dirty="0"/>
              <a:t>(M)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924800" y="3867150"/>
            <a:ext cx="1295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Write Back</a:t>
            </a:r>
          </a:p>
          <a:p>
            <a:pPr algn="ctr"/>
            <a:r>
              <a:rPr lang="en-US" sz="1600" dirty="0"/>
              <a:t>(WB)</a:t>
            </a:r>
          </a:p>
        </p:txBody>
      </p:sp>
      <p:sp>
        <p:nvSpPr>
          <p:cNvPr id="3" name="Oval 2"/>
          <p:cNvSpPr/>
          <p:nvPr/>
        </p:nvSpPr>
        <p:spPr>
          <a:xfrm>
            <a:off x="264389" y="3714750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241946" y="3714750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4435765" y="3714750"/>
            <a:ext cx="1339270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6324599" y="3714750"/>
            <a:ext cx="1470275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8061034" y="3714750"/>
            <a:ext cx="1036471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7" name="Straight Arrow Connector 6"/>
          <p:cNvCxnSpPr>
            <a:stCxn id="3" idx="6"/>
            <a:endCxn id="102" idx="2"/>
          </p:cNvCxnSpPr>
          <p:nvPr/>
        </p:nvCxnSpPr>
        <p:spPr>
          <a:xfrm>
            <a:off x="1965035" y="4168349"/>
            <a:ext cx="276911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2" idx="6"/>
            <a:endCxn id="103" idx="2"/>
          </p:cNvCxnSpPr>
          <p:nvPr/>
        </p:nvCxnSpPr>
        <p:spPr>
          <a:xfrm>
            <a:off x="3942592" y="4168349"/>
            <a:ext cx="493173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103" idx="6"/>
            <a:endCxn id="106" idx="2"/>
          </p:cNvCxnSpPr>
          <p:nvPr/>
        </p:nvCxnSpPr>
        <p:spPr>
          <a:xfrm>
            <a:off x="5775035" y="4168349"/>
            <a:ext cx="549564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cxnSpLocks/>
            <a:stCxn id="106" idx="6"/>
            <a:endCxn id="109" idx="2"/>
          </p:cNvCxnSpPr>
          <p:nvPr/>
        </p:nvCxnSpPr>
        <p:spPr>
          <a:xfrm>
            <a:off x="7794874" y="4168349"/>
            <a:ext cx="266160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1100890" y="4620126"/>
            <a:ext cx="7543800" cy="347883"/>
          </a:xfrm>
          <a:custGeom>
            <a:avLst/>
            <a:gdLst>
              <a:gd name="connsiteX0" fmla="*/ 7889621 w 8361725"/>
              <a:gd name="connsiteY0" fmla="*/ 0 h 195381"/>
              <a:gd name="connsiteX1" fmla="*/ 7582816 w 8361725"/>
              <a:gd name="connsiteY1" fmla="*/ 150395 h 195381"/>
              <a:gd name="connsiteX2" fmla="*/ 616532 w 8361725"/>
              <a:gd name="connsiteY2" fmla="*/ 186490 h 195381"/>
              <a:gd name="connsiteX3" fmla="*/ 345821 w 8361725"/>
              <a:gd name="connsiteY3" fmla="*/ 6016 h 195381"/>
              <a:gd name="connsiteX0" fmla="*/ 7819728 w 7982072"/>
              <a:gd name="connsiteY0" fmla="*/ 0 h 206197"/>
              <a:gd name="connsiteX1" fmla="*/ 6544381 w 7982072"/>
              <a:gd name="connsiteY1" fmla="*/ 180474 h 206197"/>
              <a:gd name="connsiteX2" fmla="*/ 546639 w 7982072"/>
              <a:gd name="connsiteY2" fmla="*/ 186490 h 206197"/>
              <a:gd name="connsiteX3" fmla="*/ 275928 w 7982072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52644 w 7878086"/>
              <a:gd name="connsiteY0" fmla="*/ 0 h 209426"/>
              <a:gd name="connsiteX1" fmla="*/ 7034497 w 7878086"/>
              <a:gd name="connsiteY1" fmla="*/ 186490 h 209426"/>
              <a:gd name="connsiteX2" fmla="*/ 579555 w 7878086"/>
              <a:gd name="connsiteY2" fmla="*/ 186490 h 209426"/>
              <a:gd name="connsiteX3" fmla="*/ 308844 w 7878086"/>
              <a:gd name="connsiteY3" fmla="*/ 6016 h 209426"/>
              <a:gd name="connsiteX0" fmla="*/ 7852644 w 7852644"/>
              <a:gd name="connsiteY0" fmla="*/ 0 h 201559"/>
              <a:gd name="connsiteX1" fmla="*/ 7034497 w 7852644"/>
              <a:gd name="connsiteY1" fmla="*/ 186490 h 201559"/>
              <a:gd name="connsiteX2" fmla="*/ 579555 w 7852644"/>
              <a:gd name="connsiteY2" fmla="*/ 186490 h 201559"/>
              <a:gd name="connsiteX3" fmla="*/ 308844 w 7852644"/>
              <a:gd name="connsiteY3" fmla="*/ 6016 h 201559"/>
              <a:gd name="connsiteX0" fmla="*/ 7570072 w 7570072"/>
              <a:gd name="connsiteY0" fmla="*/ 0 h 230193"/>
              <a:gd name="connsiteX1" fmla="*/ 6751925 w 7570072"/>
              <a:gd name="connsiteY1" fmla="*/ 186490 h 230193"/>
              <a:gd name="connsiteX2" fmla="*/ 886530 w 7570072"/>
              <a:gd name="connsiteY2" fmla="*/ 216569 h 230193"/>
              <a:gd name="connsiteX3" fmla="*/ 26272 w 7570072"/>
              <a:gd name="connsiteY3" fmla="*/ 6016 h 230193"/>
              <a:gd name="connsiteX0" fmla="*/ 7543800 w 7543800"/>
              <a:gd name="connsiteY0" fmla="*/ 0 h 219551"/>
              <a:gd name="connsiteX1" fmla="*/ 6725653 w 7543800"/>
              <a:gd name="connsiteY1" fmla="*/ 186490 h 219551"/>
              <a:gd name="connsiteX2" fmla="*/ 860258 w 7543800"/>
              <a:gd name="connsiteY2" fmla="*/ 216569 h 219551"/>
              <a:gd name="connsiteX3" fmla="*/ 0 w 7543800"/>
              <a:gd name="connsiteY3" fmla="*/ 6016 h 219551"/>
              <a:gd name="connsiteX0" fmla="*/ 7543800 w 7550493"/>
              <a:gd name="connsiteY0" fmla="*/ 0 h 224730"/>
              <a:gd name="connsiteX1" fmla="*/ 6725653 w 7550493"/>
              <a:gd name="connsiteY1" fmla="*/ 186490 h 224730"/>
              <a:gd name="connsiteX2" fmla="*/ 673769 w 7550493"/>
              <a:gd name="connsiteY2" fmla="*/ 222585 h 224730"/>
              <a:gd name="connsiteX3" fmla="*/ 0 w 7550493"/>
              <a:gd name="connsiteY3" fmla="*/ 6016 h 224730"/>
              <a:gd name="connsiteX0" fmla="*/ 7543800 w 7543800"/>
              <a:gd name="connsiteY0" fmla="*/ 0 h 224730"/>
              <a:gd name="connsiteX1" fmla="*/ 6725653 w 7543800"/>
              <a:gd name="connsiteY1" fmla="*/ 186490 h 224730"/>
              <a:gd name="connsiteX2" fmla="*/ 673769 w 7543800"/>
              <a:gd name="connsiteY2" fmla="*/ 222585 h 224730"/>
              <a:gd name="connsiteX3" fmla="*/ 0 w 7543800"/>
              <a:gd name="connsiteY3" fmla="*/ 6016 h 224730"/>
              <a:gd name="connsiteX0" fmla="*/ 7543800 w 7543800"/>
              <a:gd name="connsiteY0" fmla="*/ 0 h 222585"/>
              <a:gd name="connsiteX1" fmla="*/ 6725653 w 7543800"/>
              <a:gd name="connsiteY1" fmla="*/ 186490 h 222585"/>
              <a:gd name="connsiteX2" fmla="*/ 673769 w 7543800"/>
              <a:gd name="connsiteY2" fmla="*/ 222585 h 222585"/>
              <a:gd name="connsiteX3" fmla="*/ 0 w 7543800"/>
              <a:gd name="connsiteY3" fmla="*/ 6016 h 222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3800" h="222585">
                <a:moveTo>
                  <a:pt x="7543800" y="0"/>
                </a:moveTo>
                <a:cubicBezTo>
                  <a:pt x="7388893" y="149892"/>
                  <a:pt x="7220952" y="185486"/>
                  <a:pt x="6725653" y="186490"/>
                </a:cubicBezTo>
                <a:lnTo>
                  <a:pt x="673769" y="222585"/>
                </a:lnTo>
                <a:cubicBezTo>
                  <a:pt x="172454" y="216569"/>
                  <a:pt x="0" y="6016"/>
                  <a:pt x="0" y="6016"/>
                </a:cubicBezTo>
              </a:path>
            </a:pathLst>
          </a:custGeom>
          <a:noFill/>
          <a:ln w="28575" cmpd="sng">
            <a:solidFill>
              <a:srgbClr val="0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7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4736306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2411295" y="7923"/>
            <a:ext cx="4751505" cy="683862"/>
          </a:xfrm>
        </p:spPr>
        <p:txBody>
          <a:bodyPr>
            <a:normAutofit fontScale="90000"/>
          </a:bodyPr>
          <a:lstStyle/>
          <a:p>
            <a:r>
              <a:rPr lang="he-IL" dirty="0"/>
              <a:t>הבקר הופך למכונת מצבים (</a:t>
            </a:r>
            <a:r>
              <a:rPr lang="en-US" dirty="0"/>
              <a:t>FSM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100446" y="863017"/>
            <a:ext cx="159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Instruction Fetch</a:t>
            </a:r>
          </a:p>
          <a:p>
            <a:pPr algn="ctr"/>
            <a:r>
              <a:rPr lang="en-US" sz="1600" dirty="0"/>
              <a:t>(IF)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776846" y="786817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 Decode/Register </a:t>
            </a:r>
            <a:br>
              <a:rPr lang="en-US" sz="1600" dirty="0"/>
            </a:br>
            <a:r>
              <a:rPr lang="en-US" sz="1600" dirty="0"/>
              <a:t>Read (ID)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58046" y="863017"/>
            <a:ext cx="2362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ALU Execute</a:t>
            </a:r>
          </a:p>
          <a:p>
            <a:pPr algn="ctr"/>
            <a:r>
              <a:rPr lang="en-US" sz="1600" dirty="0"/>
              <a:t>(EX)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44046" y="863017"/>
            <a:ext cx="1676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Memory Access</a:t>
            </a:r>
          </a:p>
          <a:p>
            <a:pPr algn="ctr"/>
            <a:r>
              <a:rPr lang="en-US" sz="1600" dirty="0"/>
              <a:t>(M)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736611" y="863017"/>
            <a:ext cx="1295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Write Back</a:t>
            </a:r>
          </a:p>
          <a:p>
            <a:pPr algn="ctr"/>
            <a:r>
              <a:rPr lang="en-US" sz="1600" dirty="0"/>
              <a:t>(WB)</a:t>
            </a:r>
          </a:p>
        </p:txBody>
      </p:sp>
      <p:sp>
        <p:nvSpPr>
          <p:cNvPr id="3" name="Oval 2"/>
          <p:cNvSpPr/>
          <p:nvPr/>
        </p:nvSpPr>
        <p:spPr>
          <a:xfrm>
            <a:off x="76200" y="710617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053757" y="710617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4247576" y="710617"/>
            <a:ext cx="1339270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6136410" y="710617"/>
            <a:ext cx="1470275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7872845" y="710617"/>
            <a:ext cx="113091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3" idx="6"/>
            <a:endCxn id="102" idx="2"/>
          </p:cNvCxnSpPr>
          <p:nvPr/>
        </p:nvCxnSpPr>
        <p:spPr>
          <a:xfrm>
            <a:off x="1776846" y="1164216"/>
            <a:ext cx="276911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2" idx="6"/>
            <a:endCxn id="103" idx="2"/>
          </p:cNvCxnSpPr>
          <p:nvPr/>
        </p:nvCxnSpPr>
        <p:spPr>
          <a:xfrm>
            <a:off x="3754403" y="1164216"/>
            <a:ext cx="493173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103" idx="6"/>
            <a:endCxn id="106" idx="2"/>
          </p:cNvCxnSpPr>
          <p:nvPr/>
        </p:nvCxnSpPr>
        <p:spPr>
          <a:xfrm>
            <a:off x="5586846" y="1164216"/>
            <a:ext cx="549564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06" idx="6"/>
            <a:endCxn id="109" idx="2"/>
          </p:cNvCxnSpPr>
          <p:nvPr/>
        </p:nvCxnSpPr>
        <p:spPr>
          <a:xfrm>
            <a:off x="7606685" y="1164216"/>
            <a:ext cx="266160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912701" y="1615993"/>
            <a:ext cx="7543800" cy="347883"/>
          </a:xfrm>
          <a:custGeom>
            <a:avLst/>
            <a:gdLst>
              <a:gd name="connsiteX0" fmla="*/ 7889621 w 8361725"/>
              <a:gd name="connsiteY0" fmla="*/ 0 h 195381"/>
              <a:gd name="connsiteX1" fmla="*/ 7582816 w 8361725"/>
              <a:gd name="connsiteY1" fmla="*/ 150395 h 195381"/>
              <a:gd name="connsiteX2" fmla="*/ 616532 w 8361725"/>
              <a:gd name="connsiteY2" fmla="*/ 186490 h 195381"/>
              <a:gd name="connsiteX3" fmla="*/ 345821 w 8361725"/>
              <a:gd name="connsiteY3" fmla="*/ 6016 h 195381"/>
              <a:gd name="connsiteX0" fmla="*/ 7819728 w 7982072"/>
              <a:gd name="connsiteY0" fmla="*/ 0 h 206197"/>
              <a:gd name="connsiteX1" fmla="*/ 6544381 w 7982072"/>
              <a:gd name="connsiteY1" fmla="*/ 180474 h 206197"/>
              <a:gd name="connsiteX2" fmla="*/ 546639 w 7982072"/>
              <a:gd name="connsiteY2" fmla="*/ 186490 h 206197"/>
              <a:gd name="connsiteX3" fmla="*/ 275928 w 7982072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52644 w 7878086"/>
              <a:gd name="connsiteY0" fmla="*/ 0 h 209426"/>
              <a:gd name="connsiteX1" fmla="*/ 7034497 w 7878086"/>
              <a:gd name="connsiteY1" fmla="*/ 186490 h 209426"/>
              <a:gd name="connsiteX2" fmla="*/ 579555 w 7878086"/>
              <a:gd name="connsiteY2" fmla="*/ 186490 h 209426"/>
              <a:gd name="connsiteX3" fmla="*/ 308844 w 7878086"/>
              <a:gd name="connsiteY3" fmla="*/ 6016 h 209426"/>
              <a:gd name="connsiteX0" fmla="*/ 7852644 w 7852644"/>
              <a:gd name="connsiteY0" fmla="*/ 0 h 201559"/>
              <a:gd name="connsiteX1" fmla="*/ 7034497 w 7852644"/>
              <a:gd name="connsiteY1" fmla="*/ 186490 h 201559"/>
              <a:gd name="connsiteX2" fmla="*/ 579555 w 7852644"/>
              <a:gd name="connsiteY2" fmla="*/ 186490 h 201559"/>
              <a:gd name="connsiteX3" fmla="*/ 308844 w 7852644"/>
              <a:gd name="connsiteY3" fmla="*/ 6016 h 201559"/>
              <a:gd name="connsiteX0" fmla="*/ 7570072 w 7570072"/>
              <a:gd name="connsiteY0" fmla="*/ 0 h 230193"/>
              <a:gd name="connsiteX1" fmla="*/ 6751925 w 7570072"/>
              <a:gd name="connsiteY1" fmla="*/ 186490 h 230193"/>
              <a:gd name="connsiteX2" fmla="*/ 886530 w 7570072"/>
              <a:gd name="connsiteY2" fmla="*/ 216569 h 230193"/>
              <a:gd name="connsiteX3" fmla="*/ 26272 w 7570072"/>
              <a:gd name="connsiteY3" fmla="*/ 6016 h 230193"/>
              <a:gd name="connsiteX0" fmla="*/ 7543800 w 7543800"/>
              <a:gd name="connsiteY0" fmla="*/ 0 h 219551"/>
              <a:gd name="connsiteX1" fmla="*/ 6725653 w 7543800"/>
              <a:gd name="connsiteY1" fmla="*/ 186490 h 219551"/>
              <a:gd name="connsiteX2" fmla="*/ 860258 w 7543800"/>
              <a:gd name="connsiteY2" fmla="*/ 216569 h 219551"/>
              <a:gd name="connsiteX3" fmla="*/ 0 w 7543800"/>
              <a:gd name="connsiteY3" fmla="*/ 6016 h 219551"/>
              <a:gd name="connsiteX0" fmla="*/ 7543800 w 7550493"/>
              <a:gd name="connsiteY0" fmla="*/ 0 h 224730"/>
              <a:gd name="connsiteX1" fmla="*/ 6725653 w 7550493"/>
              <a:gd name="connsiteY1" fmla="*/ 186490 h 224730"/>
              <a:gd name="connsiteX2" fmla="*/ 673769 w 7550493"/>
              <a:gd name="connsiteY2" fmla="*/ 222585 h 224730"/>
              <a:gd name="connsiteX3" fmla="*/ 0 w 7550493"/>
              <a:gd name="connsiteY3" fmla="*/ 6016 h 224730"/>
              <a:gd name="connsiteX0" fmla="*/ 7543800 w 7543800"/>
              <a:gd name="connsiteY0" fmla="*/ 0 h 224730"/>
              <a:gd name="connsiteX1" fmla="*/ 6725653 w 7543800"/>
              <a:gd name="connsiteY1" fmla="*/ 186490 h 224730"/>
              <a:gd name="connsiteX2" fmla="*/ 673769 w 7543800"/>
              <a:gd name="connsiteY2" fmla="*/ 222585 h 224730"/>
              <a:gd name="connsiteX3" fmla="*/ 0 w 7543800"/>
              <a:gd name="connsiteY3" fmla="*/ 6016 h 224730"/>
              <a:gd name="connsiteX0" fmla="*/ 7543800 w 7543800"/>
              <a:gd name="connsiteY0" fmla="*/ 0 h 222585"/>
              <a:gd name="connsiteX1" fmla="*/ 6725653 w 7543800"/>
              <a:gd name="connsiteY1" fmla="*/ 186490 h 222585"/>
              <a:gd name="connsiteX2" fmla="*/ 673769 w 7543800"/>
              <a:gd name="connsiteY2" fmla="*/ 222585 h 222585"/>
              <a:gd name="connsiteX3" fmla="*/ 0 w 7543800"/>
              <a:gd name="connsiteY3" fmla="*/ 6016 h 222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3800" h="222585">
                <a:moveTo>
                  <a:pt x="7543800" y="0"/>
                </a:moveTo>
                <a:cubicBezTo>
                  <a:pt x="7388893" y="149892"/>
                  <a:pt x="7220952" y="185486"/>
                  <a:pt x="6725653" y="186490"/>
                </a:cubicBezTo>
                <a:lnTo>
                  <a:pt x="673769" y="222585"/>
                </a:lnTo>
                <a:cubicBezTo>
                  <a:pt x="172454" y="216569"/>
                  <a:pt x="0" y="6016"/>
                  <a:pt x="0" y="6016"/>
                </a:cubicBezTo>
              </a:path>
            </a:pathLst>
          </a:custGeom>
          <a:noFill/>
          <a:ln w="28575" cmpd="sng">
            <a:solidFill>
              <a:srgbClr val="0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100446" y="3149017"/>
            <a:ext cx="159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Instruction Fetch</a:t>
            </a:r>
          </a:p>
          <a:p>
            <a:pPr algn="ctr"/>
            <a:r>
              <a:rPr lang="en-US" sz="1600" dirty="0"/>
              <a:t>(IF)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76846" y="3072817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 Decode/Register </a:t>
            </a:r>
            <a:br>
              <a:rPr lang="en-US" sz="1600" dirty="0"/>
            </a:br>
            <a:r>
              <a:rPr lang="en-US" sz="1600" dirty="0"/>
              <a:t>Read (ID)</a:t>
            </a:r>
          </a:p>
        </p:txBody>
      </p:sp>
      <p:sp>
        <p:nvSpPr>
          <p:cNvPr id="125" name="Oval 124"/>
          <p:cNvSpPr/>
          <p:nvPr/>
        </p:nvSpPr>
        <p:spPr>
          <a:xfrm>
            <a:off x="76200" y="2996617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053757" y="2996617"/>
            <a:ext cx="1700646" cy="907197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6136410" y="2518470"/>
            <a:ext cx="1470275" cy="630548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M1</a:t>
            </a:r>
          </a:p>
        </p:txBody>
      </p:sp>
      <p:sp>
        <p:nvSpPr>
          <p:cNvPr id="130" name="Oval 129"/>
          <p:cNvSpPr/>
          <p:nvPr/>
        </p:nvSpPr>
        <p:spPr>
          <a:xfrm>
            <a:off x="7901095" y="2500043"/>
            <a:ext cx="1130916" cy="667402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WB</a:t>
            </a:r>
          </a:p>
        </p:txBody>
      </p:sp>
      <p:cxnSp>
        <p:nvCxnSpPr>
          <p:cNvPr id="131" name="Straight Arrow Connector 130"/>
          <p:cNvCxnSpPr>
            <a:stCxn id="125" idx="6"/>
            <a:endCxn id="126" idx="2"/>
          </p:cNvCxnSpPr>
          <p:nvPr/>
        </p:nvCxnSpPr>
        <p:spPr>
          <a:xfrm>
            <a:off x="1776846" y="3450216"/>
            <a:ext cx="276911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26" idx="6"/>
            <a:endCxn id="138" idx="2"/>
          </p:cNvCxnSpPr>
          <p:nvPr/>
        </p:nvCxnSpPr>
        <p:spPr>
          <a:xfrm>
            <a:off x="3754403" y="3450216"/>
            <a:ext cx="546788" cy="16251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38" idx="6"/>
            <a:endCxn id="175" idx="2"/>
          </p:cNvCxnSpPr>
          <p:nvPr/>
        </p:nvCxnSpPr>
        <p:spPr>
          <a:xfrm>
            <a:off x="5640461" y="3466467"/>
            <a:ext cx="495949" cy="41575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9" idx="6"/>
            <a:endCxn id="130" idx="2"/>
          </p:cNvCxnSpPr>
          <p:nvPr/>
        </p:nvCxnSpPr>
        <p:spPr>
          <a:xfrm>
            <a:off x="7606685" y="2833744"/>
            <a:ext cx="294410" cy="0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912701" y="3172528"/>
            <a:ext cx="7584896" cy="1730397"/>
          </a:xfrm>
          <a:custGeom>
            <a:avLst/>
            <a:gdLst>
              <a:gd name="connsiteX0" fmla="*/ 7889621 w 8361725"/>
              <a:gd name="connsiteY0" fmla="*/ 0 h 195381"/>
              <a:gd name="connsiteX1" fmla="*/ 7582816 w 8361725"/>
              <a:gd name="connsiteY1" fmla="*/ 150395 h 195381"/>
              <a:gd name="connsiteX2" fmla="*/ 616532 w 8361725"/>
              <a:gd name="connsiteY2" fmla="*/ 186490 h 195381"/>
              <a:gd name="connsiteX3" fmla="*/ 345821 w 8361725"/>
              <a:gd name="connsiteY3" fmla="*/ 6016 h 195381"/>
              <a:gd name="connsiteX0" fmla="*/ 7819728 w 7982072"/>
              <a:gd name="connsiteY0" fmla="*/ 0 h 206197"/>
              <a:gd name="connsiteX1" fmla="*/ 6544381 w 7982072"/>
              <a:gd name="connsiteY1" fmla="*/ 180474 h 206197"/>
              <a:gd name="connsiteX2" fmla="*/ 546639 w 7982072"/>
              <a:gd name="connsiteY2" fmla="*/ 186490 h 206197"/>
              <a:gd name="connsiteX3" fmla="*/ 275928 w 7982072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19728 w 7819728"/>
              <a:gd name="connsiteY0" fmla="*/ 0 h 206197"/>
              <a:gd name="connsiteX1" fmla="*/ 6544381 w 7819728"/>
              <a:gd name="connsiteY1" fmla="*/ 180474 h 206197"/>
              <a:gd name="connsiteX2" fmla="*/ 546639 w 7819728"/>
              <a:gd name="connsiteY2" fmla="*/ 186490 h 206197"/>
              <a:gd name="connsiteX3" fmla="*/ 275928 w 7819728"/>
              <a:gd name="connsiteY3" fmla="*/ 6016 h 206197"/>
              <a:gd name="connsiteX0" fmla="*/ 7852644 w 7878086"/>
              <a:gd name="connsiteY0" fmla="*/ 0 h 209426"/>
              <a:gd name="connsiteX1" fmla="*/ 7034497 w 7878086"/>
              <a:gd name="connsiteY1" fmla="*/ 186490 h 209426"/>
              <a:gd name="connsiteX2" fmla="*/ 579555 w 7878086"/>
              <a:gd name="connsiteY2" fmla="*/ 186490 h 209426"/>
              <a:gd name="connsiteX3" fmla="*/ 308844 w 7878086"/>
              <a:gd name="connsiteY3" fmla="*/ 6016 h 209426"/>
              <a:gd name="connsiteX0" fmla="*/ 7852644 w 7852644"/>
              <a:gd name="connsiteY0" fmla="*/ 0 h 201559"/>
              <a:gd name="connsiteX1" fmla="*/ 7034497 w 7852644"/>
              <a:gd name="connsiteY1" fmla="*/ 186490 h 201559"/>
              <a:gd name="connsiteX2" fmla="*/ 579555 w 7852644"/>
              <a:gd name="connsiteY2" fmla="*/ 186490 h 201559"/>
              <a:gd name="connsiteX3" fmla="*/ 308844 w 7852644"/>
              <a:gd name="connsiteY3" fmla="*/ 6016 h 201559"/>
              <a:gd name="connsiteX0" fmla="*/ 7570072 w 7570072"/>
              <a:gd name="connsiteY0" fmla="*/ 0 h 230193"/>
              <a:gd name="connsiteX1" fmla="*/ 6751925 w 7570072"/>
              <a:gd name="connsiteY1" fmla="*/ 186490 h 230193"/>
              <a:gd name="connsiteX2" fmla="*/ 886530 w 7570072"/>
              <a:gd name="connsiteY2" fmla="*/ 216569 h 230193"/>
              <a:gd name="connsiteX3" fmla="*/ 26272 w 7570072"/>
              <a:gd name="connsiteY3" fmla="*/ 6016 h 230193"/>
              <a:gd name="connsiteX0" fmla="*/ 7543800 w 7543800"/>
              <a:gd name="connsiteY0" fmla="*/ 0 h 219551"/>
              <a:gd name="connsiteX1" fmla="*/ 6725653 w 7543800"/>
              <a:gd name="connsiteY1" fmla="*/ 186490 h 219551"/>
              <a:gd name="connsiteX2" fmla="*/ 860258 w 7543800"/>
              <a:gd name="connsiteY2" fmla="*/ 216569 h 219551"/>
              <a:gd name="connsiteX3" fmla="*/ 0 w 7543800"/>
              <a:gd name="connsiteY3" fmla="*/ 6016 h 219551"/>
              <a:gd name="connsiteX0" fmla="*/ 7543800 w 7550493"/>
              <a:gd name="connsiteY0" fmla="*/ 0 h 224730"/>
              <a:gd name="connsiteX1" fmla="*/ 6725653 w 7550493"/>
              <a:gd name="connsiteY1" fmla="*/ 186490 h 224730"/>
              <a:gd name="connsiteX2" fmla="*/ 673769 w 7550493"/>
              <a:gd name="connsiteY2" fmla="*/ 222585 h 224730"/>
              <a:gd name="connsiteX3" fmla="*/ 0 w 7550493"/>
              <a:gd name="connsiteY3" fmla="*/ 6016 h 224730"/>
              <a:gd name="connsiteX0" fmla="*/ 7543800 w 7543800"/>
              <a:gd name="connsiteY0" fmla="*/ 0 h 224730"/>
              <a:gd name="connsiteX1" fmla="*/ 6725653 w 7543800"/>
              <a:gd name="connsiteY1" fmla="*/ 186490 h 224730"/>
              <a:gd name="connsiteX2" fmla="*/ 673769 w 7543800"/>
              <a:gd name="connsiteY2" fmla="*/ 222585 h 224730"/>
              <a:gd name="connsiteX3" fmla="*/ 0 w 7543800"/>
              <a:gd name="connsiteY3" fmla="*/ 6016 h 224730"/>
              <a:gd name="connsiteX0" fmla="*/ 7543800 w 7543800"/>
              <a:gd name="connsiteY0" fmla="*/ 0 h 222585"/>
              <a:gd name="connsiteX1" fmla="*/ 6725653 w 7543800"/>
              <a:gd name="connsiteY1" fmla="*/ 186490 h 222585"/>
              <a:gd name="connsiteX2" fmla="*/ 673769 w 7543800"/>
              <a:gd name="connsiteY2" fmla="*/ 222585 h 222585"/>
              <a:gd name="connsiteX3" fmla="*/ 0 w 7543800"/>
              <a:gd name="connsiteY3" fmla="*/ 6016 h 222585"/>
              <a:gd name="connsiteX0" fmla="*/ 7543800 w 7543800"/>
              <a:gd name="connsiteY0" fmla="*/ 0 h 206114"/>
              <a:gd name="connsiteX1" fmla="*/ 6725653 w 7543800"/>
              <a:gd name="connsiteY1" fmla="*/ 186490 h 206114"/>
              <a:gd name="connsiteX2" fmla="*/ 673769 w 7543800"/>
              <a:gd name="connsiteY2" fmla="*/ 204595 h 206114"/>
              <a:gd name="connsiteX3" fmla="*/ 0 w 7543800"/>
              <a:gd name="connsiteY3" fmla="*/ 6016 h 206114"/>
              <a:gd name="connsiteX0" fmla="*/ 7543800 w 7543800"/>
              <a:gd name="connsiteY0" fmla="*/ 0 h 204595"/>
              <a:gd name="connsiteX1" fmla="*/ 6725653 w 7543800"/>
              <a:gd name="connsiteY1" fmla="*/ 186490 h 204595"/>
              <a:gd name="connsiteX2" fmla="*/ 673769 w 7543800"/>
              <a:gd name="connsiteY2" fmla="*/ 204595 h 204595"/>
              <a:gd name="connsiteX3" fmla="*/ 0 w 7543800"/>
              <a:gd name="connsiteY3" fmla="*/ 6016 h 204595"/>
              <a:gd name="connsiteX0" fmla="*/ 7631304 w 7631304"/>
              <a:gd name="connsiteY0" fmla="*/ 0 h 218127"/>
              <a:gd name="connsiteX1" fmla="*/ 6802883 w 7631304"/>
              <a:gd name="connsiteY1" fmla="*/ 193236 h 218127"/>
              <a:gd name="connsiteX2" fmla="*/ 761273 w 7631304"/>
              <a:gd name="connsiteY2" fmla="*/ 204595 h 218127"/>
              <a:gd name="connsiteX3" fmla="*/ 87504 w 7631304"/>
              <a:gd name="connsiteY3" fmla="*/ 6016 h 218127"/>
              <a:gd name="connsiteX0" fmla="*/ 7543800 w 7543800"/>
              <a:gd name="connsiteY0" fmla="*/ 0 h 212149"/>
              <a:gd name="connsiteX1" fmla="*/ 6715379 w 7543800"/>
              <a:gd name="connsiteY1" fmla="*/ 193236 h 212149"/>
              <a:gd name="connsiteX2" fmla="*/ 673769 w 7543800"/>
              <a:gd name="connsiteY2" fmla="*/ 204595 h 212149"/>
              <a:gd name="connsiteX3" fmla="*/ 0 w 7543800"/>
              <a:gd name="connsiteY3" fmla="*/ 6016 h 212149"/>
              <a:gd name="connsiteX0" fmla="*/ 7584896 w 7584896"/>
              <a:gd name="connsiteY0" fmla="*/ 0 h 388452"/>
              <a:gd name="connsiteX1" fmla="*/ 6715379 w 7584896"/>
              <a:gd name="connsiteY1" fmla="*/ 352899 h 388452"/>
              <a:gd name="connsiteX2" fmla="*/ 673769 w 7584896"/>
              <a:gd name="connsiteY2" fmla="*/ 364258 h 388452"/>
              <a:gd name="connsiteX3" fmla="*/ 0 w 7584896"/>
              <a:gd name="connsiteY3" fmla="*/ 165679 h 388452"/>
              <a:gd name="connsiteX0" fmla="*/ 7584896 w 7587703"/>
              <a:gd name="connsiteY0" fmla="*/ 0 h 388452"/>
              <a:gd name="connsiteX1" fmla="*/ 6715379 w 7587703"/>
              <a:gd name="connsiteY1" fmla="*/ 352899 h 388452"/>
              <a:gd name="connsiteX2" fmla="*/ 673769 w 7587703"/>
              <a:gd name="connsiteY2" fmla="*/ 364258 h 388452"/>
              <a:gd name="connsiteX3" fmla="*/ 0 w 7587703"/>
              <a:gd name="connsiteY3" fmla="*/ 165679 h 388452"/>
              <a:gd name="connsiteX0" fmla="*/ 7584896 w 7584896"/>
              <a:gd name="connsiteY0" fmla="*/ 0 h 378744"/>
              <a:gd name="connsiteX1" fmla="*/ 6715379 w 7584896"/>
              <a:gd name="connsiteY1" fmla="*/ 352899 h 378744"/>
              <a:gd name="connsiteX2" fmla="*/ 673769 w 7584896"/>
              <a:gd name="connsiteY2" fmla="*/ 364258 h 378744"/>
              <a:gd name="connsiteX3" fmla="*/ 0 w 7584896"/>
              <a:gd name="connsiteY3" fmla="*/ 165679 h 37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4896" h="378744">
                <a:moveTo>
                  <a:pt x="7584896" y="0"/>
                </a:moveTo>
                <a:cubicBezTo>
                  <a:pt x="7522456" y="172380"/>
                  <a:pt x="7291880" y="316926"/>
                  <a:pt x="6715379" y="352899"/>
                </a:cubicBezTo>
                <a:cubicBezTo>
                  <a:pt x="6138878" y="388872"/>
                  <a:pt x="1135453" y="381968"/>
                  <a:pt x="673769" y="364258"/>
                </a:cubicBezTo>
                <a:cubicBezTo>
                  <a:pt x="212085" y="346548"/>
                  <a:pt x="0" y="165679"/>
                  <a:pt x="0" y="165679"/>
                </a:cubicBezTo>
              </a:path>
            </a:pathLst>
          </a:custGeom>
          <a:noFill/>
          <a:ln w="28575" cmpd="sng">
            <a:solidFill>
              <a:srgbClr val="0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4267800" y="2597923"/>
            <a:ext cx="1339270" cy="474894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EX1</a:t>
            </a:r>
          </a:p>
        </p:txBody>
      </p:sp>
      <p:sp>
        <p:nvSpPr>
          <p:cNvPr id="137" name="Oval 136"/>
          <p:cNvSpPr/>
          <p:nvPr/>
        </p:nvSpPr>
        <p:spPr>
          <a:xfrm>
            <a:off x="4247576" y="3898060"/>
            <a:ext cx="1339270" cy="473784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EX3</a:t>
            </a:r>
          </a:p>
        </p:txBody>
      </p:sp>
      <p:sp>
        <p:nvSpPr>
          <p:cNvPr id="138" name="Oval 137"/>
          <p:cNvSpPr/>
          <p:nvPr/>
        </p:nvSpPr>
        <p:spPr>
          <a:xfrm>
            <a:off x="4301191" y="3149018"/>
            <a:ext cx="1339270" cy="634898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EX2</a:t>
            </a:r>
          </a:p>
        </p:txBody>
      </p:sp>
      <p:cxnSp>
        <p:nvCxnSpPr>
          <p:cNvPr id="146" name="Straight Arrow Connector 145"/>
          <p:cNvCxnSpPr>
            <a:stCxn id="126" idx="6"/>
            <a:endCxn id="136" idx="2"/>
          </p:cNvCxnSpPr>
          <p:nvPr/>
        </p:nvCxnSpPr>
        <p:spPr>
          <a:xfrm flipV="1">
            <a:off x="3754403" y="2835370"/>
            <a:ext cx="513397" cy="614846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endCxn id="137" idx="2"/>
          </p:cNvCxnSpPr>
          <p:nvPr/>
        </p:nvCxnSpPr>
        <p:spPr>
          <a:xfrm>
            <a:off x="3789726" y="3458586"/>
            <a:ext cx="457850" cy="676366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37" idx="6"/>
            <a:endCxn id="178" idx="2"/>
          </p:cNvCxnSpPr>
          <p:nvPr/>
        </p:nvCxnSpPr>
        <p:spPr>
          <a:xfrm>
            <a:off x="5586846" y="4134952"/>
            <a:ext cx="549564" cy="78678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own Arrow 42"/>
          <p:cNvSpPr/>
          <p:nvPr/>
        </p:nvSpPr>
        <p:spPr>
          <a:xfrm>
            <a:off x="4301191" y="2082217"/>
            <a:ext cx="1185209" cy="381000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2857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60" name="Straight Arrow Connector 159"/>
          <p:cNvCxnSpPr>
            <a:stCxn id="136" idx="6"/>
            <a:endCxn id="129" idx="2"/>
          </p:cNvCxnSpPr>
          <p:nvPr/>
        </p:nvCxnSpPr>
        <p:spPr>
          <a:xfrm flipV="1">
            <a:off x="5607070" y="2833744"/>
            <a:ext cx="529340" cy="1626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6136410" y="3192768"/>
            <a:ext cx="1470275" cy="630548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M2</a:t>
            </a:r>
          </a:p>
        </p:txBody>
      </p:sp>
      <p:sp>
        <p:nvSpPr>
          <p:cNvPr id="178" name="Oval 177"/>
          <p:cNvSpPr/>
          <p:nvPr/>
        </p:nvSpPr>
        <p:spPr>
          <a:xfrm>
            <a:off x="6136410" y="3898356"/>
            <a:ext cx="1470275" cy="630548"/>
          </a:xfrm>
          <a:prstGeom prst="ellipse">
            <a:avLst/>
          </a:prstGeom>
          <a:noFill/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M3</a:t>
            </a:r>
          </a:p>
        </p:txBody>
      </p:sp>
      <p:cxnSp>
        <p:nvCxnSpPr>
          <p:cNvPr id="184" name="Straight Arrow Connector 183"/>
          <p:cNvCxnSpPr>
            <a:stCxn id="175" idx="6"/>
            <a:endCxn id="130" idx="2"/>
          </p:cNvCxnSpPr>
          <p:nvPr/>
        </p:nvCxnSpPr>
        <p:spPr>
          <a:xfrm flipV="1">
            <a:off x="7606685" y="2833744"/>
            <a:ext cx="294410" cy="674298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>
            <a:stCxn id="178" idx="6"/>
          </p:cNvCxnSpPr>
          <p:nvPr/>
        </p:nvCxnSpPr>
        <p:spPr>
          <a:xfrm>
            <a:off x="7606685" y="4213630"/>
            <a:ext cx="622915" cy="14177"/>
          </a:xfrm>
          <a:prstGeom prst="straightConnector1">
            <a:avLst/>
          </a:prstGeom>
          <a:ln w="28575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TextBox 460"/>
          <p:cNvSpPr txBox="1"/>
          <p:nvPr/>
        </p:nvSpPr>
        <p:spPr>
          <a:xfrm>
            <a:off x="3611986" y="1495921"/>
            <a:ext cx="9579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 states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770384" y="4390727"/>
            <a:ext cx="441281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Many other variations also possible</a:t>
            </a:r>
          </a:p>
        </p:txBody>
      </p:sp>
    </p:spTree>
    <p:extLst>
      <p:ext uri="{BB962C8B-B14F-4D97-AF65-F5344CB8AC3E}">
        <p14:creationId xmlns:p14="http://schemas.microsoft.com/office/powerpoint/2010/main" val="245917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7788"/>
            <a:ext cx="9144000" cy="612775"/>
          </a:xfrm>
        </p:spPr>
        <p:txBody>
          <a:bodyPr>
            <a:normAutofit/>
          </a:bodyPr>
          <a:lstStyle/>
          <a:p>
            <a:pPr algn="ctr"/>
            <a:r>
              <a:rPr lang="he-IL" altLang="en-US" dirty="0"/>
              <a:t>מכונת המצבים של הבקר -</a:t>
            </a:r>
            <a:r>
              <a:rPr lang="en-US" altLang="en-US" dirty="0"/>
              <a:t>Controller State Machine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48626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548626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8248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lide Number Placeholder 5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594026" y="75550"/>
            <a:ext cx="7815337" cy="80484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הוספת רגיסטרים 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זמניים (</a:t>
            </a:r>
            <a:r>
              <a:rPr lang="en-US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temporary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) </a:t>
            </a:r>
            <a:br>
              <a:rPr lang="en-US" dirty="0"/>
            </a:br>
            <a:r>
              <a:rPr lang="he-IL" sz="2000" dirty="0"/>
              <a:t>(ועוד כמה שינויים...)</a:t>
            </a:r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442430" y="4067684"/>
            <a:ext cx="1995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PCC=PC current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38552" y="4384151"/>
            <a:ext cx="244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IR=Instruction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203059" y="4355850"/>
            <a:ext cx="294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MDR=Memory Data 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52484" y="948519"/>
            <a:ext cx="8755592" cy="3230728"/>
            <a:chOff x="252484" y="948519"/>
            <a:chExt cx="8755592" cy="3230728"/>
          </a:xfrm>
        </p:grpSpPr>
        <p:sp>
          <p:nvSpPr>
            <p:cNvPr id="16" name="Rectangle 1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8" name="Trapezoid 27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/>
              <p:cNvCxnSpPr>
                <a:stCxn id="29" idx="2"/>
                <a:endCxn id="29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69" name="Isosceles Triangle 68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" name="Isosceles Triangle 29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TextBox 7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105027" y="18826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72" name="Trapezoid 71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4" name="Straight Arrow Connector 123"/>
            <p:cNvCxnSpPr>
              <a:stCxn id="1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>
              <a:endCxn id="9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Elbow Connector 163"/>
            <p:cNvCxnSpPr>
              <a:endCxn id="180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179" name="Trapezoid 178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83" name="Straight Connector 182"/>
            <p:cNvCxnSpPr>
              <a:endCxn id="1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Elbow Connector 184"/>
            <p:cNvCxnSpPr>
              <a:stCxn id="19" idx="3"/>
              <a:endCxn id="1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/>
            <p:cNvCxnSpPr>
              <a:stCxn id="7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Elbow Connector 250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lbow Connector 253"/>
            <p:cNvCxnSpPr>
              <a:stCxn id="81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lbow Connector 274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Elbow Connector 30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16" name="Trapezoid 115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94" name="Elbow Connector 393"/>
            <p:cNvCxnSpPr>
              <a:endCxn id="51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Arrow Connector 399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rapezoid 65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68" name="Straight Arrow Connector 467"/>
            <p:cNvCxnSpPr>
              <a:stCxn id="116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Elbow Connector 473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Elbow Connector 512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Box 530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532" name="TextBox 531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26" name="Rectangle 12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28" name="Isosceles Triangle 12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1" name="Group 170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72" name="Rectangle 17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3" name="Isosceles Triangle 17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0" name="Elbow Connector 21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31" name="Rectangle 23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32" name="Isosceles Triangle 23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5" name="Group 174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84" name="Rectangle 1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86" name="Isosceles Triangle 18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7" name="Group 256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58" name="Rectangle 25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59" name="Isosceles Triangle 25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0" name="Straight Connector 279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51" name="Trapezoid 50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51" name="Straight Arrow Connector 150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Freeform 465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Freeform 486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" name="Group 132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34" name="Rectangle 133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35" name="Isosceles Triangle 134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97" name="Freeform 496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Box 507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12" name="Elbow Connector 111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129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2589-3442-136F-473D-4466F772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lide Number Placeholder 510">
            <a:extLst>
              <a:ext uri="{FF2B5EF4-FFF2-40B4-BE49-F238E27FC236}">
                <a16:creationId xmlns:a16="http://schemas.microsoft.com/office/drawing/2014/main" id="{F3A42346-2DAA-35ED-95C6-F5FB1476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1191CE-A5A7-F4F4-0417-94D6D3CBAD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026" y="75550"/>
            <a:ext cx="7815337" cy="80484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הוספת רגיסטרים 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זמניים (</a:t>
            </a:r>
            <a:r>
              <a:rPr lang="en-US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temporary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) </a:t>
            </a:r>
            <a:br>
              <a:rPr lang="en-US" dirty="0"/>
            </a:br>
            <a:r>
              <a:rPr lang="he-IL" sz="2000" dirty="0"/>
              <a:t>(ועוד כמה שינויים...)</a:t>
            </a:r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1CAC5AE-7343-DC49-21A1-538399F46E5A}"/>
              </a:ext>
            </a:extLst>
          </p:cNvPr>
          <p:cNvSpPr txBox="1"/>
          <p:nvPr/>
        </p:nvSpPr>
        <p:spPr>
          <a:xfrm>
            <a:off x="442430" y="4067684"/>
            <a:ext cx="1995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PCC=PC current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6D9109-3A31-4349-C3B8-8A0A7BE560F0}"/>
              </a:ext>
            </a:extLst>
          </p:cNvPr>
          <p:cNvSpPr txBox="1"/>
          <p:nvPr/>
        </p:nvSpPr>
        <p:spPr>
          <a:xfrm>
            <a:off x="438552" y="4384151"/>
            <a:ext cx="244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IR=Instruction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A248BE3-96F9-B6F3-DDEE-48F46AADF99D}"/>
              </a:ext>
            </a:extLst>
          </p:cNvPr>
          <p:cNvSpPr txBox="1"/>
          <p:nvPr/>
        </p:nvSpPr>
        <p:spPr>
          <a:xfrm>
            <a:off x="6203059" y="4355850"/>
            <a:ext cx="294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MDR=Memory Data 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767778-6722-3962-6387-951C6FFBFA7E}"/>
              </a:ext>
            </a:extLst>
          </p:cNvPr>
          <p:cNvGrpSpPr/>
          <p:nvPr/>
        </p:nvGrpSpPr>
        <p:grpSpPr>
          <a:xfrm>
            <a:off x="252484" y="948519"/>
            <a:ext cx="8755592" cy="3230728"/>
            <a:chOff x="252484" y="948519"/>
            <a:chExt cx="8755592" cy="323072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B5BAF0-6479-0FB5-D222-28FB6B7001A5}"/>
                </a:ext>
              </a:extLst>
            </p:cNvPr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71FEC8A-2C61-9717-CC34-4243827B0A3E}"/>
                </a:ext>
              </a:extLst>
            </p:cNvPr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8" name="Trapezoid 27">
                <a:extLst>
                  <a:ext uri="{FF2B5EF4-FFF2-40B4-BE49-F238E27FC236}">
                    <a16:creationId xmlns:a16="http://schemas.microsoft.com/office/drawing/2014/main" id="{05E3ADBE-0095-AC0F-BED0-8C6E0AE15E5D}"/>
                  </a:ext>
                </a:extLst>
              </p:cNvPr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EB29F4F7-6689-762C-B454-91868ADD1134}"/>
                  </a:ext>
                </a:extLst>
              </p:cNvPr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94CF074-AFE7-38D0-BCA8-FF3034333F0C}"/>
                  </a:ext>
                </a:extLst>
              </p:cNvPr>
              <p:cNvCxnSpPr>
                <a:stCxn id="29" idx="2"/>
                <a:endCxn id="29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97ECC1-58E1-B0EE-588E-FFA6CF9D7EB5}"/>
                  </a:ext>
                </a:extLst>
              </p:cNvPr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86EF0D8-1F33-F9E4-8E0B-0DB895926B89}"/>
                </a:ext>
              </a:extLst>
            </p:cNvPr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5A7F4B-9944-4BEA-55B2-A8F8623B7D48}"/>
                  </a:ext>
                </a:extLst>
              </p:cNvPr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7636FA0C-B802-3B3A-A6C1-A8E7277C1642}"/>
                  </a:ext>
                </a:extLst>
              </p:cNvPr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5E9616D5-2CCD-3AF7-C960-CE340DB7C854}"/>
                </a:ext>
              </a:extLst>
            </p:cNvPr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B993E54-41DB-56FA-B49F-2F0576F0E6C4}"/>
                  </a:ext>
                </a:extLst>
              </p:cNvPr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5468657-4F57-EBCB-FE12-7CECAAB019B1}"/>
                    </a:ext>
                  </a:extLst>
                </p:cNvPr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" name="Isosceles Triangle 29">
                  <a:extLst>
                    <a:ext uri="{FF2B5EF4-FFF2-40B4-BE49-F238E27FC236}">
                      <a16:creationId xmlns:a16="http://schemas.microsoft.com/office/drawing/2014/main" id="{01A27211-5FD5-43D0-37CA-3D2221F6F86C}"/>
                    </a:ext>
                  </a:extLst>
                </p:cNvPr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4296DD8-FEA5-3C17-9325-B8B53B2953DE}"/>
                  </a:ext>
                </a:extLst>
              </p:cNvPr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EAEC8F7-06EC-57A4-AAE5-BE7B9F106399}"/>
                  </a:ext>
                </a:extLst>
              </p:cNvPr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70BFC85-32B8-AAC2-DF67-4308BBFC8C61}"/>
                  </a:ext>
                </a:extLst>
              </p:cNvPr>
              <p:cNvSpPr txBox="1"/>
              <p:nvPr/>
            </p:nvSpPr>
            <p:spPr>
              <a:xfrm>
                <a:off x="4105027" y="18826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13D266F-8594-9707-6A40-753B7AC0DC8E}"/>
                  </a:ext>
                </a:extLst>
              </p:cNvPr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2AEE758-8A1C-A0BE-4836-FFE5EB000660}"/>
                  </a:ext>
                </a:extLst>
              </p:cNvPr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FFDE917-3330-AE51-A7F6-6B3D147BAB33}"/>
                  </a:ext>
                </a:extLst>
              </p:cNvPr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05BD121-E2FD-3D6F-2790-BC6F80620A5C}"/>
                </a:ext>
              </a:extLst>
            </p:cNvPr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8765953-BD75-494C-AAC3-36D09492E5B8}"/>
                </a:ext>
              </a:extLst>
            </p:cNvPr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A726E3-F7A6-27E0-037B-C47A3EDDB326}"/>
                </a:ext>
              </a:extLst>
            </p:cNvPr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72" name="Trapezoid 71">
              <a:extLst>
                <a:ext uri="{FF2B5EF4-FFF2-40B4-BE49-F238E27FC236}">
                  <a16:creationId xmlns:a16="http://schemas.microsoft.com/office/drawing/2014/main" id="{1A0BA82D-8465-61EA-4AF7-688842A6ED0E}"/>
                </a:ext>
              </a:extLst>
            </p:cNvPr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F8140551-1F9B-BE71-4B01-D6649DC4A896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2149D542-3210-44B6-E0B5-6A431AFC72B0}"/>
                </a:ext>
              </a:extLst>
            </p:cNvPr>
            <p:cNvCxnSpPr>
              <a:endCxn id="9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93F14E9-5D5D-C9CA-7747-8A03FDC23810}"/>
                </a:ext>
              </a:extLst>
            </p:cNvPr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72B0D04B-869A-CE98-F779-EEFCFFC0658C}"/>
                </a:ext>
              </a:extLst>
            </p:cNvPr>
            <p:cNvCxnSpPr>
              <a:endCxn id="180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447BAD1C-143C-C0ED-454E-1C8099C7E1DE}"/>
                </a:ext>
              </a:extLst>
            </p:cNvPr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179" name="Trapezoid 178">
                <a:extLst>
                  <a:ext uri="{FF2B5EF4-FFF2-40B4-BE49-F238E27FC236}">
                    <a16:creationId xmlns:a16="http://schemas.microsoft.com/office/drawing/2014/main" id="{CDE40ADB-96CF-C5B0-F11C-F0534CF38612}"/>
                  </a:ext>
                </a:extLst>
              </p:cNvPr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5FCA6FB-D111-875C-5929-B3A774AC4711}"/>
                  </a:ext>
                </a:extLst>
              </p:cNvPr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59D676F1-7FFE-4462-4C1A-92CF5CFA936A}"/>
                  </a:ext>
                </a:extLst>
              </p:cNvPr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64D433F-72E2-8231-9C76-06461047FFC3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Elbow Connector 184">
              <a:extLst>
                <a:ext uri="{FF2B5EF4-FFF2-40B4-BE49-F238E27FC236}">
                  <a16:creationId xmlns:a16="http://schemas.microsoft.com/office/drawing/2014/main" id="{7A851C0B-ECD9-3EAF-AAEB-EE378D2CF228}"/>
                </a:ext>
              </a:extLst>
            </p:cNvPr>
            <p:cNvCxnSpPr>
              <a:stCxn id="19" idx="3"/>
              <a:endCxn id="1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31390592-F319-E08E-9068-7D1B506FE36A}"/>
                </a:ext>
              </a:extLst>
            </p:cNvPr>
            <p:cNvCxnSpPr>
              <a:stCxn id="7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Elbow Connector 250">
              <a:extLst>
                <a:ext uri="{FF2B5EF4-FFF2-40B4-BE49-F238E27FC236}">
                  <a16:creationId xmlns:a16="http://schemas.microsoft.com/office/drawing/2014/main" id="{364B0D17-8829-6DFD-3FEA-59D1FA509981}"/>
                </a:ext>
              </a:extLst>
            </p:cNvPr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lbow Connector 253">
              <a:extLst>
                <a:ext uri="{FF2B5EF4-FFF2-40B4-BE49-F238E27FC236}">
                  <a16:creationId xmlns:a16="http://schemas.microsoft.com/office/drawing/2014/main" id="{456814D7-0F87-69CC-0BEE-C171334751B0}"/>
                </a:ext>
              </a:extLst>
            </p:cNvPr>
            <p:cNvCxnSpPr>
              <a:stCxn id="81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lbow Connector 274">
              <a:extLst>
                <a:ext uri="{FF2B5EF4-FFF2-40B4-BE49-F238E27FC236}">
                  <a16:creationId xmlns:a16="http://schemas.microsoft.com/office/drawing/2014/main" id="{54414E7D-2DD8-A56C-6C4E-B9BC8EF81AC1}"/>
                </a:ext>
              </a:extLst>
            </p:cNvPr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Elbow Connector 304">
              <a:extLst>
                <a:ext uri="{FF2B5EF4-FFF2-40B4-BE49-F238E27FC236}">
                  <a16:creationId xmlns:a16="http://schemas.microsoft.com/office/drawing/2014/main" id="{BC4F84DC-595D-48B1-43F9-878DF7A8FF4E}"/>
                </a:ext>
              </a:extLst>
            </p:cNvPr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1EFFE96-F962-83ED-5628-546222B7E81F}"/>
                </a:ext>
              </a:extLst>
            </p:cNvPr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9B595-B147-204F-85C6-34D7DFEF51B5}"/>
                  </a:ext>
                </a:extLst>
              </p:cNvPr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C50B089C-B4E2-C9ED-E227-56CB577ADFE6}"/>
                  </a:ext>
                </a:extLst>
              </p:cNvPr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16" name="Trapezoid 115">
              <a:extLst>
                <a:ext uri="{FF2B5EF4-FFF2-40B4-BE49-F238E27FC236}">
                  <a16:creationId xmlns:a16="http://schemas.microsoft.com/office/drawing/2014/main" id="{D2D58F5F-A743-ABA4-3E8F-49BA52967774}"/>
                </a:ext>
              </a:extLst>
            </p:cNvPr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94" name="Elbow Connector 393">
              <a:extLst>
                <a:ext uri="{FF2B5EF4-FFF2-40B4-BE49-F238E27FC236}">
                  <a16:creationId xmlns:a16="http://schemas.microsoft.com/office/drawing/2014/main" id="{C812FDC3-4B7D-93AB-98D4-AB6850FF372A}"/>
                </a:ext>
              </a:extLst>
            </p:cNvPr>
            <p:cNvCxnSpPr>
              <a:endCxn id="51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0B2A66D5-F39E-6AC2-F63C-F85817EF447F}"/>
                </a:ext>
              </a:extLst>
            </p:cNvPr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316AFCE8-520B-FC3B-890A-E76004CC1598}"/>
                </a:ext>
              </a:extLst>
            </p:cNvPr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rapezoid 65">
              <a:extLst>
                <a:ext uri="{FF2B5EF4-FFF2-40B4-BE49-F238E27FC236}">
                  <a16:creationId xmlns:a16="http://schemas.microsoft.com/office/drawing/2014/main" id="{54117017-F782-FFE7-C5D3-D5FD2E6E0EFF}"/>
                </a:ext>
              </a:extLst>
            </p:cNvPr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68" name="Straight Arrow Connector 467">
              <a:extLst>
                <a:ext uri="{FF2B5EF4-FFF2-40B4-BE49-F238E27FC236}">
                  <a16:creationId xmlns:a16="http://schemas.microsoft.com/office/drawing/2014/main" id="{8E2D91A4-2486-2375-CB04-E5FCAECEEC37}"/>
                </a:ext>
              </a:extLst>
            </p:cNvPr>
            <p:cNvCxnSpPr>
              <a:stCxn id="116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Elbow Connector 473">
              <a:extLst>
                <a:ext uri="{FF2B5EF4-FFF2-40B4-BE49-F238E27FC236}">
                  <a16:creationId xmlns:a16="http://schemas.microsoft.com/office/drawing/2014/main" id="{8C3505D7-E63F-6394-5AF6-59F2802C38CC}"/>
                </a:ext>
              </a:extLst>
            </p:cNvPr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Elbow Connector 512">
              <a:extLst>
                <a:ext uri="{FF2B5EF4-FFF2-40B4-BE49-F238E27FC236}">
                  <a16:creationId xmlns:a16="http://schemas.microsoft.com/office/drawing/2014/main" id="{9B587005-F64E-63D4-B4B6-4821B404838F}"/>
                </a:ext>
              </a:extLst>
            </p:cNvPr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A16F0E19-0BE0-EDA7-D28F-2C985090CE52}"/>
                </a:ext>
              </a:extLst>
            </p:cNvPr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87908E08-E9A5-8E0D-AAFC-40DE6599F52B}"/>
                </a:ext>
              </a:extLst>
            </p:cNvPr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211F7C2-1D05-B43D-9374-7EE748E70B5B}"/>
                </a:ext>
              </a:extLst>
            </p:cNvPr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601A1FA-34F8-DC2E-7D32-95799B519AAA}"/>
                </a:ext>
              </a:extLst>
            </p:cNvPr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29A6EBE-4B49-78EB-1110-CCF47047D9A4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28" name="Isosceles Triangle 127">
                <a:extLst>
                  <a:ext uri="{FF2B5EF4-FFF2-40B4-BE49-F238E27FC236}">
                    <a16:creationId xmlns:a16="http://schemas.microsoft.com/office/drawing/2014/main" id="{2CA4C095-1AFF-B6DE-E84F-07C9348A49CA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DF8F167C-2ADC-F79C-C851-DE1CE5D16365}"/>
                </a:ext>
              </a:extLst>
            </p:cNvPr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B547DD0A-71A8-489C-E82A-6794918A20BA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3" name="Isosceles Triangle 172">
                <a:extLst>
                  <a:ext uri="{FF2B5EF4-FFF2-40B4-BE49-F238E27FC236}">
                    <a16:creationId xmlns:a16="http://schemas.microsoft.com/office/drawing/2014/main" id="{439192AA-0312-8954-4ADB-7C2E51E97B87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BBC74904-34F0-BDB0-FDE5-AE3E59EB1962}"/>
                </a:ext>
              </a:extLst>
            </p:cNvPr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905D932F-AFD6-5286-28C5-973972E8CD05}"/>
                </a:ext>
              </a:extLst>
            </p:cNvPr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7551B30-371C-B216-2AD8-F9A94976DC7C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E0EED194-538B-29E8-93D5-ECCFAFB78A14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D311A4A-6433-2059-62BA-A7B88E536D9A}"/>
                </a:ext>
              </a:extLst>
            </p:cNvPr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1FFF5B7-C8A9-D9DA-388F-A53220516FDF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86" name="Isosceles Triangle 185">
                <a:extLst>
                  <a:ext uri="{FF2B5EF4-FFF2-40B4-BE49-F238E27FC236}">
                    <a16:creationId xmlns:a16="http://schemas.microsoft.com/office/drawing/2014/main" id="{65C03F0D-6B95-2894-889E-A29BB6E4C898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C9F574CA-A627-D011-57DF-043E2DD33708}"/>
                </a:ext>
              </a:extLst>
            </p:cNvPr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BA2138C-F5EE-DD51-F534-4CA859869410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59" name="Isosceles Triangle 258">
                <a:extLst>
                  <a:ext uri="{FF2B5EF4-FFF2-40B4-BE49-F238E27FC236}">
                    <a16:creationId xmlns:a16="http://schemas.microsoft.com/office/drawing/2014/main" id="{EA61A3B7-FF0A-DC51-1AEF-AF354583029B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5F79009A-A1BB-1F73-0425-260C757B0309}"/>
                </a:ext>
              </a:extLst>
            </p:cNvPr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8DAAD16-1FBF-F3F5-056F-EAD0D1D9C7EB}"/>
                </a:ext>
              </a:extLst>
            </p:cNvPr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76DC0C3F-40F4-AD71-9016-05328584D726}"/>
                </a:ext>
              </a:extLst>
            </p:cNvPr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F3748801-559F-EDEA-1E24-288D68B37A85}"/>
                </a:ext>
              </a:extLst>
            </p:cNvPr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F34059-AC9F-2743-3159-F0F465038F33}"/>
                </a:ext>
              </a:extLst>
            </p:cNvPr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008F79AF-4F97-3AB0-76C0-0A7CDD65BA22}"/>
                </a:ext>
              </a:extLst>
            </p:cNvPr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27FE069A-5530-EEAA-A419-C37EC1C65595}"/>
                </a:ext>
              </a:extLst>
            </p:cNvPr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BC79871-64E6-402A-645C-EE37C3FDF36F}"/>
                </a:ext>
              </a:extLst>
            </p:cNvPr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D18C662-63D3-703D-E869-EAE14E976EF3}"/>
                </a:ext>
              </a:extLst>
            </p:cNvPr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4D30E221-A663-8E1C-5201-828A11664328}"/>
                  </a:ext>
                </a:extLst>
              </p:cNvPr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4812FE2-5899-C314-E508-646232D2C339}"/>
                  </a:ext>
                </a:extLst>
              </p:cNvPr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56A71075-B49D-8425-5AC5-EF3B9D962A3E}"/>
                </a:ext>
              </a:extLst>
            </p:cNvPr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758143-6E2A-0784-5346-154BE494ECEE}"/>
                </a:ext>
              </a:extLst>
            </p:cNvPr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14250D9-C334-55B8-CD44-7BD48FDE6DA1}"/>
                </a:ext>
              </a:extLst>
            </p:cNvPr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497C8F-4FA1-EE9D-BA4C-BC8794D1FEF7}"/>
                </a:ext>
              </a:extLst>
            </p:cNvPr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3CA06C3-AD33-D577-648D-799B0744728D}"/>
                </a:ext>
              </a:extLst>
            </p:cNvPr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EB55186B-E327-2714-5D1F-00B882F2DBE8}"/>
                </a:ext>
              </a:extLst>
            </p:cNvPr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14F6DFCF-D7C2-7CC4-8C82-290D3A1299F6}"/>
                </a:ext>
              </a:extLst>
            </p:cNvPr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831C9911-6DD1-C9DC-6274-C7E1A861C018}"/>
                </a:ext>
              </a:extLst>
            </p:cNvPr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12C4D3E1-65D1-CEA0-C333-78017C599E14}"/>
                </a:ext>
              </a:extLst>
            </p:cNvPr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BB26A897-417F-E501-608C-812F35D85091}"/>
                </a:ext>
              </a:extLst>
            </p:cNvPr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C3511C5B-32E8-61E1-AFD9-3FBA75FE9FB1}"/>
                  </a:ext>
                </a:extLst>
              </p:cNvPr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35" name="Isosceles Triangle 134">
                <a:extLst>
                  <a:ext uri="{FF2B5EF4-FFF2-40B4-BE49-F238E27FC236}">
                    <a16:creationId xmlns:a16="http://schemas.microsoft.com/office/drawing/2014/main" id="{3092C8F5-6EC4-AF5C-8313-24FA44897BE5}"/>
                  </a:ext>
                </a:extLst>
              </p:cNvPr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11935143-67E7-CC00-7004-B04CD1374ADE}"/>
                </a:ext>
              </a:extLst>
            </p:cNvPr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771849CC-F493-6E96-C778-7B73F79B2A7C}"/>
                </a:ext>
              </a:extLst>
            </p:cNvPr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7C4F10C-FADA-AEF9-5E5E-DA012C5A52D6}"/>
                </a:ext>
              </a:extLst>
            </p:cNvPr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12" name="Elbow Connector 111">
              <a:extLst>
                <a:ext uri="{FF2B5EF4-FFF2-40B4-BE49-F238E27FC236}">
                  <a16:creationId xmlns:a16="http://schemas.microsoft.com/office/drawing/2014/main" id="{350744A4-0670-19FB-95FB-3C936252522F}"/>
                </a:ext>
              </a:extLst>
            </p:cNvPr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3ECF21CF-5806-105F-2E03-9A9A3311FE50}"/>
              </a:ext>
            </a:extLst>
          </p:cNvPr>
          <p:cNvSpPr/>
          <p:nvPr/>
        </p:nvSpPr>
        <p:spPr>
          <a:xfrm>
            <a:off x="1374352" y="1057177"/>
            <a:ext cx="1064048" cy="828773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D161FD-DB67-DC7F-31C9-7E90FE9D6C5F}"/>
              </a:ext>
            </a:extLst>
          </p:cNvPr>
          <p:cNvSpPr/>
          <p:nvPr/>
        </p:nvSpPr>
        <p:spPr>
          <a:xfrm>
            <a:off x="2535297" y="2867585"/>
            <a:ext cx="542369" cy="945104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9048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FAA8-B02B-CC3E-AF63-58A4BA62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lide Number Placeholder 510">
            <a:extLst>
              <a:ext uri="{FF2B5EF4-FFF2-40B4-BE49-F238E27FC236}">
                <a16:creationId xmlns:a16="http://schemas.microsoft.com/office/drawing/2014/main" id="{A7F5B8AF-BBF4-AAA9-0CB3-4E85438E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559C34-C573-2873-AB31-83C3FA52A5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026" y="75550"/>
            <a:ext cx="7815337" cy="80484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הוספת רגיסטרים 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זמניים (</a:t>
            </a:r>
            <a:r>
              <a:rPr lang="en-US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temporary</a:t>
            </a:r>
            <a:r>
              <a:rPr lang="he-IL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) </a:t>
            </a:r>
            <a:br>
              <a:rPr lang="en-US" dirty="0"/>
            </a:br>
            <a:r>
              <a:rPr lang="he-IL" sz="2000" dirty="0"/>
              <a:t>(ועוד כמה שינויים...)</a:t>
            </a:r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51E71A1-8BC9-1BCA-52F2-7C626FF9FE95}"/>
              </a:ext>
            </a:extLst>
          </p:cNvPr>
          <p:cNvSpPr txBox="1"/>
          <p:nvPr/>
        </p:nvSpPr>
        <p:spPr>
          <a:xfrm>
            <a:off x="442430" y="4067684"/>
            <a:ext cx="1995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PCC=PC current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1B1A228-C03E-C9ED-F7DD-090E3C1C99AE}"/>
              </a:ext>
            </a:extLst>
          </p:cNvPr>
          <p:cNvSpPr txBox="1"/>
          <p:nvPr/>
        </p:nvSpPr>
        <p:spPr>
          <a:xfrm>
            <a:off x="438552" y="4384151"/>
            <a:ext cx="244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IR=Instruction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E6CD863-CE30-670C-3109-06B0810AEC70}"/>
              </a:ext>
            </a:extLst>
          </p:cNvPr>
          <p:cNvSpPr txBox="1"/>
          <p:nvPr/>
        </p:nvSpPr>
        <p:spPr>
          <a:xfrm>
            <a:off x="6203059" y="4355850"/>
            <a:ext cx="294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MDR=Memory Data  Register</a:t>
            </a:r>
            <a:endParaRPr lang="en-US" baseline="-25000" dirty="0">
              <a:solidFill>
                <a:srgbClr val="7030A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939C9B-B24E-2201-4E38-5A208174D50B}"/>
              </a:ext>
            </a:extLst>
          </p:cNvPr>
          <p:cNvGrpSpPr/>
          <p:nvPr/>
        </p:nvGrpSpPr>
        <p:grpSpPr>
          <a:xfrm>
            <a:off x="252484" y="948519"/>
            <a:ext cx="8755592" cy="3230728"/>
            <a:chOff x="252484" y="948519"/>
            <a:chExt cx="8755592" cy="323072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1870731-0C9E-E3D0-B017-57C7696CA963}"/>
                </a:ext>
              </a:extLst>
            </p:cNvPr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0AB473B-90A8-B708-81FF-4C094FE1E919}"/>
                </a:ext>
              </a:extLst>
            </p:cNvPr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8" name="Trapezoid 27">
                <a:extLst>
                  <a:ext uri="{FF2B5EF4-FFF2-40B4-BE49-F238E27FC236}">
                    <a16:creationId xmlns:a16="http://schemas.microsoft.com/office/drawing/2014/main" id="{AC1F4916-9154-FD52-6A09-E7BD3E40AD24}"/>
                  </a:ext>
                </a:extLst>
              </p:cNvPr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8972556B-C584-7B3F-E4BE-5A5EB9188B26}"/>
                  </a:ext>
                </a:extLst>
              </p:cNvPr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79E8BB5-24FC-DCDE-3253-676EBBC3BBC8}"/>
                  </a:ext>
                </a:extLst>
              </p:cNvPr>
              <p:cNvCxnSpPr>
                <a:stCxn id="29" idx="2"/>
                <a:endCxn id="29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8F978CE-E1BE-F9B0-3811-A4CBB8250366}"/>
                  </a:ext>
                </a:extLst>
              </p:cNvPr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31DC999-CB42-9C48-7B60-015974F426E1}"/>
                </a:ext>
              </a:extLst>
            </p:cNvPr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B80BB6D-2085-0AC5-4D3B-05E784A5AF8A}"/>
                  </a:ext>
                </a:extLst>
              </p:cNvPr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6C4C0972-B384-D004-C344-68F14D809AEA}"/>
                  </a:ext>
                </a:extLst>
              </p:cNvPr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BE8BEA55-AD73-1A71-7D3E-0392FCEFEF8A}"/>
                </a:ext>
              </a:extLst>
            </p:cNvPr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319BBC5-3270-602A-50E9-8B58BA799581}"/>
                  </a:ext>
                </a:extLst>
              </p:cNvPr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59AD29B-D4E4-3B8A-0A47-5B855425E7DE}"/>
                    </a:ext>
                  </a:extLst>
                </p:cNvPr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" name="Isosceles Triangle 29">
                  <a:extLst>
                    <a:ext uri="{FF2B5EF4-FFF2-40B4-BE49-F238E27FC236}">
                      <a16:creationId xmlns:a16="http://schemas.microsoft.com/office/drawing/2014/main" id="{22A81DBF-9BBC-D0D3-ABC8-F137824A620D}"/>
                    </a:ext>
                  </a:extLst>
                </p:cNvPr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65344AC-96CC-2942-29F2-208FE1D4FC7F}"/>
                  </a:ext>
                </a:extLst>
              </p:cNvPr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6AC56D2-D5C9-ACFF-F420-525A881DB730}"/>
                  </a:ext>
                </a:extLst>
              </p:cNvPr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DBD45A-BEBB-71E9-2558-84A193E626EF}"/>
                  </a:ext>
                </a:extLst>
              </p:cNvPr>
              <p:cNvSpPr txBox="1"/>
              <p:nvPr/>
            </p:nvSpPr>
            <p:spPr>
              <a:xfrm>
                <a:off x="4105027" y="18826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FDAFAD0-789E-F684-66AD-5492DAD0BF57}"/>
                  </a:ext>
                </a:extLst>
              </p:cNvPr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7485E22-E11F-AEC3-E735-9D64D690CF83}"/>
                  </a:ext>
                </a:extLst>
              </p:cNvPr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C617A4E-5197-4274-03A8-C1DDB39C9535}"/>
                  </a:ext>
                </a:extLst>
              </p:cNvPr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507B119-9826-F85A-0D2D-09550C12C3B1}"/>
                </a:ext>
              </a:extLst>
            </p:cNvPr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5B84D6F-0840-586A-5CAF-8475301AC552}"/>
                </a:ext>
              </a:extLst>
            </p:cNvPr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0A4DCBE-4F6F-B090-13CC-E78BB80010FA}"/>
                </a:ext>
              </a:extLst>
            </p:cNvPr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72" name="Trapezoid 71">
              <a:extLst>
                <a:ext uri="{FF2B5EF4-FFF2-40B4-BE49-F238E27FC236}">
                  <a16:creationId xmlns:a16="http://schemas.microsoft.com/office/drawing/2014/main" id="{E20987C4-20FB-2BB1-43B9-F5B018DC1E8E}"/>
                </a:ext>
              </a:extLst>
            </p:cNvPr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D62EE86-DB94-A804-CF3D-47FADF229898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DDD321AB-7532-DED6-10A1-FFB6A15E93A6}"/>
                </a:ext>
              </a:extLst>
            </p:cNvPr>
            <p:cNvCxnSpPr>
              <a:endCxn id="9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8DFBCC4-5A46-D704-C39C-23E05912BFA0}"/>
                </a:ext>
              </a:extLst>
            </p:cNvPr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598F96A7-E2B0-07C7-A5A6-BCCF6BE39436}"/>
                </a:ext>
              </a:extLst>
            </p:cNvPr>
            <p:cNvCxnSpPr>
              <a:endCxn id="180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8A6FE100-0C4E-797B-6BD8-EF5868476EAB}"/>
                </a:ext>
              </a:extLst>
            </p:cNvPr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179" name="Trapezoid 178">
                <a:extLst>
                  <a:ext uri="{FF2B5EF4-FFF2-40B4-BE49-F238E27FC236}">
                    <a16:creationId xmlns:a16="http://schemas.microsoft.com/office/drawing/2014/main" id="{32FA17C3-4FF2-34D2-FD55-C019F79EE6FE}"/>
                  </a:ext>
                </a:extLst>
              </p:cNvPr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B1E0BE7-B407-86F2-4C2A-8CB869C72947}"/>
                  </a:ext>
                </a:extLst>
              </p:cNvPr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417569E-7E48-D69C-69B0-1BA9CA5B7A4E}"/>
                  </a:ext>
                </a:extLst>
              </p:cNvPr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61E9246-8166-3BB5-4328-CF02C58F797E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Elbow Connector 184">
              <a:extLst>
                <a:ext uri="{FF2B5EF4-FFF2-40B4-BE49-F238E27FC236}">
                  <a16:creationId xmlns:a16="http://schemas.microsoft.com/office/drawing/2014/main" id="{1E05A008-0CD0-0AAA-F5CB-CF9D3C89A167}"/>
                </a:ext>
              </a:extLst>
            </p:cNvPr>
            <p:cNvCxnSpPr>
              <a:stCxn id="19" idx="3"/>
              <a:endCxn id="1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DF88B386-CC9E-5AA1-7AE1-C01BD9E7BD5F}"/>
                </a:ext>
              </a:extLst>
            </p:cNvPr>
            <p:cNvCxnSpPr>
              <a:stCxn id="7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Elbow Connector 250">
              <a:extLst>
                <a:ext uri="{FF2B5EF4-FFF2-40B4-BE49-F238E27FC236}">
                  <a16:creationId xmlns:a16="http://schemas.microsoft.com/office/drawing/2014/main" id="{6569628F-D070-1E20-7A53-8C7D8674C289}"/>
                </a:ext>
              </a:extLst>
            </p:cNvPr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lbow Connector 253">
              <a:extLst>
                <a:ext uri="{FF2B5EF4-FFF2-40B4-BE49-F238E27FC236}">
                  <a16:creationId xmlns:a16="http://schemas.microsoft.com/office/drawing/2014/main" id="{C2D89D95-5607-EA27-D33E-FEF14BC6211E}"/>
                </a:ext>
              </a:extLst>
            </p:cNvPr>
            <p:cNvCxnSpPr>
              <a:stCxn id="81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lbow Connector 274">
              <a:extLst>
                <a:ext uri="{FF2B5EF4-FFF2-40B4-BE49-F238E27FC236}">
                  <a16:creationId xmlns:a16="http://schemas.microsoft.com/office/drawing/2014/main" id="{DC8B1A62-8C88-ADCE-324B-E07169E1E39A}"/>
                </a:ext>
              </a:extLst>
            </p:cNvPr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Elbow Connector 304">
              <a:extLst>
                <a:ext uri="{FF2B5EF4-FFF2-40B4-BE49-F238E27FC236}">
                  <a16:creationId xmlns:a16="http://schemas.microsoft.com/office/drawing/2014/main" id="{C8C11F79-F53E-1A1D-0C04-A4566F336FC1}"/>
                </a:ext>
              </a:extLst>
            </p:cNvPr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522A259-5356-A5EB-DBFE-851D3D2F1807}"/>
                </a:ext>
              </a:extLst>
            </p:cNvPr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4CF776-4B2F-3A24-A199-6838FB833CCA}"/>
                  </a:ext>
                </a:extLst>
              </p:cNvPr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351093A3-A04B-9123-1167-FDD3F6E935C3}"/>
                  </a:ext>
                </a:extLst>
              </p:cNvPr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16" name="Trapezoid 115">
              <a:extLst>
                <a:ext uri="{FF2B5EF4-FFF2-40B4-BE49-F238E27FC236}">
                  <a16:creationId xmlns:a16="http://schemas.microsoft.com/office/drawing/2014/main" id="{75DD9D54-1D52-A5A0-19D6-F3D2224B663B}"/>
                </a:ext>
              </a:extLst>
            </p:cNvPr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94" name="Elbow Connector 393">
              <a:extLst>
                <a:ext uri="{FF2B5EF4-FFF2-40B4-BE49-F238E27FC236}">
                  <a16:creationId xmlns:a16="http://schemas.microsoft.com/office/drawing/2014/main" id="{D8BEF786-1760-CCBE-6EF0-9CD8F4CF3409}"/>
                </a:ext>
              </a:extLst>
            </p:cNvPr>
            <p:cNvCxnSpPr>
              <a:endCxn id="51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B67BF1ED-DE67-AC1C-06EC-B47676A39A16}"/>
                </a:ext>
              </a:extLst>
            </p:cNvPr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3C55798D-8527-5E3E-795B-FB518372D673}"/>
                </a:ext>
              </a:extLst>
            </p:cNvPr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rapezoid 65">
              <a:extLst>
                <a:ext uri="{FF2B5EF4-FFF2-40B4-BE49-F238E27FC236}">
                  <a16:creationId xmlns:a16="http://schemas.microsoft.com/office/drawing/2014/main" id="{C7455A38-4865-E4CF-2F0E-65D815C4E979}"/>
                </a:ext>
              </a:extLst>
            </p:cNvPr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68" name="Straight Arrow Connector 467">
              <a:extLst>
                <a:ext uri="{FF2B5EF4-FFF2-40B4-BE49-F238E27FC236}">
                  <a16:creationId xmlns:a16="http://schemas.microsoft.com/office/drawing/2014/main" id="{B37D461E-A066-2D5E-8B74-0D634DC39050}"/>
                </a:ext>
              </a:extLst>
            </p:cNvPr>
            <p:cNvCxnSpPr>
              <a:stCxn id="116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Elbow Connector 473">
              <a:extLst>
                <a:ext uri="{FF2B5EF4-FFF2-40B4-BE49-F238E27FC236}">
                  <a16:creationId xmlns:a16="http://schemas.microsoft.com/office/drawing/2014/main" id="{CE286231-3936-C74B-DB77-CEA11CFB6099}"/>
                </a:ext>
              </a:extLst>
            </p:cNvPr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Elbow Connector 512">
              <a:extLst>
                <a:ext uri="{FF2B5EF4-FFF2-40B4-BE49-F238E27FC236}">
                  <a16:creationId xmlns:a16="http://schemas.microsoft.com/office/drawing/2014/main" id="{D65594CF-7E9E-23BB-4B48-0DE1D50EA945}"/>
                </a:ext>
              </a:extLst>
            </p:cNvPr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A7F203E8-6D8F-B9DE-DC05-9684C94A9D1E}"/>
                </a:ext>
              </a:extLst>
            </p:cNvPr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554D267C-8649-38E4-0A5E-70BC3C532B46}"/>
                </a:ext>
              </a:extLst>
            </p:cNvPr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7E224C-8D72-3438-7E88-C89A3CC8FE31}"/>
                </a:ext>
              </a:extLst>
            </p:cNvPr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72872C-FA44-8AA4-96EF-64A3B07B34C8}"/>
                </a:ext>
              </a:extLst>
            </p:cNvPr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A1908FC-57A2-5144-38FC-75B058027F55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28" name="Isosceles Triangle 127">
                <a:extLst>
                  <a:ext uri="{FF2B5EF4-FFF2-40B4-BE49-F238E27FC236}">
                    <a16:creationId xmlns:a16="http://schemas.microsoft.com/office/drawing/2014/main" id="{9D757C9A-C3C2-F979-A0E7-645DDA1374FA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99363B5E-5F36-0834-E9AE-EDCAB110E396}"/>
                </a:ext>
              </a:extLst>
            </p:cNvPr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A0D9B36B-EC01-B281-7573-CA45A54D0010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3" name="Isosceles Triangle 172">
                <a:extLst>
                  <a:ext uri="{FF2B5EF4-FFF2-40B4-BE49-F238E27FC236}">
                    <a16:creationId xmlns:a16="http://schemas.microsoft.com/office/drawing/2014/main" id="{A977388C-7D1E-463E-D260-90528ED31F29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4EBA7562-66A0-38DE-94CE-7C22B7387750}"/>
                </a:ext>
              </a:extLst>
            </p:cNvPr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1D7312D-4293-D1E3-022E-558B772F8BBD}"/>
                </a:ext>
              </a:extLst>
            </p:cNvPr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7F8F0801-3574-C40D-C5C4-E1C69250FD99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D7B66878-D405-FC2C-28A7-AA60A28BAE1B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7A90DCF-BD25-0B19-FC92-FAB3CCA73E75}"/>
                </a:ext>
              </a:extLst>
            </p:cNvPr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1387A75-76F4-04BE-5540-28B000AAB83D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86" name="Isosceles Triangle 185">
                <a:extLst>
                  <a:ext uri="{FF2B5EF4-FFF2-40B4-BE49-F238E27FC236}">
                    <a16:creationId xmlns:a16="http://schemas.microsoft.com/office/drawing/2014/main" id="{96AEEB69-86D7-34BE-94B6-735FA6B39D4E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894CBD03-C800-6845-DD4B-BEA04BB15634}"/>
                </a:ext>
              </a:extLst>
            </p:cNvPr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A118194E-9C09-1E57-0367-F01A1FB12F56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59" name="Isosceles Triangle 258">
                <a:extLst>
                  <a:ext uri="{FF2B5EF4-FFF2-40B4-BE49-F238E27FC236}">
                    <a16:creationId xmlns:a16="http://schemas.microsoft.com/office/drawing/2014/main" id="{27108316-30B0-7DAC-08DE-88779FD56658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CE8F82F4-6CC7-2B9F-9CCE-5F10B5DABF30}"/>
                </a:ext>
              </a:extLst>
            </p:cNvPr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911F82C-F552-C2D8-4532-8C391ADD81DC}"/>
                </a:ext>
              </a:extLst>
            </p:cNvPr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5756F4B6-D7B5-63B3-0BC1-8E598D5011FF}"/>
                </a:ext>
              </a:extLst>
            </p:cNvPr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5994BA92-8E0D-ABB5-6B2F-B567ABAF4537}"/>
                </a:ext>
              </a:extLst>
            </p:cNvPr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DD1BD5BE-8071-B519-6FAF-462E7E3B2DDE}"/>
                </a:ext>
              </a:extLst>
            </p:cNvPr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4DC63B9A-C149-785F-1983-0B8D1B663FC0}"/>
                </a:ext>
              </a:extLst>
            </p:cNvPr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CAB17FB1-72E4-CC4E-0A9E-BA5F09F00635}"/>
                </a:ext>
              </a:extLst>
            </p:cNvPr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49F79DA-CB5D-829A-9515-8A073EDD14D8}"/>
                </a:ext>
              </a:extLst>
            </p:cNvPr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BBC2ED7-03E3-63EB-6D5C-21950ADB947C}"/>
                </a:ext>
              </a:extLst>
            </p:cNvPr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6EC9EAB4-0798-D0E4-F618-EBD72845287C}"/>
                  </a:ext>
                </a:extLst>
              </p:cNvPr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96482B-ABAD-4B5E-F67D-C6EEC17FBE4F}"/>
                  </a:ext>
                </a:extLst>
              </p:cNvPr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AC1E2FEC-0DD5-7004-91EE-CB3A68F066E0}"/>
                </a:ext>
              </a:extLst>
            </p:cNvPr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0981700-6611-2998-041A-A421A6A36FA0}"/>
                </a:ext>
              </a:extLst>
            </p:cNvPr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BCD0D79-ECFB-F91A-8284-282D1BB84635}"/>
                </a:ext>
              </a:extLst>
            </p:cNvPr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8CFAD7-48D8-C30E-2A4E-258546BD7B82}"/>
                </a:ext>
              </a:extLst>
            </p:cNvPr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2789245-BA2B-D1E4-37D1-CC5E0D79380B}"/>
                </a:ext>
              </a:extLst>
            </p:cNvPr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8BA3213A-4DFB-5BE4-EBD8-A4EC8D642B43}"/>
                </a:ext>
              </a:extLst>
            </p:cNvPr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42D74A52-BAD1-D134-329A-9D6146FF0D05}"/>
                </a:ext>
              </a:extLst>
            </p:cNvPr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A3BDD344-F41E-02E1-5845-479F6718EF28}"/>
                </a:ext>
              </a:extLst>
            </p:cNvPr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00D0AC15-1C72-D599-65C5-44B34A713104}"/>
                </a:ext>
              </a:extLst>
            </p:cNvPr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D7D84AA9-B26B-B10A-D66B-DA9DA5CE3DC3}"/>
                </a:ext>
              </a:extLst>
            </p:cNvPr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215D2FD-6222-DA0A-29E2-56485BF17A75}"/>
                  </a:ext>
                </a:extLst>
              </p:cNvPr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35" name="Isosceles Triangle 134">
                <a:extLst>
                  <a:ext uri="{FF2B5EF4-FFF2-40B4-BE49-F238E27FC236}">
                    <a16:creationId xmlns:a16="http://schemas.microsoft.com/office/drawing/2014/main" id="{EF782E6C-4256-2C4C-6C0A-F85E4073A7E0}"/>
                  </a:ext>
                </a:extLst>
              </p:cNvPr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6DF88919-8A63-46B5-7184-8671ED7BBDFE}"/>
                </a:ext>
              </a:extLst>
            </p:cNvPr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ACAA0F08-40B5-3441-D285-3111E76ABFCD}"/>
                </a:ext>
              </a:extLst>
            </p:cNvPr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D5358293-B09C-F3D4-B2E0-94012A623916}"/>
                </a:ext>
              </a:extLst>
            </p:cNvPr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12" name="Elbow Connector 111">
              <a:extLst>
                <a:ext uri="{FF2B5EF4-FFF2-40B4-BE49-F238E27FC236}">
                  <a16:creationId xmlns:a16="http://schemas.microsoft.com/office/drawing/2014/main" id="{B3F1E0A4-D3EC-134C-0084-84363B61E381}"/>
                </a:ext>
              </a:extLst>
            </p:cNvPr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E1701D14-9B36-5ACE-84FE-5E823A2E93D0}"/>
              </a:ext>
            </a:extLst>
          </p:cNvPr>
          <p:cNvSpPr/>
          <p:nvPr/>
        </p:nvSpPr>
        <p:spPr>
          <a:xfrm>
            <a:off x="5084684" y="2140180"/>
            <a:ext cx="1061542" cy="146237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6044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/>
          <p:cNvGrpSpPr/>
          <p:nvPr/>
        </p:nvGrpSpPr>
        <p:grpSpPr>
          <a:xfrm>
            <a:off x="312208" y="1472617"/>
            <a:ext cx="8755592" cy="3230728"/>
            <a:chOff x="252484" y="948519"/>
            <a:chExt cx="8755592" cy="3230728"/>
          </a:xfrm>
        </p:grpSpPr>
        <p:sp>
          <p:nvSpPr>
            <p:cNvPr id="122" name="Rectangle 121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23" name="Trapezoid 322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24" name="Isosceles Triangle 323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25" name="Straight Connector 324"/>
              <p:cNvCxnSpPr>
                <a:stCxn id="324" idx="2"/>
                <a:endCxn id="324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6" name="TextBox 325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21" name="Rectangle 320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22" name="Isosceles Triangle 321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1" name="Group 130"/>
            <p:cNvGrpSpPr/>
            <p:nvPr/>
          </p:nvGrpSpPr>
          <p:grpSpPr>
            <a:xfrm>
              <a:off x="3396413" y="2161316"/>
              <a:ext cx="856323" cy="1447800"/>
              <a:chOff x="3657600" y="1428750"/>
              <a:chExt cx="856323" cy="1447800"/>
            </a:xfrm>
          </p:grpSpPr>
          <p:grpSp>
            <p:nvGrpSpPr>
              <p:cNvPr id="312" name="Group 311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19" name="Rectangle 318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20" name="Isosceles Triangle 319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3" name="TextBox 312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14" name="TextBox 313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15" name="TextBox 314"/>
              <p:cNvSpPr txBox="1"/>
              <p:nvPr/>
            </p:nvSpPr>
            <p:spPr>
              <a:xfrm>
                <a:off x="4089191" y="1875285"/>
                <a:ext cx="4247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r>
                  <a:rPr lang="en-US" sz="1200" dirty="0"/>
                  <a:t>`</a:t>
                </a:r>
              </a:p>
            </p:txBody>
          </p:sp>
          <p:sp>
            <p:nvSpPr>
              <p:cNvPr id="316" name="TextBox 315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17" name="TextBox 316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18" name="TextBox 317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32" name="TextBox 131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5" name="Trapezoid 134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6" name="Straight Arrow Connector 135"/>
            <p:cNvCxnSpPr>
              <a:stCxn id="321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endCxn id="132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Elbow Connector 138"/>
            <p:cNvCxnSpPr>
              <a:endCxn id="310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09" name="Trapezoid 308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11" name="TextBox 310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41" name="Straight Connector 140"/>
            <p:cNvCxnSpPr>
              <a:endCxn id="307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>
              <a:stCxn id="307" idx="3"/>
              <a:endCxn id="122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35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Elbow Connector 143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lbow Connector 148"/>
            <p:cNvCxnSpPr>
              <a:stCxn id="317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lbow Connector 164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Elbow Connector 181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7" name="Group 236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307" name="Rectangle 306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8" name="Isosceles Triangle 307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38" name="Trapezoid 237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39" name="Elbow Connector 238"/>
            <p:cNvCxnSpPr>
              <a:endCxn id="295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rapezoid 247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/>
            <p:cNvCxnSpPr>
              <a:stCxn id="238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Elbow Connector 249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Elbow Connector 250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60" name="Straight Connector 259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1" name="Group 260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305" name="Rectangle 30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6" name="Isosceles Triangle 30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2" name="Group 261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3" name="Rectangle 30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4" name="Isosceles Triangle 30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6" name="Elbow Connector 265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7" name="Group 266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1" name="Rectangle 30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2" name="Isosceles Triangle 30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9" name="Rectangle 29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0" name="Isosceles Triangle 29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9" name="Group 268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7" name="Rectangle 29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8" name="Isosceles Triangle 29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0" name="Straight Connector 269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2612152" y="2680618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78" name="Group 277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95" name="Trapezoid 294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79" name="Straight Arrow Connector 278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TextBox 280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82" name="Straight Connector 281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Freeform 282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5" name="Straight Arrow Connector 284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Freeform 286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8" name="Group 287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93" name="Rectangle 292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4" name="Isosceles Triangle 293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 288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0" name="Straight Arrow Connector 289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Box 290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92" name="Elbow Connector 291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2844469" y="3986881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4560" y="4835551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E258789B-D195-4613-BF98-C416DBD60487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108853"/>
            <a:ext cx="9144000" cy="540832"/>
          </a:xfrm>
        </p:spPr>
        <p:txBody>
          <a:bodyPr>
            <a:noAutofit/>
          </a:bodyPr>
          <a:lstStyle/>
          <a:p>
            <a:pPr algn="ctr" eaLnBrk="1" hangingPunct="1"/>
            <a:r>
              <a:rPr lang="he-IL" altLang="en-US" sz="3200" dirty="0"/>
              <a:t>מחזור</a:t>
            </a:r>
            <a:r>
              <a:rPr lang="en-US" altLang="en-US" sz="3200" dirty="0"/>
              <a:t>FETCH </a:t>
            </a:r>
            <a:r>
              <a:rPr lang="he-IL" altLang="en-US" sz="3200" dirty="0"/>
              <a:t> - זהה לכל הפקודות</a:t>
            </a:r>
            <a:endParaRPr lang="en-US" altLang="en-US" sz="3200" dirty="0"/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42650" y="618214"/>
            <a:ext cx="8628063" cy="947738"/>
          </a:xfrm>
        </p:spPr>
        <p:txBody>
          <a:bodyPr/>
          <a:lstStyle/>
          <a:p>
            <a:pPr marL="0" indent="0" algn="r">
              <a:buNone/>
            </a:pPr>
            <a:r>
              <a:rPr lang="en-US" altLang="en-US" sz="1800" b="1" dirty="0"/>
              <a:t>FETCH</a:t>
            </a:r>
            <a:r>
              <a:rPr lang="he-IL" altLang="en-US" sz="1800" b="1" dirty="0"/>
              <a:t> – </a:t>
            </a:r>
            <a:r>
              <a:rPr lang="he-IL" altLang="en-US" sz="1800" dirty="0"/>
              <a:t>שליפת הפקודה לביצוע מ-</a:t>
            </a:r>
            <a:r>
              <a:rPr lang="en-US" altLang="en-US" sz="1800" dirty="0"/>
              <a:t>IMEM</a:t>
            </a:r>
            <a:r>
              <a:rPr lang="he-IL" altLang="en-US" sz="1800" dirty="0"/>
              <a:t>, עפ״י </a:t>
            </a:r>
            <a:r>
              <a:rPr lang="en-US" altLang="en-US" sz="1800" dirty="0"/>
              <a:t>PC</a:t>
            </a:r>
            <a:r>
              <a:rPr lang="he-IL" altLang="en-US" sz="1800" dirty="0"/>
              <a:t>.</a:t>
            </a:r>
          </a:p>
          <a:p>
            <a:pPr lvl="1" indent="-342900" algn="r">
              <a:buFont typeface="Wingdings" panose="05000000000000000000" pitchFamily="2" charset="2"/>
              <a:buAutoNum type="arabicPeriod"/>
            </a:pPr>
            <a:r>
              <a:rPr lang="en-US" altLang="en-US" sz="1500" dirty="0"/>
              <a:t>IR = Memory[PC]</a:t>
            </a:r>
          </a:p>
          <a:p>
            <a:pPr lvl="1" indent="-342900" algn="r">
              <a:buFont typeface="Wingdings" panose="05000000000000000000" pitchFamily="2" charset="2"/>
              <a:buAutoNum type="arabicPeriod"/>
            </a:pPr>
            <a:r>
              <a:rPr lang="en-US" altLang="en-US" sz="1500" dirty="0"/>
              <a:t>PC = PC+4, PCC = PC</a:t>
            </a:r>
            <a:endParaRPr lang="he-IL" altLang="en-US" sz="1500" b="1" i="1" dirty="0"/>
          </a:p>
        </p:txBody>
      </p:sp>
      <p:sp>
        <p:nvSpPr>
          <p:cNvPr id="2" name="Freeform 1"/>
          <p:cNvSpPr/>
          <p:nvPr/>
        </p:nvSpPr>
        <p:spPr>
          <a:xfrm>
            <a:off x="1446735" y="3252829"/>
            <a:ext cx="1345915" cy="380144"/>
          </a:xfrm>
          <a:custGeom>
            <a:avLst/>
            <a:gdLst>
              <a:gd name="connsiteX0" fmla="*/ 0 w 1345915"/>
              <a:gd name="connsiteY0" fmla="*/ 0 h 380144"/>
              <a:gd name="connsiteX1" fmla="*/ 164387 w 1345915"/>
              <a:gd name="connsiteY1" fmla="*/ 0 h 380144"/>
              <a:gd name="connsiteX2" fmla="*/ 174661 w 1345915"/>
              <a:gd name="connsiteY2" fmla="*/ 380144 h 380144"/>
              <a:gd name="connsiteX3" fmla="*/ 1345915 w 1345915"/>
              <a:gd name="connsiteY3" fmla="*/ 369869 h 380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5915" h="380144">
                <a:moveTo>
                  <a:pt x="0" y="0"/>
                </a:moveTo>
                <a:lnTo>
                  <a:pt x="164387" y="0"/>
                </a:lnTo>
                <a:lnTo>
                  <a:pt x="174661" y="380144"/>
                </a:lnTo>
                <a:lnTo>
                  <a:pt x="1345915" y="369869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32335" y="1663343"/>
            <a:ext cx="6000108" cy="1746607"/>
          </a:xfrm>
          <a:custGeom>
            <a:avLst/>
            <a:gdLst>
              <a:gd name="connsiteX0" fmla="*/ 893852 w 6000108"/>
              <a:gd name="connsiteY0" fmla="*/ 1602769 h 1746607"/>
              <a:gd name="connsiteX1" fmla="*/ 1592495 w 6000108"/>
              <a:gd name="connsiteY1" fmla="*/ 1602769 h 1746607"/>
              <a:gd name="connsiteX2" fmla="*/ 1613043 w 6000108"/>
              <a:gd name="connsiteY2" fmla="*/ 472612 h 1746607"/>
              <a:gd name="connsiteX3" fmla="*/ 2013735 w 6000108"/>
              <a:gd name="connsiteY3" fmla="*/ 472612 h 1746607"/>
              <a:gd name="connsiteX4" fmla="*/ 2013735 w 6000108"/>
              <a:gd name="connsiteY4" fmla="*/ 287677 h 1746607"/>
              <a:gd name="connsiteX5" fmla="*/ 4530904 w 6000108"/>
              <a:gd name="connsiteY5" fmla="*/ 297951 h 1746607"/>
              <a:gd name="connsiteX6" fmla="*/ 4530904 w 6000108"/>
              <a:gd name="connsiteY6" fmla="*/ 1253448 h 1746607"/>
              <a:gd name="connsiteX7" fmla="*/ 5301465 w 6000108"/>
              <a:gd name="connsiteY7" fmla="*/ 1253448 h 1746607"/>
              <a:gd name="connsiteX8" fmla="*/ 5548045 w 6000108"/>
              <a:gd name="connsiteY8" fmla="*/ 1448657 h 1746607"/>
              <a:gd name="connsiteX9" fmla="*/ 5928189 w 6000108"/>
              <a:gd name="connsiteY9" fmla="*/ 1736333 h 1746607"/>
              <a:gd name="connsiteX10" fmla="*/ 6000108 w 6000108"/>
              <a:gd name="connsiteY10" fmla="*/ 1746607 h 1746607"/>
              <a:gd name="connsiteX11" fmla="*/ 6000108 w 6000108"/>
              <a:gd name="connsiteY11" fmla="*/ 0 h 1746607"/>
              <a:gd name="connsiteX12" fmla="*/ 0 w 6000108"/>
              <a:gd name="connsiteY12" fmla="*/ 0 h 1746607"/>
              <a:gd name="connsiteX13" fmla="*/ 0 w 6000108"/>
              <a:gd name="connsiteY13" fmla="*/ 1438382 h 1746607"/>
              <a:gd name="connsiteX14" fmla="*/ 390418 w 6000108"/>
              <a:gd name="connsiteY14" fmla="*/ 1448657 h 1746607"/>
              <a:gd name="connsiteX15" fmla="*/ 636998 w 6000108"/>
              <a:gd name="connsiteY15" fmla="*/ 1602769 h 1746607"/>
              <a:gd name="connsiteX0" fmla="*/ 893852 w 6000108"/>
              <a:gd name="connsiteY0" fmla="*/ 1602769 h 1746607"/>
              <a:gd name="connsiteX1" fmla="*/ 1592495 w 6000108"/>
              <a:gd name="connsiteY1" fmla="*/ 1602769 h 1746607"/>
              <a:gd name="connsiteX2" fmla="*/ 1613043 w 6000108"/>
              <a:gd name="connsiteY2" fmla="*/ 472612 h 1746607"/>
              <a:gd name="connsiteX3" fmla="*/ 2013735 w 6000108"/>
              <a:gd name="connsiteY3" fmla="*/ 472612 h 1746607"/>
              <a:gd name="connsiteX4" fmla="*/ 4530904 w 6000108"/>
              <a:gd name="connsiteY4" fmla="*/ 297951 h 1746607"/>
              <a:gd name="connsiteX5" fmla="*/ 4530904 w 6000108"/>
              <a:gd name="connsiteY5" fmla="*/ 1253448 h 1746607"/>
              <a:gd name="connsiteX6" fmla="*/ 5301465 w 6000108"/>
              <a:gd name="connsiteY6" fmla="*/ 1253448 h 1746607"/>
              <a:gd name="connsiteX7" fmla="*/ 5548045 w 6000108"/>
              <a:gd name="connsiteY7" fmla="*/ 1448657 h 1746607"/>
              <a:gd name="connsiteX8" fmla="*/ 5928189 w 6000108"/>
              <a:gd name="connsiteY8" fmla="*/ 1736333 h 1746607"/>
              <a:gd name="connsiteX9" fmla="*/ 6000108 w 6000108"/>
              <a:gd name="connsiteY9" fmla="*/ 1746607 h 1746607"/>
              <a:gd name="connsiteX10" fmla="*/ 6000108 w 6000108"/>
              <a:gd name="connsiteY10" fmla="*/ 0 h 1746607"/>
              <a:gd name="connsiteX11" fmla="*/ 0 w 6000108"/>
              <a:gd name="connsiteY11" fmla="*/ 0 h 1746607"/>
              <a:gd name="connsiteX12" fmla="*/ 0 w 6000108"/>
              <a:gd name="connsiteY12" fmla="*/ 1438382 h 1746607"/>
              <a:gd name="connsiteX13" fmla="*/ 390418 w 6000108"/>
              <a:gd name="connsiteY13" fmla="*/ 1448657 h 1746607"/>
              <a:gd name="connsiteX14" fmla="*/ 636998 w 6000108"/>
              <a:gd name="connsiteY14" fmla="*/ 1602769 h 1746607"/>
              <a:gd name="connsiteX0" fmla="*/ 893852 w 6000108"/>
              <a:gd name="connsiteY0" fmla="*/ 1602769 h 1746607"/>
              <a:gd name="connsiteX1" fmla="*/ 1592495 w 6000108"/>
              <a:gd name="connsiteY1" fmla="*/ 1602769 h 1746607"/>
              <a:gd name="connsiteX2" fmla="*/ 1613043 w 6000108"/>
              <a:gd name="connsiteY2" fmla="*/ 472612 h 1746607"/>
              <a:gd name="connsiteX3" fmla="*/ 2013735 w 6000108"/>
              <a:gd name="connsiteY3" fmla="*/ 472612 h 1746607"/>
              <a:gd name="connsiteX4" fmla="*/ 4252230 w 6000108"/>
              <a:gd name="connsiteY4" fmla="*/ 480831 h 1746607"/>
              <a:gd name="connsiteX5" fmla="*/ 4530904 w 6000108"/>
              <a:gd name="connsiteY5" fmla="*/ 1253448 h 1746607"/>
              <a:gd name="connsiteX6" fmla="*/ 5301465 w 6000108"/>
              <a:gd name="connsiteY6" fmla="*/ 1253448 h 1746607"/>
              <a:gd name="connsiteX7" fmla="*/ 5548045 w 6000108"/>
              <a:gd name="connsiteY7" fmla="*/ 1448657 h 1746607"/>
              <a:gd name="connsiteX8" fmla="*/ 5928189 w 6000108"/>
              <a:gd name="connsiteY8" fmla="*/ 1736333 h 1746607"/>
              <a:gd name="connsiteX9" fmla="*/ 6000108 w 6000108"/>
              <a:gd name="connsiteY9" fmla="*/ 1746607 h 1746607"/>
              <a:gd name="connsiteX10" fmla="*/ 6000108 w 6000108"/>
              <a:gd name="connsiteY10" fmla="*/ 0 h 1746607"/>
              <a:gd name="connsiteX11" fmla="*/ 0 w 6000108"/>
              <a:gd name="connsiteY11" fmla="*/ 0 h 1746607"/>
              <a:gd name="connsiteX12" fmla="*/ 0 w 6000108"/>
              <a:gd name="connsiteY12" fmla="*/ 1438382 h 1746607"/>
              <a:gd name="connsiteX13" fmla="*/ 390418 w 6000108"/>
              <a:gd name="connsiteY13" fmla="*/ 1448657 h 1746607"/>
              <a:gd name="connsiteX14" fmla="*/ 636998 w 6000108"/>
              <a:gd name="connsiteY14" fmla="*/ 1602769 h 1746607"/>
              <a:gd name="connsiteX0" fmla="*/ 893852 w 6000108"/>
              <a:gd name="connsiteY0" fmla="*/ 1602769 h 1746607"/>
              <a:gd name="connsiteX1" fmla="*/ 1592495 w 6000108"/>
              <a:gd name="connsiteY1" fmla="*/ 1602769 h 1746607"/>
              <a:gd name="connsiteX2" fmla="*/ 1613043 w 6000108"/>
              <a:gd name="connsiteY2" fmla="*/ 472612 h 1746607"/>
              <a:gd name="connsiteX3" fmla="*/ 2013735 w 6000108"/>
              <a:gd name="connsiteY3" fmla="*/ 472612 h 1746607"/>
              <a:gd name="connsiteX4" fmla="*/ 4252230 w 6000108"/>
              <a:gd name="connsiteY4" fmla="*/ 480831 h 1746607"/>
              <a:gd name="connsiteX5" fmla="*/ 4234812 w 6000108"/>
              <a:gd name="connsiteY5" fmla="*/ 1453745 h 1746607"/>
              <a:gd name="connsiteX6" fmla="*/ 5301465 w 6000108"/>
              <a:gd name="connsiteY6" fmla="*/ 1253448 h 1746607"/>
              <a:gd name="connsiteX7" fmla="*/ 5548045 w 6000108"/>
              <a:gd name="connsiteY7" fmla="*/ 1448657 h 1746607"/>
              <a:gd name="connsiteX8" fmla="*/ 5928189 w 6000108"/>
              <a:gd name="connsiteY8" fmla="*/ 1736333 h 1746607"/>
              <a:gd name="connsiteX9" fmla="*/ 6000108 w 6000108"/>
              <a:gd name="connsiteY9" fmla="*/ 1746607 h 1746607"/>
              <a:gd name="connsiteX10" fmla="*/ 6000108 w 6000108"/>
              <a:gd name="connsiteY10" fmla="*/ 0 h 1746607"/>
              <a:gd name="connsiteX11" fmla="*/ 0 w 6000108"/>
              <a:gd name="connsiteY11" fmla="*/ 0 h 1746607"/>
              <a:gd name="connsiteX12" fmla="*/ 0 w 6000108"/>
              <a:gd name="connsiteY12" fmla="*/ 1438382 h 1746607"/>
              <a:gd name="connsiteX13" fmla="*/ 390418 w 6000108"/>
              <a:gd name="connsiteY13" fmla="*/ 1448657 h 1746607"/>
              <a:gd name="connsiteX14" fmla="*/ 636998 w 6000108"/>
              <a:gd name="connsiteY14" fmla="*/ 1602769 h 1746607"/>
              <a:gd name="connsiteX0" fmla="*/ 893852 w 6000108"/>
              <a:gd name="connsiteY0" fmla="*/ 1602769 h 1746607"/>
              <a:gd name="connsiteX1" fmla="*/ 1592495 w 6000108"/>
              <a:gd name="connsiteY1" fmla="*/ 1602769 h 1746607"/>
              <a:gd name="connsiteX2" fmla="*/ 1613043 w 6000108"/>
              <a:gd name="connsiteY2" fmla="*/ 472612 h 1746607"/>
              <a:gd name="connsiteX3" fmla="*/ 2013735 w 6000108"/>
              <a:gd name="connsiteY3" fmla="*/ 472612 h 1746607"/>
              <a:gd name="connsiteX4" fmla="*/ 4252230 w 6000108"/>
              <a:gd name="connsiteY4" fmla="*/ 480831 h 1746607"/>
              <a:gd name="connsiteX5" fmla="*/ 4234812 w 6000108"/>
              <a:gd name="connsiteY5" fmla="*/ 1453745 h 1746607"/>
              <a:gd name="connsiteX6" fmla="*/ 5223088 w 6000108"/>
              <a:gd name="connsiteY6" fmla="*/ 1427620 h 1746607"/>
              <a:gd name="connsiteX7" fmla="*/ 5548045 w 6000108"/>
              <a:gd name="connsiteY7" fmla="*/ 1448657 h 1746607"/>
              <a:gd name="connsiteX8" fmla="*/ 5928189 w 6000108"/>
              <a:gd name="connsiteY8" fmla="*/ 1736333 h 1746607"/>
              <a:gd name="connsiteX9" fmla="*/ 6000108 w 6000108"/>
              <a:gd name="connsiteY9" fmla="*/ 1746607 h 1746607"/>
              <a:gd name="connsiteX10" fmla="*/ 6000108 w 6000108"/>
              <a:gd name="connsiteY10" fmla="*/ 0 h 1746607"/>
              <a:gd name="connsiteX11" fmla="*/ 0 w 6000108"/>
              <a:gd name="connsiteY11" fmla="*/ 0 h 1746607"/>
              <a:gd name="connsiteX12" fmla="*/ 0 w 6000108"/>
              <a:gd name="connsiteY12" fmla="*/ 1438382 h 1746607"/>
              <a:gd name="connsiteX13" fmla="*/ 390418 w 6000108"/>
              <a:gd name="connsiteY13" fmla="*/ 1448657 h 1746607"/>
              <a:gd name="connsiteX14" fmla="*/ 636998 w 6000108"/>
              <a:gd name="connsiteY14" fmla="*/ 1602769 h 17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0108" h="1746607">
                <a:moveTo>
                  <a:pt x="893852" y="1602769"/>
                </a:moveTo>
                <a:lnTo>
                  <a:pt x="1592495" y="1602769"/>
                </a:lnTo>
                <a:lnTo>
                  <a:pt x="1613043" y="472612"/>
                </a:lnTo>
                <a:lnTo>
                  <a:pt x="2013735" y="472612"/>
                </a:lnTo>
                <a:lnTo>
                  <a:pt x="4252230" y="480831"/>
                </a:lnTo>
                <a:lnTo>
                  <a:pt x="4234812" y="1453745"/>
                </a:lnTo>
                <a:lnTo>
                  <a:pt x="5223088" y="1427620"/>
                </a:lnTo>
                <a:lnTo>
                  <a:pt x="5548045" y="1448657"/>
                </a:lnTo>
                <a:lnTo>
                  <a:pt x="5928189" y="1736333"/>
                </a:lnTo>
                <a:lnTo>
                  <a:pt x="6000108" y="1746607"/>
                </a:lnTo>
                <a:lnTo>
                  <a:pt x="6000108" y="0"/>
                </a:lnTo>
                <a:lnTo>
                  <a:pt x="0" y="0"/>
                </a:lnTo>
                <a:lnTo>
                  <a:pt x="0" y="1438382"/>
                </a:lnTo>
                <a:lnTo>
                  <a:pt x="390418" y="1448657"/>
                </a:lnTo>
                <a:lnTo>
                  <a:pt x="636998" y="1602769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254" name="Straight Arrow Connector 253"/>
          <p:cNvCxnSpPr/>
          <p:nvPr/>
        </p:nvCxnSpPr>
        <p:spPr>
          <a:xfrm flipV="1">
            <a:off x="1314028" y="3637914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/>
          <p:nvPr/>
        </p:nvCxnSpPr>
        <p:spPr>
          <a:xfrm flipV="1">
            <a:off x="887027" y="3520513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>
            <a:stCxn id="265" idx="0"/>
          </p:cNvCxnSpPr>
          <p:nvPr/>
        </p:nvCxnSpPr>
        <p:spPr>
          <a:xfrm flipV="1">
            <a:off x="5823506" y="3877851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/>
          <p:cNvCxnSpPr/>
          <p:nvPr/>
        </p:nvCxnSpPr>
        <p:spPr>
          <a:xfrm>
            <a:off x="5850924" y="2189087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/>
          <p:nvPr/>
        </p:nvCxnSpPr>
        <p:spPr>
          <a:xfrm>
            <a:off x="5561673" y="3684241"/>
            <a:ext cx="192660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5477935" y="3618712"/>
            <a:ext cx="785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cxnSp>
        <p:nvCxnSpPr>
          <p:cNvPr id="9" name="Straight Arrow Connector 8"/>
          <p:cNvCxnSpPr>
            <a:stCxn id="259" idx="3"/>
          </p:cNvCxnSpPr>
          <p:nvPr/>
        </p:nvCxnSpPr>
        <p:spPr>
          <a:xfrm flipV="1">
            <a:off x="5556483" y="3704172"/>
            <a:ext cx="643436" cy="6873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91" y="4068915"/>
            <a:ext cx="5780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PCsource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=ALU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096475" y="4233931"/>
            <a:ext cx="4872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PCwrite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2620475" y="4509175"/>
            <a:ext cx="4446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IRwrite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5617520" y="4603542"/>
            <a:ext cx="4119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=4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6308124" y="3758617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6139311" y="4312046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13C1C6F-06F3-4361-B214-85C9355E914A}"/>
              </a:ext>
            </a:extLst>
          </p:cNvPr>
          <p:cNvCxnSpPr>
            <a:cxnSpLocks/>
          </p:cNvCxnSpPr>
          <p:nvPr/>
        </p:nvCxnSpPr>
        <p:spPr>
          <a:xfrm>
            <a:off x="1812323" y="1220444"/>
            <a:ext cx="0" cy="540832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3AE1EC58-7FB9-4C1D-A3D7-475DACBD1160}"/>
              </a:ext>
            </a:extLst>
          </p:cNvPr>
          <p:cNvSpPr txBox="1"/>
          <p:nvPr/>
        </p:nvSpPr>
        <p:spPr>
          <a:xfrm>
            <a:off x="1919270" y="1149185"/>
            <a:ext cx="4007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PCCen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437340" y="1880688"/>
            <a:ext cx="372979" cy="1359568"/>
          </a:xfrm>
          <a:custGeom>
            <a:avLst/>
            <a:gdLst>
              <a:gd name="connsiteX0" fmla="*/ 0 w 372979"/>
              <a:gd name="connsiteY0" fmla="*/ 1353553 h 1359568"/>
              <a:gd name="connsiteX1" fmla="*/ 108284 w 372979"/>
              <a:gd name="connsiteY1" fmla="*/ 1359568 h 1359568"/>
              <a:gd name="connsiteX2" fmla="*/ 108284 w 372979"/>
              <a:gd name="connsiteY2" fmla="*/ 0 h 1359568"/>
              <a:gd name="connsiteX3" fmla="*/ 372979 w 372979"/>
              <a:gd name="connsiteY3" fmla="*/ 0 h 135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79" h="1359568">
                <a:moveTo>
                  <a:pt x="0" y="1353553"/>
                </a:moveTo>
                <a:lnTo>
                  <a:pt x="108284" y="1359568"/>
                </a:lnTo>
                <a:lnTo>
                  <a:pt x="108284" y="0"/>
                </a:lnTo>
                <a:lnTo>
                  <a:pt x="372979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327" name="TextBox 326"/>
          <p:cNvSpPr txBox="1"/>
          <p:nvPr/>
        </p:nvSpPr>
        <p:spPr>
          <a:xfrm>
            <a:off x="5594410" y="1962425"/>
            <a:ext cx="5370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=PC </a:t>
            </a:r>
          </a:p>
        </p:txBody>
      </p:sp>
    </p:spTree>
    <p:extLst>
      <p:ext uri="{BB962C8B-B14F-4D97-AF65-F5344CB8AC3E}">
        <p14:creationId xmlns:p14="http://schemas.microsoft.com/office/powerpoint/2010/main" val="51125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0" grpId="0"/>
      <p:bldP spid="263" grpId="0"/>
      <p:bldP spid="264" grpId="0"/>
      <p:bldP spid="265" grpId="0"/>
      <p:bldP spid="124" grpId="0"/>
      <p:bldP spid="130" grpId="0"/>
      <p:bldP spid="3" grpId="0" animBg="1"/>
      <p:bldP spid="3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25346" y="4585338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429000" y="90674"/>
            <a:ext cx="2362200" cy="636588"/>
          </a:xfrm>
        </p:spPr>
        <p:txBody>
          <a:bodyPr/>
          <a:lstStyle/>
          <a:p>
            <a:r>
              <a:rPr lang="he-IL" dirty="0"/>
              <a:t> </a:t>
            </a:r>
            <a:r>
              <a:rPr lang="en-US" dirty="0"/>
              <a:t>Fetch Cycle</a:t>
            </a:r>
          </a:p>
        </p:txBody>
      </p:sp>
      <p:cxnSp>
        <p:nvCxnSpPr>
          <p:cNvPr id="16387" name="Straight Connector 16386"/>
          <p:cNvCxnSpPr/>
          <p:nvPr/>
        </p:nvCxnSpPr>
        <p:spPr>
          <a:xfrm flipH="1">
            <a:off x="2047822" y="727262"/>
            <a:ext cx="3843380" cy="60987"/>
          </a:xfrm>
          <a:prstGeom prst="line">
            <a:avLst/>
          </a:prstGeom>
          <a:ln w="6350" cmpd="sng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>
            <a:off x="2211300" y="1212802"/>
            <a:ext cx="3603702" cy="1159385"/>
          </a:xfrm>
          <a:prstGeom prst="line">
            <a:avLst/>
          </a:prstGeom>
          <a:ln w="6350" cmpd="sng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9517" t="7051" r="65241" b="75054"/>
          <a:stretch/>
        </p:blipFill>
        <p:spPr>
          <a:xfrm>
            <a:off x="1143000" y="727262"/>
            <a:ext cx="1748657" cy="17486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r="18809"/>
          <a:stretch/>
        </p:blipFill>
        <p:spPr>
          <a:xfrm>
            <a:off x="404802" y="2488814"/>
            <a:ext cx="4344581" cy="22927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882" y="407249"/>
            <a:ext cx="4229239" cy="360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3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/>
          <p:cNvGrpSpPr/>
          <p:nvPr/>
        </p:nvGrpSpPr>
        <p:grpSpPr>
          <a:xfrm>
            <a:off x="252484" y="1504950"/>
            <a:ext cx="8755592" cy="3230728"/>
            <a:chOff x="252484" y="948519"/>
            <a:chExt cx="8755592" cy="3230728"/>
          </a:xfrm>
        </p:grpSpPr>
        <p:sp>
          <p:nvSpPr>
            <p:cNvPr id="123" name="Rectangle 122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26" name="Group 125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14" name="Trapezoid 313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Isosceles Triangle 314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16" name="Straight Connector 315"/>
              <p:cNvCxnSpPr>
                <a:stCxn id="315" idx="2"/>
                <a:endCxn id="315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TextBox 316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12" name="Rectangle 311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13" name="Isosceles Triangle 312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303" name="Group 302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10" name="Rectangle 309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11" name="Isosceles Triangle 310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4" name="TextBox 303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4092911" y="1882950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30" name="TextBox 12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3" name="Trapezoid 13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/>
            <p:cNvCxnSpPr>
              <a:stCxn id="312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endCxn id="13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Elbow Connector 136"/>
            <p:cNvCxnSpPr>
              <a:endCxn id="301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oup 13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00" name="Trapezoid 299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02" name="TextBox 301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39" name="Straight Connector 138"/>
            <p:cNvCxnSpPr>
              <a:endCxn id="298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/>
            <p:cNvCxnSpPr>
              <a:stCxn id="298" idx="3"/>
              <a:endCxn id="123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3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>
              <a:stCxn id="308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lbow Connector 147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Elbow Connector 163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8" name="Rectangle 297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9" name="Isosceles Triangle 298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38" name="Trapezoid 237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39" name="Elbow Connector 238"/>
            <p:cNvCxnSpPr>
              <a:endCxn id="286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rapezoid 241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49" name="Straight Arrow Connector 248"/>
            <p:cNvCxnSpPr>
              <a:stCxn id="238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Elbow Connector 249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Elbow Connector 250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54" name="Straight Connector 253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5" name="Group 254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96" name="Rectangle 29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7" name="Isosceles Triangle 29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6" name="Group 255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4" name="Rectangle 29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5" name="Isosceles Triangle 29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57" name="Elbow Connector 256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8" name="Group 257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2" name="Rectangle 29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3" name="Isosceles Triangle 29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9" name="Group 258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0" name="Rectangle 28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" name="Group 259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1" name="Straight Connector 260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9" name="Group 268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86" name="Trapezoid 285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87" name="TextBox 286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70" name="Straight Arrow Connector 269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73" name="Straight Connector 272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Freeform 273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Arrow Connector 275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Freeform 277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9" name="Group 278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80" name="Freeform 279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1" name="Straight Arrow Connector 280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TextBox 281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83" name="Elbow Connector 282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38834" y="4826018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E258789B-D195-4613-BF98-C416DBD60487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7638"/>
            <a:ext cx="9144000" cy="414337"/>
          </a:xfrm>
        </p:spPr>
        <p:txBody>
          <a:bodyPr>
            <a:noAutofit/>
          </a:bodyPr>
          <a:lstStyle/>
          <a:p>
            <a:pPr algn="ctr"/>
            <a:r>
              <a:rPr lang="he-IL" altLang="en-US" sz="3200" dirty="0"/>
              <a:t>מחזור </a:t>
            </a:r>
            <a:r>
              <a:rPr lang="en-US" altLang="en-US" sz="3200" dirty="0"/>
              <a:t>Decode </a:t>
            </a:r>
            <a:r>
              <a:rPr lang="he-IL" altLang="en-US" sz="3200" dirty="0"/>
              <a:t> - זהה לכל הפקודות</a:t>
            </a:r>
            <a:endParaRPr lang="en-US" altLang="en-US" sz="3200" dirty="0"/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49725" y="520114"/>
            <a:ext cx="8628063" cy="4070350"/>
          </a:xfrm>
        </p:spPr>
        <p:txBody>
          <a:bodyPr/>
          <a:lstStyle/>
          <a:p>
            <a:pPr marL="0" indent="0" algn="r">
              <a:buNone/>
            </a:pPr>
            <a:r>
              <a:rPr lang="en-US" altLang="en-US" sz="1600" b="1" dirty="0"/>
              <a:t>DECODE</a:t>
            </a:r>
            <a:r>
              <a:rPr lang="he-IL" altLang="en-US" sz="1600" b="1" dirty="0"/>
              <a:t> – </a:t>
            </a:r>
            <a:r>
              <a:rPr lang="he-IL" altLang="en-US" sz="1600" dirty="0"/>
              <a:t>פענוח הפקודה, קריאת 2 רגיסטרים וחישוב (</a:t>
            </a:r>
            <a:r>
              <a:rPr lang="he-IL" altLang="en-US" sz="1600" dirty="0" err="1"/>
              <a:t>ספוקלטיבי</a:t>
            </a:r>
            <a:r>
              <a:rPr lang="he-IL" altLang="en-US" sz="1600" dirty="0"/>
              <a:t>) של יעד קפיצה בפקודת </a:t>
            </a:r>
            <a:r>
              <a:rPr lang="en-US" altLang="en-US" sz="1600" dirty="0"/>
              <a:t>B</a:t>
            </a:r>
            <a:r>
              <a:rPr lang="he-IL" altLang="en-US" sz="1600" dirty="0" err="1"/>
              <a:t>ranch</a:t>
            </a:r>
            <a:r>
              <a:rPr lang="he-IL" altLang="en-US" sz="1600" dirty="0"/>
              <a:t>.</a:t>
            </a:r>
          </a:p>
          <a:p>
            <a:pPr lvl="1" indent="-342900" algn="r">
              <a:buFont typeface="Wingdings" panose="05000000000000000000" pitchFamily="2" charset="2"/>
              <a:buAutoNum type="arabicPeriod"/>
            </a:pPr>
            <a:r>
              <a:rPr lang="en-US" altLang="en-US" sz="1500" dirty="0"/>
              <a:t>A = </a:t>
            </a:r>
            <a:r>
              <a:rPr lang="en-US" altLang="en-US" sz="1500" dirty="0" err="1"/>
              <a:t>Reg</a:t>
            </a:r>
            <a:r>
              <a:rPr lang="en-US" altLang="en-US" sz="1500" dirty="0"/>
              <a:t>[rs1], B = </a:t>
            </a:r>
            <a:r>
              <a:rPr lang="en-US" altLang="en-US" sz="1500" dirty="0" err="1"/>
              <a:t>Reg</a:t>
            </a:r>
            <a:r>
              <a:rPr lang="en-US" altLang="en-US" sz="1500" dirty="0"/>
              <a:t>[rs2]</a:t>
            </a:r>
          </a:p>
          <a:p>
            <a:pPr lvl="1" indent="-342900" algn="r">
              <a:buFont typeface="Wingdings" panose="05000000000000000000" pitchFamily="2" charset="2"/>
              <a:buAutoNum type="arabicPeriod"/>
            </a:pPr>
            <a:r>
              <a:rPr lang="en-US" altLang="en-US" sz="1500" dirty="0" err="1"/>
              <a:t>ALUOut</a:t>
            </a:r>
            <a:r>
              <a:rPr lang="en-US" altLang="en-US" sz="1500" dirty="0"/>
              <a:t> = PCC + branch offset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 flipV="1">
            <a:off x="6248400" y="3802911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079587" y="4374707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5146711" y="457613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418328" y="4881913"/>
            <a:ext cx="63478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IMMsel</a:t>
            </a:r>
            <a:r>
              <a:rPr lang="en-US" sz="1200" dirty="0">
                <a:solidFill>
                  <a:srgbClr val="7030A0"/>
                </a:solidFill>
              </a:rPr>
              <a:t>=B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868829" y="3699205"/>
            <a:ext cx="527584" cy="0"/>
          </a:xfrm>
          <a:prstGeom prst="straightConnector1">
            <a:avLst/>
          </a:prstGeom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2887038" y="3705908"/>
            <a:ext cx="523982" cy="256854"/>
          </a:xfrm>
          <a:custGeom>
            <a:avLst/>
            <a:gdLst>
              <a:gd name="connsiteX0" fmla="*/ 0 w 523982"/>
              <a:gd name="connsiteY0" fmla="*/ 0 h 256854"/>
              <a:gd name="connsiteX1" fmla="*/ 277402 w 523982"/>
              <a:gd name="connsiteY1" fmla="*/ 10274 h 256854"/>
              <a:gd name="connsiteX2" fmla="*/ 277402 w 523982"/>
              <a:gd name="connsiteY2" fmla="*/ 256854 h 256854"/>
              <a:gd name="connsiteX3" fmla="*/ 523982 w 523982"/>
              <a:gd name="connsiteY3" fmla="*/ 256854 h 256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82" h="256854">
                <a:moveTo>
                  <a:pt x="0" y="0"/>
                </a:moveTo>
                <a:lnTo>
                  <a:pt x="277402" y="10274"/>
                </a:lnTo>
                <a:lnTo>
                  <a:pt x="277402" y="256854"/>
                </a:lnTo>
                <a:lnTo>
                  <a:pt x="523982" y="256854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3853613" y="3287878"/>
            <a:ext cx="527584" cy="0"/>
          </a:xfrm>
          <a:prstGeom prst="straightConnector1">
            <a:avLst/>
          </a:prstGeom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3911102" y="3866045"/>
            <a:ext cx="527584" cy="0"/>
          </a:xfrm>
          <a:prstGeom prst="straightConnector1">
            <a:avLst/>
          </a:prstGeom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2835667" y="3695634"/>
            <a:ext cx="3174715" cy="842481"/>
          </a:xfrm>
          <a:custGeom>
            <a:avLst/>
            <a:gdLst>
              <a:gd name="connsiteX0" fmla="*/ 0 w 3174715"/>
              <a:gd name="connsiteY0" fmla="*/ 0 h 842481"/>
              <a:gd name="connsiteX1" fmla="*/ 359596 w 3174715"/>
              <a:gd name="connsiteY1" fmla="*/ 10274 h 842481"/>
              <a:gd name="connsiteX2" fmla="*/ 369870 w 3174715"/>
              <a:gd name="connsiteY2" fmla="*/ 811658 h 842481"/>
              <a:gd name="connsiteX3" fmla="*/ 2609636 w 3174715"/>
              <a:gd name="connsiteY3" fmla="*/ 842481 h 842481"/>
              <a:gd name="connsiteX4" fmla="*/ 2630185 w 3174715"/>
              <a:gd name="connsiteY4" fmla="*/ 236305 h 842481"/>
              <a:gd name="connsiteX5" fmla="*/ 3174715 w 3174715"/>
              <a:gd name="connsiteY5" fmla="*/ 71919 h 84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4715" h="842481">
                <a:moveTo>
                  <a:pt x="0" y="0"/>
                </a:moveTo>
                <a:lnTo>
                  <a:pt x="359596" y="10274"/>
                </a:lnTo>
                <a:lnTo>
                  <a:pt x="369870" y="811658"/>
                </a:lnTo>
                <a:lnTo>
                  <a:pt x="2609636" y="842481"/>
                </a:lnTo>
                <a:lnTo>
                  <a:pt x="2630185" y="236305"/>
                </a:lnTo>
                <a:lnTo>
                  <a:pt x="3174715" y="71919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717636" y="2020745"/>
            <a:ext cx="4303020" cy="1150907"/>
          </a:xfrm>
          <a:custGeom>
            <a:avLst/>
            <a:gdLst>
              <a:gd name="connsiteX0" fmla="*/ 0 w 4643919"/>
              <a:gd name="connsiteY0" fmla="*/ 20548 h 1243173"/>
              <a:gd name="connsiteX1" fmla="*/ 1089061 w 4643919"/>
              <a:gd name="connsiteY1" fmla="*/ 0 h 1243173"/>
              <a:gd name="connsiteX2" fmla="*/ 1181528 w 4643919"/>
              <a:gd name="connsiteY2" fmla="*/ 92467 h 1243173"/>
              <a:gd name="connsiteX3" fmla="*/ 3637052 w 4643919"/>
              <a:gd name="connsiteY3" fmla="*/ 102741 h 1243173"/>
              <a:gd name="connsiteX4" fmla="*/ 3616503 w 4643919"/>
              <a:gd name="connsiteY4" fmla="*/ 1037689 h 1243173"/>
              <a:gd name="connsiteX5" fmla="*/ 4325420 w 4643919"/>
              <a:gd name="connsiteY5" fmla="*/ 1058238 h 1243173"/>
              <a:gd name="connsiteX6" fmla="*/ 4643919 w 4643919"/>
              <a:gd name="connsiteY6" fmla="*/ 1243173 h 1243173"/>
              <a:gd name="connsiteX0" fmla="*/ 0 w 4643919"/>
              <a:gd name="connsiteY0" fmla="*/ 0 h 1222625"/>
              <a:gd name="connsiteX1" fmla="*/ 1181528 w 4643919"/>
              <a:gd name="connsiteY1" fmla="*/ 71919 h 1222625"/>
              <a:gd name="connsiteX2" fmla="*/ 3637052 w 4643919"/>
              <a:gd name="connsiteY2" fmla="*/ 82193 h 1222625"/>
              <a:gd name="connsiteX3" fmla="*/ 3616503 w 4643919"/>
              <a:gd name="connsiteY3" fmla="*/ 1017141 h 1222625"/>
              <a:gd name="connsiteX4" fmla="*/ 4325420 w 4643919"/>
              <a:gd name="connsiteY4" fmla="*/ 1037690 h 1222625"/>
              <a:gd name="connsiteX5" fmla="*/ 4643919 w 4643919"/>
              <a:gd name="connsiteY5" fmla="*/ 1222625 h 1222625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637052 w 4643919"/>
              <a:gd name="connsiteY2" fmla="*/ 10475 h 1150907"/>
              <a:gd name="connsiteX3" fmla="*/ 3616503 w 4643919"/>
              <a:gd name="connsiteY3" fmla="*/ 945423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546753 w 4643919"/>
              <a:gd name="connsiteY2" fmla="*/ 10475 h 1150907"/>
              <a:gd name="connsiteX3" fmla="*/ 3616503 w 4643919"/>
              <a:gd name="connsiteY3" fmla="*/ 945423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546753 w 4643919"/>
              <a:gd name="connsiteY2" fmla="*/ 10475 h 1150907"/>
              <a:gd name="connsiteX3" fmla="*/ 3513304 w 4643919"/>
              <a:gd name="connsiteY3" fmla="*/ 951400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3919" h="1150907">
                <a:moveTo>
                  <a:pt x="0" y="0"/>
                </a:moveTo>
                <a:lnTo>
                  <a:pt x="1181528" y="201"/>
                </a:lnTo>
                <a:lnTo>
                  <a:pt x="3546753" y="10475"/>
                </a:lnTo>
                <a:lnTo>
                  <a:pt x="3513304" y="951400"/>
                </a:lnTo>
                <a:lnTo>
                  <a:pt x="4325420" y="965972"/>
                </a:lnTo>
                <a:lnTo>
                  <a:pt x="4643919" y="1150907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/>
          <p:cNvCxnSpPr/>
          <p:nvPr/>
        </p:nvCxnSpPr>
        <p:spPr>
          <a:xfrm>
            <a:off x="6180621" y="3442832"/>
            <a:ext cx="527584" cy="0"/>
          </a:xfrm>
          <a:prstGeom prst="straightConnector1">
            <a:avLst/>
          </a:prstGeom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520102">
            <a:off x="238980" y="804895"/>
            <a:ext cx="190781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BLT rs1,rs2,imm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ALU: </a:t>
            </a:r>
            <a:r>
              <a:rPr lang="en-US" sz="1200" dirty="0" err="1">
                <a:solidFill>
                  <a:schemeClr val="accent5"/>
                </a:solidFill>
              </a:rPr>
              <a:t>PC+imm</a:t>
            </a:r>
            <a:r>
              <a:rPr lang="en-US" sz="1200" dirty="0">
                <a:solidFill>
                  <a:schemeClr val="accent5"/>
                </a:solidFill>
              </a:rPr>
              <a:t> - </a:t>
            </a:r>
            <a:r>
              <a:rPr lang="en-US" sz="1200" b="1" dirty="0">
                <a:solidFill>
                  <a:schemeClr val="accent5"/>
                </a:solidFill>
              </a:rPr>
              <a:t>now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ALU: rs1&lt;rs2  - </a:t>
            </a:r>
            <a:r>
              <a:rPr lang="en-US" sz="1200" b="1" dirty="0">
                <a:solidFill>
                  <a:schemeClr val="accent5"/>
                </a:solidFill>
              </a:rPr>
              <a:t>next cycle</a:t>
            </a:r>
          </a:p>
        </p:txBody>
      </p:sp>
      <p:cxnSp>
        <p:nvCxnSpPr>
          <p:cNvPr id="318" name="Straight Arrow Connector 317"/>
          <p:cNvCxnSpPr>
            <a:stCxn id="320" idx="0"/>
          </p:cNvCxnSpPr>
          <p:nvPr/>
        </p:nvCxnSpPr>
        <p:spPr>
          <a:xfrm flipH="1" flipV="1">
            <a:off x="5782818" y="3881671"/>
            <a:ext cx="4580" cy="746677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/>
          <p:cNvCxnSpPr/>
          <p:nvPr/>
        </p:nvCxnSpPr>
        <p:spPr>
          <a:xfrm>
            <a:off x="5759001" y="2194641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5478018" y="4628348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Imm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502487" y="1967979"/>
            <a:ext cx="6171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=PPC </a:t>
            </a:r>
          </a:p>
        </p:txBody>
      </p:sp>
    </p:spTree>
    <p:extLst>
      <p:ext uri="{BB962C8B-B14F-4D97-AF65-F5344CB8AC3E}">
        <p14:creationId xmlns:p14="http://schemas.microsoft.com/office/powerpoint/2010/main" val="305675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8" grpId="0"/>
      <p:bldP spid="5" grpId="0" animBg="1"/>
      <p:bldP spid="6" grpId="0" animBg="1"/>
      <p:bldP spid="7" grpId="0" animBg="1"/>
      <p:bldP spid="320" grpId="0"/>
      <p:bldP spid="3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28664" y="4692439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76018" y="23480"/>
            <a:ext cx="6705600" cy="712788"/>
          </a:xfrm>
        </p:spPr>
        <p:txBody>
          <a:bodyPr/>
          <a:lstStyle/>
          <a:p>
            <a:r>
              <a:rPr lang="en-US" dirty="0"/>
              <a:t>Instruction Decode / Register Fetch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 flipV="1">
            <a:off x="1351120" y="742950"/>
            <a:ext cx="5105400" cy="152400"/>
          </a:xfrm>
          <a:prstGeom prst="line">
            <a:avLst/>
          </a:prstGeom>
          <a:ln w="6350" cmpd="sng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655920" y="1352550"/>
            <a:ext cx="4953000" cy="990600"/>
          </a:xfrm>
          <a:prstGeom prst="line">
            <a:avLst/>
          </a:prstGeom>
          <a:ln w="6350" cmpd="sng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60720" y="2177126"/>
            <a:ext cx="3048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342900">
              <a:buFont typeface="Wingdings" panose="05000000000000000000" pitchFamily="2" charset="2"/>
              <a:buAutoNum type="arabicPeriod"/>
            </a:pPr>
            <a:r>
              <a:rPr lang="en-US" altLang="en-US" sz="1100" dirty="0"/>
              <a:t>A = </a:t>
            </a:r>
            <a:r>
              <a:rPr lang="en-US" altLang="en-US" sz="1100" dirty="0" err="1"/>
              <a:t>Reg</a:t>
            </a:r>
            <a:r>
              <a:rPr lang="en-US" altLang="en-US" sz="1100" dirty="0"/>
              <a:t>[rs1], B = </a:t>
            </a:r>
            <a:r>
              <a:rPr lang="en-US" altLang="en-US" sz="1100" dirty="0" err="1"/>
              <a:t>Reg</a:t>
            </a:r>
            <a:r>
              <a:rPr lang="en-US" altLang="en-US" sz="1100" dirty="0"/>
              <a:t>[rs2]</a:t>
            </a:r>
          </a:p>
          <a:p>
            <a:pPr lvl="1" indent="-342900">
              <a:buFont typeface="Wingdings" panose="05000000000000000000" pitchFamily="2" charset="2"/>
              <a:buAutoNum type="arabicPeriod"/>
            </a:pPr>
            <a:r>
              <a:rPr lang="en-US" altLang="en-US" sz="1100" dirty="0" err="1"/>
              <a:t>ALUOut</a:t>
            </a:r>
            <a:r>
              <a:rPr lang="en-US" altLang="en-US" sz="1100" dirty="0"/>
              <a:t> = PCC + branch offset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9331" t="7051" r="43903" b="75054"/>
          <a:stretch/>
        </p:blipFill>
        <p:spPr>
          <a:xfrm>
            <a:off x="427987" y="729782"/>
            <a:ext cx="1846265" cy="16784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8830" r="24319"/>
          <a:stretch/>
        </p:blipFill>
        <p:spPr>
          <a:xfrm>
            <a:off x="427987" y="2621275"/>
            <a:ext cx="3733800" cy="229277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514350"/>
            <a:ext cx="4229239" cy="360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87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7788"/>
            <a:ext cx="9143999" cy="612775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Controller State Machine – R-Type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48626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548626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765550" y="1885950"/>
            <a:ext cx="800100" cy="1905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924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/>
          <p:cNvGrpSpPr/>
          <p:nvPr/>
        </p:nvGrpSpPr>
        <p:grpSpPr>
          <a:xfrm>
            <a:off x="194204" y="1428750"/>
            <a:ext cx="8755592" cy="3230728"/>
            <a:chOff x="252484" y="948519"/>
            <a:chExt cx="8755592" cy="3230728"/>
          </a:xfrm>
        </p:grpSpPr>
        <p:sp>
          <p:nvSpPr>
            <p:cNvPr id="116" name="Rectangle 11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7" name="Group 11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10" name="Trapezoid 309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11" name="Isosceles Triangle 310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12" name="Straight Connector 311"/>
              <p:cNvCxnSpPr>
                <a:stCxn id="311" idx="2"/>
                <a:endCxn id="311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TextBox 312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8" name="Group 11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8" name="Rectangle 307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9" name="Isosceles Triangle 308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9" name="Group 298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6" name="Rectangle 305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7" name="Isosceles Triangle 306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0" name="TextBox 299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02" name="TextBox 301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20" name="TextBox 11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3" name="Trapezoid 12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4" name="Straight Arrow Connector 123"/>
            <p:cNvCxnSpPr>
              <a:stCxn id="308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>
              <a:endCxn id="12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126"/>
            <p:cNvCxnSpPr>
              <a:endCxn id="297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Group 12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6" name="Trapezoid 295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9" name="Straight Connector 128"/>
            <p:cNvCxnSpPr>
              <a:endCxn id="294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294" idx="3"/>
              <a:endCxn id="11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12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/>
            <p:cNvCxnSpPr>
              <a:stCxn id="304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13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4" name="Rectangle 293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5" name="Isosceles Triangle 294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7" name="Trapezoid 13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8" name="Elbow Connector 137"/>
            <p:cNvCxnSpPr>
              <a:endCxn id="282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rapezoid 140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2" name="Straight Arrow Connector 141"/>
            <p:cNvCxnSpPr>
              <a:stCxn id="13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Elbow Connector 14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51" name="Straight Connector 150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92" name="Rectangle 29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3" name="Isosceles Triangle 29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0" name="Rectangle 28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2" name="Elbow Connector 241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3" name="Group 242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" name="Group 243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57" name="Straight Connector 256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257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5" name="Group 264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82" name="Trapezoid 281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83" name="TextBox 282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6" name="Straight Arrow Connector 265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9" name="Straight Connector 268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Freeform 269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Freeform 270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2" name="Straight Arrow Connector 271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Freeform 273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5" name="Group 274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80" name="Rectangle 279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1" name="Isosceles Triangle 280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6" name="Freeform 275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7" name="Straight Arrow Connector 276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9" name="Elbow Connector 278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67064" y="4540039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C85D208-0562-4EC6-A8D8-B3912B9A5675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3661"/>
            <a:ext cx="9144000" cy="65207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Execute (R-Type)</a:t>
            </a:r>
            <a:endParaRPr lang="en-US" altLang="en-US" b="1" dirty="0"/>
          </a:p>
        </p:txBody>
      </p:sp>
      <p:cxnSp>
        <p:nvCxnSpPr>
          <p:cNvPr id="255" name="Straight Arrow Connector 254"/>
          <p:cNvCxnSpPr/>
          <p:nvPr/>
        </p:nvCxnSpPr>
        <p:spPr>
          <a:xfrm flipV="1">
            <a:off x="6315577" y="369084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021307" y="4268179"/>
            <a:ext cx="661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=op</a:t>
            </a:r>
          </a:p>
        </p:txBody>
      </p:sp>
      <p:sp>
        <p:nvSpPr>
          <p:cNvPr id="7" name="Freeform 6"/>
          <p:cNvSpPr/>
          <p:nvPr/>
        </p:nvSpPr>
        <p:spPr>
          <a:xfrm>
            <a:off x="4387012" y="3190005"/>
            <a:ext cx="1571946" cy="10275"/>
          </a:xfrm>
          <a:custGeom>
            <a:avLst/>
            <a:gdLst>
              <a:gd name="connsiteX0" fmla="*/ 0 w 1571946"/>
              <a:gd name="connsiteY0" fmla="*/ 0 h 10275"/>
              <a:gd name="connsiteX1" fmla="*/ 1571946 w 1571946"/>
              <a:gd name="connsiteY1" fmla="*/ 10275 h 1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946" h="10275">
                <a:moveTo>
                  <a:pt x="0" y="0"/>
                </a:moveTo>
                <a:lnTo>
                  <a:pt x="1571946" y="10275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380156" y="3476090"/>
            <a:ext cx="1571946" cy="626723"/>
          </a:xfrm>
          <a:custGeom>
            <a:avLst/>
            <a:gdLst>
              <a:gd name="connsiteX0" fmla="*/ 0 w 1571946"/>
              <a:gd name="connsiteY0" fmla="*/ 277402 h 626723"/>
              <a:gd name="connsiteX1" fmla="*/ 133564 w 1571946"/>
              <a:gd name="connsiteY1" fmla="*/ 277402 h 626723"/>
              <a:gd name="connsiteX2" fmla="*/ 102742 w 1571946"/>
              <a:gd name="connsiteY2" fmla="*/ 626723 h 626723"/>
              <a:gd name="connsiteX3" fmla="*/ 863029 w 1571946"/>
              <a:gd name="connsiteY3" fmla="*/ 606175 h 626723"/>
              <a:gd name="connsiteX4" fmla="*/ 873303 w 1571946"/>
              <a:gd name="connsiteY4" fmla="*/ 10274 h 626723"/>
              <a:gd name="connsiteX5" fmla="*/ 1571946 w 1571946"/>
              <a:gd name="connsiteY5" fmla="*/ 0 h 6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1946" h="626723">
                <a:moveTo>
                  <a:pt x="0" y="277402"/>
                </a:moveTo>
                <a:lnTo>
                  <a:pt x="133564" y="277402"/>
                </a:lnTo>
                <a:lnTo>
                  <a:pt x="102742" y="626723"/>
                </a:lnTo>
                <a:lnTo>
                  <a:pt x="863029" y="606175"/>
                </a:lnTo>
                <a:lnTo>
                  <a:pt x="873303" y="10274"/>
                </a:lnTo>
                <a:lnTo>
                  <a:pt x="1571946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081839" y="3318965"/>
            <a:ext cx="456694" cy="7013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264" idx="2"/>
          </p:cNvCxnSpPr>
          <p:nvPr/>
        </p:nvCxnSpPr>
        <p:spPr>
          <a:xfrm flipH="1" flipV="1">
            <a:off x="5727245" y="3794994"/>
            <a:ext cx="11441" cy="70041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>
            <a:off x="5684634" y="2106229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428120" y="1879567"/>
            <a:ext cx="5750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504369" y="4520684"/>
            <a:ext cx="5333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endParaRPr lang="en-US" sz="1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2780D2-4648-CF5D-E64E-528EDEFC8DD9}"/>
                  </a:ext>
                </a:extLst>
              </p:cNvPr>
              <p:cNvSpPr txBox="1"/>
              <p:nvPr/>
            </p:nvSpPr>
            <p:spPr>
              <a:xfrm>
                <a:off x="3376676" y="954142"/>
                <a:ext cx="20167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𝐴𝐿𝑈𝑜𝑢𝑡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2780D2-4648-CF5D-E64E-528EDEFC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676" y="954142"/>
                <a:ext cx="2016706" cy="276999"/>
              </a:xfrm>
              <a:prstGeom prst="rect">
                <a:avLst/>
              </a:prstGeom>
              <a:blipFill>
                <a:blip r:embed="rId3"/>
                <a:stretch>
                  <a:fillRect l="-1875" t="-9091" r="-1875" b="-409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90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/>
      <p:bldP spid="7" grpId="0" animBg="1"/>
      <p:bldP spid="8" grpId="0" animBg="1"/>
      <p:bldP spid="114" grpId="0"/>
      <p:bldP spid="3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/>
          <p:cNvGrpSpPr/>
          <p:nvPr/>
        </p:nvGrpSpPr>
        <p:grpSpPr>
          <a:xfrm>
            <a:off x="194204" y="1364660"/>
            <a:ext cx="8755592" cy="3230728"/>
            <a:chOff x="252484" y="948519"/>
            <a:chExt cx="8755592" cy="3230728"/>
          </a:xfrm>
        </p:grpSpPr>
        <p:sp>
          <p:nvSpPr>
            <p:cNvPr id="113" name="Rectangle 112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4" name="Group 113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06" name="Trapezoid 30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08" name="Straight Connector 307"/>
              <p:cNvCxnSpPr>
                <a:stCxn id="307" idx="2"/>
                <a:endCxn id="30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TextBox 30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4" name="Rectangle 30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5" name="Isosceles Triangle 30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2" name="Rectangle 30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3" name="Isosceles Triangle 30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TextBox 29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0" name="Trapezoid 119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1" name="Straight Arrow Connector 120"/>
            <p:cNvCxnSpPr>
              <a:stCxn id="30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endCxn id="11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Elbow Connector 123"/>
            <p:cNvCxnSpPr>
              <a:endCxn id="29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124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2" name="Trapezoid 29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6" name="Straight Connector 125"/>
            <p:cNvCxnSpPr>
              <a:endCxn id="29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126"/>
            <p:cNvCxnSpPr>
              <a:stCxn id="290" idx="3"/>
              <a:endCxn id="113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120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30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0" name="Rectangle 28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Trapezoid 133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5" name="Elbow Connector 134"/>
            <p:cNvCxnSpPr>
              <a:endCxn id="27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rapezoid 137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9" name="Straight Arrow Connector 138"/>
            <p:cNvCxnSpPr>
              <a:stCxn id="134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4" name="Straight Connector 143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2" name="Elbow Connector 181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9" name="Group 23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2" name="Rectangle 28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3" name="Isosceles Triangle 28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0" name="Rectangle 27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1" name="Isosceles Triangle 28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2" name="Straight Connector 24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1" name="Group 26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78" name="Trapezoid 27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2" name="Straight Arrow Connector 26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5" name="Straight Connector 26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Freeform 26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8" name="Straight Arrow Connector 26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Freeform 26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1" name="Group 27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76" name="Rectangle 27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7" name="Isosceles Triangle 27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2" name="Freeform 27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Arrow Connector 27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5" name="Elbow Connector 27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67064" y="4475949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F847AC60-068B-4785-AE96-4792455632D2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18509" y="189607"/>
            <a:ext cx="5180701" cy="56175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Write-back (R-Type)</a:t>
            </a:r>
            <a:endParaRPr lang="en-US" altLang="en-US" b="1" dirty="0"/>
          </a:p>
        </p:txBody>
      </p:sp>
      <p:cxnSp>
        <p:nvCxnSpPr>
          <p:cNvPr id="250" name="Straight Arrow Connector 249"/>
          <p:cNvCxnSpPr/>
          <p:nvPr/>
        </p:nvCxnSpPr>
        <p:spPr>
          <a:xfrm flipV="1">
            <a:off x="3756043" y="3989371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3300156" y="4554545"/>
            <a:ext cx="676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RegWEn</a:t>
            </a:r>
            <a:r>
              <a:rPr lang="en-US" sz="1200" dirty="0">
                <a:solidFill>
                  <a:srgbClr val="7030A0"/>
                </a:solidFill>
              </a:rPr>
              <a:t>=1</a:t>
            </a:r>
          </a:p>
        </p:txBody>
      </p:sp>
      <p:cxnSp>
        <p:nvCxnSpPr>
          <p:cNvPr id="255" name="Elbow Connector 254"/>
          <p:cNvCxnSpPr/>
          <p:nvPr/>
        </p:nvCxnSpPr>
        <p:spPr>
          <a:xfrm flipV="1">
            <a:off x="2849116" y="3239921"/>
            <a:ext cx="489017" cy="288665"/>
          </a:xfrm>
          <a:prstGeom prst="bentConnector3">
            <a:avLst>
              <a:gd name="adj1" fmla="val 50000"/>
            </a:avLst>
          </a:pr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/>
          <p:nvPr/>
        </p:nvCxnSpPr>
        <p:spPr>
          <a:xfrm flipV="1">
            <a:off x="2989720" y="3129222"/>
            <a:ext cx="0" cy="138338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2726017" y="2343488"/>
            <a:ext cx="4202130" cy="945222"/>
          </a:xfrm>
          <a:custGeom>
            <a:avLst/>
            <a:gdLst>
              <a:gd name="connsiteX0" fmla="*/ 3965824 w 4202130"/>
              <a:gd name="connsiteY0" fmla="*/ 945222 h 945222"/>
              <a:gd name="connsiteX1" fmla="*/ 4191856 w 4202130"/>
              <a:gd name="connsiteY1" fmla="*/ 945222 h 945222"/>
              <a:gd name="connsiteX2" fmla="*/ 4202130 w 4202130"/>
              <a:gd name="connsiteY2" fmla="*/ 41096 h 945222"/>
              <a:gd name="connsiteX3" fmla="*/ 0 w 4202130"/>
              <a:gd name="connsiteY3" fmla="*/ 0 h 945222"/>
              <a:gd name="connsiteX4" fmla="*/ 10274 w 4202130"/>
              <a:gd name="connsiteY4" fmla="*/ 369869 h 945222"/>
              <a:gd name="connsiteX5" fmla="*/ 164386 w 4202130"/>
              <a:gd name="connsiteY5" fmla="*/ 369869 h 945222"/>
              <a:gd name="connsiteX6" fmla="*/ 770561 w 4202130"/>
              <a:gd name="connsiteY6" fmla="*/ 626723 h 945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2130" h="945222">
                <a:moveTo>
                  <a:pt x="3965824" y="945222"/>
                </a:moveTo>
                <a:lnTo>
                  <a:pt x="4191856" y="945222"/>
                </a:lnTo>
                <a:lnTo>
                  <a:pt x="4202130" y="41096"/>
                </a:lnTo>
                <a:lnTo>
                  <a:pt x="0" y="0"/>
                </a:lnTo>
                <a:lnTo>
                  <a:pt x="10274" y="369869"/>
                </a:lnTo>
                <a:lnTo>
                  <a:pt x="164386" y="369869"/>
                </a:lnTo>
                <a:lnTo>
                  <a:pt x="770561" y="626723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/>
          <p:cNvSpPr txBox="1"/>
          <p:nvPr/>
        </p:nvSpPr>
        <p:spPr>
          <a:xfrm>
            <a:off x="2380120" y="4241160"/>
            <a:ext cx="54008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WBsel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ALUout</a:t>
            </a:r>
            <a:endParaRPr lang="en-US" sz="1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301688-4044-BC25-C874-C1C65A93692A}"/>
                  </a:ext>
                </a:extLst>
              </p:cNvPr>
              <p:cNvSpPr txBox="1"/>
              <p:nvPr/>
            </p:nvSpPr>
            <p:spPr>
              <a:xfrm>
                <a:off x="3376676" y="954142"/>
                <a:ext cx="1951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𝐴𝐿𝑈𝑜𝑢𝑡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301688-4044-BC25-C874-C1C65A936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676" y="954142"/>
                <a:ext cx="1951752" cy="276999"/>
              </a:xfrm>
              <a:prstGeom prst="rect">
                <a:avLst/>
              </a:prstGeom>
              <a:blipFill>
                <a:blip r:embed="rId3"/>
                <a:stretch>
                  <a:fillRect l="-3226" t="-4545" r="-1935" b="-363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93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4" grpId="0" animBg="1"/>
      <p:bldP spid="2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48626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548626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781550" y="1873250"/>
            <a:ext cx="800100" cy="8382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692"/>
          <p:cNvSpPr txBox="1">
            <a:spLocks noChangeArrowheads="1"/>
          </p:cNvSpPr>
          <p:nvPr/>
        </p:nvSpPr>
        <p:spPr>
          <a:xfrm>
            <a:off x="0" y="77788"/>
            <a:ext cx="9143999" cy="612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Controller State Machine – BEQ</a:t>
            </a:r>
          </a:p>
        </p:txBody>
      </p:sp>
    </p:spTree>
    <p:extLst>
      <p:ext uri="{BB962C8B-B14F-4D97-AF65-F5344CB8AC3E}">
        <p14:creationId xmlns:p14="http://schemas.microsoft.com/office/powerpoint/2010/main" val="195649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481388"/>
              </p:ext>
            </p:extLst>
          </p:nvPr>
        </p:nvGraphicFramePr>
        <p:xfrm>
          <a:off x="1011902" y="4125256"/>
          <a:ext cx="14986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14395" imgH="857250" progId="Visio.Drawing.15">
                  <p:embed/>
                </p:oleObj>
              </mc:Choice>
              <mc:Fallback>
                <p:oleObj name="Visio" r:id="rId3" imgW="1514395" imgH="857250" progId="Visio.Drawing.15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1902" y="4125256"/>
                        <a:ext cx="1498600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" name="Group 123"/>
          <p:cNvGrpSpPr/>
          <p:nvPr/>
        </p:nvGrpSpPr>
        <p:grpSpPr>
          <a:xfrm>
            <a:off x="234504" y="1501521"/>
            <a:ext cx="8755592" cy="3230728"/>
            <a:chOff x="252484" y="948519"/>
            <a:chExt cx="8755592" cy="3230728"/>
          </a:xfrm>
        </p:grpSpPr>
        <p:sp>
          <p:nvSpPr>
            <p:cNvPr id="126" name="Rectangle 12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25" name="Trapezoid 324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26" name="Isosceles Triangle 325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27" name="Straight Connector 326"/>
              <p:cNvCxnSpPr>
                <a:stCxn id="326" idx="2"/>
                <a:endCxn id="326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8" name="TextBox 327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35" name="Group 134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23" name="Rectangle 322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24" name="Isosceles Triangle 323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" name="Group 135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314" name="Group 313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21" name="Rectangle 320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22" name="Isosceles Triangle 321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5" name="TextBox 314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16" name="TextBox 315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17" name="TextBox 316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18" name="TextBox 317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19" name="TextBox 318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20" name="TextBox 319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37" name="TextBox 136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40" name="Trapezoid 139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1" name="Straight Arrow Connector 140"/>
            <p:cNvCxnSpPr>
              <a:stCxn id="32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endCxn id="13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Elbow Connector 143"/>
            <p:cNvCxnSpPr>
              <a:endCxn id="312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11" name="Trapezoid 310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2" name="TextBox 311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13" name="TextBox 312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46" name="Straight Connector 145"/>
            <p:cNvCxnSpPr>
              <a:endCxn id="30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>
              <a:stCxn id="309" idx="3"/>
              <a:endCxn id="12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140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Elbow Connector 183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Elbow Connector 240"/>
            <p:cNvCxnSpPr>
              <a:stCxn id="319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Elbow Connector 241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Elbow Connector 242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4" name="Group 243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309" name="Rectangle 308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0" name="Isosceles Triangle 309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45" name="Trapezoid 244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52" name="Elbow Connector 251"/>
            <p:cNvCxnSpPr>
              <a:endCxn id="297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rapezoid 254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56" name="Straight Arrow Connector 255"/>
            <p:cNvCxnSpPr>
              <a:stCxn id="245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lbow Connector 256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lbow Connector 257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65" name="Straight Connector 264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6" name="Group 265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307" name="Rectangle 30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8" name="Isosceles Triangle 30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5" name="Rectangle 30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6" name="Isosceles Triangle 30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8" name="Elbow Connector 267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9" name="Group 26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3" name="Rectangle 30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4" name="Isosceles Triangle 30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1" name="Rectangle 30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2" name="Isosceles Triangle 30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1" name="Group 27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9" name="Rectangle 29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0" name="Isosceles Triangle 29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2" name="Straight Connector 27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97" name="Trapezoid 296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81" name="Straight Arrow Connector 280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84" name="Straight Connector 283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Freeform 284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Freeform 285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Arrow Connector 286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Freeform 288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0" name="Group 289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95" name="Rectangle 294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6" name="Isosceles Triangle 295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91" name="Freeform 290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2" name="Straight Arrow Connector 291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Box 292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94" name="Elbow Connector 293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07364" y="4612333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C85D208-0562-4EC6-A8D8-B3912B9A5675}" type="slidenum">
              <a:rPr lang="he-IL" altLang="en-US" sz="750" smtClean="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79748" y="173165"/>
            <a:ext cx="4648200" cy="60021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Execute (Branch)</a:t>
            </a:r>
            <a:endParaRPr lang="en-US" altLang="en-US" b="1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2981" y="811739"/>
            <a:ext cx="8628063" cy="631825"/>
          </a:xfrm>
        </p:spPr>
        <p:txBody>
          <a:bodyPr>
            <a:normAutofit/>
          </a:bodyPr>
          <a:lstStyle/>
          <a:p>
            <a:pPr lvl="1" indent="-342900">
              <a:buFont typeface="Wingdings" panose="05000000000000000000" pitchFamily="2" charset="2"/>
              <a:buAutoNum type="arabicPeriod"/>
            </a:pPr>
            <a:r>
              <a:rPr lang="he-IL" altLang="en-US" sz="1500" dirty="0"/>
              <a:t>אם [תנאי] אז </a:t>
            </a:r>
            <a:r>
              <a:rPr lang="en-US" altLang="en-US" sz="1500" dirty="0"/>
              <a:t>PC = </a:t>
            </a:r>
            <a:r>
              <a:rPr lang="en-US" altLang="en-US" sz="1500" dirty="0" err="1"/>
              <a:t>ALUOut</a:t>
            </a:r>
            <a:endParaRPr lang="en-US" altLang="en-US" sz="1500" dirty="0"/>
          </a:p>
          <a:p>
            <a:pPr lvl="1" indent="-342900">
              <a:buFont typeface="Wingdings" panose="05000000000000000000" pitchFamily="2" charset="2"/>
              <a:buAutoNum type="arabicPeriod"/>
            </a:pPr>
            <a:r>
              <a:rPr lang="he-IL" altLang="en-US" dirty="0"/>
              <a:t>תנאי הקפיצה יחושב ע״י ה-ALU. עדכון תוצאת החישוב ע״י מוצא </a:t>
            </a:r>
            <a:r>
              <a:rPr lang="en-US" altLang="en-US" dirty="0"/>
              <a:t>ZERO</a:t>
            </a:r>
            <a:r>
              <a:rPr lang="he-IL" altLang="en-US" dirty="0"/>
              <a:t> מה-</a:t>
            </a:r>
            <a:r>
              <a:rPr lang="en-US" altLang="en-US" dirty="0"/>
              <a:t>ALU</a:t>
            </a:r>
            <a:r>
              <a:rPr lang="he-IL" altLang="en-US" dirty="0"/>
              <a:t> לבקר. הבקר ״יחליט״ אם קופצים.</a:t>
            </a:r>
            <a:endParaRPr lang="en-US" altLang="en-US" dirty="0"/>
          </a:p>
        </p:txBody>
      </p:sp>
      <p:cxnSp>
        <p:nvCxnSpPr>
          <p:cNvPr id="261" name="Straight Arrow Connector 260"/>
          <p:cNvCxnSpPr/>
          <p:nvPr/>
        </p:nvCxnSpPr>
        <p:spPr>
          <a:xfrm flipV="1">
            <a:off x="1236324" y="3666341"/>
            <a:ext cx="0" cy="951993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/>
          <p:cNvCxnSpPr/>
          <p:nvPr/>
        </p:nvCxnSpPr>
        <p:spPr>
          <a:xfrm flipV="1">
            <a:off x="809323" y="3548940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444005" y="4097342"/>
            <a:ext cx="5588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Pcsource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ALUout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1542708" y="4726328"/>
            <a:ext cx="4872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PCwrite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228600" y="1493552"/>
            <a:ext cx="6739847" cy="1931542"/>
          </a:xfrm>
          <a:custGeom>
            <a:avLst/>
            <a:gdLst>
              <a:gd name="connsiteX0" fmla="*/ 6524090 w 6739847"/>
              <a:gd name="connsiteY0" fmla="*/ 1931542 h 1931542"/>
              <a:gd name="connsiteX1" fmla="*/ 6719299 w 6739847"/>
              <a:gd name="connsiteY1" fmla="*/ 1910994 h 1931542"/>
              <a:gd name="connsiteX2" fmla="*/ 6739847 w 6739847"/>
              <a:gd name="connsiteY2" fmla="*/ 10275 h 1931542"/>
              <a:gd name="connsiteX3" fmla="*/ 0 w 6739847"/>
              <a:gd name="connsiteY3" fmla="*/ 0 h 1931542"/>
              <a:gd name="connsiteX4" fmla="*/ 0 w 6739847"/>
              <a:gd name="connsiteY4" fmla="*/ 1890445 h 1931542"/>
              <a:gd name="connsiteX5" fmla="*/ 554804 w 6739847"/>
              <a:gd name="connsiteY5" fmla="*/ 1910994 h 1931542"/>
              <a:gd name="connsiteX6" fmla="*/ 1017141 w 6739847"/>
              <a:gd name="connsiteY6" fmla="*/ 1705511 h 193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39847" h="1931542">
                <a:moveTo>
                  <a:pt x="6524090" y="1931542"/>
                </a:moveTo>
                <a:lnTo>
                  <a:pt x="6719299" y="1910994"/>
                </a:lnTo>
                <a:lnTo>
                  <a:pt x="6739847" y="10275"/>
                </a:lnTo>
                <a:lnTo>
                  <a:pt x="0" y="0"/>
                </a:lnTo>
                <a:lnTo>
                  <a:pt x="0" y="1890445"/>
                </a:lnTo>
                <a:lnTo>
                  <a:pt x="554804" y="1910994"/>
                </a:lnTo>
                <a:lnTo>
                  <a:pt x="1017141" y="1705511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858784" y="3671674"/>
            <a:ext cx="308225" cy="1068512"/>
          </a:xfrm>
          <a:custGeom>
            <a:avLst/>
            <a:gdLst>
              <a:gd name="connsiteX0" fmla="*/ 0 w 308225"/>
              <a:gd name="connsiteY0" fmla="*/ 0 h 1068512"/>
              <a:gd name="connsiteX1" fmla="*/ 297951 w 308225"/>
              <a:gd name="connsiteY1" fmla="*/ 0 h 1068512"/>
              <a:gd name="connsiteX2" fmla="*/ 308225 w 308225"/>
              <a:gd name="connsiteY2" fmla="*/ 1068512 h 106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225" h="1068512">
                <a:moveTo>
                  <a:pt x="0" y="0"/>
                </a:moveTo>
                <a:lnTo>
                  <a:pt x="297951" y="0"/>
                </a:lnTo>
                <a:cubicBezTo>
                  <a:pt x="301376" y="356171"/>
                  <a:pt x="304800" y="712341"/>
                  <a:pt x="308225" y="1068512"/>
                </a:cubicBezTo>
              </a:path>
            </a:pathLst>
          </a:custGeom>
          <a:noFill/>
          <a:ln w="76200" cmpd="sng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628AA38-47E1-48EB-9384-530F762C10BC}"/>
              </a:ext>
            </a:extLst>
          </p:cNvPr>
          <p:cNvCxnSpPr>
            <a:cxnSpLocks/>
          </p:cNvCxnSpPr>
          <p:nvPr/>
        </p:nvCxnSpPr>
        <p:spPr>
          <a:xfrm flipV="1">
            <a:off x="6454140" y="3406045"/>
            <a:ext cx="1" cy="971976"/>
          </a:xfrm>
          <a:prstGeom prst="straightConnector1">
            <a:avLst/>
          </a:prstGeom>
          <a:noFill/>
          <a:ln w="76200" cmpd="sng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6D64F1C-20B0-48FB-AA5D-2EFC6FA8E29A}"/>
              </a:ext>
            </a:extLst>
          </p:cNvPr>
          <p:cNvCxnSpPr/>
          <p:nvPr/>
        </p:nvCxnSpPr>
        <p:spPr>
          <a:xfrm flipV="1">
            <a:off x="6230420" y="3787044"/>
            <a:ext cx="0" cy="879147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72EE44-F304-4EAB-9CE2-9CF6AE244B0B}"/>
              </a:ext>
            </a:extLst>
          </p:cNvPr>
          <p:cNvSpPr txBox="1"/>
          <p:nvPr/>
        </p:nvSpPr>
        <p:spPr>
          <a:xfrm>
            <a:off x="6123469" y="4666191"/>
            <a:ext cx="7308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=Sub</a:t>
            </a:r>
          </a:p>
        </p:txBody>
      </p:sp>
      <p:sp>
        <p:nvSpPr>
          <p:cNvPr id="117" name="TextBox 116"/>
          <p:cNvSpPr txBox="1"/>
          <p:nvPr/>
        </p:nvSpPr>
        <p:spPr>
          <a:xfrm rot="520102">
            <a:off x="7071788" y="1656771"/>
            <a:ext cx="205666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accent5"/>
                </a:solidFill>
              </a:rPr>
              <a:t>BLT rs1,rs2,imm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ALU: </a:t>
            </a:r>
            <a:r>
              <a:rPr lang="en-US" sz="1200" dirty="0" err="1">
                <a:solidFill>
                  <a:schemeClr val="accent5"/>
                </a:solidFill>
              </a:rPr>
              <a:t>PC+imm</a:t>
            </a:r>
            <a:r>
              <a:rPr lang="en-US" sz="1200" dirty="0">
                <a:solidFill>
                  <a:schemeClr val="accent5"/>
                </a:solidFill>
              </a:rPr>
              <a:t>-</a:t>
            </a:r>
            <a:r>
              <a:rPr lang="en-US" sz="1200" b="1" dirty="0">
                <a:solidFill>
                  <a:schemeClr val="accent5"/>
                </a:solidFill>
              </a:rPr>
              <a:t> DECODE</a:t>
            </a:r>
            <a:r>
              <a:rPr lang="he-IL" sz="1200" b="1" dirty="0">
                <a:solidFill>
                  <a:schemeClr val="accent5"/>
                </a:solidFill>
              </a:rPr>
              <a:t>בזמן </a:t>
            </a:r>
            <a:endParaRPr lang="en-US" sz="1200" b="1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ALU: rs1&lt;rs2  - </a:t>
            </a:r>
            <a:r>
              <a:rPr lang="he-IL" sz="1200" b="1" dirty="0">
                <a:solidFill>
                  <a:schemeClr val="accent5"/>
                </a:solidFill>
              </a:rPr>
              <a:t>עכשיו</a:t>
            </a:r>
            <a:endParaRPr lang="en-US" sz="1200" b="1" dirty="0">
              <a:solidFill>
                <a:schemeClr val="accent5"/>
              </a:solidFill>
            </a:endParaRPr>
          </a:p>
        </p:txBody>
      </p:sp>
      <p:cxnSp>
        <p:nvCxnSpPr>
          <p:cNvPr id="118" name="Straight Arrow Connector 117"/>
          <p:cNvCxnSpPr/>
          <p:nvPr/>
        </p:nvCxnSpPr>
        <p:spPr>
          <a:xfrm flipV="1">
            <a:off x="5753106" y="3911726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5716056" y="2186556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524193" y="4630672"/>
            <a:ext cx="5333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400155" y="2006744"/>
            <a:ext cx="53976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29" name="Freeform 328"/>
          <p:cNvSpPr/>
          <p:nvPr/>
        </p:nvSpPr>
        <p:spPr>
          <a:xfrm>
            <a:off x="4420456" y="3548384"/>
            <a:ext cx="1571946" cy="626723"/>
          </a:xfrm>
          <a:custGeom>
            <a:avLst/>
            <a:gdLst>
              <a:gd name="connsiteX0" fmla="*/ 0 w 1571946"/>
              <a:gd name="connsiteY0" fmla="*/ 277402 h 626723"/>
              <a:gd name="connsiteX1" fmla="*/ 133564 w 1571946"/>
              <a:gd name="connsiteY1" fmla="*/ 277402 h 626723"/>
              <a:gd name="connsiteX2" fmla="*/ 102742 w 1571946"/>
              <a:gd name="connsiteY2" fmla="*/ 626723 h 626723"/>
              <a:gd name="connsiteX3" fmla="*/ 863029 w 1571946"/>
              <a:gd name="connsiteY3" fmla="*/ 606175 h 626723"/>
              <a:gd name="connsiteX4" fmla="*/ 873303 w 1571946"/>
              <a:gd name="connsiteY4" fmla="*/ 10274 h 626723"/>
              <a:gd name="connsiteX5" fmla="*/ 1571946 w 1571946"/>
              <a:gd name="connsiteY5" fmla="*/ 0 h 6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1946" h="626723">
                <a:moveTo>
                  <a:pt x="0" y="277402"/>
                </a:moveTo>
                <a:lnTo>
                  <a:pt x="133564" y="277402"/>
                </a:lnTo>
                <a:lnTo>
                  <a:pt x="102742" y="626723"/>
                </a:lnTo>
                <a:lnTo>
                  <a:pt x="863029" y="606175"/>
                </a:lnTo>
                <a:lnTo>
                  <a:pt x="873303" y="10274"/>
                </a:lnTo>
                <a:lnTo>
                  <a:pt x="1571946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330" name="Straight Connector 329"/>
          <p:cNvCxnSpPr/>
          <p:nvPr/>
        </p:nvCxnSpPr>
        <p:spPr>
          <a:xfrm>
            <a:off x="4432310" y="3260182"/>
            <a:ext cx="1639635" cy="28072"/>
          </a:xfrm>
          <a:prstGeom prst="line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287307" y="4526001"/>
            <a:ext cx="6492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PCwrCond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C72EE44-F304-4EAB-9CE2-9CF6AE244B0B}"/>
              </a:ext>
            </a:extLst>
          </p:cNvPr>
          <p:cNvSpPr txBox="1"/>
          <p:nvPr/>
        </p:nvSpPr>
        <p:spPr>
          <a:xfrm>
            <a:off x="6301840" y="4367082"/>
            <a:ext cx="3319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ZERO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C72EE44-F304-4EAB-9CE2-9CF6AE244B0B}"/>
              </a:ext>
            </a:extLst>
          </p:cNvPr>
          <p:cNvSpPr txBox="1"/>
          <p:nvPr/>
        </p:nvSpPr>
        <p:spPr>
          <a:xfrm>
            <a:off x="2322327" y="4383515"/>
            <a:ext cx="3319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ZERO</a:t>
            </a:r>
          </a:p>
        </p:txBody>
      </p:sp>
    </p:spTree>
    <p:extLst>
      <p:ext uri="{BB962C8B-B14F-4D97-AF65-F5344CB8AC3E}">
        <p14:creationId xmlns:p14="http://schemas.microsoft.com/office/powerpoint/2010/main" val="21520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/>
      <p:bldP spid="264" grpId="0"/>
      <p:bldP spid="5" grpId="0" animBg="1"/>
      <p:bldP spid="6" grpId="0" animBg="1"/>
      <p:bldP spid="133" grpId="0"/>
      <p:bldP spid="120" grpId="0"/>
      <p:bldP spid="122" grpId="0"/>
      <p:bldP spid="329" grpId="0" animBg="1"/>
      <p:bldP spid="123" grpId="0"/>
      <p:bldP spid="125" grpId="0"/>
      <p:bldP spid="1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48626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548626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032000" y="1867838"/>
            <a:ext cx="1676400" cy="286291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692"/>
          <p:cNvSpPr txBox="1">
            <a:spLocks noChangeArrowheads="1"/>
          </p:cNvSpPr>
          <p:nvPr/>
        </p:nvSpPr>
        <p:spPr>
          <a:xfrm>
            <a:off x="0" y="77788"/>
            <a:ext cx="9143999" cy="612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Controller State Machine – LW/SW</a:t>
            </a:r>
          </a:p>
        </p:txBody>
      </p:sp>
    </p:spTree>
    <p:extLst>
      <p:ext uri="{BB962C8B-B14F-4D97-AF65-F5344CB8AC3E}">
        <p14:creationId xmlns:p14="http://schemas.microsoft.com/office/powerpoint/2010/main" val="309151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/>
          <p:cNvGrpSpPr/>
          <p:nvPr/>
        </p:nvGrpSpPr>
        <p:grpSpPr>
          <a:xfrm>
            <a:off x="194204" y="1276350"/>
            <a:ext cx="8755592" cy="3230728"/>
            <a:chOff x="252484" y="948519"/>
            <a:chExt cx="8755592" cy="3230728"/>
          </a:xfrm>
        </p:grpSpPr>
        <p:sp>
          <p:nvSpPr>
            <p:cNvPr id="119" name="Rectangle 118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16" name="Trapezoid 31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17" name="Isosceles Triangle 31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18" name="Straight Connector 317"/>
              <p:cNvCxnSpPr>
                <a:stCxn id="317" idx="2"/>
                <a:endCxn id="31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9" name="TextBox 31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14" name="Rectangle 31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15" name="Isosceles Triangle 31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305" name="Group 30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12" name="Rectangle 31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13" name="Isosceles Triangle 31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6" name="TextBox 30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11" name="TextBox 31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23" name="TextBox 122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6" name="Trapezoid 125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7" name="Straight Arrow Connector 126"/>
            <p:cNvCxnSpPr>
              <a:stCxn id="31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endCxn id="123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endCxn id="30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02" name="Trapezoid 30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33" name="Straight Connector 132"/>
            <p:cNvCxnSpPr>
              <a:endCxn id="30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/>
            <p:cNvCxnSpPr>
              <a:stCxn id="300" idx="3"/>
              <a:endCxn id="119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26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Elbow Connector 135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Elbow Connector 136"/>
            <p:cNvCxnSpPr>
              <a:stCxn id="31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Elbow Connector 137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Elbow Connector 138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300" name="Rectangle 29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1" name="Isosceles Triangle 30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41" name="Trapezoid 140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2" name="Elbow Connector 141"/>
            <p:cNvCxnSpPr>
              <a:endCxn id="28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rapezoid 144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6" name="Straight Arrow Connector 145"/>
            <p:cNvCxnSpPr>
              <a:stCxn id="141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Elbow Connector 166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43" name="Straight Connector 242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4" name="Group 243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98" name="Rectangle 29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9" name="Isosceles Triangle 29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6" name="Rectangle 29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7" name="Isosceles Triangle 29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59" name="Elbow Connector 258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0" name="Group 259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4" name="Rectangle 29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5" name="Isosceles Triangle 29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1" name="Group 260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2" name="Rectangle 29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3" name="Isosceles Triangle 29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2" name="Group 261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90" name="Rectangle 28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63" name="Straight Connector 262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71" name="Group 27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88" name="Trapezoid 28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TextBox 28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72" name="Straight Arrow Connector 27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75" name="Straight Connector 27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Freeform 27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Freeform 27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8" name="Straight Arrow Connector 27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Freeform 27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1" name="Group 28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82" name="Freeform 28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3" name="Straight Arrow Connector 28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28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85" name="Elbow Connector 28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67064" y="4392027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C85D208-0562-4EC6-A8D8-B3912B9A5675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24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327"/>
            <a:ext cx="9144000" cy="59877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Execute (Load / Store)</a:t>
            </a:r>
            <a:endParaRPr lang="en-US" altLang="en-US" b="1" dirty="0"/>
          </a:p>
        </p:txBody>
      </p:sp>
      <p:sp>
        <p:nvSpPr>
          <p:cNvPr id="254" name="TextBox 253"/>
          <p:cNvSpPr txBox="1"/>
          <p:nvPr/>
        </p:nvSpPr>
        <p:spPr>
          <a:xfrm>
            <a:off x="5391325" y="4435975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Imm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55" name="Straight Arrow Connector 254"/>
          <p:cNvCxnSpPr/>
          <p:nvPr/>
        </p:nvCxnSpPr>
        <p:spPr>
          <a:xfrm flipV="1">
            <a:off x="6315577" y="3542833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021307" y="4120167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257" name="Straight Arrow Connector 256"/>
          <p:cNvCxnSpPr/>
          <p:nvPr/>
        </p:nvCxnSpPr>
        <p:spPr>
          <a:xfrm flipV="1">
            <a:off x="5088431" y="432159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4157550" y="4428686"/>
            <a:ext cx="7197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IMMsel</a:t>
            </a:r>
            <a:r>
              <a:rPr lang="en-US" sz="1200" dirty="0">
                <a:solidFill>
                  <a:srgbClr val="7030A0"/>
                </a:solidFill>
              </a:rPr>
              <a:t>=I/S</a:t>
            </a:r>
          </a:p>
        </p:txBody>
      </p:sp>
      <p:sp>
        <p:nvSpPr>
          <p:cNvPr id="4" name="Freeform 3"/>
          <p:cNvSpPr/>
          <p:nvPr/>
        </p:nvSpPr>
        <p:spPr>
          <a:xfrm>
            <a:off x="2808210" y="3410271"/>
            <a:ext cx="3236359" cy="873304"/>
          </a:xfrm>
          <a:custGeom>
            <a:avLst/>
            <a:gdLst>
              <a:gd name="connsiteX0" fmla="*/ 0 w 3236359"/>
              <a:gd name="connsiteY0" fmla="*/ 30823 h 873304"/>
              <a:gd name="connsiteX1" fmla="*/ 297950 w 3236359"/>
              <a:gd name="connsiteY1" fmla="*/ 20548 h 873304"/>
              <a:gd name="connsiteX2" fmla="*/ 297950 w 3236359"/>
              <a:gd name="connsiteY2" fmla="*/ 863029 h 873304"/>
              <a:gd name="connsiteX3" fmla="*/ 2578813 w 3236359"/>
              <a:gd name="connsiteY3" fmla="*/ 873304 h 873304"/>
              <a:gd name="connsiteX4" fmla="*/ 2599362 w 3236359"/>
              <a:gd name="connsiteY4" fmla="*/ 277402 h 873304"/>
              <a:gd name="connsiteX5" fmla="*/ 2856216 w 3236359"/>
              <a:gd name="connsiteY5" fmla="*/ 246580 h 873304"/>
              <a:gd name="connsiteX6" fmla="*/ 3236359 w 3236359"/>
              <a:gd name="connsiteY6" fmla="*/ 0 h 87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6359" h="873304">
                <a:moveTo>
                  <a:pt x="0" y="30823"/>
                </a:moveTo>
                <a:lnTo>
                  <a:pt x="297950" y="20548"/>
                </a:lnTo>
                <a:lnTo>
                  <a:pt x="297950" y="863029"/>
                </a:lnTo>
                <a:lnTo>
                  <a:pt x="2578813" y="873304"/>
                </a:lnTo>
                <a:lnTo>
                  <a:pt x="2599362" y="277402"/>
                </a:lnTo>
                <a:lnTo>
                  <a:pt x="2856216" y="246580"/>
                </a:lnTo>
                <a:lnTo>
                  <a:pt x="3236359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392010" y="3039876"/>
            <a:ext cx="1639635" cy="28072"/>
          </a:xfrm>
          <a:prstGeom prst="line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6081839" y="3170953"/>
            <a:ext cx="456694" cy="7013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 rot="536524">
            <a:off x="7135038" y="947024"/>
            <a:ext cx="16793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LW </a:t>
            </a:r>
            <a:r>
              <a:rPr lang="en-US" b="1" dirty="0" err="1">
                <a:solidFill>
                  <a:schemeClr val="accent5"/>
                </a:solidFill>
              </a:rPr>
              <a:t>rd</a:t>
            </a:r>
            <a:r>
              <a:rPr lang="en-US" b="1" dirty="0">
                <a:solidFill>
                  <a:schemeClr val="accent5"/>
                </a:solidFill>
              </a:rPr>
              <a:t> , </a:t>
            </a:r>
            <a:r>
              <a:rPr lang="en-US" b="1" dirty="0">
                <a:solidFill>
                  <a:srgbClr val="FF0000"/>
                </a:solidFill>
              </a:rPr>
              <a:t>rs1</a:t>
            </a:r>
            <a:r>
              <a:rPr lang="en-US" b="1" dirty="0">
                <a:solidFill>
                  <a:schemeClr val="accent5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imm</a:t>
            </a:r>
          </a:p>
          <a:p>
            <a:r>
              <a:rPr lang="en-US" b="1" dirty="0">
                <a:solidFill>
                  <a:schemeClr val="accent5"/>
                </a:solidFill>
              </a:rPr>
              <a:t>SW </a:t>
            </a:r>
            <a:r>
              <a:rPr lang="en-US" b="1" dirty="0">
                <a:solidFill>
                  <a:srgbClr val="FF0000"/>
                </a:solidFill>
              </a:rPr>
              <a:t>rs1</a:t>
            </a:r>
            <a:r>
              <a:rPr lang="en-US" b="1" dirty="0">
                <a:solidFill>
                  <a:schemeClr val="accent5"/>
                </a:solidFill>
              </a:rPr>
              <a:t>,rs2,</a:t>
            </a:r>
            <a:r>
              <a:rPr lang="en-US" b="1" dirty="0">
                <a:solidFill>
                  <a:srgbClr val="FF0000"/>
                </a:solidFill>
              </a:rPr>
              <a:t>imm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 flipV="1">
            <a:off x="5706537" y="3695329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5707877" y="1979410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451363" y="1752748"/>
            <a:ext cx="5750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3A1119-135E-6C31-6718-B28C6619ED1F}"/>
                  </a:ext>
                </a:extLst>
              </p:cNvPr>
              <p:cNvSpPr txBox="1"/>
              <p:nvPr/>
            </p:nvSpPr>
            <p:spPr>
              <a:xfrm>
                <a:off x="3265527" y="904467"/>
                <a:ext cx="2873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𝐴𝐿𝑈𝑜𝑢𝑡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L" dirty="0"/>
                  <a:t> imm (I/S Type)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3A1119-135E-6C31-6718-B28C6619E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527" y="904467"/>
                <a:ext cx="2873222" cy="276999"/>
              </a:xfrm>
              <a:prstGeom prst="rect">
                <a:avLst/>
              </a:prstGeom>
              <a:blipFill>
                <a:blip r:embed="rId3"/>
                <a:stretch>
                  <a:fillRect l="-2643" t="-26087" r="-3965" b="-478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/>
      <p:bldP spid="256" grpId="0"/>
      <p:bldP spid="258" grpId="0"/>
      <p:bldP spid="4" grpId="0" animBg="1"/>
      <p:bldP spid="1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/>
          <p:cNvGrpSpPr/>
          <p:nvPr/>
        </p:nvGrpSpPr>
        <p:grpSpPr>
          <a:xfrm>
            <a:off x="194204" y="1341754"/>
            <a:ext cx="8755592" cy="3230728"/>
            <a:chOff x="252484" y="948519"/>
            <a:chExt cx="8755592" cy="3230728"/>
          </a:xfrm>
        </p:grpSpPr>
        <p:sp>
          <p:nvSpPr>
            <p:cNvPr id="114" name="Rectangle 113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06" name="Trapezoid 30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08" name="Straight Connector 307"/>
              <p:cNvCxnSpPr>
                <a:stCxn id="307" idx="2"/>
                <a:endCxn id="30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TextBox 30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4" name="Rectangle 30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5" name="Isosceles Triangle 30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2" name="Rectangle 30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3" name="Isosceles Triangle 30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TextBox 29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18" name="TextBox 117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1" name="Trapezoid 120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/>
            <p:cNvCxnSpPr>
              <a:stCxn id="30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endCxn id="118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Elbow Connector 124"/>
            <p:cNvCxnSpPr>
              <a:endCxn id="29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oup 125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2" name="Trapezoid 29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7" name="Straight Connector 126"/>
            <p:cNvCxnSpPr>
              <a:endCxn id="29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Elbow Connector 127"/>
            <p:cNvCxnSpPr>
              <a:stCxn id="290" idx="3"/>
              <a:endCxn id="114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stCxn id="121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stCxn id="30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0" name="Rectangle 28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5" name="Trapezoid 134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6" name="Elbow Connector 135"/>
            <p:cNvCxnSpPr>
              <a:endCxn id="27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rapezoid 138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/>
            <p:cNvCxnSpPr>
              <a:stCxn id="135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9" name="Straight Connector 148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5" name="Group 164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9" name="Elbow Connector 238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0" name="Group 239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2" name="Rectangle 28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3" name="Isosceles Triangle 28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0" name="Rectangle 27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1" name="Isosceles Triangle 28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3" name="Straight Connector 242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1" name="Group 26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78" name="Trapezoid 27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2" name="Straight Arrow Connector 26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5" name="Straight Connector 26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Freeform 26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8" name="Straight Arrow Connector 26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Freeform 26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1" name="Group 27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76" name="Rectangle 27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7" name="Isosceles Triangle 27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2" name="Freeform 27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Arrow Connector 27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5" name="Elbow Connector 27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67064" y="4465536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F847AC60-068B-4785-AE96-4792455632D2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2494" y="183446"/>
            <a:ext cx="4475324" cy="609786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Memory (Store)</a:t>
            </a:r>
            <a:endParaRPr lang="en-US" altLang="en-US" b="1" dirty="0"/>
          </a:p>
        </p:txBody>
      </p:sp>
      <p:cxnSp>
        <p:nvCxnSpPr>
          <p:cNvPr id="250" name="Straight Arrow Connector 249"/>
          <p:cNvCxnSpPr/>
          <p:nvPr/>
        </p:nvCxnSpPr>
        <p:spPr>
          <a:xfrm flipV="1">
            <a:off x="7462220" y="3681716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7028320" y="4235522"/>
            <a:ext cx="952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MemRW</a:t>
            </a:r>
            <a:r>
              <a:rPr lang="en-US" sz="1200" dirty="0">
                <a:solidFill>
                  <a:srgbClr val="7030A0"/>
                </a:solidFill>
              </a:rPr>
              <a:t>=write</a:t>
            </a:r>
          </a:p>
        </p:txBody>
      </p:sp>
      <p:cxnSp>
        <p:nvCxnSpPr>
          <p:cNvPr id="254" name="Straight Arrow Connector 253"/>
          <p:cNvCxnSpPr/>
          <p:nvPr/>
        </p:nvCxnSpPr>
        <p:spPr>
          <a:xfrm>
            <a:off x="6690934" y="3251474"/>
            <a:ext cx="593536" cy="0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4380156" y="3576248"/>
            <a:ext cx="2856216" cy="431514"/>
          </a:xfrm>
          <a:custGeom>
            <a:avLst/>
            <a:gdLst>
              <a:gd name="connsiteX0" fmla="*/ 0 w 2856216"/>
              <a:gd name="connsiteY0" fmla="*/ 102741 h 431514"/>
              <a:gd name="connsiteX1" fmla="*/ 123290 w 2856216"/>
              <a:gd name="connsiteY1" fmla="*/ 102741 h 431514"/>
              <a:gd name="connsiteX2" fmla="*/ 102742 w 2856216"/>
              <a:gd name="connsiteY2" fmla="*/ 421240 h 431514"/>
              <a:gd name="connsiteX3" fmla="*/ 2424701 w 2856216"/>
              <a:gd name="connsiteY3" fmla="*/ 431514 h 431514"/>
              <a:gd name="connsiteX4" fmla="*/ 2445249 w 2856216"/>
              <a:gd name="connsiteY4" fmla="*/ 20548 h 431514"/>
              <a:gd name="connsiteX5" fmla="*/ 2856216 w 2856216"/>
              <a:gd name="connsiteY5" fmla="*/ 0 h 43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6216" h="431514">
                <a:moveTo>
                  <a:pt x="0" y="102741"/>
                </a:moveTo>
                <a:lnTo>
                  <a:pt x="123290" y="102741"/>
                </a:lnTo>
                <a:lnTo>
                  <a:pt x="102742" y="421240"/>
                </a:lnTo>
                <a:lnTo>
                  <a:pt x="2424701" y="431514"/>
                </a:lnTo>
                <a:lnTo>
                  <a:pt x="2445249" y="20548"/>
                </a:lnTo>
                <a:lnTo>
                  <a:pt x="2856216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 rot="796636">
            <a:off x="6987239" y="1470757"/>
            <a:ext cx="10287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1" eaLnBrk="1" latinLnBrk="0" hangingPunct="1"/>
            <a:r>
              <a:rPr lang="he-IL" sz="1200" dirty="0">
                <a:solidFill>
                  <a:schemeClr val="accent5"/>
                </a:solidFill>
              </a:rPr>
              <a:t>כתובת בזיכרון שחושבה מראש</a:t>
            </a:r>
            <a:endParaRPr lang="en-US" sz="1200" dirty="0">
              <a:solidFill>
                <a:schemeClr val="accent5"/>
              </a:solidFill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 flipH="1">
            <a:off x="6738650" y="1837735"/>
            <a:ext cx="654984" cy="1338909"/>
          </a:xfrm>
          <a:prstGeom prst="straightConnector1">
            <a:avLst/>
          </a:prstGeom>
          <a:ln w="15875" cmpd="sng"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C21F51-8FAC-4634-3E46-8247C49A6593}"/>
                  </a:ext>
                </a:extLst>
              </p:cNvPr>
              <p:cNvSpPr txBox="1"/>
              <p:nvPr/>
            </p:nvSpPr>
            <p:spPr>
              <a:xfrm>
                <a:off x="3403642" y="852409"/>
                <a:ext cx="19647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𝐴𝐿𝑈𝑜𝑢𝑡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C21F51-8FAC-4634-3E46-8247C49A6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42" y="852409"/>
                <a:ext cx="1964769" cy="276999"/>
              </a:xfrm>
              <a:prstGeom prst="rect">
                <a:avLst/>
              </a:prstGeom>
              <a:blipFill>
                <a:blip r:embed="rId3"/>
                <a:stretch>
                  <a:fillRect l="-1923" r="-1923" b="-90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78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3" grpId="0" animBg="1"/>
      <p:bldP spid="10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/>
          <p:cNvGrpSpPr/>
          <p:nvPr/>
        </p:nvGrpSpPr>
        <p:grpSpPr>
          <a:xfrm>
            <a:off x="152400" y="1318231"/>
            <a:ext cx="8755592" cy="3230728"/>
            <a:chOff x="252484" y="948519"/>
            <a:chExt cx="8755592" cy="3230728"/>
          </a:xfrm>
        </p:grpSpPr>
        <p:sp>
          <p:nvSpPr>
            <p:cNvPr id="115" name="Rectangle 114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6" name="Group 115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08" name="Trapezoid 307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Isosceles Triangle 308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Connector 309"/>
              <p:cNvCxnSpPr>
                <a:stCxn id="309" idx="2"/>
                <a:endCxn id="309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1" name="TextBox 310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6" name="Rectangle 305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8" name="Group 117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7" name="Group 296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4" name="Rectangle 303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5" name="Isosceles Triangle 304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8" name="TextBox 297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2" name="TextBox 301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19" name="TextBox 118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2" name="Trapezoid 121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3" name="Straight Arrow Connector 122"/>
            <p:cNvCxnSpPr>
              <a:stCxn id="306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>
              <a:endCxn id="119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Elbow Connector 125"/>
            <p:cNvCxnSpPr>
              <a:endCxn id="295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" name="Group 126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4" name="Trapezoid 293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8" name="Straight Connector 127"/>
            <p:cNvCxnSpPr>
              <a:endCxn id="292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292" idx="3"/>
              <a:endCxn id="115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12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>
              <a:stCxn id="302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134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2" name="Rectangle 291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3" name="Isosceles Triangle 292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Trapezoid 135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7" name="Elbow Connector 136"/>
            <p:cNvCxnSpPr>
              <a:endCxn id="280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rapezoid 139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1" name="Straight Arrow Connector 140"/>
            <p:cNvCxnSpPr>
              <a:stCxn id="136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65" name="Straight Connector 164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90" name="Rectangle 28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9" name="Group 2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0" name="Elbow Connector 2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1" name="Group 2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3" name="Group 2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2" name="Rectangle 28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3" name="Isosceles Triangle 28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51" name="Straight Connector 250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3" name="Group 262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80" name="Trapezoid 279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4" name="Straight Arrow Connector 263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TextBox 265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7" name="Straight Connector 266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Freeform 267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Freeform 268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Arrow Connector 269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Freeform 271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3" name="Group 272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78" name="Rectangle 277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9" name="Isosceles Triangle 278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4" name="Freeform 273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5" name="Straight Arrow Connector 274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7" name="Elbow Connector 276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25260" y="4446878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F847AC60-068B-4785-AE96-4792455632D2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26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34338" y="4729"/>
            <a:ext cx="4475324" cy="739286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Memory (Load)</a:t>
            </a:r>
            <a:endParaRPr lang="en-US" altLang="en-US" b="1" dirty="0"/>
          </a:p>
        </p:txBody>
      </p:sp>
      <p:cxnSp>
        <p:nvCxnSpPr>
          <p:cNvPr id="250" name="Straight Arrow Connector 249"/>
          <p:cNvCxnSpPr/>
          <p:nvPr/>
        </p:nvCxnSpPr>
        <p:spPr>
          <a:xfrm flipV="1">
            <a:off x="7420416" y="3663058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6986516" y="4216864"/>
            <a:ext cx="9087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MemRW</a:t>
            </a:r>
            <a:r>
              <a:rPr lang="en-US" sz="1200" dirty="0">
                <a:solidFill>
                  <a:srgbClr val="7030A0"/>
                </a:solidFill>
              </a:rPr>
              <a:t>=read</a:t>
            </a:r>
          </a:p>
        </p:txBody>
      </p:sp>
      <p:cxnSp>
        <p:nvCxnSpPr>
          <p:cNvPr id="253" name="Straight Arrow Connector 252"/>
          <p:cNvCxnSpPr/>
          <p:nvPr/>
        </p:nvCxnSpPr>
        <p:spPr>
          <a:xfrm flipV="1">
            <a:off x="8544487" y="356588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253"/>
          <p:cNvSpPr txBox="1"/>
          <p:nvPr/>
        </p:nvSpPr>
        <p:spPr>
          <a:xfrm>
            <a:off x="8250217" y="4143219"/>
            <a:ext cx="6322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MDRwrite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57" name="Straight Arrow Connector 256"/>
          <p:cNvCxnSpPr/>
          <p:nvPr/>
        </p:nvCxnSpPr>
        <p:spPr>
          <a:xfrm>
            <a:off x="6649130" y="3232816"/>
            <a:ext cx="593536" cy="0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7950839" y="3340231"/>
            <a:ext cx="507638" cy="0"/>
          </a:xfrm>
          <a:prstGeom prst="line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 rot="796636">
            <a:off x="6610876" y="1429123"/>
            <a:ext cx="130054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he-IL" sz="1200" dirty="0">
                <a:solidFill>
                  <a:schemeClr val="accent5"/>
                </a:solidFill>
              </a:rPr>
              <a:t>כתובת בזיכרון שחושבה מראש</a:t>
            </a:r>
            <a:endParaRPr lang="en-US" sz="1200" dirty="0">
              <a:solidFill>
                <a:schemeClr val="accent5"/>
              </a:solidFill>
            </a:endParaRPr>
          </a:p>
        </p:txBody>
      </p:sp>
      <p:cxnSp>
        <p:nvCxnSpPr>
          <p:cNvPr id="109" name="Straight Arrow Connector 108"/>
          <p:cNvCxnSpPr/>
          <p:nvPr/>
        </p:nvCxnSpPr>
        <p:spPr>
          <a:xfrm flipH="1">
            <a:off x="6696846" y="1819077"/>
            <a:ext cx="654984" cy="1338909"/>
          </a:xfrm>
          <a:prstGeom prst="straightConnector1">
            <a:avLst/>
          </a:prstGeom>
          <a:ln w="15875" cmpd="sng"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86C14A-1A05-272D-1B06-C27906C73F1C}"/>
                  </a:ext>
                </a:extLst>
              </p:cNvPr>
              <p:cNvSpPr txBox="1"/>
              <p:nvPr/>
            </p:nvSpPr>
            <p:spPr>
              <a:xfrm>
                <a:off x="3282437" y="860003"/>
                <a:ext cx="2369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𝑀𝐷𝑅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𝐴𝐿𝑈𝑜𝑢𝑡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86C14A-1A05-272D-1B06-C27906C73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37" y="860003"/>
                <a:ext cx="2369238" cy="276999"/>
              </a:xfrm>
              <a:prstGeom prst="rect">
                <a:avLst/>
              </a:prstGeom>
              <a:blipFill>
                <a:blip r:embed="rId3"/>
                <a:stretch>
                  <a:fillRect l="-1604" t="-8696" b="-347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5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/>
      <p:bldP spid="254" grpId="0"/>
      <p:bldP spid="10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/>
          <p:cNvGrpSpPr/>
          <p:nvPr/>
        </p:nvGrpSpPr>
        <p:grpSpPr>
          <a:xfrm>
            <a:off x="304800" y="1276350"/>
            <a:ext cx="8755592" cy="3230728"/>
            <a:chOff x="252484" y="948519"/>
            <a:chExt cx="8755592" cy="3230728"/>
          </a:xfrm>
        </p:grpSpPr>
        <p:sp>
          <p:nvSpPr>
            <p:cNvPr id="113" name="Rectangle 112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4" name="Group 113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06" name="Trapezoid 30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08" name="Straight Connector 307"/>
              <p:cNvCxnSpPr>
                <a:stCxn id="307" idx="2"/>
                <a:endCxn id="30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TextBox 30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4" name="Rectangle 30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5" name="Isosceles Triangle 30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2" name="Rectangle 30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3" name="Isosceles Triangle 30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TextBox 29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0" name="Trapezoid 119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1" name="Straight Arrow Connector 120"/>
            <p:cNvCxnSpPr>
              <a:stCxn id="30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endCxn id="11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Elbow Connector 123"/>
            <p:cNvCxnSpPr>
              <a:endCxn id="29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124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2" name="Trapezoid 29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6" name="Straight Connector 125"/>
            <p:cNvCxnSpPr>
              <a:endCxn id="29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126"/>
            <p:cNvCxnSpPr>
              <a:stCxn id="290" idx="3"/>
              <a:endCxn id="113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120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30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0" name="Rectangle 28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Trapezoid 133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5" name="Elbow Connector 134"/>
            <p:cNvCxnSpPr>
              <a:endCxn id="27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rapezoid 137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9" name="Straight Arrow Connector 138"/>
            <p:cNvCxnSpPr>
              <a:stCxn id="134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4" name="Straight Connector 143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2" name="Elbow Connector 181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9" name="Group 23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2" name="Rectangle 28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3" name="Isosceles Triangle 28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0" name="Rectangle 27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1" name="Isosceles Triangle 28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2" name="Straight Connector 24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1" name="Group 26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78" name="Trapezoid 27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2" name="Straight Arrow Connector 26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5" name="Straight Connector 26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Freeform 26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8" name="Straight Arrow Connector 26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Freeform 26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1" name="Group 27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76" name="Rectangle 27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7" name="Isosceles Triangle 27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2" name="Freeform 27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Arrow Connector 27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5" name="Elbow Connector 27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77660" y="4435802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8CA53D21-6496-48F6-BE65-11A845F7921E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27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11793" y="58731"/>
            <a:ext cx="4920413" cy="719526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Write-Back (Load)</a:t>
            </a:r>
          </a:p>
        </p:txBody>
      </p:sp>
      <p:cxnSp>
        <p:nvCxnSpPr>
          <p:cNvPr id="250" name="Straight Arrow Connector 249"/>
          <p:cNvCxnSpPr/>
          <p:nvPr/>
        </p:nvCxnSpPr>
        <p:spPr>
          <a:xfrm flipV="1">
            <a:off x="3866639" y="3949224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3410752" y="4514398"/>
            <a:ext cx="676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RegWEn</a:t>
            </a:r>
            <a:r>
              <a:rPr lang="en-US" sz="1200" dirty="0">
                <a:solidFill>
                  <a:srgbClr val="7030A0"/>
                </a:solidFill>
              </a:rPr>
              <a:t>=1</a:t>
            </a:r>
          </a:p>
        </p:txBody>
      </p:sp>
      <p:cxnSp>
        <p:nvCxnSpPr>
          <p:cNvPr id="252" name="Elbow Connector 251"/>
          <p:cNvCxnSpPr/>
          <p:nvPr/>
        </p:nvCxnSpPr>
        <p:spPr>
          <a:xfrm flipV="1">
            <a:off x="2959712" y="3199774"/>
            <a:ext cx="489017" cy="288665"/>
          </a:xfrm>
          <a:prstGeom prst="bentConnector3">
            <a:avLst>
              <a:gd name="adj1" fmla="val 50000"/>
            </a:avLst>
          </a:pr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/>
          <p:nvPr/>
        </p:nvCxnSpPr>
        <p:spPr>
          <a:xfrm flipV="1">
            <a:off x="3100316" y="3089075"/>
            <a:ext cx="0" cy="138338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2490716" y="4201013"/>
            <a:ext cx="39273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WBsel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=MDR</a:t>
            </a:r>
          </a:p>
        </p:txBody>
      </p:sp>
      <p:sp>
        <p:nvSpPr>
          <p:cNvPr id="3" name="Freeform 2"/>
          <p:cNvSpPr/>
          <p:nvPr/>
        </p:nvSpPr>
        <p:spPr>
          <a:xfrm>
            <a:off x="2672226" y="2046487"/>
            <a:ext cx="6421348" cy="1304818"/>
          </a:xfrm>
          <a:custGeom>
            <a:avLst/>
            <a:gdLst>
              <a:gd name="connsiteX0" fmla="*/ 6082301 w 6421348"/>
              <a:gd name="connsiteY0" fmla="*/ 1304818 h 1304818"/>
              <a:gd name="connsiteX1" fmla="*/ 6421348 w 6421348"/>
              <a:gd name="connsiteY1" fmla="*/ 1284269 h 1304818"/>
              <a:gd name="connsiteX2" fmla="*/ 6411074 w 6421348"/>
              <a:gd name="connsiteY2" fmla="*/ 0 h 1304818"/>
              <a:gd name="connsiteX3" fmla="*/ 20548 w 6421348"/>
              <a:gd name="connsiteY3" fmla="*/ 10274 h 1304818"/>
              <a:gd name="connsiteX4" fmla="*/ 0 w 6421348"/>
              <a:gd name="connsiteY4" fmla="*/ 821932 h 1304818"/>
              <a:gd name="connsiteX5" fmla="*/ 318499 w 6421348"/>
              <a:gd name="connsiteY5" fmla="*/ 821932 h 1304818"/>
              <a:gd name="connsiteX0" fmla="*/ 6082301 w 6421348"/>
              <a:gd name="connsiteY0" fmla="*/ 1304818 h 1304818"/>
              <a:gd name="connsiteX1" fmla="*/ 6421348 w 6421348"/>
              <a:gd name="connsiteY1" fmla="*/ 1284269 h 1304818"/>
              <a:gd name="connsiteX2" fmla="*/ 6411074 w 6421348"/>
              <a:gd name="connsiteY2" fmla="*/ 0 h 1304818"/>
              <a:gd name="connsiteX3" fmla="*/ 20548 w 6421348"/>
              <a:gd name="connsiteY3" fmla="*/ 10274 h 1304818"/>
              <a:gd name="connsiteX4" fmla="*/ 0 w 6421348"/>
              <a:gd name="connsiteY4" fmla="*/ 821932 h 1304818"/>
              <a:gd name="connsiteX5" fmla="*/ 1130158 w 6421348"/>
              <a:gd name="connsiteY5" fmla="*/ 832206 h 130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21348" h="1304818">
                <a:moveTo>
                  <a:pt x="6082301" y="1304818"/>
                </a:moveTo>
                <a:lnTo>
                  <a:pt x="6421348" y="1284269"/>
                </a:lnTo>
                <a:cubicBezTo>
                  <a:pt x="6417923" y="856179"/>
                  <a:pt x="6414499" y="428090"/>
                  <a:pt x="6411074" y="0"/>
                </a:cubicBezTo>
                <a:lnTo>
                  <a:pt x="20548" y="10274"/>
                </a:lnTo>
                <a:lnTo>
                  <a:pt x="0" y="821932"/>
                </a:lnTo>
                <a:lnTo>
                  <a:pt x="1130158" y="832206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DEB4A-B9A1-434B-223F-BA4B98CA1A53}"/>
                  </a:ext>
                </a:extLst>
              </p:cNvPr>
              <p:cNvSpPr txBox="1"/>
              <p:nvPr/>
            </p:nvSpPr>
            <p:spPr>
              <a:xfrm>
                <a:off x="3282437" y="860003"/>
                <a:ext cx="1733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𝑀𝐷𝑅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DEB4A-B9A1-434B-223F-BA4B98CA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37" y="860003"/>
                <a:ext cx="1733231" cy="276999"/>
              </a:xfrm>
              <a:prstGeom prst="rect">
                <a:avLst/>
              </a:prstGeom>
              <a:blipFill>
                <a:blip r:embed="rId3"/>
                <a:stretch>
                  <a:fillRect l="-4348" t="-8696" r="-1449" b="-347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40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5" grpId="0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28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48626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548626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28504" y="1869474"/>
            <a:ext cx="914400" cy="914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692"/>
          <p:cNvSpPr txBox="1">
            <a:spLocks noChangeArrowheads="1"/>
          </p:cNvSpPr>
          <p:nvPr/>
        </p:nvSpPr>
        <p:spPr>
          <a:xfrm>
            <a:off x="0" y="77788"/>
            <a:ext cx="9143999" cy="612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Controller State Machine – JAL</a:t>
            </a:r>
          </a:p>
        </p:txBody>
      </p:sp>
    </p:spTree>
    <p:extLst>
      <p:ext uri="{BB962C8B-B14F-4D97-AF65-F5344CB8AC3E}">
        <p14:creationId xmlns:p14="http://schemas.microsoft.com/office/powerpoint/2010/main" val="199645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/>
          <p:cNvGrpSpPr/>
          <p:nvPr/>
        </p:nvGrpSpPr>
        <p:grpSpPr>
          <a:xfrm>
            <a:off x="305719" y="1428543"/>
            <a:ext cx="8755592" cy="3230728"/>
            <a:chOff x="252484" y="948519"/>
            <a:chExt cx="8755592" cy="3230728"/>
          </a:xfrm>
        </p:grpSpPr>
        <p:sp>
          <p:nvSpPr>
            <p:cNvPr id="132" name="Rectangle 131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36" name="Group 135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36" name="Trapezoid 33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Isosceles Triangle 33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38" name="Straight Connector 337"/>
              <p:cNvCxnSpPr>
                <a:stCxn id="337" idx="2"/>
                <a:endCxn id="33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TextBox 33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34" name="Rectangle 33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35" name="Isosceles Triangle 33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325" name="Group 32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32" name="Rectangle 33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33" name="Isosceles Triangle 33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6" name="TextBox 32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27" name="TextBox 32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28" name="TextBox 32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29" name="TextBox 32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30" name="TextBox 32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31" name="TextBox 33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39" name="TextBox 138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42" name="Trapezoid 141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/>
            <p:cNvCxnSpPr>
              <a:stCxn id="33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endCxn id="139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lbow Connector 145"/>
            <p:cNvCxnSpPr>
              <a:endCxn id="32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22" name="Trapezoid 32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24" name="TextBox 32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67" name="Straight Connector 166"/>
            <p:cNvCxnSpPr>
              <a:endCxn id="32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Elbow Connector 183"/>
            <p:cNvCxnSpPr>
              <a:stCxn id="320" idx="3"/>
              <a:endCxn id="132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14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Elbow Connector 24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Elbow Connector 242"/>
            <p:cNvCxnSpPr>
              <a:stCxn id="33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Elbow Connector 243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Elbow Connector 24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5" name="Group 264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320" name="Rectangle 31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21" name="Isosceles Triangle 32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66" name="Trapezoid 265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67" name="Elbow Connector 266"/>
            <p:cNvCxnSpPr>
              <a:endCxn id="30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rapezoid 269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71" name="Straight Arrow Connector 270"/>
            <p:cNvCxnSpPr>
              <a:stCxn id="266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lbow Connector 271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lbow Connector 272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76" name="Straight Connector 275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Group 276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318" name="Rectangle 31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9" name="Isosceles Triangle 31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8" name="Group 277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6" name="Rectangle 31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7" name="Isosceles Triangle 31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9" name="Elbow Connector 278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0" name="Group 279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4" name="Rectangle 31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5" name="Isosceles Triangle 31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2" name="Rectangle 31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3" name="Isosceles Triangle 31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2" name="Group 281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0" name="Rectangle 30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1" name="Isosceles Triangle 31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3" name="Straight Connector 282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283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91" name="Group 29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308" name="Trapezoid 30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92" name="Straight Arrow Connector 29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95" name="Straight Connector 29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Freeform 29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Freeform 29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8" name="Straight Arrow Connector 29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Freeform 29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1" name="Group 30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306" name="Rectangle 30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02" name="Freeform 30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3" name="Straight Arrow Connector 30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TextBox 30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305" name="Elbow Connector 30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78579" y="4550705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C85D208-0562-4EC6-A8D8-B3912B9A5675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29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9263" y="117630"/>
            <a:ext cx="4244519" cy="60432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Execute (JAL)</a:t>
            </a:r>
            <a:endParaRPr lang="en-US" altLang="en-US" b="1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46386" y="730043"/>
            <a:ext cx="8628063" cy="698500"/>
          </a:xfrm>
        </p:spPr>
        <p:txBody>
          <a:bodyPr vert="horz" lIns="0" tIns="45720" rIns="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e-IL" dirty="0"/>
              <a:t> (כתובת לחזרה - </a:t>
            </a:r>
            <a:r>
              <a:rPr lang="en-US" dirty="0"/>
              <a:t>Reg[</a:t>
            </a:r>
            <a:r>
              <a:rPr lang="en-US" dirty="0" err="1"/>
              <a:t>rd</a:t>
            </a:r>
            <a:r>
              <a:rPr lang="en-US" dirty="0"/>
              <a:t>] = PC+4 (return address</a:t>
            </a:r>
          </a:p>
          <a:p>
            <a:pPr marL="342900" indent="-342900">
              <a:buFont typeface="+mj-lt"/>
              <a:buAutoNum type="arabicPeriod"/>
            </a:pPr>
            <a:r>
              <a:rPr lang="he-IL" dirty="0"/>
              <a:t>(יעד לקפיצה)</a:t>
            </a:r>
            <a:r>
              <a:rPr lang="en-US" dirty="0"/>
              <a:t>PC = PCC + offset 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520180" y="4563616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Imm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255" name="Straight Arrow Connector 254"/>
          <p:cNvCxnSpPr/>
          <p:nvPr/>
        </p:nvCxnSpPr>
        <p:spPr>
          <a:xfrm flipV="1">
            <a:off x="6427092" y="3701511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132822" y="4278845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257" name="Straight Arrow Connector 256"/>
          <p:cNvCxnSpPr/>
          <p:nvPr/>
        </p:nvCxnSpPr>
        <p:spPr>
          <a:xfrm flipV="1">
            <a:off x="5199946" y="4480273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4269065" y="4587364"/>
            <a:ext cx="6011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IMMsel</a:t>
            </a:r>
            <a:r>
              <a:rPr lang="en-US" sz="1200" dirty="0">
                <a:solidFill>
                  <a:srgbClr val="7030A0"/>
                </a:solidFill>
              </a:rPr>
              <a:t>=J</a:t>
            </a:r>
          </a:p>
        </p:txBody>
      </p:sp>
      <p:cxnSp>
        <p:nvCxnSpPr>
          <p:cNvPr id="261" name="Straight Arrow Connector 260"/>
          <p:cNvCxnSpPr/>
          <p:nvPr/>
        </p:nvCxnSpPr>
        <p:spPr>
          <a:xfrm flipV="1">
            <a:off x="1307539" y="3604713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/>
          <p:cNvCxnSpPr/>
          <p:nvPr/>
        </p:nvCxnSpPr>
        <p:spPr>
          <a:xfrm flipV="1">
            <a:off x="880538" y="3487312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515220" y="4035714"/>
            <a:ext cx="5588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Pcsource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=ALU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166186" y="4200730"/>
            <a:ext cx="4872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PCwrite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125" name="Straight Arrow Connector 124"/>
          <p:cNvCxnSpPr/>
          <p:nvPr/>
        </p:nvCxnSpPr>
        <p:spPr>
          <a:xfrm flipV="1">
            <a:off x="3101235" y="3203978"/>
            <a:ext cx="0" cy="138338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/>
          <p:nvPr/>
        </p:nvCxnSpPr>
        <p:spPr>
          <a:xfrm flipV="1">
            <a:off x="2960631" y="3314677"/>
            <a:ext cx="489017" cy="288665"/>
          </a:xfrm>
          <a:prstGeom prst="bentConnector3">
            <a:avLst>
              <a:gd name="adj1" fmla="val 50000"/>
            </a:avLst>
          </a:pr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409424" y="2973048"/>
            <a:ext cx="2188395" cy="246580"/>
          </a:xfrm>
          <a:custGeom>
            <a:avLst/>
            <a:gdLst>
              <a:gd name="connsiteX0" fmla="*/ 0 w 2188395"/>
              <a:gd name="connsiteY0" fmla="*/ 236306 h 246580"/>
              <a:gd name="connsiteX1" fmla="*/ 1592494 w 2188395"/>
              <a:gd name="connsiteY1" fmla="*/ 246580 h 246580"/>
              <a:gd name="connsiteX2" fmla="*/ 1808251 w 2188395"/>
              <a:gd name="connsiteY2" fmla="*/ 20548 h 246580"/>
              <a:gd name="connsiteX3" fmla="*/ 2188395 w 2188395"/>
              <a:gd name="connsiteY3" fmla="*/ 0 h 24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395" h="246580">
                <a:moveTo>
                  <a:pt x="0" y="236306"/>
                </a:moveTo>
                <a:lnTo>
                  <a:pt x="1592494" y="246580"/>
                </a:lnTo>
                <a:lnTo>
                  <a:pt x="1808251" y="20548"/>
                </a:lnTo>
                <a:lnTo>
                  <a:pt x="2188395" y="0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919725" y="3579223"/>
            <a:ext cx="3246634" cy="873304"/>
          </a:xfrm>
          <a:custGeom>
            <a:avLst/>
            <a:gdLst>
              <a:gd name="connsiteX0" fmla="*/ 0 w 3246634"/>
              <a:gd name="connsiteY0" fmla="*/ 30823 h 873304"/>
              <a:gd name="connsiteX1" fmla="*/ 308225 w 3246634"/>
              <a:gd name="connsiteY1" fmla="*/ 30823 h 873304"/>
              <a:gd name="connsiteX2" fmla="*/ 308225 w 3246634"/>
              <a:gd name="connsiteY2" fmla="*/ 863030 h 873304"/>
              <a:gd name="connsiteX3" fmla="*/ 2589088 w 3246634"/>
              <a:gd name="connsiteY3" fmla="*/ 873304 h 873304"/>
              <a:gd name="connsiteX4" fmla="*/ 2609636 w 3246634"/>
              <a:gd name="connsiteY4" fmla="*/ 267128 h 873304"/>
              <a:gd name="connsiteX5" fmla="*/ 2856216 w 3246634"/>
              <a:gd name="connsiteY5" fmla="*/ 246580 h 873304"/>
              <a:gd name="connsiteX6" fmla="*/ 3246634 w 3246634"/>
              <a:gd name="connsiteY6" fmla="*/ 0 h 87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6634" h="873304">
                <a:moveTo>
                  <a:pt x="0" y="30823"/>
                </a:moveTo>
                <a:lnTo>
                  <a:pt x="308225" y="30823"/>
                </a:lnTo>
                <a:lnTo>
                  <a:pt x="308225" y="863030"/>
                </a:lnTo>
                <a:lnTo>
                  <a:pt x="2589088" y="873304"/>
                </a:lnTo>
                <a:lnTo>
                  <a:pt x="2609636" y="267128"/>
                </a:lnTo>
                <a:lnTo>
                  <a:pt x="2856216" y="246580"/>
                </a:lnTo>
                <a:lnTo>
                  <a:pt x="3246634" y="0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525846" y="1606585"/>
            <a:ext cx="5989834" cy="1715784"/>
          </a:xfrm>
          <a:custGeom>
            <a:avLst/>
            <a:gdLst>
              <a:gd name="connsiteX0" fmla="*/ 5712432 w 5989834"/>
              <a:gd name="connsiteY0" fmla="*/ 1715784 h 1715784"/>
              <a:gd name="connsiteX1" fmla="*/ 5989834 w 5989834"/>
              <a:gd name="connsiteY1" fmla="*/ 1715784 h 1715784"/>
              <a:gd name="connsiteX2" fmla="*/ 5979560 w 5989834"/>
              <a:gd name="connsiteY2" fmla="*/ 0 h 1715784"/>
              <a:gd name="connsiteX3" fmla="*/ 0 w 5989834"/>
              <a:gd name="connsiteY3" fmla="*/ 20548 h 1715784"/>
              <a:gd name="connsiteX4" fmla="*/ 0 w 5989834"/>
              <a:gd name="connsiteY4" fmla="*/ 1479479 h 1715784"/>
              <a:gd name="connsiteX5" fmla="*/ 349322 w 5989834"/>
              <a:gd name="connsiteY5" fmla="*/ 1500027 h 1715784"/>
              <a:gd name="connsiteX6" fmla="*/ 760288 w 5989834"/>
              <a:gd name="connsiteY6" fmla="*/ 1633591 h 1715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9834" h="1715784">
                <a:moveTo>
                  <a:pt x="5712432" y="1715784"/>
                </a:moveTo>
                <a:lnTo>
                  <a:pt x="5989834" y="1715784"/>
                </a:lnTo>
                <a:cubicBezTo>
                  <a:pt x="5986409" y="1143856"/>
                  <a:pt x="5982985" y="571928"/>
                  <a:pt x="5979560" y="0"/>
                </a:cubicBezTo>
                <a:lnTo>
                  <a:pt x="0" y="20548"/>
                </a:lnTo>
                <a:lnTo>
                  <a:pt x="0" y="1479479"/>
                </a:lnTo>
                <a:lnTo>
                  <a:pt x="349322" y="1500027"/>
                </a:lnTo>
                <a:lnTo>
                  <a:pt x="760288" y="1633591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804573" y="4095180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3406035" y="4625195"/>
            <a:ext cx="676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RegWEn</a:t>
            </a:r>
            <a:r>
              <a:rPr lang="en-US" sz="1200" dirty="0">
                <a:solidFill>
                  <a:srgbClr val="7030A0"/>
                </a:solidFill>
              </a:rPr>
              <a:t>=1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06283" y="4315916"/>
            <a:ext cx="39433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WBsel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=PC</a:t>
            </a:r>
          </a:p>
        </p:txBody>
      </p:sp>
      <p:sp>
        <p:nvSpPr>
          <p:cNvPr id="124" name="TextBox 123"/>
          <p:cNvSpPr txBox="1"/>
          <p:nvPr/>
        </p:nvSpPr>
        <p:spPr>
          <a:xfrm rot="520102">
            <a:off x="212937" y="865106"/>
            <a:ext cx="205666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he-IL" sz="1200" dirty="0">
                <a:solidFill>
                  <a:schemeClr val="accent5"/>
                </a:solidFill>
              </a:rPr>
              <a:t>זכרו: </a:t>
            </a:r>
            <a:endParaRPr lang="en-US" sz="1200" dirty="0">
              <a:solidFill>
                <a:schemeClr val="accent5"/>
              </a:solidFill>
            </a:endParaRPr>
          </a:p>
          <a:p>
            <a:pPr algn="r" rtl="1"/>
            <a:r>
              <a:rPr lang="he-IL" sz="1200" dirty="0">
                <a:solidFill>
                  <a:schemeClr val="accent5"/>
                </a:solidFill>
              </a:rPr>
              <a:t>אחרי מחזור </a:t>
            </a:r>
            <a:r>
              <a:rPr lang="en-US" sz="1200" dirty="0">
                <a:solidFill>
                  <a:schemeClr val="accent5"/>
                </a:solidFill>
              </a:rPr>
              <a:t>Fetch</a:t>
            </a:r>
            <a:r>
              <a:rPr lang="he-IL" sz="1200" dirty="0">
                <a:solidFill>
                  <a:schemeClr val="accent5"/>
                </a:solidFill>
              </a:rPr>
              <a:t> ה-</a:t>
            </a:r>
            <a:r>
              <a:rPr lang="en-US" sz="1200" dirty="0">
                <a:solidFill>
                  <a:schemeClr val="accent5"/>
                </a:solidFill>
              </a:rPr>
              <a:t>pc</a:t>
            </a:r>
            <a:r>
              <a:rPr lang="he-IL" sz="1200" dirty="0">
                <a:solidFill>
                  <a:schemeClr val="accent5"/>
                </a:solidFill>
              </a:rPr>
              <a:t> מכיל </a:t>
            </a:r>
            <a:r>
              <a:rPr lang="en-US" sz="1200" dirty="0">
                <a:solidFill>
                  <a:schemeClr val="accent5"/>
                </a:solidFill>
              </a:rPr>
              <a:t>pc+4</a:t>
            </a:r>
            <a:endParaRPr lang="en-US" sz="1200" b="1" dirty="0">
              <a:solidFill>
                <a:schemeClr val="accent5"/>
              </a:solidFill>
            </a:endParaRPr>
          </a:p>
        </p:txBody>
      </p:sp>
      <p:cxnSp>
        <p:nvCxnSpPr>
          <p:cNvPr id="126" name="Straight Arrow Connector 125"/>
          <p:cNvCxnSpPr/>
          <p:nvPr/>
        </p:nvCxnSpPr>
        <p:spPr>
          <a:xfrm flipV="1">
            <a:off x="5803404" y="3850098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5820866" y="2123374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564352" y="1896712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=PCC 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1770871" y="1924883"/>
            <a:ext cx="4303020" cy="1150907"/>
          </a:xfrm>
          <a:custGeom>
            <a:avLst/>
            <a:gdLst>
              <a:gd name="connsiteX0" fmla="*/ 0 w 4643919"/>
              <a:gd name="connsiteY0" fmla="*/ 20548 h 1243173"/>
              <a:gd name="connsiteX1" fmla="*/ 1089061 w 4643919"/>
              <a:gd name="connsiteY1" fmla="*/ 0 h 1243173"/>
              <a:gd name="connsiteX2" fmla="*/ 1181528 w 4643919"/>
              <a:gd name="connsiteY2" fmla="*/ 92467 h 1243173"/>
              <a:gd name="connsiteX3" fmla="*/ 3637052 w 4643919"/>
              <a:gd name="connsiteY3" fmla="*/ 102741 h 1243173"/>
              <a:gd name="connsiteX4" fmla="*/ 3616503 w 4643919"/>
              <a:gd name="connsiteY4" fmla="*/ 1037689 h 1243173"/>
              <a:gd name="connsiteX5" fmla="*/ 4325420 w 4643919"/>
              <a:gd name="connsiteY5" fmla="*/ 1058238 h 1243173"/>
              <a:gd name="connsiteX6" fmla="*/ 4643919 w 4643919"/>
              <a:gd name="connsiteY6" fmla="*/ 1243173 h 1243173"/>
              <a:gd name="connsiteX0" fmla="*/ 0 w 4643919"/>
              <a:gd name="connsiteY0" fmla="*/ 0 h 1222625"/>
              <a:gd name="connsiteX1" fmla="*/ 1181528 w 4643919"/>
              <a:gd name="connsiteY1" fmla="*/ 71919 h 1222625"/>
              <a:gd name="connsiteX2" fmla="*/ 3637052 w 4643919"/>
              <a:gd name="connsiteY2" fmla="*/ 82193 h 1222625"/>
              <a:gd name="connsiteX3" fmla="*/ 3616503 w 4643919"/>
              <a:gd name="connsiteY3" fmla="*/ 1017141 h 1222625"/>
              <a:gd name="connsiteX4" fmla="*/ 4325420 w 4643919"/>
              <a:gd name="connsiteY4" fmla="*/ 1037690 h 1222625"/>
              <a:gd name="connsiteX5" fmla="*/ 4643919 w 4643919"/>
              <a:gd name="connsiteY5" fmla="*/ 1222625 h 1222625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637052 w 4643919"/>
              <a:gd name="connsiteY2" fmla="*/ 10475 h 1150907"/>
              <a:gd name="connsiteX3" fmla="*/ 3616503 w 4643919"/>
              <a:gd name="connsiteY3" fmla="*/ 945423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546753 w 4643919"/>
              <a:gd name="connsiteY2" fmla="*/ 10475 h 1150907"/>
              <a:gd name="connsiteX3" fmla="*/ 3616503 w 4643919"/>
              <a:gd name="connsiteY3" fmla="*/ 945423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  <a:gd name="connsiteX0" fmla="*/ 0 w 4643919"/>
              <a:gd name="connsiteY0" fmla="*/ 0 h 1150907"/>
              <a:gd name="connsiteX1" fmla="*/ 1181528 w 4643919"/>
              <a:gd name="connsiteY1" fmla="*/ 201 h 1150907"/>
              <a:gd name="connsiteX2" fmla="*/ 3546753 w 4643919"/>
              <a:gd name="connsiteY2" fmla="*/ 10475 h 1150907"/>
              <a:gd name="connsiteX3" fmla="*/ 3513304 w 4643919"/>
              <a:gd name="connsiteY3" fmla="*/ 951400 h 1150907"/>
              <a:gd name="connsiteX4" fmla="*/ 4325420 w 4643919"/>
              <a:gd name="connsiteY4" fmla="*/ 965972 h 1150907"/>
              <a:gd name="connsiteX5" fmla="*/ 4643919 w 4643919"/>
              <a:gd name="connsiteY5" fmla="*/ 1150907 h 1150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3919" h="1150907">
                <a:moveTo>
                  <a:pt x="0" y="0"/>
                </a:moveTo>
                <a:lnTo>
                  <a:pt x="1181528" y="201"/>
                </a:lnTo>
                <a:lnTo>
                  <a:pt x="3546753" y="10475"/>
                </a:lnTo>
                <a:lnTo>
                  <a:pt x="3513304" y="951400"/>
                </a:lnTo>
                <a:lnTo>
                  <a:pt x="4325420" y="965972"/>
                </a:lnTo>
                <a:lnTo>
                  <a:pt x="4643919" y="1150907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6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/>
      <p:bldP spid="256" grpId="0"/>
      <p:bldP spid="258" grpId="0"/>
      <p:bldP spid="263" grpId="0"/>
      <p:bldP spid="264" grpId="0"/>
      <p:bldP spid="6" grpId="0" animBg="1"/>
      <p:bldP spid="8" grpId="0" animBg="1"/>
      <p:bldP spid="9" grpId="0" animBg="1"/>
      <p:bldP spid="134" grpId="0"/>
      <p:bldP spid="135" grpId="0"/>
      <p:bldP spid="130" grpId="0"/>
      <p:bldP spid="3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/>
          <p:cNvGrpSpPr/>
          <p:nvPr/>
        </p:nvGrpSpPr>
        <p:grpSpPr>
          <a:xfrm>
            <a:off x="226644" y="1485301"/>
            <a:ext cx="8755592" cy="3230728"/>
            <a:chOff x="252484" y="948519"/>
            <a:chExt cx="8755592" cy="3230728"/>
          </a:xfrm>
        </p:grpSpPr>
        <p:sp>
          <p:nvSpPr>
            <p:cNvPr id="135" name="Rectangle 134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36" name="Group 135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35" name="Trapezoid 334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36" name="Isosceles Triangle 335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37" name="Straight Connector 336"/>
              <p:cNvCxnSpPr>
                <a:stCxn id="336" idx="2"/>
                <a:endCxn id="336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8" name="TextBox 337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33" name="Rectangle 332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34" name="Isosceles Triangle 333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324" name="Group 323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31" name="Rectangle 330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32" name="Isosceles Triangle 331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5" name="TextBox 324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326" name="TextBox 325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327" name="TextBox 326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328" name="TextBox 327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29" name="TextBox 328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30" name="TextBox 329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39" name="TextBox 138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42" name="Trapezoid 141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/>
            <p:cNvCxnSpPr>
              <a:stCxn id="33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endCxn id="139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lbow Connector 145"/>
            <p:cNvCxnSpPr>
              <a:endCxn id="322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321" name="Trapezoid 320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2" name="TextBox 321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67" name="Straight Connector 166"/>
            <p:cNvCxnSpPr>
              <a:endCxn id="31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Elbow Connector 240"/>
            <p:cNvCxnSpPr>
              <a:stCxn id="319" idx="3"/>
              <a:endCxn id="135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/>
            <p:cNvCxnSpPr>
              <a:stCxn id="142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Elbow Connector 242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Elbow Connector 243"/>
            <p:cNvCxnSpPr>
              <a:stCxn id="329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Elbow Connector 244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lbow Connector 258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0" name="Group 259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319" name="Rectangle 318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20" name="Isosceles Triangle 319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65" name="Trapezoid 264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66" name="Elbow Connector 265"/>
            <p:cNvCxnSpPr>
              <a:endCxn id="307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rapezoid 268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70" name="Straight Arrow Connector 269"/>
            <p:cNvCxnSpPr>
              <a:stCxn id="265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lbow Connector 270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lbow Connector 271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75" name="Straight Connector 274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317" name="Rectangle 31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8" name="Isosceles Triangle 31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7" name="Group 276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5" name="Rectangle 31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6" name="Isosceles Triangle 31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8" name="Elbow Connector 277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Group 27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3" name="Rectangle 31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4" name="Isosceles Triangle 31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0" name="Group 279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11" name="Rectangle 31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2" name="Isosceles Triangle 31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309" name="Rectangle 30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10" name="Isosceles Triangle 30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2" name="Straight Connector 28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90" name="Group 289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307" name="Trapezoid 306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91" name="Straight Arrow Connector 290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Box 292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Freeform 294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Freeform 295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7" name="Straight Arrow Connector 296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Freeform 298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0" name="Group 299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305" name="Rectangle 304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306" name="Isosceles Triangle 305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01" name="Freeform 300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2" name="Straight Arrow Connector 301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304" name="Elbow Connector 303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99504" y="4596590"/>
            <a:ext cx="984019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9C85D208-0562-4EC6-A8D8-B3912B9A5675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30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05738" y="113558"/>
            <a:ext cx="4397405" cy="7101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Execute (JALR)</a:t>
            </a:r>
            <a:endParaRPr lang="en-US" altLang="en-US" b="1" dirty="0"/>
          </a:p>
        </p:txBody>
      </p:sp>
      <p:cxnSp>
        <p:nvCxnSpPr>
          <p:cNvPr id="255" name="Straight Arrow Connector 254"/>
          <p:cNvCxnSpPr/>
          <p:nvPr/>
        </p:nvCxnSpPr>
        <p:spPr>
          <a:xfrm flipV="1">
            <a:off x="6348017" y="3747396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053747" y="4324730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257" name="Straight Arrow Connector 256"/>
          <p:cNvCxnSpPr/>
          <p:nvPr/>
        </p:nvCxnSpPr>
        <p:spPr>
          <a:xfrm flipV="1">
            <a:off x="5120871" y="4526158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4189990" y="4633249"/>
            <a:ext cx="58990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IMMsel</a:t>
            </a:r>
            <a:r>
              <a:rPr lang="en-US" sz="1200" dirty="0">
                <a:solidFill>
                  <a:srgbClr val="7030A0"/>
                </a:solidFill>
              </a:rPr>
              <a:t>=I</a:t>
            </a:r>
          </a:p>
        </p:txBody>
      </p:sp>
      <p:cxnSp>
        <p:nvCxnSpPr>
          <p:cNvPr id="261" name="Straight Arrow Connector 260"/>
          <p:cNvCxnSpPr/>
          <p:nvPr/>
        </p:nvCxnSpPr>
        <p:spPr>
          <a:xfrm flipV="1">
            <a:off x="1228464" y="3650598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/>
          <p:cNvCxnSpPr/>
          <p:nvPr/>
        </p:nvCxnSpPr>
        <p:spPr>
          <a:xfrm flipV="1">
            <a:off x="801463" y="3533197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436145" y="4081599"/>
            <a:ext cx="5588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7030A0"/>
                </a:solidFill>
              </a:rPr>
              <a:t>Pcsource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=ALU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87111" y="4246615"/>
            <a:ext cx="4872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PCwrite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125" name="Straight Arrow Connector 124"/>
          <p:cNvCxnSpPr/>
          <p:nvPr/>
        </p:nvCxnSpPr>
        <p:spPr>
          <a:xfrm flipV="1">
            <a:off x="3022160" y="3249863"/>
            <a:ext cx="0" cy="138338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cxnSpLocks/>
          </p:cNvCxnSpPr>
          <p:nvPr/>
        </p:nvCxnSpPr>
        <p:spPr>
          <a:xfrm flipV="1">
            <a:off x="2881556" y="3360562"/>
            <a:ext cx="489017" cy="288665"/>
          </a:xfrm>
          <a:prstGeom prst="bentConnector3">
            <a:avLst>
              <a:gd name="adj1" fmla="val 50000"/>
            </a:avLst>
          </a:pr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330349" y="3018933"/>
            <a:ext cx="2188395" cy="246580"/>
          </a:xfrm>
          <a:custGeom>
            <a:avLst/>
            <a:gdLst>
              <a:gd name="connsiteX0" fmla="*/ 0 w 2188395"/>
              <a:gd name="connsiteY0" fmla="*/ 236306 h 246580"/>
              <a:gd name="connsiteX1" fmla="*/ 1592494 w 2188395"/>
              <a:gd name="connsiteY1" fmla="*/ 246580 h 246580"/>
              <a:gd name="connsiteX2" fmla="*/ 1808251 w 2188395"/>
              <a:gd name="connsiteY2" fmla="*/ 20548 h 246580"/>
              <a:gd name="connsiteX3" fmla="*/ 2188395 w 2188395"/>
              <a:gd name="connsiteY3" fmla="*/ 0 h 24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395" h="246580">
                <a:moveTo>
                  <a:pt x="0" y="236306"/>
                </a:moveTo>
                <a:lnTo>
                  <a:pt x="1592494" y="246580"/>
                </a:lnTo>
                <a:lnTo>
                  <a:pt x="1808251" y="20548"/>
                </a:lnTo>
                <a:lnTo>
                  <a:pt x="2188395" y="0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840650" y="3625108"/>
            <a:ext cx="3246634" cy="873304"/>
          </a:xfrm>
          <a:custGeom>
            <a:avLst/>
            <a:gdLst>
              <a:gd name="connsiteX0" fmla="*/ 0 w 3246634"/>
              <a:gd name="connsiteY0" fmla="*/ 30823 h 873304"/>
              <a:gd name="connsiteX1" fmla="*/ 308225 w 3246634"/>
              <a:gd name="connsiteY1" fmla="*/ 30823 h 873304"/>
              <a:gd name="connsiteX2" fmla="*/ 308225 w 3246634"/>
              <a:gd name="connsiteY2" fmla="*/ 863030 h 873304"/>
              <a:gd name="connsiteX3" fmla="*/ 2589088 w 3246634"/>
              <a:gd name="connsiteY3" fmla="*/ 873304 h 873304"/>
              <a:gd name="connsiteX4" fmla="*/ 2609636 w 3246634"/>
              <a:gd name="connsiteY4" fmla="*/ 267128 h 873304"/>
              <a:gd name="connsiteX5" fmla="*/ 2856216 w 3246634"/>
              <a:gd name="connsiteY5" fmla="*/ 246580 h 873304"/>
              <a:gd name="connsiteX6" fmla="*/ 3246634 w 3246634"/>
              <a:gd name="connsiteY6" fmla="*/ 0 h 87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6634" h="873304">
                <a:moveTo>
                  <a:pt x="0" y="30823"/>
                </a:moveTo>
                <a:lnTo>
                  <a:pt x="308225" y="30823"/>
                </a:lnTo>
                <a:lnTo>
                  <a:pt x="308225" y="863030"/>
                </a:lnTo>
                <a:lnTo>
                  <a:pt x="2589088" y="873304"/>
                </a:lnTo>
                <a:lnTo>
                  <a:pt x="2609636" y="267128"/>
                </a:lnTo>
                <a:lnTo>
                  <a:pt x="2856216" y="246580"/>
                </a:lnTo>
                <a:lnTo>
                  <a:pt x="3246634" y="0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46771" y="1652470"/>
            <a:ext cx="5989834" cy="1715784"/>
          </a:xfrm>
          <a:custGeom>
            <a:avLst/>
            <a:gdLst>
              <a:gd name="connsiteX0" fmla="*/ 5712432 w 5989834"/>
              <a:gd name="connsiteY0" fmla="*/ 1715784 h 1715784"/>
              <a:gd name="connsiteX1" fmla="*/ 5989834 w 5989834"/>
              <a:gd name="connsiteY1" fmla="*/ 1715784 h 1715784"/>
              <a:gd name="connsiteX2" fmla="*/ 5979560 w 5989834"/>
              <a:gd name="connsiteY2" fmla="*/ 0 h 1715784"/>
              <a:gd name="connsiteX3" fmla="*/ 0 w 5989834"/>
              <a:gd name="connsiteY3" fmla="*/ 20548 h 1715784"/>
              <a:gd name="connsiteX4" fmla="*/ 0 w 5989834"/>
              <a:gd name="connsiteY4" fmla="*/ 1479479 h 1715784"/>
              <a:gd name="connsiteX5" fmla="*/ 349322 w 5989834"/>
              <a:gd name="connsiteY5" fmla="*/ 1500027 h 1715784"/>
              <a:gd name="connsiteX6" fmla="*/ 760288 w 5989834"/>
              <a:gd name="connsiteY6" fmla="*/ 1633591 h 1715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9834" h="1715784">
                <a:moveTo>
                  <a:pt x="5712432" y="1715784"/>
                </a:moveTo>
                <a:lnTo>
                  <a:pt x="5989834" y="1715784"/>
                </a:lnTo>
                <a:cubicBezTo>
                  <a:pt x="5986409" y="1143856"/>
                  <a:pt x="5982985" y="571928"/>
                  <a:pt x="5979560" y="0"/>
                </a:cubicBezTo>
                <a:lnTo>
                  <a:pt x="0" y="20548"/>
                </a:lnTo>
                <a:lnTo>
                  <a:pt x="0" y="1479479"/>
                </a:lnTo>
                <a:lnTo>
                  <a:pt x="349322" y="1500027"/>
                </a:lnTo>
                <a:lnTo>
                  <a:pt x="760288" y="1633591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/>
          <p:cNvCxnSpPr/>
          <p:nvPr/>
        </p:nvCxnSpPr>
        <p:spPr>
          <a:xfrm>
            <a:off x="4411841" y="3236010"/>
            <a:ext cx="1639635" cy="28072"/>
          </a:xfrm>
          <a:prstGeom prst="line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V="1">
            <a:off x="3725498" y="414106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3326960" y="4671080"/>
            <a:ext cx="676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RegWEn</a:t>
            </a:r>
            <a:r>
              <a:rPr lang="en-US" sz="1200" dirty="0">
                <a:solidFill>
                  <a:srgbClr val="7030A0"/>
                </a:solidFill>
              </a:rPr>
              <a:t>=1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27208" y="4361801"/>
            <a:ext cx="39433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WBsel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=PC</a:t>
            </a:r>
          </a:p>
        </p:txBody>
      </p:sp>
      <p:sp>
        <p:nvSpPr>
          <p:cNvPr id="123" name="Rectangle 122"/>
          <p:cNvSpPr/>
          <p:nvPr/>
        </p:nvSpPr>
        <p:spPr>
          <a:xfrm rot="960449">
            <a:off x="69258" y="888791"/>
            <a:ext cx="1716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JALR rd,rs1,imm</a:t>
            </a:r>
          </a:p>
        </p:txBody>
      </p:sp>
      <p:cxnSp>
        <p:nvCxnSpPr>
          <p:cNvPr id="124" name="Straight Arrow Connector 123"/>
          <p:cNvCxnSpPr/>
          <p:nvPr/>
        </p:nvCxnSpPr>
        <p:spPr>
          <a:xfrm flipV="1">
            <a:off x="5750243" y="3903419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5749228" y="2187317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509499" y="4654504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Imm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550484" y="1975930"/>
            <a:ext cx="5750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0B46F59-D873-48C0-CDDC-E07E4BAF03A7}"/>
              </a:ext>
            </a:extLst>
          </p:cNvPr>
          <p:cNvSpPr txBox="1">
            <a:spLocks noChangeArrowheads="1"/>
          </p:cNvSpPr>
          <p:nvPr/>
        </p:nvSpPr>
        <p:spPr>
          <a:xfrm>
            <a:off x="446386" y="730043"/>
            <a:ext cx="8628063" cy="698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68580" indent="-68580" algn="r" defTabSz="685800" rtl="1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8036" indent="-13716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25196" indent="-13716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62356" indent="-13716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99516" indent="-13716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25000" indent="-17145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r" defTabSz="685800" rtl="1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he-IL" dirty="0"/>
              <a:t> (כתובת לחזרה - </a:t>
            </a:r>
            <a:r>
              <a:rPr lang="en-US" dirty="0"/>
              <a:t>Reg[</a:t>
            </a:r>
            <a:r>
              <a:rPr lang="en-US" dirty="0" err="1"/>
              <a:t>rd</a:t>
            </a:r>
            <a:r>
              <a:rPr lang="en-US" dirty="0"/>
              <a:t>] = PC+4 (return address</a:t>
            </a:r>
          </a:p>
          <a:p>
            <a:pPr marL="342900" indent="-342900">
              <a:buFont typeface="+mj-lt"/>
              <a:buAutoNum type="arabicPeriod"/>
            </a:pPr>
            <a:r>
              <a:rPr lang="he-IL" dirty="0"/>
              <a:t>(יעד לקפיצה)</a:t>
            </a:r>
            <a:r>
              <a:rPr lang="en-US" dirty="0"/>
              <a:t>PC = Reg[rs1] + offset </a:t>
            </a:r>
          </a:p>
        </p:txBody>
      </p:sp>
    </p:spTree>
    <p:extLst>
      <p:ext uri="{BB962C8B-B14F-4D97-AF65-F5344CB8AC3E}">
        <p14:creationId xmlns:p14="http://schemas.microsoft.com/office/powerpoint/2010/main" val="156775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3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8CA53D21-6496-48F6-BE65-11A845F7921E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31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3100" y="0"/>
            <a:ext cx="5257800" cy="7889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he-IL" altLang="en-US" dirty="0"/>
              <a:t>תזכורת: </a:t>
            </a:r>
            <a:r>
              <a:rPr lang="en-US" altLang="en-US" dirty="0"/>
              <a:t>Data Path + Controller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A65000D-FE80-4982-ACDB-F1BA8EC429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0480" y="720930"/>
          <a:ext cx="6766873" cy="410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239745" imgH="5598674" progId="Visio.Drawing.11">
                  <p:embed/>
                </p:oleObj>
              </mc:Choice>
              <mc:Fallback>
                <p:oleObj name="Visio" r:id="rId3" imgW="9239745" imgH="5598674" progId="Visio.Drawing.11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A65000D-FE80-4982-ACDB-F1BA8EC42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0480" y="720930"/>
                        <a:ext cx="6766873" cy="4100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3252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42CCD93D-0485-4FC5-8DDC-50EB67AF37D1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32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58303" y="0"/>
            <a:ext cx="5832873" cy="712788"/>
          </a:xfrm>
        </p:spPr>
        <p:txBody>
          <a:bodyPr/>
          <a:lstStyle/>
          <a:p>
            <a:pPr algn="ctr" eaLnBrk="1" hangingPunct="1"/>
            <a:r>
              <a:rPr lang="he-IL" altLang="en-US" dirty="0"/>
              <a:t>הוספת לוגיקה לבחירת המצב הבא</a:t>
            </a:r>
            <a:endParaRPr lang="en-US" altLang="en-US" dirty="0"/>
          </a:p>
        </p:txBody>
      </p:sp>
      <p:grpSp>
        <p:nvGrpSpPr>
          <p:cNvPr id="59398" name="Group 254"/>
          <p:cNvGrpSpPr>
            <a:grpSpLocks noChangeAspect="1"/>
          </p:cNvGrpSpPr>
          <p:nvPr/>
        </p:nvGrpSpPr>
        <p:grpSpPr bwMode="auto">
          <a:xfrm>
            <a:off x="7162800" y="2038350"/>
            <a:ext cx="1103710" cy="1218579"/>
            <a:chOff x="8676459" y="764704"/>
            <a:chExt cx="5354639" cy="6250363"/>
          </a:xfrm>
        </p:grpSpPr>
        <p:sp>
          <p:nvSpPr>
            <p:cNvPr id="59399" name="AutoShape 7"/>
            <p:cNvSpPr>
              <a:spLocks noChangeAspect="1" noChangeArrowheads="1" noTextEdit="1"/>
            </p:cNvSpPr>
            <p:nvPr/>
          </p:nvSpPr>
          <p:spPr bwMode="auto">
            <a:xfrm>
              <a:off x="8676459" y="764704"/>
              <a:ext cx="5354639" cy="5545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00" name="Freeform 30"/>
            <p:cNvSpPr>
              <a:spLocks/>
            </p:cNvSpPr>
            <p:nvPr/>
          </p:nvSpPr>
          <p:spPr bwMode="auto">
            <a:xfrm>
              <a:off x="11862569" y="2580803"/>
              <a:ext cx="892175" cy="892175"/>
            </a:xfrm>
            <a:custGeom>
              <a:avLst/>
              <a:gdLst>
                <a:gd name="T0" fmla="*/ 2147483646 w 562"/>
                <a:gd name="T1" fmla="*/ 2147483646 h 562"/>
                <a:gd name="T2" fmla="*/ 2147483646 w 562"/>
                <a:gd name="T3" fmla="*/ 2147483646 h 562"/>
                <a:gd name="T4" fmla="*/ 2147483646 w 562"/>
                <a:gd name="T5" fmla="*/ 2147483646 h 562"/>
                <a:gd name="T6" fmla="*/ 2147483646 w 562"/>
                <a:gd name="T7" fmla="*/ 2147483646 h 562"/>
                <a:gd name="T8" fmla="*/ 2147483646 w 562"/>
                <a:gd name="T9" fmla="*/ 2147483646 h 562"/>
                <a:gd name="T10" fmla="*/ 2147483646 w 562"/>
                <a:gd name="T11" fmla="*/ 2147483646 h 562"/>
                <a:gd name="T12" fmla="*/ 2147483646 w 562"/>
                <a:gd name="T13" fmla="*/ 2147483646 h 562"/>
                <a:gd name="T14" fmla="*/ 2147483646 w 562"/>
                <a:gd name="T15" fmla="*/ 2147483646 h 562"/>
                <a:gd name="T16" fmla="*/ 2147483646 w 562"/>
                <a:gd name="T17" fmla="*/ 2147483646 h 562"/>
                <a:gd name="T18" fmla="*/ 2147483646 w 562"/>
                <a:gd name="T19" fmla="*/ 2147483646 h 562"/>
                <a:gd name="T20" fmla="*/ 2147483646 w 562"/>
                <a:gd name="T21" fmla="*/ 2147483646 h 562"/>
                <a:gd name="T22" fmla="*/ 2147483646 w 562"/>
                <a:gd name="T23" fmla="*/ 2147483646 h 562"/>
                <a:gd name="T24" fmla="*/ 2147483646 w 562"/>
                <a:gd name="T25" fmla="*/ 2147483646 h 562"/>
                <a:gd name="T26" fmla="*/ 2147483646 w 562"/>
                <a:gd name="T27" fmla="*/ 2147483646 h 562"/>
                <a:gd name="T28" fmla="*/ 2147483646 w 562"/>
                <a:gd name="T29" fmla="*/ 2147483646 h 562"/>
                <a:gd name="T30" fmla="*/ 2147483646 w 562"/>
                <a:gd name="T31" fmla="*/ 2147483646 h 562"/>
                <a:gd name="T32" fmla="*/ 2147483646 w 562"/>
                <a:gd name="T33" fmla="*/ 2147483646 h 562"/>
                <a:gd name="T34" fmla="*/ 2147483646 w 562"/>
                <a:gd name="T35" fmla="*/ 2147483646 h 562"/>
                <a:gd name="T36" fmla="*/ 2147483646 w 562"/>
                <a:gd name="T37" fmla="*/ 2147483646 h 562"/>
                <a:gd name="T38" fmla="*/ 2147483646 w 562"/>
                <a:gd name="T39" fmla="*/ 2147483646 h 562"/>
                <a:gd name="T40" fmla="*/ 2147483646 w 562"/>
                <a:gd name="T41" fmla="*/ 0 h 562"/>
                <a:gd name="T42" fmla="*/ 2147483646 w 562"/>
                <a:gd name="T43" fmla="*/ 2147483646 h 562"/>
                <a:gd name="T44" fmla="*/ 2147483646 w 562"/>
                <a:gd name="T45" fmla="*/ 2147483646 h 562"/>
                <a:gd name="T46" fmla="*/ 2147483646 w 562"/>
                <a:gd name="T47" fmla="*/ 2147483646 h 562"/>
                <a:gd name="T48" fmla="*/ 2147483646 w 562"/>
                <a:gd name="T49" fmla="*/ 2147483646 h 562"/>
                <a:gd name="T50" fmla="*/ 2147483646 w 562"/>
                <a:gd name="T51" fmla="*/ 2147483646 h 562"/>
                <a:gd name="T52" fmla="*/ 2147483646 w 562"/>
                <a:gd name="T53" fmla="*/ 2147483646 h 562"/>
                <a:gd name="T54" fmla="*/ 2147483646 w 562"/>
                <a:gd name="T55" fmla="*/ 2147483646 h 562"/>
                <a:gd name="T56" fmla="*/ 2147483646 w 562"/>
                <a:gd name="T57" fmla="*/ 2147483646 h 562"/>
                <a:gd name="T58" fmla="*/ 2147483646 w 562"/>
                <a:gd name="T59" fmla="*/ 2147483646 h 562"/>
                <a:gd name="T60" fmla="*/ 0 w 562"/>
                <a:gd name="T61" fmla="*/ 2147483646 h 562"/>
                <a:gd name="T62" fmla="*/ 2147483646 w 562"/>
                <a:gd name="T63" fmla="*/ 2147483646 h 562"/>
                <a:gd name="T64" fmla="*/ 2147483646 w 562"/>
                <a:gd name="T65" fmla="*/ 2147483646 h 562"/>
                <a:gd name="T66" fmla="*/ 2147483646 w 562"/>
                <a:gd name="T67" fmla="*/ 2147483646 h 562"/>
                <a:gd name="T68" fmla="*/ 2147483646 w 562"/>
                <a:gd name="T69" fmla="*/ 2147483646 h 562"/>
                <a:gd name="T70" fmla="*/ 2147483646 w 562"/>
                <a:gd name="T71" fmla="*/ 2147483646 h 562"/>
                <a:gd name="T72" fmla="*/ 2147483646 w 562"/>
                <a:gd name="T73" fmla="*/ 2147483646 h 562"/>
                <a:gd name="T74" fmla="*/ 2147483646 w 562"/>
                <a:gd name="T75" fmla="*/ 2147483646 h 562"/>
                <a:gd name="T76" fmla="*/ 2147483646 w 562"/>
                <a:gd name="T77" fmla="*/ 2147483646 h 562"/>
                <a:gd name="T78" fmla="*/ 2147483646 w 562"/>
                <a:gd name="T79" fmla="*/ 2147483646 h 562"/>
                <a:gd name="T80" fmla="*/ 2147483646 w 562"/>
                <a:gd name="T81" fmla="*/ 2147483646 h 562"/>
                <a:gd name="T82" fmla="*/ 2147483646 w 562"/>
                <a:gd name="T83" fmla="*/ 2147483646 h 56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2"/>
                <a:gd name="T128" fmla="*/ 562 w 562"/>
                <a:gd name="T129" fmla="*/ 562 h 56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2">
                  <a:moveTo>
                    <a:pt x="281" y="562"/>
                  </a:moveTo>
                  <a:lnTo>
                    <a:pt x="326" y="558"/>
                  </a:lnTo>
                  <a:lnTo>
                    <a:pt x="369" y="549"/>
                  </a:lnTo>
                  <a:lnTo>
                    <a:pt x="410" y="532"/>
                  </a:lnTo>
                  <a:lnTo>
                    <a:pt x="448" y="510"/>
                  </a:lnTo>
                  <a:lnTo>
                    <a:pt x="480" y="482"/>
                  </a:lnTo>
                  <a:lnTo>
                    <a:pt x="508" y="448"/>
                  </a:lnTo>
                  <a:lnTo>
                    <a:pt x="530" y="410"/>
                  </a:lnTo>
                  <a:lnTo>
                    <a:pt x="547" y="371"/>
                  </a:lnTo>
                  <a:lnTo>
                    <a:pt x="558" y="328"/>
                  </a:lnTo>
                  <a:lnTo>
                    <a:pt x="562" y="281"/>
                  </a:lnTo>
                  <a:lnTo>
                    <a:pt x="558" y="236"/>
                  </a:lnTo>
                  <a:lnTo>
                    <a:pt x="547" y="193"/>
                  </a:lnTo>
                  <a:lnTo>
                    <a:pt x="530" y="153"/>
                  </a:lnTo>
                  <a:lnTo>
                    <a:pt x="508" y="116"/>
                  </a:lnTo>
                  <a:lnTo>
                    <a:pt x="480" y="82"/>
                  </a:lnTo>
                  <a:lnTo>
                    <a:pt x="448" y="54"/>
                  </a:lnTo>
                  <a:lnTo>
                    <a:pt x="410" y="32"/>
                  </a:lnTo>
                  <a:lnTo>
                    <a:pt x="369" y="15"/>
                  </a:lnTo>
                  <a:lnTo>
                    <a:pt x="326" y="3"/>
                  </a:lnTo>
                  <a:lnTo>
                    <a:pt x="281" y="0"/>
                  </a:lnTo>
                  <a:lnTo>
                    <a:pt x="236" y="3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4" y="54"/>
                  </a:lnTo>
                  <a:lnTo>
                    <a:pt x="82" y="82"/>
                  </a:lnTo>
                  <a:lnTo>
                    <a:pt x="54" y="116"/>
                  </a:lnTo>
                  <a:lnTo>
                    <a:pt x="32" y="153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0"/>
                  </a:lnTo>
                  <a:lnTo>
                    <a:pt x="54" y="448"/>
                  </a:lnTo>
                  <a:lnTo>
                    <a:pt x="82" y="482"/>
                  </a:lnTo>
                  <a:lnTo>
                    <a:pt x="114" y="510"/>
                  </a:lnTo>
                  <a:lnTo>
                    <a:pt x="152" y="532"/>
                  </a:lnTo>
                  <a:lnTo>
                    <a:pt x="193" y="549"/>
                  </a:lnTo>
                  <a:lnTo>
                    <a:pt x="236" y="558"/>
                  </a:lnTo>
                  <a:lnTo>
                    <a:pt x="281" y="56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9401" name="Freeform 92"/>
            <p:cNvSpPr>
              <a:spLocks/>
            </p:cNvSpPr>
            <p:nvPr/>
          </p:nvSpPr>
          <p:spPr bwMode="auto">
            <a:xfrm>
              <a:off x="10833869" y="2583978"/>
              <a:ext cx="892175" cy="892175"/>
            </a:xfrm>
            <a:custGeom>
              <a:avLst/>
              <a:gdLst>
                <a:gd name="T0" fmla="*/ 2147483646 w 562"/>
                <a:gd name="T1" fmla="*/ 2147483646 h 562"/>
                <a:gd name="T2" fmla="*/ 2147483646 w 562"/>
                <a:gd name="T3" fmla="*/ 2147483646 h 562"/>
                <a:gd name="T4" fmla="*/ 2147483646 w 562"/>
                <a:gd name="T5" fmla="*/ 2147483646 h 562"/>
                <a:gd name="T6" fmla="*/ 2147483646 w 562"/>
                <a:gd name="T7" fmla="*/ 2147483646 h 562"/>
                <a:gd name="T8" fmla="*/ 2147483646 w 562"/>
                <a:gd name="T9" fmla="*/ 2147483646 h 562"/>
                <a:gd name="T10" fmla="*/ 2147483646 w 562"/>
                <a:gd name="T11" fmla="*/ 2147483646 h 562"/>
                <a:gd name="T12" fmla="*/ 2147483646 w 562"/>
                <a:gd name="T13" fmla="*/ 2147483646 h 562"/>
                <a:gd name="T14" fmla="*/ 2147483646 w 562"/>
                <a:gd name="T15" fmla="*/ 2147483646 h 562"/>
                <a:gd name="T16" fmla="*/ 2147483646 w 562"/>
                <a:gd name="T17" fmla="*/ 2147483646 h 562"/>
                <a:gd name="T18" fmla="*/ 2147483646 w 562"/>
                <a:gd name="T19" fmla="*/ 2147483646 h 562"/>
                <a:gd name="T20" fmla="*/ 2147483646 w 562"/>
                <a:gd name="T21" fmla="*/ 2147483646 h 562"/>
                <a:gd name="T22" fmla="*/ 2147483646 w 562"/>
                <a:gd name="T23" fmla="*/ 2147483646 h 562"/>
                <a:gd name="T24" fmla="*/ 2147483646 w 562"/>
                <a:gd name="T25" fmla="*/ 2147483646 h 562"/>
                <a:gd name="T26" fmla="*/ 2147483646 w 562"/>
                <a:gd name="T27" fmla="*/ 2147483646 h 562"/>
                <a:gd name="T28" fmla="*/ 2147483646 w 562"/>
                <a:gd name="T29" fmla="*/ 2147483646 h 562"/>
                <a:gd name="T30" fmla="*/ 2147483646 w 562"/>
                <a:gd name="T31" fmla="*/ 2147483646 h 562"/>
                <a:gd name="T32" fmla="*/ 2147483646 w 562"/>
                <a:gd name="T33" fmla="*/ 2147483646 h 562"/>
                <a:gd name="T34" fmla="*/ 2147483646 w 562"/>
                <a:gd name="T35" fmla="*/ 2147483646 h 562"/>
                <a:gd name="T36" fmla="*/ 2147483646 w 562"/>
                <a:gd name="T37" fmla="*/ 2147483646 h 562"/>
                <a:gd name="T38" fmla="*/ 2147483646 w 562"/>
                <a:gd name="T39" fmla="*/ 2147483646 h 562"/>
                <a:gd name="T40" fmla="*/ 2147483646 w 562"/>
                <a:gd name="T41" fmla="*/ 0 h 562"/>
                <a:gd name="T42" fmla="*/ 2147483646 w 562"/>
                <a:gd name="T43" fmla="*/ 2147483646 h 562"/>
                <a:gd name="T44" fmla="*/ 2147483646 w 562"/>
                <a:gd name="T45" fmla="*/ 2147483646 h 562"/>
                <a:gd name="T46" fmla="*/ 2147483646 w 562"/>
                <a:gd name="T47" fmla="*/ 2147483646 h 562"/>
                <a:gd name="T48" fmla="*/ 2147483646 w 562"/>
                <a:gd name="T49" fmla="*/ 2147483646 h 562"/>
                <a:gd name="T50" fmla="*/ 2147483646 w 562"/>
                <a:gd name="T51" fmla="*/ 2147483646 h 562"/>
                <a:gd name="T52" fmla="*/ 2147483646 w 562"/>
                <a:gd name="T53" fmla="*/ 2147483646 h 562"/>
                <a:gd name="T54" fmla="*/ 2147483646 w 562"/>
                <a:gd name="T55" fmla="*/ 2147483646 h 562"/>
                <a:gd name="T56" fmla="*/ 2147483646 w 562"/>
                <a:gd name="T57" fmla="*/ 2147483646 h 562"/>
                <a:gd name="T58" fmla="*/ 2147483646 w 562"/>
                <a:gd name="T59" fmla="*/ 2147483646 h 562"/>
                <a:gd name="T60" fmla="*/ 0 w 562"/>
                <a:gd name="T61" fmla="*/ 2147483646 h 562"/>
                <a:gd name="T62" fmla="*/ 2147483646 w 562"/>
                <a:gd name="T63" fmla="*/ 2147483646 h 562"/>
                <a:gd name="T64" fmla="*/ 2147483646 w 562"/>
                <a:gd name="T65" fmla="*/ 2147483646 h 562"/>
                <a:gd name="T66" fmla="*/ 2147483646 w 562"/>
                <a:gd name="T67" fmla="*/ 2147483646 h 562"/>
                <a:gd name="T68" fmla="*/ 2147483646 w 562"/>
                <a:gd name="T69" fmla="*/ 2147483646 h 562"/>
                <a:gd name="T70" fmla="*/ 2147483646 w 562"/>
                <a:gd name="T71" fmla="*/ 2147483646 h 562"/>
                <a:gd name="T72" fmla="*/ 2147483646 w 562"/>
                <a:gd name="T73" fmla="*/ 2147483646 h 562"/>
                <a:gd name="T74" fmla="*/ 2147483646 w 562"/>
                <a:gd name="T75" fmla="*/ 2147483646 h 562"/>
                <a:gd name="T76" fmla="*/ 2147483646 w 562"/>
                <a:gd name="T77" fmla="*/ 2147483646 h 562"/>
                <a:gd name="T78" fmla="*/ 2147483646 w 562"/>
                <a:gd name="T79" fmla="*/ 2147483646 h 562"/>
                <a:gd name="T80" fmla="*/ 2147483646 w 562"/>
                <a:gd name="T81" fmla="*/ 2147483646 h 562"/>
                <a:gd name="T82" fmla="*/ 2147483646 w 562"/>
                <a:gd name="T83" fmla="*/ 2147483646 h 56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2"/>
                <a:gd name="T128" fmla="*/ 562 w 562"/>
                <a:gd name="T129" fmla="*/ 562 h 56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2">
                  <a:moveTo>
                    <a:pt x="281" y="560"/>
                  </a:moveTo>
                  <a:lnTo>
                    <a:pt x="328" y="558"/>
                  </a:lnTo>
                  <a:lnTo>
                    <a:pt x="371" y="547"/>
                  </a:lnTo>
                  <a:lnTo>
                    <a:pt x="410" y="530"/>
                  </a:lnTo>
                  <a:lnTo>
                    <a:pt x="447" y="508"/>
                  </a:lnTo>
                  <a:lnTo>
                    <a:pt x="479" y="480"/>
                  </a:lnTo>
                  <a:lnTo>
                    <a:pt x="507" y="446"/>
                  </a:lnTo>
                  <a:lnTo>
                    <a:pt x="532" y="410"/>
                  </a:lnTo>
                  <a:lnTo>
                    <a:pt x="549" y="369"/>
                  </a:lnTo>
                  <a:lnTo>
                    <a:pt x="558" y="326"/>
                  </a:lnTo>
                  <a:lnTo>
                    <a:pt x="562" y="281"/>
                  </a:lnTo>
                  <a:lnTo>
                    <a:pt x="558" y="234"/>
                  </a:lnTo>
                  <a:lnTo>
                    <a:pt x="549" y="191"/>
                  </a:lnTo>
                  <a:lnTo>
                    <a:pt x="532" y="151"/>
                  </a:lnTo>
                  <a:lnTo>
                    <a:pt x="507" y="114"/>
                  </a:lnTo>
                  <a:lnTo>
                    <a:pt x="479" y="82"/>
                  </a:lnTo>
                  <a:lnTo>
                    <a:pt x="447" y="54"/>
                  </a:lnTo>
                  <a:lnTo>
                    <a:pt x="410" y="31"/>
                  </a:lnTo>
                  <a:lnTo>
                    <a:pt x="371" y="13"/>
                  </a:lnTo>
                  <a:lnTo>
                    <a:pt x="328" y="3"/>
                  </a:lnTo>
                  <a:lnTo>
                    <a:pt x="281" y="0"/>
                  </a:lnTo>
                  <a:lnTo>
                    <a:pt x="236" y="3"/>
                  </a:lnTo>
                  <a:lnTo>
                    <a:pt x="193" y="13"/>
                  </a:lnTo>
                  <a:lnTo>
                    <a:pt x="151" y="31"/>
                  </a:lnTo>
                  <a:lnTo>
                    <a:pt x="116" y="54"/>
                  </a:lnTo>
                  <a:lnTo>
                    <a:pt x="82" y="82"/>
                  </a:lnTo>
                  <a:lnTo>
                    <a:pt x="54" y="114"/>
                  </a:lnTo>
                  <a:lnTo>
                    <a:pt x="31" y="151"/>
                  </a:lnTo>
                  <a:lnTo>
                    <a:pt x="15" y="191"/>
                  </a:lnTo>
                  <a:lnTo>
                    <a:pt x="3" y="234"/>
                  </a:lnTo>
                  <a:lnTo>
                    <a:pt x="0" y="281"/>
                  </a:lnTo>
                  <a:lnTo>
                    <a:pt x="3" y="326"/>
                  </a:lnTo>
                  <a:lnTo>
                    <a:pt x="15" y="369"/>
                  </a:lnTo>
                  <a:lnTo>
                    <a:pt x="31" y="410"/>
                  </a:lnTo>
                  <a:lnTo>
                    <a:pt x="54" y="446"/>
                  </a:lnTo>
                  <a:lnTo>
                    <a:pt x="82" y="480"/>
                  </a:lnTo>
                  <a:lnTo>
                    <a:pt x="116" y="508"/>
                  </a:lnTo>
                  <a:lnTo>
                    <a:pt x="151" y="530"/>
                  </a:lnTo>
                  <a:lnTo>
                    <a:pt x="193" y="547"/>
                  </a:lnTo>
                  <a:lnTo>
                    <a:pt x="236" y="558"/>
                  </a:lnTo>
                  <a:lnTo>
                    <a:pt x="281" y="56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9402" name="Rectangle 116"/>
            <p:cNvSpPr>
              <a:spLocks noChangeArrowheads="1"/>
            </p:cNvSpPr>
            <p:nvPr/>
          </p:nvSpPr>
          <p:spPr bwMode="auto">
            <a:xfrm>
              <a:off x="11591105" y="2976091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03" name="Freeform 126"/>
            <p:cNvSpPr>
              <a:spLocks/>
            </p:cNvSpPr>
            <p:nvPr/>
          </p:nvSpPr>
          <p:spPr bwMode="auto">
            <a:xfrm>
              <a:off x="10821169" y="4068291"/>
              <a:ext cx="892175" cy="893762"/>
            </a:xfrm>
            <a:custGeom>
              <a:avLst/>
              <a:gdLst>
                <a:gd name="T0" fmla="*/ 2147483646 w 562"/>
                <a:gd name="T1" fmla="*/ 2147483646 h 563"/>
                <a:gd name="T2" fmla="*/ 2147483646 w 562"/>
                <a:gd name="T3" fmla="*/ 2147483646 h 563"/>
                <a:gd name="T4" fmla="*/ 2147483646 w 562"/>
                <a:gd name="T5" fmla="*/ 2147483646 h 563"/>
                <a:gd name="T6" fmla="*/ 2147483646 w 562"/>
                <a:gd name="T7" fmla="*/ 2147483646 h 563"/>
                <a:gd name="T8" fmla="*/ 2147483646 w 562"/>
                <a:gd name="T9" fmla="*/ 2147483646 h 563"/>
                <a:gd name="T10" fmla="*/ 2147483646 w 562"/>
                <a:gd name="T11" fmla="*/ 2147483646 h 563"/>
                <a:gd name="T12" fmla="*/ 2147483646 w 562"/>
                <a:gd name="T13" fmla="*/ 2147483646 h 563"/>
                <a:gd name="T14" fmla="*/ 2147483646 w 562"/>
                <a:gd name="T15" fmla="*/ 2147483646 h 563"/>
                <a:gd name="T16" fmla="*/ 2147483646 w 562"/>
                <a:gd name="T17" fmla="*/ 2147483646 h 563"/>
                <a:gd name="T18" fmla="*/ 2147483646 w 562"/>
                <a:gd name="T19" fmla="*/ 2147483646 h 563"/>
                <a:gd name="T20" fmla="*/ 2147483646 w 562"/>
                <a:gd name="T21" fmla="*/ 2147483646 h 563"/>
                <a:gd name="T22" fmla="*/ 2147483646 w 562"/>
                <a:gd name="T23" fmla="*/ 2147483646 h 563"/>
                <a:gd name="T24" fmla="*/ 2147483646 w 562"/>
                <a:gd name="T25" fmla="*/ 2147483646 h 563"/>
                <a:gd name="T26" fmla="*/ 2147483646 w 562"/>
                <a:gd name="T27" fmla="*/ 2147483646 h 563"/>
                <a:gd name="T28" fmla="*/ 2147483646 w 562"/>
                <a:gd name="T29" fmla="*/ 2147483646 h 563"/>
                <a:gd name="T30" fmla="*/ 2147483646 w 562"/>
                <a:gd name="T31" fmla="*/ 2147483646 h 563"/>
                <a:gd name="T32" fmla="*/ 2147483646 w 562"/>
                <a:gd name="T33" fmla="*/ 2147483646 h 563"/>
                <a:gd name="T34" fmla="*/ 2147483646 w 562"/>
                <a:gd name="T35" fmla="*/ 2147483646 h 563"/>
                <a:gd name="T36" fmla="*/ 2147483646 w 562"/>
                <a:gd name="T37" fmla="*/ 2147483646 h 563"/>
                <a:gd name="T38" fmla="*/ 2147483646 w 562"/>
                <a:gd name="T39" fmla="*/ 2147483646 h 563"/>
                <a:gd name="T40" fmla="*/ 2147483646 w 562"/>
                <a:gd name="T41" fmla="*/ 0 h 563"/>
                <a:gd name="T42" fmla="*/ 2147483646 w 562"/>
                <a:gd name="T43" fmla="*/ 2147483646 h 563"/>
                <a:gd name="T44" fmla="*/ 2147483646 w 562"/>
                <a:gd name="T45" fmla="*/ 2147483646 h 563"/>
                <a:gd name="T46" fmla="*/ 2147483646 w 562"/>
                <a:gd name="T47" fmla="*/ 2147483646 h 563"/>
                <a:gd name="T48" fmla="*/ 2147483646 w 562"/>
                <a:gd name="T49" fmla="*/ 2147483646 h 563"/>
                <a:gd name="T50" fmla="*/ 2147483646 w 562"/>
                <a:gd name="T51" fmla="*/ 2147483646 h 563"/>
                <a:gd name="T52" fmla="*/ 2147483646 w 562"/>
                <a:gd name="T53" fmla="*/ 2147483646 h 563"/>
                <a:gd name="T54" fmla="*/ 2147483646 w 562"/>
                <a:gd name="T55" fmla="*/ 2147483646 h 563"/>
                <a:gd name="T56" fmla="*/ 2147483646 w 562"/>
                <a:gd name="T57" fmla="*/ 2147483646 h 563"/>
                <a:gd name="T58" fmla="*/ 2147483646 w 562"/>
                <a:gd name="T59" fmla="*/ 2147483646 h 563"/>
                <a:gd name="T60" fmla="*/ 0 w 562"/>
                <a:gd name="T61" fmla="*/ 2147483646 h 563"/>
                <a:gd name="T62" fmla="*/ 2147483646 w 562"/>
                <a:gd name="T63" fmla="*/ 2147483646 h 563"/>
                <a:gd name="T64" fmla="*/ 2147483646 w 562"/>
                <a:gd name="T65" fmla="*/ 2147483646 h 563"/>
                <a:gd name="T66" fmla="*/ 2147483646 w 562"/>
                <a:gd name="T67" fmla="*/ 2147483646 h 563"/>
                <a:gd name="T68" fmla="*/ 2147483646 w 562"/>
                <a:gd name="T69" fmla="*/ 2147483646 h 563"/>
                <a:gd name="T70" fmla="*/ 2147483646 w 562"/>
                <a:gd name="T71" fmla="*/ 2147483646 h 563"/>
                <a:gd name="T72" fmla="*/ 2147483646 w 562"/>
                <a:gd name="T73" fmla="*/ 2147483646 h 563"/>
                <a:gd name="T74" fmla="*/ 2147483646 w 562"/>
                <a:gd name="T75" fmla="*/ 2147483646 h 563"/>
                <a:gd name="T76" fmla="*/ 2147483646 w 562"/>
                <a:gd name="T77" fmla="*/ 2147483646 h 563"/>
                <a:gd name="T78" fmla="*/ 2147483646 w 562"/>
                <a:gd name="T79" fmla="*/ 2147483646 h 563"/>
                <a:gd name="T80" fmla="*/ 2147483646 w 562"/>
                <a:gd name="T81" fmla="*/ 2147483646 h 563"/>
                <a:gd name="T82" fmla="*/ 2147483646 w 562"/>
                <a:gd name="T83" fmla="*/ 2147483646 h 5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3"/>
                <a:gd name="T128" fmla="*/ 562 w 562"/>
                <a:gd name="T129" fmla="*/ 563 h 56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3">
                  <a:moveTo>
                    <a:pt x="281" y="563"/>
                  </a:moveTo>
                  <a:lnTo>
                    <a:pt x="326" y="559"/>
                  </a:lnTo>
                  <a:lnTo>
                    <a:pt x="369" y="550"/>
                  </a:lnTo>
                  <a:lnTo>
                    <a:pt x="410" y="533"/>
                  </a:lnTo>
                  <a:lnTo>
                    <a:pt x="448" y="510"/>
                  </a:lnTo>
                  <a:lnTo>
                    <a:pt x="480" y="482"/>
                  </a:lnTo>
                  <a:lnTo>
                    <a:pt x="508" y="448"/>
                  </a:lnTo>
                  <a:lnTo>
                    <a:pt x="530" y="411"/>
                  </a:lnTo>
                  <a:lnTo>
                    <a:pt x="547" y="371"/>
                  </a:lnTo>
                  <a:lnTo>
                    <a:pt x="558" y="328"/>
                  </a:lnTo>
                  <a:lnTo>
                    <a:pt x="562" y="281"/>
                  </a:lnTo>
                  <a:lnTo>
                    <a:pt x="558" y="236"/>
                  </a:lnTo>
                  <a:lnTo>
                    <a:pt x="547" y="193"/>
                  </a:lnTo>
                  <a:lnTo>
                    <a:pt x="530" y="154"/>
                  </a:lnTo>
                  <a:lnTo>
                    <a:pt x="508" y="116"/>
                  </a:lnTo>
                  <a:lnTo>
                    <a:pt x="480" y="83"/>
                  </a:lnTo>
                  <a:lnTo>
                    <a:pt x="448" y="55"/>
                  </a:lnTo>
                  <a:lnTo>
                    <a:pt x="410" y="32"/>
                  </a:lnTo>
                  <a:lnTo>
                    <a:pt x="369" y="15"/>
                  </a:lnTo>
                  <a:lnTo>
                    <a:pt x="326" y="4"/>
                  </a:lnTo>
                  <a:lnTo>
                    <a:pt x="281" y="0"/>
                  </a:lnTo>
                  <a:lnTo>
                    <a:pt x="236" y="4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4" y="55"/>
                  </a:lnTo>
                  <a:lnTo>
                    <a:pt x="83" y="83"/>
                  </a:lnTo>
                  <a:lnTo>
                    <a:pt x="54" y="116"/>
                  </a:lnTo>
                  <a:lnTo>
                    <a:pt x="32" y="154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1"/>
                  </a:lnTo>
                  <a:lnTo>
                    <a:pt x="54" y="448"/>
                  </a:lnTo>
                  <a:lnTo>
                    <a:pt x="83" y="482"/>
                  </a:lnTo>
                  <a:lnTo>
                    <a:pt x="114" y="510"/>
                  </a:lnTo>
                  <a:lnTo>
                    <a:pt x="152" y="533"/>
                  </a:lnTo>
                  <a:lnTo>
                    <a:pt x="193" y="550"/>
                  </a:lnTo>
                  <a:lnTo>
                    <a:pt x="236" y="559"/>
                  </a:lnTo>
                  <a:lnTo>
                    <a:pt x="281" y="56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9404" name="Freeform 159"/>
            <p:cNvSpPr>
              <a:spLocks/>
            </p:cNvSpPr>
            <p:nvPr/>
          </p:nvSpPr>
          <p:spPr bwMode="auto">
            <a:xfrm>
              <a:off x="9779769" y="4068291"/>
              <a:ext cx="892175" cy="893762"/>
            </a:xfrm>
            <a:custGeom>
              <a:avLst/>
              <a:gdLst>
                <a:gd name="T0" fmla="*/ 2147483646 w 562"/>
                <a:gd name="T1" fmla="*/ 2147483646 h 563"/>
                <a:gd name="T2" fmla="*/ 2147483646 w 562"/>
                <a:gd name="T3" fmla="*/ 2147483646 h 563"/>
                <a:gd name="T4" fmla="*/ 2147483646 w 562"/>
                <a:gd name="T5" fmla="*/ 2147483646 h 563"/>
                <a:gd name="T6" fmla="*/ 2147483646 w 562"/>
                <a:gd name="T7" fmla="*/ 2147483646 h 563"/>
                <a:gd name="T8" fmla="*/ 2147483646 w 562"/>
                <a:gd name="T9" fmla="*/ 2147483646 h 563"/>
                <a:gd name="T10" fmla="*/ 2147483646 w 562"/>
                <a:gd name="T11" fmla="*/ 2147483646 h 563"/>
                <a:gd name="T12" fmla="*/ 2147483646 w 562"/>
                <a:gd name="T13" fmla="*/ 2147483646 h 563"/>
                <a:gd name="T14" fmla="*/ 2147483646 w 562"/>
                <a:gd name="T15" fmla="*/ 2147483646 h 563"/>
                <a:gd name="T16" fmla="*/ 2147483646 w 562"/>
                <a:gd name="T17" fmla="*/ 2147483646 h 563"/>
                <a:gd name="T18" fmla="*/ 2147483646 w 562"/>
                <a:gd name="T19" fmla="*/ 2147483646 h 563"/>
                <a:gd name="T20" fmla="*/ 2147483646 w 562"/>
                <a:gd name="T21" fmla="*/ 2147483646 h 563"/>
                <a:gd name="T22" fmla="*/ 2147483646 w 562"/>
                <a:gd name="T23" fmla="*/ 2147483646 h 563"/>
                <a:gd name="T24" fmla="*/ 2147483646 w 562"/>
                <a:gd name="T25" fmla="*/ 2147483646 h 563"/>
                <a:gd name="T26" fmla="*/ 2147483646 w 562"/>
                <a:gd name="T27" fmla="*/ 2147483646 h 563"/>
                <a:gd name="T28" fmla="*/ 2147483646 w 562"/>
                <a:gd name="T29" fmla="*/ 2147483646 h 563"/>
                <a:gd name="T30" fmla="*/ 2147483646 w 562"/>
                <a:gd name="T31" fmla="*/ 2147483646 h 563"/>
                <a:gd name="T32" fmla="*/ 2147483646 w 562"/>
                <a:gd name="T33" fmla="*/ 2147483646 h 563"/>
                <a:gd name="T34" fmla="*/ 2147483646 w 562"/>
                <a:gd name="T35" fmla="*/ 2147483646 h 563"/>
                <a:gd name="T36" fmla="*/ 2147483646 w 562"/>
                <a:gd name="T37" fmla="*/ 2147483646 h 563"/>
                <a:gd name="T38" fmla="*/ 2147483646 w 562"/>
                <a:gd name="T39" fmla="*/ 2147483646 h 563"/>
                <a:gd name="T40" fmla="*/ 2147483646 w 562"/>
                <a:gd name="T41" fmla="*/ 0 h 563"/>
                <a:gd name="T42" fmla="*/ 2147483646 w 562"/>
                <a:gd name="T43" fmla="*/ 2147483646 h 563"/>
                <a:gd name="T44" fmla="*/ 2147483646 w 562"/>
                <a:gd name="T45" fmla="*/ 2147483646 h 563"/>
                <a:gd name="T46" fmla="*/ 2147483646 w 562"/>
                <a:gd name="T47" fmla="*/ 2147483646 h 563"/>
                <a:gd name="T48" fmla="*/ 2147483646 w 562"/>
                <a:gd name="T49" fmla="*/ 2147483646 h 563"/>
                <a:gd name="T50" fmla="*/ 2147483646 w 562"/>
                <a:gd name="T51" fmla="*/ 2147483646 h 563"/>
                <a:gd name="T52" fmla="*/ 2147483646 w 562"/>
                <a:gd name="T53" fmla="*/ 2147483646 h 563"/>
                <a:gd name="T54" fmla="*/ 2147483646 w 562"/>
                <a:gd name="T55" fmla="*/ 2147483646 h 563"/>
                <a:gd name="T56" fmla="*/ 2147483646 w 562"/>
                <a:gd name="T57" fmla="*/ 2147483646 h 563"/>
                <a:gd name="T58" fmla="*/ 2147483646 w 562"/>
                <a:gd name="T59" fmla="*/ 2147483646 h 563"/>
                <a:gd name="T60" fmla="*/ 0 w 562"/>
                <a:gd name="T61" fmla="*/ 2147483646 h 563"/>
                <a:gd name="T62" fmla="*/ 2147483646 w 562"/>
                <a:gd name="T63" fmla="*/ 2147483646 h 563"/>
                <a:gd name="T64" fmla="*/ 2147483646 w 562"/>
                <a:gd name="T65" fmla="*/ 2147483646 h 563"/>
                <a:gd name="T66" fmla="*/ 2147483646 w 562"/>
                <a:gd name="T67" fmla="*/ 2147483646 h 563"/>
                <a:gd name="T68" fmla="*/ 2147483646 w 562"/>
                <a:gd name="T69" fmla="*/ 2147483646 h 563"/>
                <a:gd name="T70" fmla="*/ 2147483646 w 562"/>
                <a:gd name="T71" fmla="*/ 2147483646 h 563"/>
                <a:gd name="T72" fmla="*/ 2147483646 w 562"/>
                <a:gd name="T73" fmla="*/ 2147483646 h 563"/>
                <a:gd name="T74" fmla="*/ 2147483646 w 562"/>
                <a:gd name="T75" fmla="*/ 2147483646 h 563"/>
                <a:gd name="T76" fmla="*/ 2147483646 w 562"/>
                <a:gd name="T77" fmla="*/ 2147483646 h 563"/>
                <a:gd name="T78" fmla="*/ 2147483646 w 562"/>
                <a:gd name="T79" fmla="*/ 2147483646 h 563"/>
                <a:gd name="T80" fmla="*/ 2147483646 w 562"/>
                <a:gd name="T81" fmla="*/ 2147483646 h 563"/>
                <a:gd name="T82" fmla="*/ 2147483646 w 562"/>
                <a:gd name="T83" fmla="*/ 2147483646 h 5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3"/>
                <a:gd name="T128" fmla="*/ 562 w 562"/>
                <a:gd name="T129" fmla="*/ 563 h 56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3">
                  <a:moveTo>
                    <a:pt x="281" y="563"/>
                  </a:moveTo>
                  <a:lnTo>
                    <a:pt x="326" y="559"/>
                  </a:lnTo>
                  <a:lnTo>
                    <a:pt x="369" y="550"/>
                  </a:lnTo>
                  <a:lnTo>
                    <a:pt x="411" y="533"/>
                  </a:lnTo>
                  <a:lnTo>
                    <a:pt x="448" y="510"/>
                  </a:lnTo>
                  <a:lnTo>
                    <a:pt x="480" y="482"/>
                  </a:lnTo>
                  <a:lnTo>
                    <a:pt x="508" y="448"/>
                  </a:lnTo>
                  <a:lnTo>
                    <a:pt x="531" y="411"/>
                  </a:lnTo>
                  <a:lnTo>
                    <a:pt x="547" y="371"/>
                  </a:lnTo>
                  <a:lnTo>
                    <a:pt x="559" y="328"/>
                  </a:lnTo>
                  <a:lnTo>
                    <a:pt x="562" y="281"/>
                  </a:lnTo>
                  <a:lnTo>
                    <a:pt x="559" y="236"/>
                  </a:lnTo>
                  <a:lnTo>
                    <a:pt x="547" y="193"/>
                  </a:lnTo>
                  <a:lnTo>
                    <a:pt x="531" y="154"/>
                  </a:lnTo>
                  <a:lnTo>
                    <a:pt x="508" y="116"/>
                  </a:lnTo>
                  <a:lnTo>
                    <a:pt x="480" y="83"/>
                  </a:lnTo>
                  <a:lnTo>
                    <a:pt x="448" y="55"/>
                  </a:lnTo>
                  <a:lnTo>
                    <a:pt x="411" y="32"/>
                  </a:lnTo>
                  <a:lnTo>
                    <a:pt x="369" y="15"/>
                  </a:lnTo>
                  <a:lnTo>
                    <a:pt x="326" y="4"/>
                  </a:lnTo>
                  <a:lnTo>
                    <a:pt x="281" y="0"/>
                  </a:lnTo>
                  <a:lnTo>
                    <a:pt x="236" y="4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5" y="55"/>
                  </a:lnTo>
                  <a:lnTo>
                    <a:pt x="83" y="83"/>
                  </a:lnTo>
                  <a:lnTo>
                    <a:pt x="55" y="116"/>
                  </a:lnTo>
                  <a:lnTo>
                    <a:pt x="32" y="154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1"/>
                  </a:lnTo>
                  <a:lnTo>
                    <a:pt x="55" y="448"/>
                  </a:lnTo>
                  <a:lnTo>
                    <a:pt x="83" y="482"/>
                  </a:lnTo>
                  <a:lnTo>
                    <a:pt x="115" y="510"/>
                  </a:lnTo>
                  <a:lnTo>
                    <a:pt x="152" y="533"/>
                  </a:lnTo>
                  <a:lnTo>
                    <a:pt x="193" y="550"/>
                  </a:lnTo>
                  <a:lnTo>
                    <a:pt x="236" y="559"/>
                  </a:lnTo>
                  <a:lnTo>
                    <a:pt x="281" y="56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 dirty="0"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9405" name="Freeform 177"/>
            <p:cNvSpPr>
              <a:spLocks/>
            </p:cNvSpPr>
            <p:nvPr/>
          </p:nvSpPr>
          <p:spPr bwMode="auto">
            <a:xfrm>
              <a:off x="8738369" y="4065116"/>
              <a:ext cx="893763" cy="893762"/>
            </a:xfrm>
            <a:custGeom>
              <a:avLst/>
              <a:gdLst>
                <a:gd name="T0" fmla="*/ 2147483646 w 563"/>
                <a:gd name="T1" fmla="*/ 2147483646 h 563"/>
                <a:gd name="T2" fmla="*/ 2147483646 w 563"/>
                <a:gd name="T3" fmla="*/ 2147483646 h 563"/>
                <a:gd name="T4" fmla="*/ 2147483646 w 563"/>
                <a:gd name="T5" fmla="*/ 2147483646 h 563"/>
                <a:gd name="T6" fmla="*/ 2147483646 w 563"/>
                <a:gd name="T7" fmla="*/ 2147483646 h 563"/>
                <a:gd name="T8" fmla="*/ 2147483646 w 563"/>
                <a:gd name="T9" fmla="*/ 2147483646 h 563"/>
                <a:gd name="T10" fmla="*/ 2147483646 w 563"/>
                <a:gd name="T11" fmla="*/ 2147483646 h 563"/>
                <a:gd name="T12" fmla="*/ 2147483646 w 563"/>
                <a:gd name="T13" fmla="*/ 2147483646 h 563"/>
                <a:gd name="T14" fmla="*/ 2147483646 w 563"/>
                <a:gd name="T15" fmla="*/ 2147483646 h 563"/>
                <a:gd name="T16" fmla="*/ 2147483646 w 563"/>
                <a:gd name="T17" fmla="*/ 2147483646 h 563"/>
                <a:gd name="T18" fmla="*/ 2147483646 w 563"/>
                <a:gd name="T19" fmla="*/ 2147483646 h 563"/>
                <a:gd name="T20" fmla="*/ 2147483646 w 563"/>
                <a:gd name="T21" fmla="*/ 2147483646 h 563"/>
                <a:gd name="T22" fmla="*/ 2147483646 w 563"/>
                <a:gd name="T23" fmla="*/ 2147483646 h 563"/>
                <a:gd name="T24" fmla="*/ 2147483646 w 563"/>
                <a:gd name="T25" fmla="*/ 2147483646 h 563"/>
                <a:gd name="T26" fmla="*/ 2147483646 w 563"/>
                <a:gd name="T27" fmla="*/ 2147483646 h 563"/>
                <a:gd name="T28" fmla="*/ 2147483646 w 563"/>
                <a:gd name="T29" fmla="*/ 2147483646 h 563"/>
                <a:gd name="T30" fmla="*/ 2147483646 w 563"/>
                <a:gd name="T31" fmla="*/ 2147483646 h 563"/>
                <a:gd name="T32" fmla="*/ 2147483646 w 563"/>
                <a:gd name="T33" fmla="*/ 2147483646 h 563"/>
                <a:gd name="T34" fmla="*/ 2147483646 w 563"/>
                <a:gd name="T35" fmla="*/ 2147483646 h 563"/>
                <a:gd name="T36" fmla="*/ 2147483646 w 563"/>
                <a:gd name="T37" fmla="*/ 2147483646 h 563"/>
                <a:gd name="T38" fmla="*/ 2147483646 w 563"/>
                <a:gd name="T39" fmla="*/ 2147483646 h 563"/>
                <a:gd name="T40" fmla="*/ 2147483646 w 563"/>
                <a:gd name="T41" fmla="*/ 0 h 563"/>
                <a:gd name="T42" fmla="*/ 2147483646 w 563"/>
                <a:gd name="T43" fmla="*/ 2147483646 h 563"/>
                <a:gd name="T44" fmla="*/ 2147483646 w 563"/>
                <a:gd name="T45" fmla="*/ 2147483646 h 563"/>
                <a:gd name="T46" fmla="*/ 2147483646 w 563"/>
                <a:gd name="T47" fmla="*/ 2147483646 h 563"/>
                <a:gd name="T48" fmla="*/ 2147483646 w 563"/>
                <a:gd name="T49" fmla="*/ 2147483646 h 563"/>
                <a:gd name="T50" fmla="*/ 2147483646 w 563"/>
                <a:gd name="T51" fmla="*/ 2147483646 h 563"/>
                <a:gd name="T52" fmla="*/ 2147483646 w 563"/>
                <a:gd name="T53" fmla="*/ 2147483646 h 563"/>
                <a:gd name="T54" fmla="*/ 2147483646 w 563"/>
                <a:gd name="T55" fmla="*/ 2147483646 h 563"/>
                <a:gd name="T56" fmla="*/ 2147483646 w 563"/>
                <a:gd name="T57" fmla="*/ 2147483646 h 563"/>
                <a:gd name="T58" fmla="*/ 2147483646 w 563"/>
                <a:gd name="T59" fmla="*/ 2147483646 h 563"/>
                <a:gd name="T60" fmla="*/ 0 w 563"/>
                <a:gd name="T61" fmla="*/ 2147483646 h 563"/>
                <a:gd name="T62" fmla="*/ 2147483646 w 563"/>
                <a:gd name="T63" fmla="*/ 2147483646 h 563"/>
                <a:gd name="T64" fmla="*/ 2147483646 w 563"/>
                <a:gd name="T65" fmla="*/ 2147483646 h 563"/>
                <a:gd name="T66" fmla="*/ 2147483646 w 563"/>
                <a:gd name="T67" fmla="*/ 2147483646 h 563"/>
                <a:gd name="T68" fmla="*/ 2147483646 w 563"/>
                <a:gd name="T69" fmla="*/ 2147483646 h 563"/>
                <a:gd name="T70" fmla="*/ 2147483646 w 563"/>
                <a:gd name="T71" fmla="*/ 2147483646 h 563"/>
                <a:gd name="T72" fmla="*/ 2147483646 w 563"/>
                <a:gd name="T73" fmla="*/ 2147483646 h 563"/>
                <a:gd name="T74" fmla="*/ 2147483646 w 563"/>
                <a:gd name="T75" fmla="*/ 2147483646 h 563"/>
                <a:gd name="T76" fmla="*/ 2147483646 w 563"/>
                <a:gd name="T77" fmla="*/ 2147483646 h 563"/>
                <a:gd name="T78" fmla="*/ 2147483646 w 563"/>
                <a:gd name="T79" fmla="*/ 2147483646 h 563"/>
                <a:gd name="T80" fmla="*/ 2147483646 w 563"/>
                <a:gd name="T81" fmla="*/ 2147483646 h 563"/>
                <a:gd name="T82" fmla="*/ 2147483646 w 563"/>
                <a:gd name="T83" fmla="*/ 2147483646 h 5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3"/>
                <a:gd name="T127" fmla="*/ 0 h 563"/>
                <a:gd name="T128" fmla="*/ 563 w 563"/>
                <a:gd name="T129" fmla="*/ 563 h 56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3" h="563">
                  <a:moveTo>
                    <a:pt x="281" y="563"/>
                  </a:moveTo>
                  <a:lnTo>
                    <a:pt x="328" y="559"/>
                  </a:lnTo>
                  <a:lnTo>
                    <a:pt x="371" y="550"/>
                  </a:lnTo>
                  <a:lnTo>
                    <a:pt x="411" y="533"/>
                  </a:lnTo>
                  <a:lnTo>
                    <a:pt x="448" y="508"/>
                  </a:lnTo>
                  <a:lnTo>
                    <a:pt x="480" y="480"/>
                  </a:lnTo>
                  <a:lnTo>
                    <a:pt x="508" y="448"/>
                  </a:lnTo>
                  <a:lnTo>
                    <a:pt x="531" y="411"/>
                  </a:lnTo>
                  <a:lnTo>
                    <a:pt x="549" y="372"/>
                  </a:lnTo>
                  <a:lnTo>
                    <a:pt x="559" y="328"/>
                  </a:lnTo>
                  <a:lnTo>
                    <a:pt x="563" y="282"/>
                  </a:lnTo>
                  <a:lnTo>
                    <a:pt x="559" y="237"/>
                  </a:lnTo>
                  <a:lnTo>
                    <a:pt x="549" y="193"/>
                  </a:lnTo>
                  <a:lnTo>
                    <a:pt x="531" y="152"/>
                  </a:lnTo>
                  <a:lnTo>
                    <a:pt x="508" y="117"/>
                  </a:lnTo>
                  <a:lnTo>
                    <a:pt x="480" y="83"/>
                  </a:lnTo>
                  <a:lnTo>
                    <a:pt x="448" y="55"/>
                  </a:lnTo>
                  <a:lnTo>
                    <a:pt x="411" y="32"/>
                  </a:lnTo>
                  <a:lnTo>
                    <a:pt x="371" y="15"/>
                  </a:lnTo>
                  <a:lnTo>
                    <a:pt x="328" y="4"/>
                  </a:lnTo>
                  <a:lnTo>
                    <a:pt x="281" y="0"/>
                  </a:lnTo>
                  <a:lnTo>
                    <a:pt x="236" y="4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7" y="55"/>
                  </a:lnTo>
                  <a:lnTo>
                    <a:pt x="83" y="83"/>
                  </a:lnTo>
                  <a:lnTo>
                    <a:pt x="55" y="117"/>
                  </a:lnTo>
                  <a:lnTo>
                    <a:pt x="32" y="152"/>
                  </a:lnTo>
                  <a:lnTo>
                    <a:pt x="15" y="193"/>
                  </a:lnTo>
                  <a:lnTo>
                    <a:pt x="4" y="237"/>
                  </a:lnTo>
                  <a:lnTo>
                    <a:pt x="0" y="282"/>
                  </a:lnTo>
                  <a:lnTo>
                    <a:pt x="4" y="328"/>
                  </a:lnTo>
                  <a:lnTo>
                    <a:pt x="15" y="372"/>
                  </a:lnTo>
                  <a:lnTo>
                    <a:pt x="32" y="411"/>
                  </a:lnTo>
                  <a:lnTo>
                    <a:pt x="55" y="448"/>
                  </a:lnTo>
                  <a:lnTo>
                    <a:pt x="83" y="480"/>
                  </a:lnTo>
                  <a:lnTo>
                    <a:pt x="117" y="508"/>
                  </a:lnTo>
                  <a:lnTo>
                    <a:pt x="152" y="533"/>
                  </a:lnTo>
                  <a:lnTo>
                    <a:pt x="193" y="550"/>
                  </a:lnTo>
                  <a:lnTo>
                    <a:pt x="236" y="559"/>
                  </a:lnTo>
                  <a:lnTo>
                    <a:pt x="281" y="56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9406" name="Freeform 194"/>
            <p:cNvSpPr>
              <a:spLocks/>
            </p:cNvSpPr>
            <p:nvPr/>
          </p:nvSpPr>
          <p:spPr bwMode="auto">
            <a:xfrm>
              <a:off x="8751069" y="2544291"/>
              <a:ext cx="892175" cy="893762"/>
            </a:xfrm>
            <a:custGeom>
              <a:avLst/>
              <a:gdLst>
                <a:gd name="T0" fmla="*/ 2147483646 w 562"/>
                <a:gd name="T1" fmla="*/ 2147483646 h 563"/>
                <a:gd name="T2" fmla="*/ 2147483646 w 562"/>
                <a:gd name="T3" fmla="*/ 2147483646 h 563"/>
                <a:gd name="T4" fmla="*/ 2147483646 w 562"/>
                <a:gd name="T5" fmla="*/ 2147483646 h 563"/>
                <a:gd name="T6" fmla="*/ 2147483646 w 562"/>
                <a:gd name="T7" fmla="*/ 2147483646 h 563"/>
                <a:gd name="T8" fmla="*/ 2147483646 w 562"/>
                <a:gd name="T9" fmla="*/ 2147483646 h 563"/>
                <a:gd name="T10" fmla="*/ 2147483646 w 562"/>
                <a:gd name="T11" fmla="*/ 2147483646 h 563"/>
                <a:gd name="T12" fmla="*/ 2147483646 w 562"/>
                <a:gd name="T13" fmla="*/ 2147483646 h 563"/>
                <a:gd name="T14" fmla="*/ 2147483646 w 562"/>
                <a:gd name="T15" fmla="*/ 2147483646 h 563"/>
                <a:gd name="T16" fmla="*/ 2147483646 w 562"/>
                <a:gd name="T17" fmla="*/ 2147483646 h 563"/>
                <a:gd name="T18" fmla="*/ 2147483646 w 562"/>
                <a:gd name="T19" fmla="*/ 2147483646 h 563"/>
                <a:gd name="T20" fmla="*/ 2147483646 w 562"/>
                <a:gd name="T21" fmla="*/ 2147483646 h 563"/>
                <a:gd name="T22" fmla="*/ 2147483646 w 562"/>
                <a:gd name="T23" fmla="*/ 2147483646 h 563"/>
                <a:gd name="T24" fmla="*/ 2147483646 w 562"/>
                <a:gd name="T25" fmla="*/ 2147483646 h 563"/>
                <a:gd name="T26" fmla="*/ 2147483646 w 562"/>
                <a:gd name="T27" fmla="*/ 2147483646 h 563"/>
                <a:gd name="T28" fmla="*/ 2147483646 w 562"/>
                <a:gd name="T29" fmla="*/ 2147483646 h 563"/>
                <a:gd name="T30" fmla="*/ 2147483646 w 562"/>
                <a:gd name="T31" fmla="*/ 2147483646 h 563"/>
                <a:gd name="T32" fmla="*/ 2147483646 w 562"/>
                <a:gd name="T33" fmla="*/ 2147483646 h 563"/>
                <a:gd name="T34" fmla="*/ 2147483646 w 562"/>
                <a:gd name="T35" fmla="*/ 2147483646 h 563"/>
                <a:gd name="T36" fmla="*/ 2147483646 w 562"/>
                <a:gd name="T37" fmla="*/ 2147483646 h 563"/>
                <a:gd name="T38" fmla="*/ 2147483646 w 562"/>
                <a:gd name="T39" fmla="*/ 2147483646 h 563"/>
                <a:gd name="T40" fmla="*/ 2147483646 w 562"/>
                <a:gd name="T41" fmla="*/ 0 h 563"/>
                <a:gd name="T42" fmla="*/ 2147483646 w 562"/>
                <a:gd name="T43" fmla="*/ 2147483646 h 563"/>
                <a:gd name="T44" fmla="*/ 2147483646 w 562"/>
                <a:gd name="T45" fmla="*/ 2147483646 h 563"/>
                <a:gd name="T46" fmla="*/ 2147483646 w 562"/>
                <a:gd name="T47" fmla="*/ 2147483646 h 563"/>
                <a:gd name="T48" fmla="*/ 2147483646 w 562"/>
                <a:gd name="T49" fmla="*/ 2147483646 h 563"/>
                <a:gd name="T50" fmla="*/ 2147483646 w 562"/>
                <a:gd name="T51" fmla="*/ 2147483646 h 563"/>
                <a:gd name="T52" fmla="*/ 2147483646 w 562"/>
                <a:gd name="T53" fmla="*/ 2147483646 h 563"/>
                <a:gd name="T54" fmla="*/ 2147483646 w 562"/>
                <a:gd name="T55" fmla="*/ 2147483646 h 563"/>
                <a:gd name="T56" fmla="*/ 2147483646 w 562"/>
                <a:gd name="T57" fmla="*/ 2147483646 h 563"/>
                <a:gd name="T58" fmla="*/ 2147483646 w 562"/>
                <a:gd name="T59" fmla="*/ 2147483646 h 563"/>
                <a:gd name="T60" fmla="*/ 0 w 562"/>
                <a:gd name="T61" fmla="*/ 2147483646 h 563"/>
                <a:gd name="T62" fmla="*/ 2147483646 w 562"/>
                <a:gd name="T63" fmla="*/ 2147483646 h 563"/>
                <a:gd name="T64" fmla="*/ 2147483646 w 562"/>
                <a:gd name="T65" fmla="*/ 2147483646 h 563"/>
                <a:gd name="T66" fmla="*/ 2147483646 w 562"/>
                <a:gd name="T67" fmla="*/ 2147483646 h 563"/>
                <a:gd name="T68" fmla="*/ 2147483646 w 562"/>
                <a:gd name="T69" fmla="*/ 2147483646 h 563"/>
                <a:gd name="T70" fmla="*/ 2147483646 w 562"/>
                <a:gd name="T71" fmla="*/ 2147483646 h 563"/>
                <a:gd name="T72" fmla="*/ 2147483646 w 562"/>
                <a:gd name="T73" fmla="*/ 2147483646 h 563"/>
                <a:gd name="T74" fmla="*/ 2147483646 w 562"/>
                <a:gd name="T75" fmla="*/ 2147483646 h 563"/>
                <a:gd name="T76" fmla="*/ 2147483646 w 562"/>
                <a:gd name="T77" fmla="*/ 2147483646 h 563"/>
                <a:gd name="T78" fmla="*/ 2147483646 w 562"/>
                <a:gd name="T79" fmla="*/ 2147483646 h 563"/>
                <a:gd name="T80" fmla="*/ 2147483646 w 562"/>
                <a:gd name="T81" fmla="*/ 2147483646 h 563"/>
                <a:gd name="T82" fmla="*/ 2147483646 w 562"/>
                <a:gd name="T83" fmla="*/ 2147483646 h 5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3"/>
                <a:gd name="T128" fmla="*/ 562 w 562"/>
                <a:gd name="T129" fmla="*/ 563 h 56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3">
                  <a:moveTo>
                    <a:pt x="281" y="563"/>
                  </a:moveTo>
                  <a:lnTo>
                    <a:pt x="328" y="559"/>
                  </a:lnTo>
                  <a:lnTo>
                    <a:pt x="371" y="550"/>
                  </a:lnTo>
                  <a:lnTo>
                    <a:pt x="410" y="533"/>
                  </a:lnTo>
                  <a:lnTo>
                    <a:pt x="448" y="508"/>
                  </a:lnTo>
                  <a:lnTo>
                    <a:pt x="480" y="480"/>
                  </a:lnTo>
                  <a:lnTo>
                    <a:pt x="508" y="448"/>
                  </a:lnTo>
                  <a:lnTo>
                    <a:pt x="532" y="411"/>
                  </a:lnTo>
                  <a:lnTo>
                    <a:pt x="549" y="371"/>
                  </a:lnTo>
                  <a:lnTo>
                    <a:pt x="558" y="328"/>
                  </a:lnTo>
                  <a:lnTo>
                    <a:pt x="562" y="281"/>
                  </a:lnTo>
                  <a:lnTo>
                    <a:pt x="558" y="236"/>
                  </a:lnTo>
                  <a:lnTo>
                    <a:pt x="549" y="193"/>
                  </a:lnTo>
                  <a:lnTo>
                    <a:pt x="532" y="152"/>
                  </a:lnTo>
                  <a:lnTo>
                    <a:pt x="508" y="116"/>
                  </a:lnTo>
                  <a:lnTo>
                    <a:pt x="480" y="83"/>
                  </a:lnTo>
                  <a:lnTo>
                    <a:pt x="448" y="55"/>
                  </a:lnTo>
                  <a:lnTo>
                    <a:pt x="410" y="32"/>
                  </a:lnTo>
                  <a:lnTo>
                    <a:pt x="371" y="15"/>
                  </a:lnTo>
                  <a:lnTo>
                    <a:pt x="328" y="4"/>
                  </a:lnTo>
                  <a:lnTo>
                    <a:pt x="281" y="0"/>
                  </a:lnTo>
                  <a:lnTo>
                    <a:pt x="236" y="4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6" y="55"/>
                  </a:lnTo>
                  <a:lnTo>
                    <a:pt x="82" y="83"/>
                  </a:lnTo>
                  <a:lnTo>
                    <a:pt x="54" y="116"/>
                  </a:lnTo>
                  <a:lnTo>
                    <a:pt x="32" y="152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1"/>
                  </a:lnTo>
                  <a:lnTo>
                    <a:pt x="54" y="448"/>
                  </a:lnTo>
                  <a:lnTo>
                    <a:pt x="82" y="480"/>
                  </a:lnTo>
                  <a:lnTo>
                    <a:pt x="116" y="508"/>
                  </a:lnTo>
                  <a:lnTo>
                    <a:pt x="152" y="533"/>
                  </a:lnTo>
                  <a:lnTo>
                    <a:pt x="193" y="550"/>
                  </a:lnTo>
                  <a:lnTo>
                    <a:pt x="236" y="559"/>
                  </a:lnTo>
                  <a:lnTo>
                    <a:pt x="281" y="56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9407" name="Rectangle 206"/>
            <p:cNvSpPr>
              <a:spLocks noChangeArrowheads="1"/>
            </p:cNvSpPr>
            <p:nvPr/>
          </p:nvSpPr>
          <p:spPr bwMode="auto">
            <a:xfrm>
              <a:off x="9486082" y="2815752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08" name="Rectangle 220"/>
            <p:cNvSpPr>
              <a:spLocks noChangeArrowheads="1"/>
            </p:cNvSpPr>
            <p:nvPr/>
          </p:nvSpPr>
          <p:spPr bwMode="auto">
            <a:xfrm>
              <a:off x="9509893" y="2934816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09" name="Rectangle 260"/>
            <p:cNvSpPr>
              <a:spLocks noChangeArrowheads="1"/>
            </p:cNvSpPr>
            <p:nvPr/>
          </p:nvSpPr>
          <p:spPr bwMode="auto">
            <a:xfrm>
              <a:off x="9197157" y="5949476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10" name="Freeform 261"/>
            <p:cNvSpPr>
              <a:spLocks/>
            </p:cNvSpPr>
            <p:nvPr/>
          </p:nvSpPr>
          <p:spPr bwMode="auto">
            <a:xfrm>
              <a:off x="8687569" y="5303366"/>
              <a:ext cx="993775" cy="992187"/>
            </a:xfrm>
            <a:custGeom>
              <a:avLst/>
              <a:gdLst>
                <a:gd name="T0" fmla="*/ 2147483646 w 626"/>
                <a:gd name="T1" fmla="*/ 2147483646 h 625"/>
                <a:gd name="T2" fmla="*/ 2147483646 w 626"/>
                <a:gd name="T3" fmla="*/ 2147483646 h 625"/>
                <a:gd name="T4" fmla="*/ 2147483646 w 626"/>
                <a:gd name="T5" fmla="*/ 2147483646 h 625"/>
                <a:gd name="T6" fmla="*/ 2147483646 w 626"/>
                <a:gd name="T7" fmla="*/ 2147483646 h 625"/>
                <a:gd name="T8" fmla="*/ 2147483646 w 626"/>
                <a:gd name="T9" fmla="*/ 2147483646 h 625"/>
                <a:gd name="T10" fmla="*/ 2147483646 w 626"/>
                <a:gd name="T11" fmla="*/ 2147483646 h 625"/>
                <a:gd name="T12" fmla="*/ 2147483646 w 626"/>
                <a:gd name="T13" fmla="*/ 2147483646 h 625"/>
                <a:gd name="T14" fmla="*/ 2147483646 w 626"/>
                <a:gd name="T15" fmla="*/ 2147483646 h 625"/>
                <a:gd name="T16" fmla="*/ 2147483646 w 626"/>
                <a:gd name="T17" fmla="*/ 2147483646 h 625"/>
                <a:gd name="T18" fmla="*/ 2147483646 w 626"/>
                <a:gd name="T19" fmla="*/ 2147483646 h 625"/>
                <a:gd name="T20" fmla="*/ 2147483646 w 626"/>
                <a:gd name="T21" fmla="*/ 2147483646 h 625"/>
                <a:gd name="T22" fmla="*/ 2147483646 w 626"/>
                <a:gd name="T23" fmla="*/ 2147483646 h 625"/>
                <a:gd name="T24" fmla="*/ 2147483646 w 626"/>
                <a:gd name="T25" fmla="*/ 2147483646 h 625"/>
                <a:gd name="T26" fmla="*/ 2147483646 w 626"/>
                <a:gd name="T27" fmla="*/ 2147483646 h 625"/>
                <a:gd name="T28" fmla="*/ 2147483646 w 626"/>
                <a:gd name="T29" fmla="*/ 2147483646 h 625"/>
                <a:gd name="T30" fmla="*/ 2147483646 w 626"/>
                <a:gd name="T31" fmla="*/ 2147483646 h 625"/>
                <a:gd name="T32" fmla="*/ 2147483646 w 626"/>
                <a:gd name="T33" fmla="*/ 2147483646 h 625"/>
                <a:gd name="T34" fmla="*/ 2147483646 w 626"/>
                <a:gd name="T35" fmla="*/ 2147483646 h 625"/>
                <a:gd name="T36" fmla="*/ 2147483646 w 626"/>
                <a:gd name="T37" fmla="*/ 2147483646 h 625"/>
                <a:gd name="T38" fmla="*/ 2147483646 w 626"/>
                <a:gd name="T39" fmla="*/ 2147483646 h 625"/>
                <a:gd name="T40" fmla="*/ 2147483646 w 626"/>
                <a:gd name="T41" fmla="*/ 0 h 625"/>
                <a:gd name="T42" fmla="*/ 2147483646 w 626"/>
                <a:gd name="T43" fmla="*/ 2147483646 h 625"/>
                <a:gd name="T44" fmla="*/ 2147483646 w 626"/>
                <a:gd name="T45" fmla="*/ 2147483646 h 625"/>
                <a:gd name="T46" fmla="*/ 2147483646 w 626"/>
                <a:gd name="T47" fmla="*/ 2147483646 h 625"/>
                <a:gd name="T48" fmla="*/ 2147483646 w 626"/>
                <a:gd name="T49" fmla="*/ 2147483646 h 625"/>
                <a:gd name="T50" fmla="*/ 2147483646 w 626"/>
                <a:gd name="T51" fmla="*/ 2147483646 h 625"/>
                <a:gd name="T52" fmla="*/ 2147483646 w 626"/>
                <a:gd name="T53" fmla="*/ 2147483646 h 625"/>
                <a:gd name="T54" fmla="*/ 2147483646 w 626"/>
                <a:gd name="T55" fmla="*/ 2147483646 h 625"/>
                <a:gd name="T56" fmla="*/ 2147483646 w 626"/>
                <a:gd name="T57" fmla="*/ 2147483646 h 625"/>
                <a:gd name="T58" fmla="*/ 2147483646 w 626"/>
                <a:gd name="T59" fmla="*/ 2147483646 h 625"/>
                <a:gd name="T60" fmla="*/ 0 w 626"/>
                <a:gd name="T61" fmla="*/ 2147483646 h 625"/>
                <a:gd name="T62" fmla="*/ 2147483646 w 626"/>
                <a:gd name="T63" fmla="*/ 2147483646 h 625"/>
                <a:gd name="T64" fmla="*/ 2147483646 w 626"/>
                <a:gd name="T65" fmla="*/ 2147483646 h 625"/>
                <a:gd name="T66" fmla="*/ 2147483646 w 626"/>
                <a:gd name="T67" fmla="*/ 2147483646 h 625"/>
                <a:gd name="T68" fmla="*/ 2147483646 w 626"/>
                <a:gd name="T69" fmla="*/ 2147483646 h 625"/>
                <a:gd name="T70" fmla="*/ 2147483646 w 626"/>
                <a:gd name="T71" fmla="*/ 2147483646 h 625"/>
                <a:gd name="T72" fmla="*/ 2147483646 w 626"/>
                <a:gd name="T73" fmla="*/ 2147483646 h 625"/>
                <a:gd name="T74" fmla="*/ 2147483646 w 626"/>
                <a:gd name="T75" fmla="*/ 2147483646 h 625"/>
                <a:gd name="T76" fmla="*/ 2147483646 w 626"/>
                <a:gd name="T77" fmla="*/ 2147483646 h 625"/>
                <a:gd name="T78" fmla="*/ 2147483646 w 626"/>
                <a:gd name="T79" fmla="*/ 2147483646 h 625"/>
                <a:gd name="T80" fmla="*/ 2147483646 w 626"/>
                <a:gd name="T81" fmla="*/ 2147483646 h 625"/>
                <a:gd name="T82" fmla="*/ 2147483646 w 626"/>
                <a:gd name="T83" fmla="*/ 2147483646 h 6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626"/>
                <a:gd name="T127" fmla="*/ 0 h 625"/>
                <a:gd name="T128" fmla="*/ 626 w 626"/>
                <a:gd name="T129" fmla="*/ 625 h 6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626" h="625">
                  <a:moveTo>
                    <a:pt x="313" y="625"/>
                  </a:moveTo>
                  <a:lnTo>
                    <a:pt x="364" y="621"/>
                  </a:lnTo>
                  <a:lnTo>
                    <a:pt x="413" y="610"/>
                  </a:lnTo>
                  <a:lnTo>
                    <a:pt x="458" y="591"/>
                  </a:lnTo>
                  <a:lnTo>
                    <a:pt x="497" y="565"/>
                  </a:lnTo>
                  <a:lnTo>
                    <a:pt x="535" y="535"/>
                  </a:lnTo>
                  <a:lnTo>
                    <a:pt x="565" y="497"/>
                  </a:lnTo>
                  <a:lnTo>
                    <a:pt x="591" y="456"/>
                  </a:lnTo>
                  <a:lnTo>
                    <a:pt x="610" y="411"/>
                  </a:lnTo>
                  <a:lnTo>
                    <a:pt x="621" y="364"/>
                  </a:lnTo>
                  <a:lnTo>
                    <a:pt x="626" y="313"/>
                  </a:lnTo>
                  <a:lnTo>
                    <a:pt x="621" y="263"/>
                  </a:lnTo>
                  <a:lnTo>
                    <a:pt x="610" y="214"/>
                  </a:lnTo>
                  <a:lnTo>
                    <a:pt x="591" y="169"/>
                  </a:lnTo>
                  <a:lnTo>
                    <a:pt x="565" y="128"/>
                  </a:lnTo>
                  <a:lnTo>
                    <a:pt x="535" y="92"/>
                  </a:lnTo>
                  <a:lnTo>
                    <a:pt x="497" y="60"/>
                  </a:lnTo>
                  <a:lnTo>
                    <a:pt x="458" y="36"/>
                  </a:lnTo>
                  <a:lnTo>
                    <a:pt x="413" y="17"/>
                  </a:lnTo>
                  <a:lnTo>
                    <a:pt x="364" y="4"/>
                  </a:lnTo>
                  <a:lnTo>
                    <a:pt x="313" y="0"/>
                  </a:lnTo>
                  <a:lnTo>
                    <a:pt x="263" y="4"/>
                  </a:lnTo>
                  <a:lnTo>
                    <a:pt x="214" y="17"/>
                  </a:lnTo>
                  <a:lnTo>
                    <a:pt x="169" y="36"/>
                  </a:lnTo>
                  <a:lnTo>
                    <a:pt x="130" y="60"/>
                  </a:lnTo>
                  <a:lnTo>
                    <a:pt x="92" y="92"/>
                  </a:lnTo>
                  <a:lnTo>
                    <a:pt x="60" y="128"/>
                  </a:lnTo>
                  <a:lnTo>
                    <a:pt x="36" y="169"/>
                  </a:lnTo>
                  <a:lnTo>
                    <a:pt x="17" y="214"/>
                  </a:lnTo>
                  <a:lnTo>
                    <a:pt x="6" y="263"/>
                  </a:lnTo>
                  <a:lnTo>
                    <a:pt x="0" y="313"/>
                  </a:lnTo>
                  <a:lnTo>
                    <a:pt x="6" y="364"/>
                  </a:lnTo>
                  <a:lnTo>
                    <a:pt x="17" y="411"/>
                  </a:lnTo>
                  <a:lnTo>
                    <a:pt x="36" y="456"/>
                  </a:lnTo>
                  <a:lnTo>
                    <a:pt x="60" y="497"/>
                  </a:lnTo>
                  <a:lnTo>
                    <a:pt x="92" y="535"/>
                  </a:lnTo>
                  <a:lnTo>
                    <a:pt x="130" y="565"/>
                  </a:lnTo>
                  <a:lnTo>
                    <a:pt x="169" y="591"/>
                  </a:lnTo>
                  <a:lnTo>
                    <a:pt x="214" y="610"/>
                  </a:lnTo>
                  <a:lnTo>
                    <a:pt x="263" y="621"/>
                  </a:lnTo>
                  <a:lnTo>
                    <a:pt x="313" y="62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9411" name="Line 262"/>
            <p:cNvSpPr>
              <a:spLocks noChangeShapeType="1"/>
            </p:cNvSpPr>
            <p:nvPr/>
          </p:nvSpPr>
          <p:spPr bwMode="auto">
            <a:xfrm>
              <a:off x="13350057" y="1985491"/>
              <a:ext cx="1588" cy="55562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2" name="Line 263"/>
            <p:cNvSpPr>
              <a:spLocks noChangeShapeType="1"/>
            </p:cNvSpPr>
            <p:nvPr/>
          </p:nvSpPr>
          <p:spPr bwMode="auto">
            <a:xfrm flipH="1">
              <a:off x="9673407" y="1693391"/>
              <a:ext cx="3257550" cy="11874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3" name="Line 264"/>
            <p:cNvSpPr>
              <a:spLocks noChangeShapeType="1"/>
            </p:cNvSpPr>
            <p:nvPr/>
          </p:nvSpPr>
          <p:spPr bwMode="auto">
            <a:xfrm flipH="1">
              <a:off x="11499032" y="1842616"/>
              <a:ext cx="1520825" cy="7651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4" name="Line 265"/>
            <p:cNvSpPr>
              <a:spLocks noChangeShapeType="1"/>
            </p:cNvSpPr>
            <p:nvPr/>
          </p:nvSpPr>
          <p:spPr bwMode="auto">
            <a:xfrm flipH="1">
              <a:off x="12591232" y="1945803"/>
              <a:ext cx="574675" cy="6858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5" name="Freeform 266"/>
            <p:cNvSpPr>
              <a:spLocks/>
            </p:cNvSpPr>
            <p:nvPr/>
          </p:nvSpPr>
          <p:spPr bwMode="auto">
            <a:xfrm>
              <a:off x="12903969" y="2580803"/>
              <a:ext cx="892175" cy="892175"/>
            </a:xfrm>
            <a:custGeom>
              <a:avLst/>
              <a:gdLst>
                <a:gd name="T0" fmla="*/ 2147483646 w 562"/>
                <a:gd name="T1" fmla="*/ 2147483646 h 562"/>
                <a:gd name="T2" fmla="*/ 2147483646 w 562"/>
                <a:gd name="T3" fmla="*/ 2147483646 h 562"/>
                <a:gd name="T4" fmla="*/ 2147483646 w 562"/>
                <a:gd name="T5" fmla="*/ 2147483646 h 562"/>
                <a:gd name="T6" fmla="*/ 2147483646 w 562"/>
                <a:gd name="T7" fmla="*/ 2147483646 h 562"/>
                <a:gd name="T8" fmla="*/ 2147483646 w 562"/>
                <a:gd name="T9" fmla="*/ 2147483646 h 562"/>
                <a:gd name="T10" fmla="*/ 2147483646 w 562"/>
                <a:gd name="T11" fmla="*/ 2147483646 h 562"/>
                <a:gd name="T12" fmla="*/ 2147483646 w 562"/>
                <a:gd name="T13" fmla="*/ 2147483646 h 562"/>
                <a:gd name="T14" fmla="*/ 2147483646 w 562"/>
                <a:gd name="T15" fmla="*/ 2147483646 h 562"/>
                <a:gd name="T16" fmla="*/ 2147483646 w 562"/>
                <a:gd name="T17" fmla="*/ 2147483646 h 562"/>
                <a:gd name="T18" fmla="*/ 2147483646 w 562"/>
                <a:gd name="T19" fmla="*/ 2147483646 h 562"/>
                <a:gd name="T20" fmla="*/ 2147483646 w 562"/>
                <a:gd name="T21" fmla="*/ 2147483646 h 562"/>
                <a:gd name="T22" fmla="*/ 2147483646 w 562"/>
                <a:gd name="T23" fmla="*/ 2147483646 h 562"/>
                <a:gd name="T24" fmla="*/ 2147483646 w 562"/>
                <a:gd name="T25" fmla="*/ 2147483646 h 562"/>
                <a:gd name="T26" fmla="*/ 2147483646 w 562"/>
                <a:gd name="T27" fmla="*/ 2147483646 h 562"/>
                <a:gd name="T28" fmla="*/ 2147483646 w 562"/>
                <a:gd name="T29" fmla="*/ 2147483646 h 562"/>
                <a:gd name="T30" fmla="*/ 2147483646 w 562"/>
                <a:gd name="T31" fmla="*/ 2147483646 h 562"/>
                <a:gd name="T32" fmla="*/ 2147483646 w 562"/>
                <a:gd name="T33" fmla="*/ 2147483646 h 562"/>
                <a:gd name="T34" fmla="*/ 2147483646 w 562"/>
                <a:gd name="T35" fmla="*/ 2147483646 h 562"/>
                <a:gd name="T36" fmla="*/ 2147483646 w 562"/>
                <a:gd name="T37" fmla="*/ 2147483646 h 562"/>
                <a:gd name="T38" fmla="*/ 2147483646 w 562"/>
                <a:gd name="T39" fmla="*/ 2147483646 h 562"/>
                <a:gd name="T40" fmla="*/ 2147483646 w 562"/>
                <a:gd name="T41" fmla="*/ 0 h 562"/>
                <a:gd name="T42" fmla="*/ 2147483646 w 562"/>
                <a:gd name="T43" fmla="*/ 2147483646 h 562"/>
                <a:gd name="T44" fmla="*/ 2147483646 w 562"/>
                <a:gd name="T45" fmla="*/ 2147483646 h 562"/>
                <a:gd name="T46" fmla="*/ 2147483646 w 562"/>
                <a:gd name="T47" fmla="*/ 2147483646 h 562"/>
                <a:gd name="T48" fmla="*/ 2147483646 w 562"/>
                <a:gd name="T49" fmla="*/ 2147483646 h 562"/>
                <a:gd name="T50" fmla="*/ 2147483646 w 562"/>
                <a:gd name="T51" fmla="*/ 2147483646 h 562"/>
                <a:gd name="T52" fmla="*/ 2147483646 w 562"/>
                <a:gd name="T53" fmla="*/ 2147483646 h 562"/>
                <a:gd name="T54" fmla="*/ 2147483646 w 562"/>
                <a:gd name="T55" fmla="*/ 2147483646 h 562"/>
                <a:gd name="T56" fmla="*/ 2147483646 w 562"/>
                <a:gd name="T57" fmla="*/ 2147483646 h 562"/>
                <a:gd name="T58" fmla="*/ 2147483646 w 562"/>
                <a:gd name="T59" fmla="*/ 2147483646 h 562"/>
                <a:gd name="T60" fmla="*/ 0 w 562"/>
                <a:gd name="T61" fmla="*/ 2147483646 h 562"/>
                <a:gd name="T62" fmla="*/ 2147483646 w 562"/>
                <a:gd name="T63" fmla="*/ 2147483646 h 562"/>
                <a:gd name="T64" fmla="*/ 2147483646 w 562"/>
                <a:gd name="T65" fmla="*/ 2147483646 h 562"/>
                <a:gd name="T66" fmla="*/ 2147483646 w 562"/>
                <a:gd name="T67" fmla="*/ 2147483646 h 562"/>
                <a:gd name="T68" fmla="*/ 2147483646 w 562"/>
                <a:gd name="T69" fmla="*/ 2147483646 h 562"/>
                <a:gd name="T70" fmla="*/ 2147483646 w 562"/>
                <a:gd name="T71" fmla="*/ 2147483646 h 562"/>
                <a:gd name="T72" fmla="*/ 2147483646 w 562"/>
                <a:gd name="T73" fmla="*/ 2147483646 h 562"/>
                <a:gd name="T74" fmla="*/ 2147483646 w 562"/>
                <a:gd name="T75" fmla="*/ 2147483646 h 562"/>
                <a:gd name="T76" fmla="*/ 2147483646 w 562"/>
                <a:gd name="T77" fmla="*/ 2147483646 h 562"/>
                <a:gd name="T78" fmla="*/ 2147483646 w 562"/>
                <a:gd name="T79" fmla="*/ 2147483646 h 562"/>
                <a:gd name="T80" fmla="*/ 2147483646 w 562"/>
                <a:gd name="T81" fmla="*/ 2147483646 h 562"/>
                <a:gd name="T82" fmla="*/ 2147483646 w 562"/>
                <a:gd name="T83" fmla="*/ 2147483646 h 56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2"/>
                <a:gd name="T128" fmla="*/ 562 w 562"/>
                <a:gd name="T129" fmla="*/ 562 h 56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2">
                  <a:moveTo>
                    <a:pt x="281" y="562"/>
                  </a:moveTo>
                  <a:lnTo>
                    <a:pt x="326" y="558"/>
                  </a:lnTo>
                  <a:lnTo>
                    <a:pt x="369" y="549"/>
                  </a:lnTo>
                  <a:lnTo>
                    <a:pt x="410" y="532"/>
                  </a:lnTo>
                  <a:lnTo>
                    <a:pt x="448" y="510"/>
                  </a:lnTo>
                  <a:lnTo>
                    <a:pt x="480" y="482"/>
                  </a:lnTo>
                  <a:lnTo>
                    <a:pt x="508" y="448"/>
                  </a:lnTo>
                  <a:lnTo>
                    <a:pt x="530" y="410"/>
                  </a:lnTo>
                  <a:lnTo>
                    <a:pt x="547" y="371"/>
                  </a:lnTo>
                  <a:lnTo>
                    <a:pt x="558" y="328"/>
                  </a:lnTo>
                  <a:lnTo>
                    <a:pt x="562" y="281"/>
                  </a:lnTo>
                  <a:lnTo>
                    <a:pt x="558" y="236"/>
                  </a:lnTo>
                  <a:lnTo>
                    <a:pt x="547" y="193"/>
                  </a:lnTo>
                  <a:lnTo>
                    <a:pt x="530" y="153"/>
                  </a:lnTo>
                  <a:lnTo>
                    <a:pt x="508" y="116"/>
                  </a:lnTo>
                  <a:lnTo>
                    <a:pt x="480" y="82"/>
                  </a:lnTo>
                  <a:lnTo>
                    <a:pt x="448" y="54"/>
                  </a:lnTo>
                  <a:lnTo>
                    <a:pt x="410" y="32"/>
                  </a:lnTo>
                  <a:lnTo>
                    <a:pt x="369" y="15"/>
                  </a:lnTo>
                  <a:lnTo>
                    <a:pt x="326" y="3"/>
                  </a:lnTo>
                  <a:lnTo>
                    <a:pt x="281" y="0"/>
                  </a:lnTo>
                  <a:lnTo>
                    <a:pt x="236" y="3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4" y="54"/>
                  </a:lnTo>
                  <a:lnTo>
                    <a:pt x="82" y="82"/>
                  </a:lnTo>
                  <a:lnTo>
                    <a:pt x="54" y="116"/>
                  </a:lnTo>
                  <a:lnTo>
                    <a:pt x="32" y="153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0"/>
                  </a:lnTo>
                  <a:lnTo>
                    <a:pt x="54" y="448"/>
                  </a:lnTo>
                  <a:lnTo>
                    <a:pt x="82" y="482"/>
                  </a:lnTo>
                  <a:lnTo>
                    <a:pt x="114" y="510"/>
                  </a:lnTo>
                  <a:lnTo>
                    <a:pt x="152" y="532"/>
                  </a:lnTo>
                  <a:lnTo>
                    <a:pt x="193" y="549"/>
                  </a:lnTo>
                  <a:lnTo>
                    <a:pt x="236" y="558"/>
                  </a:lnTo>
                  <a:lnTo>
                    <a:pt x="281" y="56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59416" name="Line 267"/>
            <p:cNvSpPr>
              <a:spLocks noChangeShapeType="1"/>
            </p:cNvSpPr>
            <p:nvPr/>
          </p:nvSpPr>
          <p:spPr bwMode="auto">
            <a:xfrm>
              <a:off x="11267257" y="3472978"/>
              <a:ext cx="1588" cy="5746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7" name="Line 268"/>
            <p:cNvSpPr>
              <a:spLocks noChangeShapeType="1"/>
            </p:cNvSpPr>
            <p:nvPr/>
          </p:nvSpPr>
          <p:spPr bwMode="auto">
            <a:xfrm>
              <a:off x="9184457" y="3438053"/>
              <a:ext cx="1588" cy="6096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8" name="Freeform 269"/>
            <p:cNvSpPr>
              <a:spLocks/>
            </p:cNvSpPr>
            <p:nvPr/>
          </p:nvSpPr>
          <p:spPr bwMode="auto">
            <a:xfrm>
              <a:off x="9160644" y="5247803"/>
              <a:ext cx="47625" cy="50800"/>
            </a:xfrm>
            <a:custGeom>
              <a:avLst/>
              <a:gdLst>
                <a:gd name="T0" fmla="*/ 2147483646 w 30"/>
                <a:gd name="T1" fmla="*/ 0 h 32"/>
                <a:gd name="T2" fmla="*/ 0 w 30"/>
                <a:gd name="T3" fmla="*/ 0 h 32"/>
                <a:gd name="T4" fmla="*/ 2147483646 w 30"/>
                <a:gd name="T5" fmla="*/ 2147483646 h 32"/>
                <a:gd name="T6" fmla="*/ 2147483646 w 30"/>
                <a:gd name="T7" fmla="*/ 0 h 32"/>
                <a:gd name="T8" fmla="*/ 2147483646 w 3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2"/>
                <a:gd name="T17" fmla="*/ 30 w 3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2">
                  <a:moveTo>
                    <a:pt x="30" y="0"/>
                  </a:moveTo>
                  <a:lnTo>
                    <a:pt x="0" y="0"/>
                  </a:lnTo>
                  <a:lnTo>
                    <a:pt x="15" y="3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19" name="Line 270"/>
            <p:cNvSpPr>
              <a:spLocks noChangeShapeType="1"/>
            </p:cNvSpPr>
            <p:nvPr/>
          </p:nvSpPr>
          <p:spPr bwMode="auto">
            <a:xfrm>
              <a:off x="9184457" y="4962053"/>
              <a:ext cx="1588" cy="293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0" name="Freeform 271"/>
            <p:cNvSpPr>
              <a:spLocks/>
            </p:cNvSpPr>
            <p:nvPr/>
          </p:nvSpPr>
          <p:spPr bwMode="auto">
            <a:xfrm>
              <a:off x="12903969" y="1091728"/>
              <a:ext cx="892175" cy="893762"/>
            </a:xfrm>
            <a:custGeom>
              <a:avLst/>
              <a:gdLst>
                <a:gd name="T0" fmla="*/ 2147483646 w 562"/>
                <a:gd name="T1" fmla="*/ 2147483646 h 563"/>
                <a:gd name="T2" fmla="*/ 2147483646 w 562"/>
                <a:gd name="T3" fmla="*/ 2147483646 h 563"/>
                <a:gd name="T4" fmla="*/ 2147483646 w 562"/>
                <a:gd name="T5" fmla="*/ 2147483646 h 563"/>
                <a:gd name="T6" fmla="*/ 2147483646 w 562"/>
                <a:gd name="T7" fmla="*/ 2147483646 h 563"/>
                <a:gd name="T8" fmla="*/ 2147483646 w 562"/>
                <a:gd name="T9" fmla="*/ 2147483646 h 563"/>
                <a:gd name="T10" fmla="*/ 2147483646 w 562"/>
                <a:gd name="T11" fmla="*/ 2147483646 h 563"/>
                <a:gd name="T12" fmla="*/ 2147483646 w 562"/>
                <a:gd name="T13" fmla="*/ 2147483646 h 563"/>
                <a:gd name="T14" fmla="*/ 2147483646 w 562"/>
                <a:gd name="T15" fmla="*/ 2147483646 h 563"/>
                <a:gd name="T16" fmla="*/ 2147483646 w 562"/>
                <a:gd name="T17" fmla="*/ 2147483646 h 563"/>
                <a:gd name="T18" fmla="*/ 2147483646 w 562"/>
                <a:gd name="T19" fmla="*/ 2147483646 h 563"/>
                <a:gd name="T20" fmla="*/ 2147483646 w 562"/>
                <a:gd name="T21" fmla="*/ 2147483646 h 563"/>
                <a:gd name="T22" fmla="*/ 2147483646 w 562"/>
                <a:gd name="T23" fmla="*/ 2147483646 h 563"/>
                <a:gd name="T24" fmla="*/ 2147483646 w 562"/>
                <a:gd name="T25" fmla="*/ 2147483646 h 563"/>
                <a:gd name="T26" fmla="*/ 2147483646 w 562"/>
                <a:gd name="T27" fmla="*/ 2147483646 h 563"/>
                <a:gd name="T28" fmla="*/ 2147483646 w 562"/>
                <a:gd name="T29" fmla="*/ 2147483646 h 563"/>
                <a:gd name="T30" fmla="*/ 2147483646 w 562"/>
                <a:gd name="T31" fmla="*/ 2147483646 h 563"/>
                <a:gd name="T32" fmla="*/ 2147483646 w 562"/>
                <a:gd name="T33" fmla="*/ 2147483646 h 563"/>
                <a:gd name="T34" fmla="*/ 2147483646 w 562"/>
                <a:gd name="T35" fmla="*/ 2147483646 h 563"/>
                <a:gd name="T36" fmla="*/ 2147483646 w 562"/>
                <a:gd name="T37" fmla="*/ 2147483646 h 563"/>
                <a:gd name="T38" fmla="*/ 2147483646 w 562"/>
                <a:gd name="T39" fmla="*/ 2147483646 h 563"/>
                <a:gd name="T40" fmla="*/ 2147483646 w 562"/>
                <a:gd name="T41" fmla="*/ 0 h 563"/>
                <a:gd name="T42" fmla="*/ 2147483646 w 562"/>
                <a:gd name="T43" fmla="*/ 2147483646 h 563"/>
                <a:gd name="T44" fmla="*/ 2147483646 w 562"/>
                <a:gd name="T45" fmla="*/ 2147483646 h 563"/>
                <a:gd name="T46" fmla="*/ 2147483646 w 562"/>
                <a:gd name="T47" fmla="*/ 2147483646 h 563"/>
                <a:gd name="T48" fmla="*/ 2147483646 w 562"/>
                <a:gd name="T49" fmla="*/ 2147483646 h 563"/>
                <a:gd name="T50" fmla="*/ 2147483646 w 562"/>
                <a:gd name="T51" fmla="*/ 2147483646 h 563"/>
                <a:gd name="T52" fmla="*/ 2147483646 w 562"/>
                <a:gd name="T53" fmla="*/ 2147483646 h 563"/>
                <a:gd name="T54" fmla="*/ 2147483646 w 562"/>
                <a:gd name="T55" fmla="*/ 2147483646 h 563"/>
                <a:gd name="T56" fmla="*/ 2147483646 w 562"/>
                <a:gd name="T57" fmla="*/ 2147483646 h 563"/>
                <a:gd name="T58" fmla="*/ 2147483646 w 562"/>
                <a:gd name="T59" fmla="*/ 2147483646 h 563"/>
                <a:gd name="T60" fmla="*/ 0 w 562"/>
                <a:gd name="T61" fmla="*/ 2147483646 h 563"/>
                <a:gd name="T62" fmla="*/ 2147483646 w 562"/>
                <a:gd name="T63" fmla="*/ 2147483646 h 563"/>
                <a:gd name="T64" fmla="*/ 2147483646 w 562"/>
                <a:gd name="T65" fmla="*/ 2147483646 h 563"/>
                <a:gd name="T66" fmla="*/ 2147483646 w 562"/>
                <a:gd name="T67" fmla="*/ 2147483646 h 563"/>
                <a:gd name="T68" fmla="*/ 2147483646 w 562"/>
                <a:gd name="T69" fmla="*/ 2147483646 h 563"/>
                <a:gd name="T70" fmla="*/ 2147483646 w 562"/>
                <a:gd name="T71" fmla="*/ 2147483646 h 563"/>
                <a:gd name="T72" fmla="*/ 2147483646 w 562"/>
                <a:gd name="T73" fmla="*/ 2147483646 h 563"/>
                <a:gd name="T74" fmla="*/ 2147483646 w 562"/>
                <a:gd name="T75" fmla="*/ 2147483646 h 563"/>
                <a:gd name="T76" fmla="*/ 2147483646 w 562"/>
                <a:gd name="T77" fmla="*/ 2147483646 h 563"/>
                <a:gd name="T78" fmla="*/ 2147483646 w 562"/>
                <a:gd name="T79" fmla="*/ 2147483646 h 563"/>
                <a:gd name="T80" fmla="*/ 2147483646 w 562"/>
                <a:gd name="T81" fmla="*/ 2147483646 h 563"/>
                <a:gd name="T82" fmla="*/ 2147483646 w 562"/>
                <a:gd name="T83" fmla="*/ 2147483646 h 56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2"/>
                <a:gd name="T127" fmla="*/ 0 h 563"/>
                <a:gd name="T128" fmla="*/ 562 w 562"/>
                <a:gd name="T129" fmla="*/ 563 h 56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2" h="563">
                  <a:moveTo>
                    <a:pt x="281" y="563"/>
                  </a:moveTo>
                  <a:lnTo>
                    <a:pt x="326" y="559"/>
                  </a:lnTo>
                  <a:lnTo>
                    <a:pt x="369" y="550"/>
                  </a:lnTo>
                  <a:lnTo>
                    <a:pt x="410" y="533"/>
                  </a:lnTo>
                  <a:lnTo>
                    <a:pt x="448" y="510"/>
                  </a:lnTo>
                  <a:lnTo>
                    <a:pt x="480" y="482"/>
                  </a:lnTo>
                  <a:lnTo>
                    <a:pt x="508" y="448"/>
                  </a:lnTo>
                  <a:lnTo>
                    <a:pt x="530" y="411"/>
                  </a:lnTo>
                  <a:lnTo>
                    <a:pt x="547" y="371"/>
                  </a:lnTo>
                  <a:lnTo>
                    <a:pt x="558" y="328"/>
                  </a:lnTo>
                  <a:lnTo>
                    <a:pt x="562" y="281"/>
                  </a:lnTo>
                  <a:lnTo>
                    <a:pt x="558" y="236"/>
                  </a:lnTo>
                  <a:lnTo>
                    <a:pt x="547" y="193"/>
                  </a:lnTo>
                  <a:lnTo>
                    <a:pt x="530" y="154"/>
                  </a:lnTo>
                  <a:lnTo>
                    <a:pt x="508" y="116"/>
                  </a:lnTo>
                  <a:lnTo>
                    <a:pt x="480" y="83"/>
                  </a:lnTo>
                  <a:lnTo>
                    <a:pt x="448" y="55"/>
                  </a:lnTo>
                  <a:lnTo>
                    <a:pt x="410" y="32"/>
                  </a:lnTo>
                  <a:lnTo>
                    <a:pt x="369" y="15"/>
                  </a:lnTo>
                  <a:lnTo>
                    <a:pt x="326" y="4"/>
                  </a:lnTo>
                  <a:lnTo>
                    <a:pt x="281" y="0"/>
                  </a:lnTo>
                  <a:lnTo>
                    <a:pt x="236" y="4"/>
                  </a:lnTo>
                  <a:lnTo>
                    <a:pt x="193" y="15"/>
                  </a:lnTo>
                  <a:lnTo>
                    <a:pt x="152" y="32"/>
                  </a:lnTo>
                  <a:lnTo>
                    <a:pt x="114" y="55"/>
                  </a:lnTo>
                  <a:lnTo>
                    <a:pt x="82" y="83"/>
                  </a:lnTo>
                  <a:lnTo>
                    <a:pt x="54" y="116"/>
                  </a:lnTo>
                  <a:lnTo>
                    <a:pt x="32" y="154"/>
                  </a:lnTo>
                  <a:lnTo>
                    <a:pt x="15" y="193"/>
                  </a:lnTo>
                  <a:lnTo>
                    <a:pt x="4" y="236"/>
                  </a:lnTo>
                  <a:lnTo>
                    <a:pt x="0" y="281"/>
                  </a:lnTo>
                  <a:lnTo>
                    <a:pt x="4" y="328"/>
                  </a:lnTo>
                  <a:lnTo>
                    <a:pt x="15" y="371"/>
                  </a:lnTo>
                  <a:lnTo>
                    <a:pt x="32" y="411"/>
                  </a:lnTo>
                  <a:lnTo>
                    <a:pt x="54" y="448"/>
                  </a:lnTo>
                  <a:lnTo>
                    <a:pt x="82" y="482"/>
                  </a:lnTo>
                  <a:lnTo>
                    <a:pt x="114" y="510"/>
                  </a:lnTo>
                  <a:lnTo>
                    <a:pt x="152" y="533"/>
                  </a:lnTo>
                  <a:lnTo>
                    <a:pt x="193" y="550"/>
                  </a:lnTo>
                  <a:lnTo>
                    <a:pt x="236" y="559"/>
                  </a:lnTo>
                  <a:lnTo>
                    <a:pt x="281" y="56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421" name="Rectangle 296"/>
            <p:cNvSpPr>
              <a:spLocks noChangeArrowheads="1"/>
            </p:cNvSpPr>
            <p:nvPr/>
          </p:nvSpPr>
          <p:spPr bwMode="auto">
            <a:xfrm>
              <a:off x="13691373" y="1467967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22" name="Freeform 389"/>
            <p:cNvSpPr>
              <a:spLocks/>
            </p:cNvSpPr>
            <p:nvPr/>
          </p:nvSpPr>
          <p:spPr bwMode="auto">
            <a:xfrm>
              <a:off x="10695757" y="1037753"/>
              <a:ext cx="1116013" cy="1114425"/>
            </a:xfrm>
            <a:custGeom>
              <a:avLst/>
              <a:gdLst>
                <a:gd name="T0" fmla="*/ 2147483646 w 703"/>
                <a:gd name="T1" fmla="*/ 2147483646 h 702"/>
                <a:gd name="T2" fmla="*/ 2147483646 w 703"/>
                <a:gd name="T3" fmla="*/ 2147483646 h 702"/>
                <a:gd name="T4" fmla="*/ 2147483646 w 703"/>
                <a:gd name="T5" fmla="*/ 2147483646 h 702"/>
                <a:gd name="T6" fmla="*/ 2147483646 w 703"/>
                <a:gd name="T7" fmla="*/ 2147483646 h 702"/>
                <a:gd name="T8" fmla="*/ 2147483646 w 703"/>
                <a:gd name="T9" fmla="*/ 2147483646 h 702"/>
                <a:gd name="T10" fmla="*/ 2147483646 w 703"/>
                <a:gd name="T11" fmla="*/ 2147483646 h 702"/>
                <a:gd name="T12" fmla="*/ 2147483646 w 703"/>
                <a:gd name="T13" fmla="*/ 2147483646 h 702"/>
                <a:gd name="T14" fmla="*/ 2147483646 w 703"/>
                <a:gd name="T15" fmla="*/ 2147483646 h 702"/>
                <a:gd name="T16" fmla="*/ 2147483646 w 703"/>
                <a:gd name="T17" fmla="*/ 2147483646 h 702"/>
                <a:gd name="T18" fmla="*/ 2147483646 w 703"/>
                <a:gd name="T19" fmla="*/ 2147483646 h 702"/>
                <a:gd name="T20" fmla="*/ 2147483646 w 703"/>
                <a:gd name="T21" fmla="*/ 2147483646 h 702"/>
                <a:gd name="T22" fmla="*/ 2147483646 w 703"/>
                <a:gd name="T23" fmla="*/ 2147483646 h 702"/>
                <a:gd name="T24" fmla="*/ 2147483646 w 703"/>
                <a:gd name="T25" fmla="*/ 2147483646 h 702"/>
                <a:gd name="T26" fmla="*/ 2147483646 w 703"/>
                <a:gd name="T27" fmla="*/ 2147483646 h 702"/>
                <a:gd name="T28" fmla="*/ 2147483646 w 703"/>
                <a:gd name="T29" fmla="*/ 2147483646 h 702"/>
                <a:gd name="T30" fmla="*/ 2147483646 w 703"/>
                <a:gd name="T31" fmla="*/ 2147483646 h 702"/>
                <a:gd name="T32" fmla="*/ 2147483646 w 703"/>
                <a:gd name="T33" fmla="*/ 2147483646 h 702"/>
                <a:gd name="T34" fmla="*/ 2147483646 w 703"/>
                <a:gd name="T35" fmla="*/ 2147483646 h 702"/>
                <a:gd name="T36" fmla="*/ 2147483646 w 703"/>
                <a:gd name="T37" fmla="*/ 2147483646 h 702"/>
                <a:gd name="T38" fmla="*/ 2147483646 w 703"/>
                <a:gd name="T39" fmla="*/ 2147483646 h 702"/>
                <a:gd name="T40" fmla="*/ 2147483646 w 703"/>
                <a:gd name="T41" fmla="*/ 0 h 702"/>
                <a:gd name="T42" fmla="*/ 2147483646 w 703"/>
                <a:gd name="T43" fmla="*/ 2147483646 h 702"/>
                <a:gd name="T44" fmla="*/ 2147483646 w 703"/>
                <a:gd name="T45" fmla="*/ 2147483646 h 702"/>
                <a:gd name="T46" fmla="*/ 2147483646 w 703"/>
                <a:gd name="T47" fmla="*/ 2147483646 h 702"/>
                <a:gd name="T48" fmla="*/ 2147483646 w 703"/>
                <a:gd name="T49" fmla="*/ 2147483646 h 702"/>
                <a:gd name="T50" fmla="*/ 2147483646 w 703"/>
                <a:gd name="T51" fmla="*/ 2147483646 h 702"/>
                <a:gd name="T52" fmla="*/ 2147483646 w 703"/>
                <a:gd name="T53" fmla="*/ 2147483646 h 702"/>
                <a:gd name="T54" fmla="*/ 2147483646 w 703"/>
                <a:gd name="T55" fmla="*/ 2147483646 h 702"/>
                <a:gd name="T56" fmla="*/ 2147483646 w 703"/>
                <a:gd name="T57" fmla="*/ 2147483646 h 702"/>
                <a:gd name="T58" fmla="*/ 2147483646 w 703"/>
                <a:gd name="T59" fmla="*/ 2147483646 h 702"/>
                <a:gd name="T60" fmla="*/ 0 w 703"/>
                <a:gd name="T61" fmla="*/ 2147483646 h 702"/>
                <a:gd name="T62" fmla="*/ 2147483646 w 703"/>
                <a:gd name="T63" fmla="*/ 2147483646 h 702"/>
                <a:gd name="T64" fmla="*/ 2147483646 w 703"/>
                <a:gd name="T65" fmla="*/ 2147483646 h 702"/>
                <a:gd name="T66" fmla="*/ 2147483646 w 703"/>
                <a:gd name="T67" fmla="*/ 2147483646 h 702"/>
                <a:gd name="T68" fmla="*/ 2147483646 w 703"/>
                <a:gd name="T69" fmla="*/ 2147483646 h 702"/>
                <a:gd name="T70" fmla="*/ 2147483646 w 703"/>
                <a:gd name="T71" fmla="*/ 2147483646 h 702"/>
                <a:gd name="T72" fmla="*/ 2147483646 w 703"/>
                <a:gd name="T73" fmla="*/ 2147483646 h 702"/>
                <a:gd name="T74" fmla="*/ 2147483646 w 703"/>
                <a:gd name="T75" fmla="*/ 2147483646 h 702"/>
                <a:gd name="T76" fmla="*/ 2147483646 w 703"/>
                <a:gd name="T77" fmla="*/ 2147483646 h 702"/>
                <a:gd name="T78" fmla="*/ 2147483646 w 703"/>
                <a:gd name="T79" fmla="*/ 2147483646 h 702"/>
                <a:gd name="T80" fmla="*/ 2147483646 w 703"/>
                <a:gd name="T81" fmla="*/ 2147483646 h 702"/>
                <a:gd name="T82" fmla="*/ 2147483646 w 703"/>
                <a:gd name="T83" fmla="*/ 2147483646 h 70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03"/>
                <a:gd name="T127" fmla="*/ 0 h 702"/>
                <a:gd name="T128" fmla="*/ 703 w 703"/>
                <a:gd name="T129" fmla="*/ 702 h 70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03" h="702">
                  <a:moveTo>
                    <a:pt x="351" y="702"/>
                  </a:moveTo>
                  <a:lnTo>
                    <a:pt x="409" y="698"/>
                  </a:lnTo>
                  <a:lnTo>
                    <a:pt x="463" y="685"/>
                  </a:lnTo>
                  <a:lnTo>
                    <a:pt x="514" y="662"/>
                  </a:lnTo>
                  <a:lnTo>
                    <a:pt x="559" y="634"/>
                  </a:lnTo>
                  <a:lnTo>
                    <a:pt x="600" y="600"/>
                  </a:lnTo>
                  <a:lnTo>
                    <a:pt x="636" y="559"/>
                  </a:lnTo>
                  <a:lnTo>
                    <a:pt x="664" y="512"/>
                  </a:lnTo>
                  <a:lnTo>
                    <a:pt x="684" y="462"/>
                  </a:lnTo>
                  <a:lnTo>
                    <a:pt x="697" y="409"/>
                  </a:lnTo>
                  <a:lnTo>
                    <a:pt x="703" y="351"/>
                  </a:lnTo>
                  <a:lnTo>
                    <a:pt x="697" y="295"/>
                  </a:lnTo>
                  <a:lnTo>
                    <a:pt x="684" y="240"/>
                  </a:lnTo>
                  <a:lnTo>
                    <a:pt x="664" y="190"/>
                  </a:lnTo>
                  <a:lnTo>
                    <a:pt x="636" y="145"/>
                  </a:lnTo>
                  <a:lnTo>
                    <a:pt x="600" y="104"/>
                  </a:lnTo>
                  <a:lnTo>
                    <a:pt x="559" y="68"/>
                  </a:lnTo>
                  <a:lnTo>
                    <a:pt x="514" y="40"/>
                  </a:lnTo>
                  <a:lnTo>
                    <a:pt x="463" y="19"/>
                  </a:lnTo>
                  <a:lnTo>
                    <a:pt x="409" y="6"/>
                  </a:lnTo>
                  <a:lnTo>
                    <a:pt x="353" y="0"/>
                  </a:lnTo>
                  <a:lnTo>
                    <a:pt x="295" y="6"/>
                  </a:lnTo>
                  <a:lnTo>
                    <a:pt x="240" y="19"/>
                  </a:lnTo>
                  <a:lnTo>
                    <a:pt x="192" y="40"/>
                  </a:lnTo>
                  <a:lnTo>
                    <a:pt x="145" y="68"/>
                  </a:lnTo>
                  <a:lnTo>
                    <a:pt x="103" y="104"/>
                  </a:lnTo>
                  <a:lnTo>
                    <a:pt x="70" y="145"/>
                  </a:lnTo>
                  <a:lnTo>
                    <a:pt x="40" y="190"/>
                  </a:lnTo>
                  <a:lnTo>
                    <a:pt x="19" y="240"/>
                  </a:lnTo>
                  <a:lnTo>
                    <a:pt x="6" y="295"/>
                  </a:lnTo>
                  <a:lnTo>
                    <a:pt x="0" y="351"/>
                  </a:lnTo>
                  <a:lnTo>
                    <a:pt x="6" y="409"/>
                  </a:lnTo>
                  <a:lnTo>
                    <a:pt x="19" y="462"/>
                  </a:lnTo>
                  <a:lnTo>
                    <a:pt x="40" y="512"/>
                  </a:lnTo>
                  <a:lnTo>
                    <a:pt x="70" y="559"/>
                  </a:lnTo>
                  <a:lnTo>
                    <a:pt x="103" y="600"/>
                  </a:lnTo>
                  <a:lnTo>
                    <a:pt x="145" y="634"/>
                  </a:lnTo>
                  <a:lnTo>
                    <a:pt x="192" y="662"/>
                  </a:lnTo>
                  <a:lnTo>
                    <a:pt x="240" y="685"/>
                  </a:lnTo>
                  <a:lnTo>
                    <a:pt x="295" y="698"/>
                  </a:lnTo>
                  <a:lnTo>
                    <a:pt x="353" y="70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ctr"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15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9423" name="Line 390"/>
            <p:cNvSpPr>
              <a:spLocks noChangeShapeType="1"/>
            </p:cNvSpPr>
            <p:nvPr/>
          </p:nvSpPr>
          <p:spPr bwMode="auto">
            <a:xfrm>
              <a:off x="11800657" y="1537816"/>
              <a:ext cx="106362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4" name="Rectangle 498"/>
            <p:cNvSpPr>
              <a:spLocks noChangeArrowheads="1"/>
            </p:cNvSpPr>
            <p:nvPr/>
          </p:nvSpPr>
          <p:spPr bwMode="auto">
            <a:xfrm>
              <a:off x="9560693" y="2271239"/>
              <a:ext cx="315" cy="1065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25" name="Line 568"/>
            <p:cNvSpPr>
              <a:spLocks noChangeShapeType="1"/>
            </p:cNvSpPr>
            <p:nvPr/>
          </p:nvSpPr>
          <p:spPr bwMode="auto">
            <a:xfrm>
              <a:off x="9489256" y="3330104"/>
              <a:ext cx="627063" cy="7175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6" name="Freeform 569"/>
            <p:cNvSpPr>
              <a:spLocks/>
            </p:cNvSpPr>
            <p:nvPr/>
          </p:nvSpPr>
          <p:spPr bwMode="auto">
            <a:xfrm>
              <a:off x="9679756" y="771054"/>
              <a:ext cx="4340225" cy="5029200"/>
            </a:xfrm>
            <a:custGeom>
              <a:avLst/>
              <a:gdLst>
                <a:gd name="T0" fmla="*/ 0 w 2734"/>
                <a:gd name="T1" fmla="*/ 2147483646 h 3168"/>
                <a:gd name="T2" fmla="*/ 2147483646 w 2734"/>
                <a:gd name="T3" fmla="*/ 2147483646 h 3168"/>
                <a:gd name="T4" fmla="*/ 2147483646 w 2734"/>
                <a:gd name="T5" fmla="*/ 0 h 3168"/>
                <a:gd name="T6" fmla="*/ 2147483646 w 2734"/>
                <a:gd name="T7" fmla="*/ 0 h 3168"/>
                <a:gd name="T8" fmla="*/ 2147483646 w 2734"/>
                <a:gd name="T9" fmla="*/ 2147483646 h 3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34"/>
                <a:gd name="T16" fmla="*/ 0 h 3168"/>
                <a:gd name="T17" fmla="*/ 2734 w 2734"/>
                <a:gd name="T18" fmla="*/ 3168 h 31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34" h="3168">
                  <a:moveTo>
                    <a:pt x="0" y="3167"/>
                  </a:moveTo>
                  <a:lnTo>
                    <a:pt x="2734" y="3168"/>
                  </a:lnTo>
                  <a:lnTo>
                    <a:pt x="2734" y="0"/>
                  </a:lnTo>
                  <a:lnTo>
                    <a:pt x="1000" y="0"/>
                  </a:lnTo>
                  <a:lnTo>
                    <a:pt x="1000" y="15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7" name="Line 570"/>
            <p:cNvSpPr>
              <a:spLocks noChangeShapeType="1"/>
            </p:cNvSpPr>
            <p:nvPr/>
          </p:nvSpPr>
          <p:spPr bwMode="auto">
            <a:xfrm>
              <a:off x="10225856" y="4962054"/>
              <a:ext cx="1588" cy="7905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8" name="Line 571"/>
            <p:cNvSpPr>
              <a:spLocks noChangeShapeType="1"/>
            </p:cNvSpPr>
            <p:nvPr/>
          </p:nvSpPr>
          <p:spPr bwMode="auto">
            <a:xfrm>
              <a:off x="11267256" y="4962054"/>
              <a:ext cx="1588" cy="7905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29" name="Freeform 572"/>
            <p:cNvSpPr>
              <a:spLocks/>
            </p:cNvSpPr>
            <p:nvPr/>
          </p:nvSpPr>
          <p:spPr bwMode="auto">
            <a:xfrm>
              <a:off x="12846819" y="1514004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0 w 32"/>
                <a:gd name="T3" fmla="*/ 2147483646 h 32"/>
                <a:gd name="T4" fmla="*/ 2147483646 w 32"/>
                <a:gd name="T5" fmla="*/ 2147483646 h 32"/>
                <a:gd name="T6" fmla="*/ 0 w 32"/>
                <a:gd name="T7" fmla="*/ 0 h 32"/>
                <a:gd name="T8" fmla="*/ 0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0" y="0"/>
                  </a:moveTo>
                  <a:lnTo>
                    <a:pt x="0" y="32"/>
                  </a:lnTo>
                  <a:lnTo>
                    <a:pt x="3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0" name="Freeform 573"/>
            <p:cNvSpPr>
              <a:spLocks/>
            </p:cNvSpPr>
            <p:nvPr/>
          </p:nvSpPr>
          <p:spPr bwMode="auto">
            <a:xfrm>
              <a:off x="13326244" y="2526829"/>
              <a:ext cx="47625" cy="50800"/>
            </a:xfrm>
            <a:custGeom>
              <a:avLst/>
              <a:gdLst>
                <a:gd name="T0" fmla="*/ 2147483646 w 30"/>
                <a:gd name="T1" fmla="*/ 0 h 32"/>
                <a:gd name="T2" fmla="*/ 0 w 30"/>
                <a:gd name="T3" fmla="*/ 0 h 32"/>
                <a:gd name="T4" fmla="*/ 2147483646 w 30"/>
                <a:gd name="T5" fmla="*/ 2147483646 h 32"/>
                <a:gd name="T6" fmla="*/ 2147483646 w 30"/>
                <a:gd name="T7" fmla="*/ 0 h 32"/>
                <a:gd name="T8" fmla="*/ 2147483646 w 3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2"/>
                <a:gd name="T17" fmla="*/ 30 w 3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2">
                  <a:moveTo>
                    <a:pt x="30" y="0"/>
                  </a:moveTo>
                  <a:lnTo>
                    <a:pt x="0" y="0"/>
                  </a:lnTo>
                  <a:lnTo>
                    <a:pt x="15" y="3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1" name="Freeform 574"/>
            <p:cNvSpPr>
              <a:spLocks/>
            </p:cNvSpPr>
            <p:nvPr/>
          </p:nvSpPr>
          <p:spPr bwMode="auto">
            <a:xfrm>
              <a:off x="12567419" y="2604617"/>
              <a:ext cx="50800" cy="52388"/>
            </a:xfrm>
            <a:custGeom>
              <a:avLst/>
              <a:gdLst>
                <a:gd name="T0" fmla="*/ 2147483646 w 32"/>
                <a:gd name="T1" fmla="*/ 2147483646 h 33"/>
                <a:gd name="T2" fmla="*/ 2147483646 w 32"/>
                <a:gd name="T3" fmla="*/ 0 h 33"/>
                <a:gd name="T4" fmla="*/ 0 w 32"/>
                <a:gd name="T5" fmla="*/ 2147483646 h 33"/>
                <a:gd name="T6" fmla="*/ 2147483646 w 32"/>
                <a:gd name="T7" fmla="*/ 2147483646 h 33"/>
                <a:gd name="T8" fmla="*/ 2147483646 w 32"/>
                <a:gd name="T9" fmla="*/ 2147483646 h 33"/>
                <a:gd name="T10" fmla="*/ 2147483646 w 32"/>
                <a:gd name="T11" fmla="*/ 2147483646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33"/>
                <a:gd name="T20" fmla="*/ 32 w 32"/>
                <a:gd name="T21" fmla="*/ 33 h 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33">
                  <a:moveTo>
                    <a:pt x="32" y="18"/>
                  </a:moveTo>
                  <a:lnTo>
                    <a:pt x="9" y="0"/>
                  </a:lnTo>
                  <a:lnTo>
                    <a:pt x="0" y="33"/>
                  </a:lnTo>
                  <a:lnTo>
                    <a:pt x="32" y="20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2" name="Freeform 575"/>
            <p:cNvSpPr>
              <a:spLocks/>
            </p:cNvSpPr>
            <p:nvPr/>
          </p:nvSpPr>
          <p:spPr bwMode="auto">
            <a:xfrm>
              <a:off x="11467281" y="2577629"/>
              <a:ext cx="55563" cy="44450"/>
            </a:xfrm>
            <a:custGeom>
              <a:avLst/>
              <a:gdLst>
                <a:gd name="T0" fmla="*/ 2147483646 w 35"/>
                <a:gd name="T1" fmla="*/ 2147483646 h 28"/>
                <a:gd name="T2" fmla="*/ 2147483646 w 35"/>
                <a:gd name="T3" fmla="*/ 0 h 28"/>
                <a:gd name="T4" fmla="*/ 0 w 35"/>
                <a:gd name="T5" fmla="*/ 2147483646 h 28"/>
                <a:gd name="T6" fmla="*/ 2147483646 w 35"/>
                <a:gd name="T7" fmla="*/ 2147483646 h 28"/>
                <a:gd name="T8" fmla="*/ 2147483646 w 35"/>
                <a:gd name="T9" fmla="*/ 2147483646 h 28"/>
                <a:gd name="T10" fmla="*/ 2147483646 w 35"/>
                <a:gd name="T11" fmla="*/ 2147483646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"/>
                <a:gd name="T19" fmla="*/ 0 h 28"/>
                <a:gd name="T20" fmla="*/ 35 w 35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" h="28">
                  <a:moveTo>
                    <a:pt x="33" y="28"/>
                  </a:moveTo>
                  <a:lnTo>
                    <a:pt x="22" y="0"/>
                  </a:lnTo>
                  <a:lnTo>
                    <a:pt x="0" y="28"/>
                  </a:lnTo>
                  <a:lnTo>
                    <a:pt x="35" y="28"/>
                  </a:lnTo>
                  <a:lnTo>
                    <a:pt x="33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3" name="Freeform 576"/>
            <p:cNvSpPr>
              <a:spLocks/>
            </p:cNvSpPr>
            <p:nvPr/>
          </p:nvSpPr>
          <p:spPr bwMode="auto">
            <a:xfrm>
              <a:off x="9633719" y="2853854"/>
              <a:ext cx="57150" cy="47625"/>
            </a:xfrm>
            <a:custGeom>
              <a:avLst/>
              <a:gdLst>
                <a:gd name="T0" fmla="*/ 2147483646 w 36"/>
                <a:gd name="T1" fmla="*/ 2147483646 h 30"/>
                <a:gd name="T2" fmla="*/ 2147483646 w 36"/>
                <a:gd name="T3" fmla="*/ 0 h 30"/>
                <a:gd name="T4" fmla="*/ 0 w 36"/>
                <a:gd name="T5" fmla="*/ 2147483646 h 30"/>
                <a:gd name="T6" fmla="*/ 2147483646 w 36"/>
                <a:gd name="T7" fmla="*/ 2147483646 h 30"/>
                <a:gd name="T8" fmla="*/ 2147483646 w 36"/>
                <a:gd name="T9" fmla="*/ 2147483646 h 30"/>
                <a:gd name="T10" fmla="*/ 2147483646 w 36"/>
                <a:gd name="T11" fmla="*/ 2147483646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30"/>
                <a:gd name="T20" fmla="*/ 36 w 36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30">
                  <a:moveTo>
                    <a:pt x="34" y="28"/>
                  </a:moveTo>
                  <a:lnTo>
                    <a:pt x="25" y="0"/>
                  </a:lnTo>
                  <a:lnTo>
                    <a:pt x="0" y="25"/>
                  </a:lnTo>
                  <a:lnTo>
                    <a:pt x="36" y="3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4" name="Rectangle 577"/>
            <p:cNvSpPr>
              <a:spLocks noChangeArrowheads="1"/>
            </p:cNvSpPr>
            <p:nvPr/>
          </p:nvSpPr>
          <p:spPr bwMode="auto">
            <a:xfrm rot="20400000">
              <a:off x="9920514" y="2447197"/>
              <a:ext cx="101105" cy="473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ts val="600"/>
                </a:spcBef>
                <a:spcAft>
                  <a:spcPts val="600"/>
                </a:spcAft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1pPr>
              <a:lvl2pPr marL="742950" indent="-285750" algn="r" rtl="1">
                <a:spcBef>
                  <a:spcPts val="60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2pPr>
              <a:lvl3pPr marL="1143000" indent="-228600" algn="r" rtl="1">
                <a:spcBef>
                  <a:spcPts val="600"/>
                </a:spcBef>
                <a:spcAft>
                  <a:spcPts val="6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3pPr>
              <a:lvl4pPr marL="1600200" indent="-228600" algn="r" rtl="1">
                <a:spcBef>
                  <a:spcPts val="1200"/>
                </a:spcBef>
                <a:spcAft>
                  <a:spcPts val="300"/>
                </a:spcAft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David" panose="020E0502060401010101" pitchFamily="34" charset="-79"/>
                </a:defRPr>
              </a:lvl4pPr>
              <a:lvl5pPr marL="2057400" indent="-228600" algn="r" rtl="1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5pPr>
              <a:lvl6pPr marL="25146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6pPr>
              <a:lvl7pPr marL="29718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7pPr>
              <a:lvl8pPr marL="34290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8pPr>
              <a:lvl9pPr marL="3886200" indent="-228600" algn="r" rtl="1" eaLnBrk="0" fontAlgn="base" hangingPunct="0">
                <a:spcBef>
                  <a:spcPts val="1200"/>
                </a:spcBef>
                <a:spcAft>
                  <a:spcPts val="300"/>
                </a:spcAft>
                <a:buChar char="»"/>
                <a:defRPr i="1">
                  <a:solidFill>
                    <a:schemeClr val="tx1"/>
                  </a:solidFill>
                  <a:latin typeface="Times New Roman" panose="02020603050405020304" pitchFamily="18" charset="0"/>
                  <a:cs typeface="David" panose="020E0502060401010101" pitchFamily="34" charset="-79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60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en-US" altLang="en-US" sz="135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435" name="Freeform 663"/>
            <p:cNvSpPr>
              <a:spLocks/>
            </p:cNvSpPr>
            <p:nvPr/>
          </p:nvSpPr>
          <p:spPr bwMode="auto">
            <a:xfrm>
              <a:off x="9160644" y="4012729"/>
              <a:ext cx="47625" cy="49212"/>
            </a:xfrm>
            <a:custGeom>
              <a:avLst/>
              <a:gdLst>
                <a:gd name="T0" fmla="*/ 2147483646 w 30"/>
                <a:gd name="T1" fmla="*/ 0 h 31"/>
                <a:gd name="T2" fmla="*/ 0 w 30"/>
                <a:gd name="T3" fmla="*/ 2147483646 h 31"/>
                <a:gd name="T4" fmla="*/ 2147483646 w 30"/>
                <a:gd name="T5" fmla="*/ 2147483646 h 31"/>
                <a:gd name="T6" fmla="*/ 2147483646 w 30"/>
                <a:gd name="T7" fmla="*/ 2147483646 h 31"/>
                <a:gd name="T8" fmla="*/ 2147483646 w 30"/>
                <a:gd name="T9" fmla="*/ 2147483646 h 31"/>
                <a:gd name="T10" fmla="*/ 2147483646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30" y="0"/>
                  </a:moveTo>
                  <a:lnTo>
                    <a:pt x="0" y="1"/>
                  </a:lnTo>
                  <a:lnTo>
                    <a:pt x="15" y="31"/>
                  </a:lnTo>
                  <a:lnTo>
                    <a:pt x="30" y="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6" name="Freeform 664"/>
            <p:cNvSpPr>
              <a:spLocks/>
            </p:cNvSpPr>
            <p:nvPr/>
          </p:nvSpPr>
          <p:spPr bwMode="auto">
            <a:xfrm>
              <a:off x="10086156" y="4017491"/>
              <a:ext cx="53975" cy="53975"/>
            </a:xfrm>
            <a:custGeom>
              <a:avLst/>
              <a:gdLst>
                <a:gd name="T0" fmla="*/ 2147483646 w 34"/>
                <a:gd name="T1" fmla="*/ 0 h 34"/>
                <a:gd name="T2" fmla="*/ 0 w 34"/>
                <a:gd name="T3" fmla="*/ 2147483646 h 34"/>
                <a:gd name="T4" fmla="*/ 2147483646 w 34"/>
                <a:gd name="T5" fmla="*/ 2147483646 h 34"/>
                <a:gd name="T6" fmla="*/ 2147483646 w 34"/>
                <a:gd name="T7" fmla="*/ 0 h 34"/>
                <a:gd name="T8" fmla="*/ 2147483646 w 34"/>
                <a:gd name="T9" fmla="*/ 0 h 34"/>
                <a:gd name="T10" fmla="*/ 2147483646 w 34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"/>
                <a:gd name="T19" fmla="*/ 0 h 34"/>
                <a:gd name="T20" fmla="*/ 34 w 34"/>
                <a:gd name="T21" fmla="*/ 34 h 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" h="34">
                  <a:moveTo>
                    <a:pt x="23" y="0"/>
                  </a:moveTo>
                  <a:lnTo>
                    <a:pt x="0" y="23"/>
                  </a:lnTo>
                  <a:lnTo>
                    <a:pt x="34" y="34"/>
                  </a:lnTo>
                  <a:lnTo>
                    <a:pt x="25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7" name="Freeform 665"/>
            <p:cNvSpPr>
              <a:spLocks/>
            </p:cNvSpPr>
            <p:nvPr/>
          </p:nvSpPr>
          <p:spPr bwMode="auto">
            <a:xfrm>
              <a:off x="11243444" y="4012729"/>
              <a:ext cx="47625" cy="49212"/>
            </a:xfrm>
            <a:custGeom>
              <a:avLst/>
              <a:gdLst>
                <a:gd name="T0" fmla="*/ 2147483646 w 30"/>
                <a:gd name="T1" fmla="*/ 0 h 31"/>
                <a:gd name="T2" fmla="*/ 0 w 30"/>
                <a:gd name="T3" fmla="*/ 2147483646 h 31"/>
                <a:gd name="T4" fmla="*/ 2147483646 w 30"/>
                <a:gd name="T5" fmla="*/ 2147483646 h 31"/>
                <a:gd name="T6" fmla="*/ 2147483646 w 30"/>
                <a:gd name="T7" fmla="*/ 2147483646 h 31"/>
                <a:gd name="T8" fmla="*/ 2147483646 w 30"/>
                <a:gd name="T9" fmla="*/ 2147483646 h 31"/>
                <a:gd name="T10" fmla="*/ 2147483646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30" y="0"/>
                  </a:moveTo>
                  <a:lnTo>
                    <a:pt x="0" y="1"/>
                  </a:lnTo>
                  <a:lnTo>
                    <a:pt x="15" y="31"/>
                  </a:lnTo>
                  <a:lnTo>
                    <a:pt x="30" y="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8" name="Freeform 666"/>
            <p:cNvSpPr>
              <a:spLocks/>
            </p:cNvSpPr>
            <p:nvPr/>
          </p:nvSpPr>
          <p:spPr bwMode="auto">
            <a:xfrm>
              <a:off x="11243444" y="5744691"/>
              <a:ext cx="47625" cy="50800"/>
            </a:xfrm>
            <a:custGeom>
              <a:avLst/>
              <a:gdLst>
                <a:gd name="T0" fmla="*/ 2147483646 w 30"/>
                <a:gd name="T1" fmla="*/ 0 h 32"/>
                <a:gd name="T2" fmla="*/ 0 w 30"/>
                <a:gd name="T3" fmla="*/ 0 h 32"/>
                <a:gd name="T4" fmla="*/ 2147483646 w 30"/>
                <a:gd name="T5" fmla="*/ 2147483646 h 32"/>
                <a:gd name="T6" fmla="*/ 2147483646 w 30"/>
                <a:gd name="T7" fmla="*/ 0 h 32"/>
                <a:gd name="T8" fmla="*/ 2147483646 w 3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2"/>
                <a:gd name="T17" fmla="*/ 30 w 3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2">
                  <a:moveTo>
                    <a:pt x="30" y="0"/>
                  </a:moveTo>
                  <a:lnTo>
                    <a:pt x="0" y="0"/>
                  </a:lnTo>
                  <a:lnTo>
                    <a:pt x="15" y="3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39" name="Freeform 667"/>
            <p:cNvSpPr>
              <a:spLocks/>
            </p:cNvSpPr>
            <p:nvPr/>
          </p:nvSpPr>
          <p:spPr bwMode="auto">
            <a:xfrm>
              <a:off x="10202044" y="5744691"/>
              <a:ext cx="47625" cy="50800"/>
            </a:xfrm>
            <a:custGeom>
              <a:avLst/>
              <a:gdLst>
                <a:gd name="T0" fmla="*/ 2147483646 w 30"/>
                <a:gd name="T1" fmla="*/ 0 h 32"/>
                <a:gd name="T2" fmla="*/ 0 w 30"/>
                <a:gd name="T3" fmla="*/ 0 h 32"/>
                <a:gd name="T4" fmla="*/ 2147483646 w 30"/>
                <a:gd name="T5" fmla="*/ 2147483646 h 32"/>
                <a:gd name="T6" fmla="*/ 2147483646 w 30"/>
                <a:gd name="T7" fmla="*/ 0 h 32"/>
                <a:gd name="T8" fmla="*/ 2147483646 w 30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2"/>
                <a:gd name="T17" fmla="*/ 30 w 3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2">
                  <a:moveTo>
                    <a:pt x="30" y="0"/>
                  </a:moveTo>
                  <a:lnTo>
                    <a:pt x="0" y="0"/>
                  </a:lnTo>
                  <a:lnTo>
                    <a:pt x="15" y="3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0" name="Freeform 668"/>
            <p:cNvSpPr>
              <a:spLocks/>
            </p:cNvSpPr>
            <p:nvPr/>
          </p:nvSpPr>
          <p:spPr bwMode="auto">
            <a:xfrm>
              <a:off x="9919469" y="5774854"/>
              <a:ext cx="50800" cy="49212"/>
            </a:xfrm>
            <a:custGeom>
              <a:avLst/>
              <a:gdLst>
                <a:gd name="T0" fmla="*/ 0 w 32"/>
                <a:gd name="T1" fmla="*/ 0 h 31"/>
                <a:gd name="T2" fmla="*/ 2147483646 w 32"/>
                <a:gd name="T3" fmla="*/ 2147483646 h 31"/>
                <a:gd name="T4" fmla="*/ 2147483646 w 32"/>
                <a:gd name="T5" fmla="*/ 2147483646 h 31"/>
                <a:gd name="T6" fmla="*/ 2147483646 w 32"/>
                <a:gd name="T7" fmla="*/ 2147483646 h 31"/>
                <a:gd name="T8" fmla="*/ 2147483646 w 32"/>
                <a:gd name="T9" fmla="*/ 2147483646 h 31"/>
                <a:gd name="T10" fmla="*/ 0 w 32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31"/>
                <a:gd name="T20" fmla="*/ 32 w 32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31">
                  <a:moveTo>
                    <a:pt x="0" y="0"/>
                  </a:moveTo>
                  <a:lnTo>
                    <a:pt x="2" y="31"/>
                  </a:lnTo>
                  <a:lnTo>
                    <a:pt x="32" y="16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1" name="Freeform 679"/>
            <p:cNvSpPr>
              <a:spLocks/>
            </p:cNvSpPr>
            <p:nvPr/>
          </p:nvSpPr>
          <p:spPr bwMode="auto">
            <a:xfrm>
              <a:off x="11243444" y="988541"/>
              <a:ext cx="47625" cy="49212"/>
            </a:xfrm>
            <a:custGeom>
              <a:avLst/>
              <a:gdLst>
                <a:gd name="T0" fmla="*/ 2147483646 w 30"/>
                <a:gd name="T1" fmla="*/ 0 h 31"/>
                <a:gd name="T2" fmla="*/ 0 w 30"/>
                <a:gd name="T3" fmla="*/ 0 h 31"/>
                <a:gd name="T4" fmla="*/ 2147483646 w 30"/>
                <a:gd name="T5" fmla="*/ 2147483646 h 31"/>
                <a:gd name="T6" fmla="*/ 2147483646 w 30"/>
                <a:gd name="T7" fmla="*/ 0 h 31"/>
                <a:gd name="T8" fmla="*/ 2147483646 w 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1"/>
                <a:gd name="T17" fmla="*/ 30 w 30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1">
                  <a:moveTo>
                    <a:pt x="30" y="0"/>
                  </a:moveTo>
                  <a:lnTo>
                    <a:pt x="0" y="0"/>
                  </a:lnTo>
                  <a:lnTo>
                    <a:pt x="15" y="3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2" name="Line 680"/>
            <p:cNvSpPr>
              <a:spLocks noChangeShapeType="1"/>
            </p:cNvSpPr>
            <p:nvPr/>
          </p:nvSpPr>
          <p:spPr bwMode="auto">
            <a:xfrm>
              <a:off x="10211569" y="1537816"/>
              <a:ext cx="47942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3" name="Freeform 681"/>
            <p:cNvSpPr>
              <a:spLocks/>
            </p:cNvSpPr>
            <p:nvPr/>
          </p:nvSpPr>
          <p:spPr bwMode="auto">
            <a:xfrm>
              <a:off x="10640194" y="1514004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2147483646 w 32"/>
                <a:gd name="T3" fmla="*/ 2147483646 h 32"/>
                <a:gd name="T4" fmla="*/ 2147483646 w 32"/>
                <a:gd name="T5" fmla="*/ 2147483646 h 32"/>
                <a:gd name="T6" fmla="*/ 2147483646 w 32"/>
                <a:gd name="T7" fmla="*/ 0 h 32"/>
                <a:gd name="T8" fmla="*/ 2147483646 w 32"/>
                <a:gd name="T9" fmla="*/ 0 h 32"/>
                <a:gd name="T10" fmla="*/ 0 w 32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32"/>
                <a:gd name="T20" fmla="*/ 32 w 32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32">
                  <a:moveTo>
                    <a:pt x="0" y="0"/>
                  </a:moveTo>
                  <a:lnTo>
                    <a:pt x="2" y="32"/>
                  </a:lnTo>
                  <a:lnTo>
                    <a:pt x="32" y="15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4" name="Freeform 687"/>
            <p:cNvSpPr>
              <a:spLocks/>
            </p:cNvSpPr>
            <p:nvPr/>
          </p:nvSpPr>
          <p:spPr bwMode="auto">
            <a:xfrm>
              <a:off x="13962831" y="3598391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0 w 32"/>
                <a:gd name="T3" fmla="*/ 2147483646 h 32"/>
                <a:gd name="T4" fmla="*/ 2147483646 w 32"/>
                <a:gd name="T5" fmla="*/ 2147483646 h 32"/>
                <a:gd name="T6" fmla="*/ 0 w 32"/>
                <a:gd name="T7" fmla="*/ 0 h 32"/>
                <a:gd name="T8" fmla="*/ 0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0" y="0"/>
                  </a:moveTo>
                  <a:lnTo>
                    <a:pt x="0" y="32"/>
                  </a:lnTo>
                  <a:lnTo>
                    <a:pt x="3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5" name="Freeform 688"/>
            <p:cNvSpPr>
              <a:spLocks/>
            </p:cNvSpPr>
            <p:nvPr/>
          </p:nvSpPr>
          <p:spPr bwMode="auto">
            <a:xfrm>
              <a:off x="13350056" y="3472979"/>
              <a:ext cx="630238" cy="149225"/>
            </a:xfrm>
            <a:custGeom>
              <a:avLst/>
              <a:gdLst>
                <a:gd name="T0" fmla="*/ 0 w 397"/>
                <a:gd name="T1" fmla="*/ 0 h 94"/>
                <a:gd name="T2" fmla="*/ 0 w 397"/>
                <a:gd name="T3" fmla="*/ 2147483646 h 94"/>
                <a:gd name="T4" fmla="*/ 2147483646 w 397"/>
                <a:gd name="T5" fmla="*/ 2147483646 h 94"/>
                <a:gd name="T6" fmla="*/ 0 60000 65536"/>
                <a:gd name="T7" fmla="*/ 0 60000 65536"/>
                <a:gd name="T8" fmla="*/ 0 60000 65536"/>
                <a:gd name="T9" fmla="*/ 0 w 397"/>
                <a:gd name="T10" fmla="*/ 0 h 94"/>
                <a:gd name="T11" fmla="*/ 397 w 397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94">
                  <a:moveTo>
                    <a:pt x="0" y="0"/>
                  </a:moveTo>
                  <a:lnTo>
                    <a:pt x="0" y="94"/>
                  </a:lnTo>
                  <a:lnTo>
                    <a:pt x="397" y="9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6" name="Freeform 689"/>
            <p:cNvSpPr>
              <a:spLocks/>
            </p:cNvSpPr>
            <p:nvPr/>
          </p:nvSpPr>
          <p:spPr bwMode="auto">
            <a:xfrm>
              <a:off x="13962831" y="3747616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0 w 32"/>
                <a:gd name="T3" fmla="*/ 2147483646 h 32"/>
                <a:gd name="T4" fmla="*/ 2147483646 w 32"/>
                <a:gd name="T5" fmla="*/ 2147483646 h 32"/>
                <a:gd name="T6" fmla="*/ 0 w 32"/>
                <a:gd name="T7" fmla="*/ 0 h 32"/>
                <a:gd name="T8" fmla="*/ 0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0" y="0"/>
                  </a:moveTo>
                  <a:lnTo>
                    <a:pt x="0" y="32"/>
                  </a:lnTo>
                  <a:lnTo>
                    <a:pt x="3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447" name="Freeform 690"/>
            <p:cNvSpPr>
              <a:spLocks/>
            </p:cNvSpPr>
            <p:nvPr/>
          </p:nvSpPr>
          <p:spPr bwMode="auto">
            <a:xfrm>
              <a:off x="12308656" y="3472979"/>
              <a:ext cx="1671638" cy="298450"/>
            </a:xfrm>
            <a:custGeom>
              <a:avLst/>
              <a:gdLst>
                <a:gd name="T0" fmla="*/ 0 w 1053"/>
                <a:gd name="T1" fmla="*/ 0 h 188"/>
                <a:gd name="T2" fmla="*/ 0 w 1053"/>
                <a:gd name="T3" fmla="*/ 2147483646 h 188"/>
                <a:gd name="T4" fmla="*/ 2147483646 w 1053"/>
                <a:gd name="T5" fmla="*/ 2147483646 h 188"/>
                <a:gd name="T6" fmla="*/ 0 60000 65536"/>
                <a:gd name="T7" fmla="*/ 0 60000 65536"/>
                <a:gd name="T8" fmla="*/ 0 60000 65536"/>
                <a:gd name="T9" fmla="*/ 0 w 1053"/>
                <a:gd name="T10" fmla="*/ 0 h 188"/>
                <a:gd name="T11" fmla="*/ 1053 w 1053"/>
                <a:gd name="T12" fmla="*/ 188 h 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3" h="188">
                  <a:moveTo>
                    <a:pt x="0" y="0"/>
                  </a:moveTo>
                  <a:lnTo>
                    <a:pt x="0" y="188"/>
                  </a:lnTo>
                  <a:lnTo>
                    <a:pt x="1053" y="18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72D396D-FACF-4F18-8B0A-219C751A9F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4441" y="712788"/>
          <a:ext cx="4081462" cy="391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00719" imgH="4610100" progId="Visio.Drawing.11">
                  <p:embed/>
                </p:oleObj>
              </mc:Choice>
              <mc:Fallback>
                <p:oleObj name="Visio" r:id="rId3" imgW="4800719" imgH="4610100" progId="Visio.Drawing.1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72D396D-FACF-4F18-8B0A-219C751A9F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4441" y="712788"/>
                        <a:ext cx="4081462" cy="391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2655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64244EF-D90A-4B36-89DC-B394997AE5AD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33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63492" name="AutoShape 6"/>
          <p:cNvSpPr>
            <a:spLocks noChangeAspect="1" noChangeArrowheads="1" noTextEdit="1"/>
          </p:cNvSpPr>
          <p:nvPr/>
        </p:nvSpPr>
        <p:spPr bwMode="auto">
          <a:xfrm>
            <a:off x="2114550" y="1200150"/>
            <a:ext cx="4806554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493" name="Freeform 74"/>
          <p:cNvSpPr>
            <a:spLocks/>
          </p:cNvSpPr>
          <p:nvPr/>
        </p:nvSpPr>
        <p:spPr bwMode="auto">
          <a:xfrm>
            <a:off x="3517561" y="3411142"/>
            <a:ext cx="1200150" cy="267890"/>
          </a:xfrm>
          <a:custGeom>
            <a:avLst/>
            <a:gdLst>
              <a:gd name="T0" fmla="*/ 2147483646 w 1008"/>
              <a:gd name="T1" fmla="*/ 2147483646 h 225"/>
              <a:gd name="T2" fmla="*/ 2147483646 w 1008"/>
              <a:gd name="T3" fmla="*/ 0 h 225"/>
              <a:gd name="T4" fmla="*/ 0 w 1008"/>
              <a:gd name="T5" fmla="*/ 0 h 225"/>
              <a:gd name="T6" fmla="*/ 0 w 1008"/>
              <a:gd name="T7" fmla="*/ 2147483646 h 225"/>
              <a:gd name="T8" fmla="*/ 2147483646 w 1008"/>
              <a:gd name="T9" fmla="*/ 2147483646 h 225"/>
              <a:gd name="T10" fmla="*/ 2147483646 w 1008"/>
              <a:gd name="T11" fmla="*/ 2147483646 h 2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8"/>
              <a:gd name="T19" fmla="*/ 0 h 225"/>
              <a:gd name="T20" fmla="*/ 1008 w 1008"/>
              <a:gd name="T21" fmla="*/ 225 h 2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8" h="225">
                <a:moveTo>
                  <a:pt x="1005" y="225"/>
                </a:moveTo>
                <a:lnTo>
                  <a:pt x="1008" y="0"/>
                </a:lnTo>
                <a:lnTo>
                  <a:pt x="0" y="0"/>
                </a:lnTo>
                <a:lnTo>
                  <a:pt x="0" y="225"/>
                </a:lnTo>
                <a:lnTo>
                  <a:pt x="1008" y="225"/>
                </a:lnTo>
              </a:path>
            </a:pathLst>
          </a:cu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63494" name="Freeform 89"/>
          <p:cNvSpPr>
            <a:spLocks/>
          </p:cNvSpPr>
          <p:nvPr/>
        </p:nvSpPr>
        <p:spPr bwMode="auto">
          <a:xfrm>
            <a:off x="2232877" y="3411142"/>
            <a:ext cx="1195388" cy="267890"/>
          </a:xfrm>
          <a:custGeom>
            <a:avLst/>
            <a:gdLst>
              <a:gd name="T0" fmla="*/ 2147483646 w 1004"/>
              <a:gd name="T1" fmla="*/ 2147483646 h 225"/>
              <a:gd name="T2" fmla="*/ 2147483646 w 1004"/>
              <a:gd name="T3" fmla="*/ 0 h 225"/>
              <a:gd name="T4" fmla="*/ 0 w 1004"/>
              <a:gd name="T5" fmla="*/ 0 h 225"/>
              <a:gd name="T6" fmla="*/ 0 w 1004"/>
              <a:gd name="T7" fmla="*/ 2147483646 h 225"/>
              <a:gd name="T8" fmla="*/ 2147483646 w 1004"/>
              <a:gd name="T9" fmla="*/ 2147483646 h 225"/>
              <a:gd name="T10" fmla="*/ 2147483646 w 1004"/>
              <a:gd name="T11" fmla="*/ 2147483646 h 2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4"/>
              <a:gd name="T19" fmla="*/ 0 h 225"/>
              <a:gd name="T20" fmla="*/ 1004 w 1004"/>
              <a:gd name="T21" fmla="*/ 225 h 2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4" h="225">
                <a:moveTo>
                  <a:pt x="1004" y="225"/>
                </a:moveTo>
                <a:lnTo>
                  <a:pt x="1004" y="0"/>
                </a:lnTo>
                <a:lnTo>
                  <a:pt x="0" y="0"/>
                </a:lnTo>
                <a:lnTo>
                  <a:pt x="0" y="225"/>
                </a:lnTo>
                <a:lnTo>
                  <a:pt x="1004" y="225"/>
                </a:lnTo>
              </a:path>
            </a:pathLst>
          </a:cu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 flipV="1">
            <a:off x="3474698" y="1427560"/>
            <a:ext cx="1191" cy="506015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3333014" y="1994298"/>
            <a:ext cx="7694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3410405" y="1994298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3446123" y="1994298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3510417" y="1994298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3542564" y="1994298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 dirty="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02" name="Freeform 14"/>
          <p:cNvSpPr>
            <a:spLocks/>
          </p:cNvSpPr>
          <p:nvPr/>
        </p:nvSpPr>
        <p:spPr bwMode="auto">
          <a:xfrm>
            <a:off x="2830570" y="1937147"/>
            <a:ext cx="1289447" cy="266700"/>
          </a:xfrm>
          <a:custGeom>
            <a:avLst/>
            <a:gdLst>
              <a:gd name="T0" fmla="*/ 2147483646 w 1083"/>
              <a:gd name="T1" fmla="*/ 2147483646 h 224"/>
              <a:gd name="T2" fmla="*/ 2147483646 w 1083"/>
              <a:gd name="T3" fmla="*/ 0 h 224"/>
              <a:gd name="T4" fmla="*/ 0 w 1083"/>
              <a:gd name="T5" fmla="*/ 0 h 224"/>
              <a:gd name="T6" fmla="*/ 0 w 1083"/>
              <a:gd name="T7" fmla="*/ 2147483646 h 224"/>
              <a:gd name="T8" fmla="*/ 2147483646 w 1083"/>
              <a:gd name="T9" fmla="*/ 2147483646 h 224"/>
              <a:gd name="T10" fmla="*/ 2147483646 w 1083"/>
              <a:gd name="T11" fmla="*/ 2147483646 h 2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3"/>
              <a:gd name="T19" fmla="*/ 0 h 224"/>
              <a:gd name="T20" fmla="*/ 1083 w 1083"/>
              <a:gd name="T21" fmla="*/ 224 h 2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3" h="224">
                <a:moveTo>
                  <a:pt x="1083" y="221"/>
                </a:moveTo>
                <a:lnTo>
                  <a:pt x="1083" y="0"/>
                </a:lnTo>
                <a:lnTo>
                  <a:pt x="0" y="0"/>
                </a:lnTo>
                <a:lnTo>
                  <a:pt x="0" y="224"/>
                </a:lnTo>
                <a:lnTo>
                  <a:pt x="1083" y="224"/>
                </a:lnTo>
              </a:path>
            </a:pathLst>
          </a:custGeom>
          <a:noFill/>
          <a:ln w="19050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03" name="Freeform 15"/>
          <p:cNvSpPr>
            <a:spLocks/>
          </p:cNvSpPr>
          <p:nvPr/>
        </p:nvSpPr>
        <p:spPr bwMode="auto">
          <a:xfrm>
            <a:off x="3442552" y="1396604"/>
            <a:ext cx="64294" cy="55959"/>
          </a:xfrm>
          <a:custGeom>
            <a:avLst/>
            <a:gdLst>
              <a:gd name="T0" fmla="*/ 0 w 54"/>
              <a:gd name="T1" fmla="*/ 2147483646 h 47"/>
              <a:gd name="T2" fmla="*/ 2147483646 w 54"/>
              <a:gd name="T3" fmla="*/ 2147483646 h 47"/>
              <a:gd name="T4" fmla="*/ 2147483646 w 54"/>
              <a:gd name="T5" fmla="*/ 0 h 47"/>
              <a:gd name="T6" fmla="*/ 2147483646 w 54"/>
              <a:gd name="T7" fmla="*/ 2147483646 h 47"/>
              <a:gd name="T8" fmla="*/ 2147483646 w 54"/>
              <a:gd name="T9" fmla="*/ 2147483646 h 47"/>
              <a:gd name="T10" fmla="*/ 0 w 54"/>
              <a:gd name="T11" fmla="*/ 2147483646 h 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"/>
              <a:gd name="T19" fmla="*/ 0 h 47"/>
              <a:gd name="T20" fmla="*/ 54 w 54"/>
              <a:gd name="T21" fmla="*/ 47 h 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" h="47">
                <a:moveTo>
                  <a:pt x="0" y="47"/>
                </a:moveTo>
                <a:lnTo>
                  <a:pt x="54" y="47"/>
                </a:lnTo>
                <a:lnTo>
                  <a:pt x="27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04" name="Freeform 16"/>
          <p:cNvSpPr>
            <a:spLocks/>
          </p:cNvSpPr>
          <p:nvPr/>
        </p:nvSpPr>
        <p:spPr bwMode="auto">
          <a:xfrm>
            <a:off x="3446124" y="1774032"/>
            <a:ext cx="60722" cy="55960"/>
          </a:xfrm>
          <a:custGeom>
            <a:avLst/>
            <a:gdLst>
              <a:gd name="T0" fmla="*/ 2147483646 w 51"/>
              <a:gd name="T1" fmla="*/ 2147483646 h 47"/>
              <a:gd name="T2" fmla="*/ 2147483646 w 51"/>
              <a:gd name="T3" fmla="*/ 2147483646 h 47"/>
              <a:gd name="T4" fmla="*/ 2147483646 w 51"/>
              <a:gd name="T5" fmla="*/ 2147483646 h 47"/>
              <a:gd name="T6" fmla="*/ 2147483646 w 51"/>
              <a:gd name="T7" fmla="*/ 2147483646 h 47"/>
              <a:gd name="T8" fmla="*/ 2147483646 w 51"/>
              <a:gd name="T9" fmla="*/ 2147483646 h 47"/>
              <a:gd name="T10" fmla="*/ 2147483646 w 51"/>
              <a:gd name="T11" fmla="*/ 2147483646 h 47"/>
              <a:gd name="T12" fmla="*/ 2147483646 w 51"/>
              <a:gd name="T13" fmla="*/ 2147483646 h 47"/>
              <a:gd name="T14" fmla="*/ 2147483646 w 51"/>
              <a:gd name="T15" fmla="*/ 2147483646 h 47"/>
              <a:gd name="T16" fmla="*/ 2147483646 w 51"/>
              <a:gd name="T17" fmla="*/ 2147483646 h 47"/>
              <a:gd name="T18" fmla="*/ 2147483646 w 51"/>
              <a:gd name="T19" fmla="*/ 2147483646 h 47"/>
              <a:gd name="T20" fmla="*/ 2147483646 w 51"/>
              <a:gd name="T21" fmla="*/ 2147483646 h 47"/>
              <a:gd name="T22" fmla="*/ 2147483646 w 51"/>
              <a:gd name="T23" fmla="*/ 2147483646 h 47"/>
              <a:gd name="T24" fmla="*/ 2147483646 w 51"/>
              <a:gd name="T25" fmla="*/ 2147483646 h 47"/>
              <a:gd name="T26" fmla="*/ 2147483646 w 51"/>
              <a:gd name="T27" fmla="*/ 2147483646 h 47"/>
              <a:gd name="T28" fmla="*/ 2147483646 w 51"/>
              <a:gd name="T29" fmla="*/ 2147483646 h 47"/>
              <a:gd name="T30" fmla="*/ 2147483646 w 51"/>
              <a:gd name="T31" fmla="*/ 2147483646 h 47"/>
              <a:gd name="T32" fmla="*/ 2147483646 w 51"/>
              <a:gd name="T33" fmla="*/ 2147483646 h 47"/>
              <a:gd name="T34" fmla="*/ 2147483646 w 51"/>
              <a:gd name="T35" fmla="*/ 2147483646 h 47"/>
              <a:gd name="T36" fmla="*/ 2147483646 w 51"/>
              <a:gd name="T37" fmla="*/ 0 h 47"/>
              <a:gd name="T38" fmla="*/ 2147483646 w 51"/>
              <a:gd name="T39" fmla="*/ 0 h 47"/>
              <a:gd name="T40" fmla="*/ 2147483646 w 51"/>
              <a:gd name="T41" fmla="*/ 0 h 47"/>
              <a:gd name="T42" fmla="*/ 2147483646 w 51"/>
              <a:gd name="T43" fmla="*/ 0 h 47"/>
              <a:gd name="T44" fmla="*/ 2147483646 w 51"/>
              <a:gd name="T45" fmla="*/ 0 h 47"/>
              <a:gd name="T46" fmla="*/ 2147483646 w 51"/>
              <a:gd name="T47" fmla="*/ 2147483646 h 47"/>
              <a:gd name="T48" fmla="*/ 2147483646 w 51"/>
              <a:gd name="T49" fmla="*/ 2147483646 h 47"/>
              <a:gd name="T50" fmla="*/ 2147483646 w 51"/>
              <a:gd name="T51" fmla="*/ 2147483646 h 47"/>
              <a:gd name="T52" fmla="*/ 2147483646 w 51"/>
              <a:gd name="T53" fmla="*/ 2147483646 h 47"/>
              <a:gd name="T54" fmla="*/ 2147483646 w 51"/>
              <a:gd name="T55" fmla="*/ 2147483646 h 47"/>
              <a:gd name="T56" fmla="*/ 0 w 51"/>
              <a:gd name="T57" fmla="*/ 2147483646 h 47"/>
              <a:gd name="T58" fmla="*/ 0 w 51"/>
              <a:gd name="T59" fmla="*/ 2147483646 h 47"/>
              <a:gd name="T60" fmla="*/ 0 w 51"/>
              <a:gd name="T61" fmla="*/ 2147483646 h 47"/>
              <a:gd name="T62" fmla="*/ 0 w 51"/>
              <a:gd name="T63" fmla="*/ 2147483646 h 47"/>
              <a:gd name="T64" fmla="*/ 0 w 51"/>
              <a:gd name="T65" fmla="*/ 2147483646 h 47"/>
              <a:gd name="T66" fmla="*/ 2147483646 w 51"/>
              <a:gd name="T67" fmla="*/ 2147483646 h 47"/>
              <a:gd name="T68" fmla="*/ 2147483646 w 51"/>
              <a:gd name="T69" fmla="*/ 2147483646 h 47"/>
              <a:gd name="T70" fmla="*/ 2147483646 w 51"/>
              <a:gd name="T71" fmla="*/ 2147483646 h 47"/>
              <a:gd name="T72" fmla="*/ 2147483646 w 51"/>
              <a:gd name="T73" fmla="*/ 2147483646 h 47"/>
              <a:gd name="T74" fmla="*/ 2147483646 w 51"/>
              <a:gd name="T75" fmla="*/ 2147483646 h 47"/>
              <a:gd name="T76" fmla="*/ 2147483646 w 51"/>
              <a:gd name="T77" fmla="*/ 2147483646 h 47"/>
              <a:gd name="T78" fmla="*/ 2147483646 w 51"/>
              <a:gd name="T79" fmla="*/ 2147483646 h 47"/>
              <a:gd name="T80" fmla="*/ 2147483646 w 51"/>
              <a:gd name="T81" fmla="*/ 2147483646 h 47"/>
              <a:gd name="T82" fmla="*/ 2147483646 w 51"/>
              <a:gd name="T83" fmla="*/ 2147483646 h 4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51"/>
              <a:gd name="T127" fmla="*/ 0 h 47"/>
              <a:gd name="T128" fmla="*/ 51 w 51"/>
              <a:gd name="T129" fmla="*/ 47 h 4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51" h="47">
                <a:moveTo>
                  <a:pt x="24" y="47"/>
                </a:moveTo>
                <a:lnTo>
                  <a:pt x="30" y="47"/>
                </a:lnTo>
                <a:lnTo>
                  <a:pt x="33" y="47"/>
                </a:lnTo>
                <a:lnTo>
                  <a:pt x="36" y="44"/>
                </a:lnTo>
                <a:lnTo>
                  <a:pt x="39" y="44"/>
                </a:lnTo>
                <a:lnTo>
                  <a:pt x="42" y="41"/>
                </a:lnTo>
                <a:lnTo>
                  <a:pt x="45" y="38"/>
                </a:lnTo>
                <a:lnTo>
                  <a:pt x="48" y="35"/>
                </a:lnTo>
                <a:lnTo>
                  <a:pt x="48" y="32"/>
                </a:lnTo>
                <a:lnTo>
                  <a:pt x="48" y="26"/>
                </a:lnTo>
                <a:lnTo>
                  <a:pt x="51" y="23"/>
                </a:lnTo>
                <a:lnTo>
                  <a:pt x="48" y="20"/>
                </a:lnTo>
                <a:lnTo>
                  <a:pt x="48" y="15"/>
                </a:lnTo>
                <a:lnTo>
                  <a:pt x="48" y="12"/>
                </a:lnTo>
                <a:lnTo>
                  <a:pt x="45" y="9"/>
                </a:lnTo>
                <a:lnTo>
                  <a:pt x="42" y="6"/>
                </a:lnTo>
                <a:lnTo>
                  <a:pt x="39" y="3"/>
                </a:lnTo>
                <a:lnTo>
                  <a:pt x="36" y="3"/>
                </a:lnTo>
                <a:lnTo>
                  <a:pt x="33" y="0"/>
                </a:lnTo>
                <a:lnTo>
                  <a:pt x="30" y="0"/>
                </a:lnTo>
                <a:lnTo>
                  <a:pt x="24" y="0"/>
                </a:lnTo>
                <a:lnTo>
                  <a:pt x="21" y="0"/>
                </a:lnTo>
                <a:lnTo>
                  <a:pt x="18" y="0"/>
                </a:lnTo>
                <a:lnTo>
                  <a:pt x="12" y="3"/>
                </a:lnTo>
                <a:lnTo>
                  <a:pt x="9" y="3"/>
                </a:lnTo>
                <a:lnTo>
                  <a:pt x="6" y="6"/>
                </a:lnTo>
                <a:lnTo>
                  <a:pt x="3" y="9"/>
                </a:lnTo>
                <a:lnTo>
                  <a:pt x="3" y="12"/>
                </a:lnTo>
                <a:lnTo>
                  <a:pt x="0" y="15"/>
                </a:lnTo>
                <a:lnTo>
                  <a:pt x="0" y="20"/>
                </a:lnTo>
                <a:lnTo>
                  <a:pt x="0" y="23"/>
                </a:lnTo>
                <a:lnTo>
                  <a:pt x="0" y="26"/>
                </a:lnTo>
                <a:lnTo>
                  <a:pt x="0" y="32"/>
                </a:lnTo>
                <a:lnTo>
                  <a:pt x="3" y="35"/>
                </a:lnTo>
                <a:lnTo>
                  <a:pt x="3" y="38"/>
                </a:lnTo>
                <a:lnTo>
                  <a:pt x="6" y="41"/>
                </a:lnTo>
                <a:lnTo>
                  <a:pt x="9" y="44"/>
                </a:lnTo>
                <a:lnTo>
                  <a:pt x="12" y="44"/>
                </a:lnTo>
                <a:lnTo>
                  <a:pt x="18" y="47"/>
                </a:lnTo>
                <a:lnTo>
                  <a:pt x="21" y="47"/>
                </a:lnTo>
                <a:lnTo>
                  <a:pt x="24" y="4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 flipV="1">
            <a:off x="3474698" y="2200276"/>
            <a:ext cx="1191" cy="260747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 flipV="1">
            <a:off x="3474698" y="3902869"/>
            <a:ext cx="1191" cy="348854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07" name="Rectangle 19"/>
          <p:cNvSpPr>
            <a:spLocks noChangeArrowheads="1"/>
          </p:cNvSpPr>
          <p:nvPr/>
        </p:nvSpPr>
        <p:spPr bwMode="auto">
          <a:xfrm rot="-5400000">
            <a:off x="3329206" y="4078294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08" name="Rectangle 20"/>
          <p:cNvSpPr>
            <a:spLocks noChangeArrowheads="1"/>
          </p:cNvSpPr>
          <p:nvPr/>
        </p:nvSpPr>
        <p:spPr bwMode="auto">
          <a:xfrm rot="-5400000">
            <a:off x="3342030" y="399971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09" name="Rectangle 21"/>
          <p:cNvSpPr>
            <a:spLocks noChangeArrowheads="1"/>
          </p:cNvSpPr>
          <p:nvPr/>
        </p:nvSpPr>
        <p:spPr bwMode="auto">
          <a:xfrm>
            <a:off x="1453017" y="2239567"/>
            <a:ext cx="7694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10" name="Rectangle 22"/>
          <p:cNvSpPr>
            <a:spLocks noChangeArrowheads="1"/>
          </p:cNvSpPr>
          <p:nvPr/>
        </p:nvSpPr>
        <p:spPr bwMode="auto">
          <a:xfrm>
            <a:off x="1531598" y="223956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11" name="Rectangle 23"/>
          <p:cNvSpPr>
            <a:spLocks noChangeArrowheads="1"/>
          </p:cNvSpPr>
          <p:nvPr/>
        </p:nvSpPr>
        <p:spPr bwMode="auto">
          <a:xfrm>
            <a:off x="1598273" y="223956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12" name="Rectangle 24"/>
          <p:cNvSpPr>
            <a:spLocks noChangeArrowheads="1"/>
          </p:cNvSpPr>
          <p:nvPr/>
        </p:nvSpPr>
        <p:spPr bwMode="auto">
          <a:xfrm>
            <a:off x="1662567" y="223956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13" name="Rectangle 25"/>
          <p:cNvSpPr>
            <a:spLocks noChangeArrowheads="1"/>
          </p:cNvSpPr>
          <p:nvPr/>
        </p:nvSpPr>
        <p:spPr bwMode="auto">
          <a:xfrm>
            <a:off x="1730433" y="2239567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14" name="Freeform 26"/>
          <p:cNvSpPr>
            <a:spLocks/>
          </p:cNvSpPr>
          <p:nvPr/>
        </p:nvSpPr>
        <p:spPr bwMode="auto">
          <a:xfrm>
            <a:off x="1947127" y="1801417"/>
            <a:ext cx="1527572" cy="221456"/>
          </a:xfrm>
          <a:custGeom>
            <a:avLst/>
            <a:gdLst>
              <a:gd name="T0" fmla="*/ 0 w 1283"/>
              <a:gd name="T1" fmla="*/ 2147483646 h 186"/>
              <a:gd name="T2" fmla="*/ 0 w 1283"/>
              <a:gd name="T3" fmla="*/ 0 h 186"/>
              <a:gd name="T4" fmla="*/ 2147483646 w 1283"/>
              <a:gd name="T5" fmla="*/ 0 h 186"/>
              <a:gd name="T6" fmla="*/ 0 60000 65536"/>
              <a:gd name="T7" fmla="*/ 0 60000 65536"/>
              <a:gd name="T8" fmla="*/ 0 60000 65536"/>
              <a:gd name="T9" fmla="*/ 0 w 1283"/>
              <a:gd name="T10" fmla="*/ 0 h 186"/>
              <a:gd name="T11" fmla="*/ 1283 w 1283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3" h="186">
                <a:moveTo>
                  <a:pt x="0" y="186"/>
                </a:moveTo>
                <a:lnTo>
                  <a:pt x="0" y="0"/>
                </a:lnTo>
                <a:lnTo>
                  <a:pt x="1283" y="0"/>
                </a:lnTo>
              </a:path>
            </a:pathLst>
          </a:custGeom>
          <a:noFill/>
          <a:ln w="33338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15" name="Line 27"/>
          <p:cNvSpPr>
            <a:spLocks noChangeShapeType="1"/>
          </p:cNvSpPr>
          <p:nvPr/>
        </p:nvSpPr>
        <p:spPr bwMode="auto">
          <a:xfrm flipV="1">
            <a:off x="1256565" y="1801417"/>
            <a:ext cx="1190" cy="221456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16" name="Freeform 28"/>
          <p:cNvSpPr>
            <a:spLocks/>
          </p:cNvSpPr>
          <p:nvPr/>
        </p:nvSpPr>
        <p:spPr bwMode="auto">
          <a:xfrm>
            <a:off x="1025583" y="2069307"/>
            <a:ext cx="1157288" cy="373856"/>
          </a:xfrm>
          <a:custGeom>
            <a:avLst/>
            <a:gdLst>
              <a:gd name="T0" fmla="*/ 2147483646 w 972"/>
              <a:gd name="T1" fmla="*/ 0 h 314"/>
              <a:gd name="T2" fmla="*/ 2147483646 w 972"/>
              <a:gd name="T3" fmla="*/ 0 h 314"/>
              <a:gd name="T4" fmla="*/ 2147483646 w 972"/>
              <a:gd name="T5" fmla="*/ 2147483646 h 314"/>
              <a:gd name="T6" fmla="*/ 2147483646 w 972"/>
              <a:gd name="T7" fmla="*/ 0 h 314"/>
              <a:gd name="T8" fmla="*/ 0 w 972"/>
              <a:gd name="T9" fmla="*/ 0 h 314"/>
              <a:gd name="T10" fmla="*/ 2147483646 w 972"/>
              <a:gd name="T11" fmla="*/ 2147483646 h 314"/>
              <a:gd name="T12" fmla="*/ 2147483646 w 972"/>
              <a:gd name="T13" fmla="*/ 2147483646 h 314"/>
              <a:gd name="T14" fmla="*/ 2147483646 w 972"/>
              <a:gd name="T15" fmla="*/ 0 h 314"/>
              <a:gd name="T16" fmla="*/ 2147483646 w 972"/>
              <a:gd name="T17" fmla="*/ 0 h 3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72"/>
              <a:gd name="T28" fmla="*/ 0 h 314"/>
              <a:gd name="T29" fmla="*/ 972 w 972"/>
              <a:gd name="T30" fmla="*/ 314 h 31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72" h="314">
                <a:moveTo>
                  <a:pt x="969" y="0"/>
                </a:moveTo>
                <a:lnTo>
                  <a:pt x="577" y="0"/>
                </a:lnTo>
                <a:lnTo>
                  <a:pt x="484" y="98"/>
                </a:lnTo>
                <a:lnTo>
                  <a:pt x="392" y="0"/>
                </a:lnTo>
                <a:lnTo>
                  <a:pt x="0" y="0"/>
                </a:lnTo>
                <a:lnTo>
                  <a:pt x="296" y="314"/>
                </a:lnTo>
                <a:lnTo>
                  <a:pt x="673" y="314"/>
                </a:lnTo>
                <a:lnTo>
                  <a:pt x="972" y="0"/>
                </a:lnTo>
              </a:path>
            </a:pathLst>
          </a:custGeom>
          <a:noFill/>
          <a:ln w="19050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17" name="Line 29"/>
          <p:cNvSpPr>
            <a:spLocks noChangeShapeType="1"/>
          </p:cNvSpPr>
          <p:nvPr/>
        </p:nvSpPr>
        <p:spPr bwMode="auto">
          <a:xfrm flipH="1">
            <a:off x="4105729" y="2638425"/>
            <a:ext cx="1690688" cy="1191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18" name="Freeform 30"/>
          <p:cNvSpPr>
            <a:spLocks/>
          </p:cNvSpPr>
          <p:nvPr/>
        </p:nvSpPr>
        <p:spPr bwMode="auto">
          <a:xfrm>
            <a:off x="4077155" y="2609850"/>
            <a:ext cx="60722" cy="57150"/>
          </a:xfrm>
          <a:custGeom>
            <a:avLst/>
            <a:gdLst>
              <a:gd name="T0" fmla="*/ 2147483646 w 51"/>
              <a:gd name="T1" fmla="*/ 2147483646 h 48"/>
              <a:gd name="T2" fmla="*/ 2147483646 w 51"/>
              <a:gd name="T3" fmla="*/ 0 h 48"/>
              <a:gd name="T4" fmla="*/ 0 w 51"/>
              <a:gd name="T5" fmla="*/ 2147483646 h 48"/>
              <a:gd name="T6" fmla="*/ 2147483646 w 51"/>
              <a:gd name="T7" fmla="*/ 2147483646 h 48"/>
              <a:gd name="T8" fmla="*/ 2147483646 w 51"/>
              <a:gd name="T9" fmla="*/ 2147483646 h 48"/>
              <a:gd name="T10" fmla="*/ 2147483646 w 51"/>
              <a:gd name="T11" fmla="*/ 2147483646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48"/>
              <a:gd name="T20" fmla="*/ 51 w 51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48">
                <a:moveTo>
                  <a:pt x="48" y="48"/>
                </a:moveTo>
                <a:lnTo>
                  <a:pt x="51" y="0"/>
                </a:lnTo>
                <a:lnTo>
                  <a:pt x="0" y="24"/>
                </a:lnTo>
                <a:lnTo>
                  <a:pt x="51" y="48"/>
                </a:lnTo>
                <a:lnTo>
                  <a:pt x="48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19" name="Rectangle 31"/>
          <p:cNvSpPr>
            <a:spLocks noChangeArrowheads="1"/>
          </p:cNvSpPr>
          <p:nvPr/>
        </p:nvSpPr>
        <p:spPr bwMode="auto">
          <a:xfrm>
            <a:off x="1220846" y="1645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20" name="Freeform 32"/>
          <p:cNvSpPr>
            <a:spLocks/>
          </p:cNvSpPr>
          <p:nvPr/>
        </p:nvSpPr>
        <p:spPr bwMode="auto">
          <a:xfrm>
            <a:off x="1566127" y="2443163"/>
            <a:ext cx="1584722" cy="569119"/>
          </a:xfrm>
          <a:custGeom>
            <a:avLst/>
            <a:gdLst>
              <a:gd name="T0" fmla="*/ 2147483646 w 1331"/>
              <a:gd name="T1" fmla="*/ 2147483646 h 478"/>
              <a:gd name="T2" fmla="*/ 2147483646 w 1331"/>
              <a:gd name="T3" fmla="*/ 2147483646 h 478"/>
              <a:gd name="T4" fmla="*/ 0 w 1331"/>
              <a:gd name="T5" fmla="*/ 2147483646 h 478"/>
              <a:gd name="T6" fmla="*/ 0 w 1331"/>
              <a:gd name="T7" fmla="*/ 0 h 478"/>
              <a:gd name="T8" fmla="*/ 0 60000 65536"/>
              <a:gd name="T9" fmla="*/ 0 60000 65536"/>
              <a:gd name="T10" fmla="*/ 0 60000 65536"/>
              <a:gd name="T11" fmla="*/ 0 60000 65536"/>
              <a:gd name="T12" fmla="*/ 0 w 1331"/>
              <a:gd name="T13" fmla="*/ 0 h 478"/>
              <a:gd name="T14" fmla="*/ 1331 w 1331"/>
              <a:gd name="T15" fmla="*/ 478 h 4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1" h="478">
                <a:moveTo>
                  <a:pt x="1328" y="344"/>
                </a:moveTo>
                <a:lnTo>
                  <a:pt x="1331" y="478"/>
                </a:lnTo>
                <a:lnTo>
                  <a:pt x="0" y="478"/>
                </a:lnTo>
                <a:lnTo>
                  <a:pt x="0" y="0"/>
                </a:lnTo>
              </a:path>
            </a:pathLst>
          </a:custGeom>
          <a:noFill/>
          <a:ln w="33338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21" name="Line 33"/>
          <p:cNvSpPr>
            <a:spLocks noChangeShapeType="1"/>
          </p:cNvSpPr>
          <p:nvPr/>
        </p:nvSpPr>
        <p:spPr bwMode="auto">
          <a:xfrm>
            <a:off x="3147277" y="2852738"/>
            <a:ext cx="3572" cy="159544"/>
          </a:xfrm>
          <a:prstGeom prst="line">
            <a:avLst/>
          </a:prstGeom>
          <a:noFill/>
          <a:ln w="19050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22" name="Freeform 34"/>
          <p:cNvSpPr>
            <a:spLocks/>
          </p:cNvSpPr>
          <p:nvPr/>
        </p:nvSpPr>
        <p:spPr bwMode="auto">
          <a:xfrm>
            <a:off x="3118702" y="2820591"/>
            <a:ext cx="60722" cy="60722"/>
          </a:xfrm>
          <a:custGeom>
            <a:avLst/>
            <a:gdLst>
              <a:gd name="T0" fmla="*/ 0 w 51"/>
              <a:gd name="T1" fmla="*/ 2147483646 h 51"/>
              <a:gd name="T2" fmla="*/ 2147483646 w 51"/>
              <a:gd name="T3" fmla="*/ 2147483646 h 51"/>
              <a:gd name="T4" fmla="*/ 2147483646 w 51"/>
              <a:gd name="T5" fmla="*/ 0 h 51"/>
              <a:gd name="T6" fmla="*/ 0 w 51"/>
              <a:gd name="T7" fmla="*/ 2147483646 h 51"/>
              <a:gd name="T8" fmla="*/ 0 w 51"/>
              <a:gd name="T9" fmla="*/ 2147483646 h 51"/>
              <a:gd name="T10" fmla="*/ 0 w 51"/>
              <a:gd name="T11" fmla="*/ 2147483646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0" y="48"/>
                </a:moveTo>
                <a:lnTo>
                  <a:pt x="51" y="51"/>
                </a:lnTo>
                <a:lnTo>
                  <a:pt x="27" y="0"/>
                </a:lnTo>
                <a:lnTo>
                  <a:pt x="0" y="51"/>
                </a:lnTo>
                <a:lnTo>
                  <a:pt x="0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23" name="Freeform 35"/>
          <p:cNvSpPr>
            <a:spLocks/>
          </p:cNvSpPr>
          <p:nvPr/>
        </p:nvSpPr>
        <p:spPr bwMode="auto">
          <a:xfrm>
            <a:off x="2157868" y="2332435"/>
            <a:ext cx="3221831" cy="1656159"/>
          </a:xfrm>
          <a:custGeom>
            <a:avLst/>
            <a:gdLst>
              <a:gd name="T0" fmla="*/ 0 w 2706"/>
              <a:gd name="T1" fmla="*/ 0 h 1391"/>
              <a:gd name="T2" fmla="*/ 2147483646 w 2706"/>
              <a:gd name="T3" fmla="*/ 0 h 1391"/>
              <a:gd name="T4" fmla="*/ 2147483646 w 2706"/>
              <a:gd name="T5" fmla="*/ 2147483646 h 1391"/>
              <a:gd name="T6" fmla="*/ 0 w 2706"/>
              <a:gd name="T7" fmla="*/ 2147483646 h 1391"/>
              <a:gd name="T8" fmla="*/ 0 w 2706"/>
              <a:gd name="T9" fmla="*/ 0 h 1391"/>
              <a:gd name="T10" fmla="*/ 0 w 2706"/>
              <a:gd name="T11" fmla="*/ 0 h 139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06"/>
              <a:gd name="T19" fmla="*/ 0 h 1391"/>
              <a:gd name="T20" fmla="*/ 2706 w 2706"/>
              <a:gd name="T21" fmla="*/ 1391 h 139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06" h="1391">
                <a:moveTo>
                  <a:pt x="0" y="0"/>
                </a:moveTo>
                <a:lnTo>
                  <a:pt x="2706" y="0"/>
                </a:lnTo>
                <a:lnTo>
                  <a:pt x="2706" y="1391"/>
                </a:lnTo>
                <a:lnTo>
                  <a:pt x="0" y="139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27" name="Rectangle 39"/>
          <p:cNvSpPr>
            <a:spLocks noChangeArrowheads="1"/>
          </p:cNvSpPr>
          <p:nvPr/>
        </p:nvSpPr>
        <p:spPr bwMode="auto">
          <a:xfrm>
            <a:off x="4483894" y="1221582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30" name="Rectangle 42"/>
          <p:cNvSpPr>
            <a:spLocks noChangeArrowheads="1"/>
          </p:cNvSpPr>
          <p:nvPr/>
        </p:nvSpPr>
        <p:spPr bwMode="auto">
          <a:xfrm>
            <a:off x="4622006" y="1221582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34" name="Freeform 46"/>
          <p:cNvSpPr>
            <a:spLocks/>
          </p:cNvSpPr>
          <p:nvPr/>
        </p:nvSpPr>
        <p:spPr bwMode="auto">
          <a:xfrm>
            <a:off x="1916171" y="2001441"/>
            <a:ext cx="59531" cy="60722"/>
          </a:xfrm>
          <a:custGeom>
            <a:avLst/>
            <a:gdLst>
              <a:gd name="T0" fmla="*/ 0 w 50"/>
              <a:gd name="T1" fmla="*/ 0 h 51"/>
              <a:gd name="T2" fmla="*/ 2147483646 w 50"/>
              <a:gd name="T3" fmla="*/ 0 h 51"/>
              <a:gd name="T4" fmla="*/ 2147483646 w 50"/>
              <a:gd name="T5" fmla="*/ 2147483646 h 51"/>
              <a:gd name="T6" fmla="*/ 2147483646 w 50"/>
              <a:gd name="T7" fmla="*/ 0 h 51"/>
              <a:gd name="T8" fmla="*/ 2147483646 w 50"/>
              <a:gd name="T9" fmla="*/ 0 h 51"/>
              <a:gd name="T10" fmla="*/ 0 w 50"/>
              <a:gd name="T11" fmla="*/ 0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51"/>
              <a:gd name="T20" fmla="*/ 50 w 50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51">
                <a:moveTo>
                  <a:pt x="0" y="0"/>
                </a:moveTo>
                <a:lnTo>
                  <a:pt x="50" y="0"/>
                </a:lnTo>
                <a:lnTo>
                  <a:pt x="26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35" name="Freeform 47"/>
          <p:cNvSpPr>
            <a:spLocks/>
          </p:cNvSpPr>
          <p:nvPr/>
        </p:nvSpPr>
        <p:spPr bwMode="auto">
          <a:xfrm>
            <a:off x="1227989" y="2001441"/>
            <a:ext cx="60722" cy="60722"/>
          </a:xfrm>
          <a:custGeom>
            <a:avLst/>
            <a:gdLst>
              <a:gd name="T0" fmla="*/ 0 w 51"/>
              <a:gd name="T1" fmla="*/ 0 h 51"/>
              <a:gd name="T2" fmla="*/ 2147483646 w 51"/>
              <a:gd name="T3" fmla="*/ 0 h 51"/>
              <a:gd name="T4" fmla="*/ 2147483646 w 51"/>
              <a:gd name="T5" fmla="*/ 2147483646 h 51"/>
              <a:gd name="T6" fmla="*/ 0 w 51"/>
              <a:gd name="T7" fmla="*/ 0 h 51"/>
              <a:gd name="T8" fmla="*/ 0 w 51"/>
              <a:gd name="T9" fmla="*/ 0 h 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51"/>
              <a:gd name="T17" fmla="*/ 51 w 51"/>
              <a:gd name="T18" fmla="*/ 51 h 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51">
                <a:moveTo>
                  <a:pt x="0" y="0"/>
                </a:moveTo>
                <a:lnTo>
                  <a:pt x="51" y="0"/>
                </a:lnTo>
                <a:lnTo>
                  <a:pt x="24" y="51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36" name="Freeform 48"/>
          <p:cNvSpPr>
            <a:spLocks/>
          </p:cNvSpPr>
          <p:nvPr/>
        </p:nvSpPr>
        <p:spPr bwMode="auto">
          <a:xfrm>
            <a:off x="2880577" y="2457451"/>
            <a:ext cx="1185863" cy="355997"/>
          </a:xfrm>
          <a:custGeom>
            <a:avLst/>
            <a:gdLst>
              <a:gd name="T0" fmla="*/ 2147483646 w 996"/>
              <a:gd name="T1" fmla="*/ 2147483646 h 299"/>
              <a:gd name="T2" fmla="*/ 2147483646 w 996"/>
              <a:gd name="T3" fmla="*/ 2147483646 h 299"/>
              <a:gd name="T4" fmla="*/ 2147483646 w 996"/>
              <a:gd name="T5" fmla="*/ 2147483646 h 299"/>
              <a:gd name="T6" fmla="*/ 2147483646 w 996"/>
              <a:gd name="T7" fmla="*/ 2147483646 h 299"/>
              <a:gd name="T8" fmla="*/ 2147483646 w 996"/>
              <a:gd name="T9" fmla="*/ 2147483646 h 299"/>
              <a:gd name="T10" fmla="*/ 2147483646 w 996"/>
              <a:gd name="T11" fmla="*/ 2147483646 h 299"/>
              <a:gd name="T12" fmla="*/ 2147483646 w 996"/>
              <a:gd name="T13" fmla="*/ 2147483646 h 299"/>
              <a:gd name="T14" fmla="*/ 2147483646 w 996"/>
              <a:gd name="T15" fmla="*/ 2147483646 h 299"/>
              <a:gd name="T16" fmla="*/ 2147483646 w 996"/>
              <a:gd name="T17" fmla="*/ 2147483646 h 299"/>
              <a:gd name="T18" fmla="*/ 2147483646 w 996"/>
              <a:gd name="T19" fmla="*/ 2147483646 h 299"/>
              <a:gd name="T20" fmla="*/ 0 w 996"/>
              <a:gd name="T21" fmla="*/ 2147483646 h 299"/>
              <a:gd name="T22" fmla="*/ 2147483646 w 996"/>
              <a:gd name="T23" fmla="*/ 2147483646 h 299"/>
              <a:gd name="T24" fmla="*/ 2147483646 w 996"/>
              <a:gd name="T25" fmla="*/ 2147483646 h 299"/>
              <a:gd name="T26" fmla="*/ 2147483646 w 996"/>
              <a:gd name="T27" fmla="*/ 2147483646 h 299"/>
              <a:gd name="T28" fmla="*/ 2147483646 w 996"/>
              <a:gd name="T29" fmla="*/ 2147483646 h 299"/>
              <a:gd name="T30" fmla="*/ 2147483646 w 996"/>
              <a:gd name="T31" fmla="*/ 2147483646 h 299"/>
              <a:gd name="T32" fmla="*/ 2147483646 w 996"/>
              <a:gd name="T33" fmla="*/ 2147483646 h 299"/>
              <a:gd name="T34" fmla="*/ 2147483646 w 996"/>
              <a:gd name="T35" fmla="*/ 2147483646 h 299"/>
              <a:gd name="T36" fmla="*/ 2147483646 w 996"/>
              <a:gd name="T37" fmla="*/ 2147483646 h 299"/>
              <a:gd name="T38" fmla="*/ 2147483646 w 996"/>
              <a:gd name="T39" fmla="*/ 2147483646 h 299"/>
              <a:gd name="T40" fmla="*/ 2147483646 w 996"/>
              <a:gd name="T41" fmla="*/ 0 h 299"/>
              <a:gd name="T42" fmla="*/ 2147483646 w 996"/>
              <a:gd name="T43" fmla="*/ 0 h 299"/>
              <a:gd name="T44" fmla="*/ 2147483646 w 996"/>
              <a:gd name="T45" fmla="*/ 2147483646 h 299"/>
              <a:gd name="T46" fmla="*/ 2147483646 w 996"/>
              <a:gd name="T47" fmla="*/ 2147483646 h 299"/>
              <a:gd name="T48" fmla="*/ 2147483646 w 996"/>
              <a:gd name="T49" fmla="*/ 2147483646 h 299"/>
              <a:gd name="T50" fmla="*/ 2147483646 w 996"/>
              <a:gd name="T51" fmla="*/ 2147483646 h 299"/>
              <a:gd name="T52" fmla="*/ 2147483646 w 996"/>
              <a:gd name="T53" fmla="*/ 2147483646 h 299"/>
              <a:gd name="T54" fmla="*/ 2147483646 w 996"/>
              <a:gd name="T55" fmla="*/ 2147483646 h 299"/>
              <a:gd name="T56" fmla="*/ 2147483646 w 996"/>
              <a:gd name="T57" fmla="*/ 2147483646 h 299"/>
              <a:gd name="T58" fmla="*/ 2147483646 w 996"/>
              <a:gd name="T59" fmla="*/ 2147483646 h 299"/>
              <a:gd name="T60" fmla="*/ 2147483646 w 996"/>
              <a:gd name="T61" fmla="*/ 2147483646 h 299"/>
              <a:gd name="T62" fmla="*/ 2147483646 w 996"/>
              <a:gd name="T63" fmla="*/ 2147483646 h 299"/>
              <a:gd name="T64" fmla="*/ 2147483646 w 996"/>
              <a:gd name="T65" fmla="*/ 2147483646 h 299"/>
              <a:gd name="T66" fmla="*/ 2147483646 w 996"/>
              <a:gd name="T67" fmla="*/ 2147483646 h 299"/>
              <a:gd name="T68" fmla="*/ 2147483646 w 996"/>
              <a:gd name="T69" fmla="*/ 2147483646 h 299"/>
              <a:gd name="T70" fmla="*/ 2147483646 w 996"/>
              <a:gd name="T71" fmla="*/ 2147483646 h 299"/>
              <a:gd name="T72" fmla="*/ 2147483646 w 996"/>
              <a:gd name="T73" fmla="*/ 2147483646 h 299"/>
              <a:gd name="T74" fmla="*/ 2147483646 w 996"/>
              <a:gd name="T75" fmla="*/ 2147483646 h 299"/>
              <a:gd name="T76" fmla="*/ 2147483646 w 996"/>
              <a:gd name="T77" fmla="*/ 2147483646 h 299"/>
              <a:gd name="T78" fmla="*/ 2147483646 w 996"/>
              <a:gd name="T79" fmla="*/ 2147483646 h 299"/>
              <a:gd name="T80" fmla="*/ 2147483646 w 996"/>
              <a:gd name="T81" fmla="*/ 2147483646 h 299"/>
              <a:gd name="T82" fmla="*/ 2147483646 w 996"/>
              <a:gd name="T83" fmla="*/ 2147483646 h 299"/>
              <a:gd name="T84" fmla="*/ 2147483646 w 996"/>
              <a:gd name="T85" fmla="*/ 2147483646 h 299"/>
              <a:gd name="T86" fmla="*/ 2147483646 w 996"/>
              <a:gd name="T87" fmla="*/ 2147483646 h 29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996"/>
              <a:gd name="T133" fmla="*/ 0 h 299"/>
              <a:gd name="T134" fmla="*/ 996 w 996"/>
              <a:gd name="T135" fmla="*/ 299 h 29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996" h="299">
                <a:moveTo>
                  <a:pt x="149" y="299"/>
                </a:moveTo>
                <a:lnTo>
                  <a:pt x="126" y="296"/>
                </a:lnTo>
                <a:lnTo>
                  <a:pt x="102" y="290"/>
                </a:lnTo>
                <a:lnTo>
                  <a:pt x="81" y="281"/>
                </a:lnTo>
                <a:lnTo>
                  <a:pt x="63" y="269"/>
                </a:lnTo>
                <a:lnTo>
                  <a:pt x="45" y="254"/>
                </a:lnTo>
                <a:lnTo>
                  <a:pt x="30" y="236"/>
                </a:lnTo>
                <a:lnTo>
                  <a:pt x="18" y="218"/>
                </a:lnTo>
                <a:lnTo>
                  <a:pt x="9" y="197"/>
                </a:lnTo>
                <a:lnTo>
                  <a:pt x="3" y="173"/>
                </a:lnTo>
                <a:lnTo>
                  <a:pt x="0" y="149"/>
                </a:lnTo>
                <a:lnTo>
                  <a:pt x="3" y="125"/>
                </a:lnTo>
                <a:lnTo>
                  <a:pt x="9" y="101"/>
                </a:lnTo>
                <a:lnTo>
                  <a:pt x="18" y="81"/>
                </a:lnTo>
                <a:lnTo>
                  <a:pt x="30" y="60"/>
                </a:lnTo>
                <a:lnTo>
                  <a:pt x="45" y="45"/>
                </a:lnTo>
                <a:lnTo>
                  <a:pt x="63" y="30"/>
                </a:lnTo>
                <a:lnTo>
                  <a:pt x="81" y="18"/>
                </a:lnTo>
                <a:lnTo>
                  <a:pt x="102" y="6"/>
                </a:lnTo>
                <a:lnTo>
                  <a:pt x="126" y="3"/>
                </a:lnTo>
                <a:lnTo>
                  <a:pt x="149" y="0"/>
                </a:lnTo>
                <a:lnTo>
                  <a:pt x="846" y="0"/>
                </a:lnTo>
                <a:lnTo>
                  <a:pt x="873" y="3"/>
                </a:lnTo>
                <a:lnTo>
                  <a:pt x="894" y="6"/>
                </a:lnTo>
                <a:lnTo>
                  <a:pt x="915" y="18"/>
                </a:lnTo>
                <a:lnTo>
                  <a:pt x="936" y="30"/>
                </a:lnTo>
                <a:lnTo>
                  <a:pt x="954" y="45"/>
                </a:lnTo>
                <a:lnTo>
                  <a:pt x="969" y="60"/>
                </a:lnTo>
                <a:lnTo>
                  <a:pt x="981" y="81"/>
                </a:lnTo>
                <a:lnTo>
                  <a:pt x="990" y="101"/>
                </a:lnTo>
                <a:lnTo>
                  <a:pt x="996" y="125"/>
                </a:lnTo>
                <a:lnTo>
                  <a:pt x="996" y="149"/>
                </a:lnTo>
                <a:lnTo>
                  <a:pt x="996" y="173"/>
                </a:lnTo>
                <a:lnTo>
                  <a:pt x="990" y="197"/>
                </a:lnTo>
                <a:lnTo>
                  <a:pt x="981" y="218"/>
                </a:lnTo>
                <a:lnTo>
                  <a:pt x="969" y="236"/>
                </a:lnTo>
                <a:lnTo>
                  <a:pt x="954" y="254"/>
                </a:lnTo>
                <a:lnTo>
                  <a:pt x="936" y="269"/>
                </a:lnTo>
                <a:lnTo>
                  <a:pt x="915" y="281"/>
                </a:lnTo>
                <a:lnTo>
                  <a:pt x="894" y="290"/>
                </a:lnTo>
                <a:lnTo>
                  <a:pt x="873" y="296"/>
                </a:lnTo>
                <a:lnTo>
                  <a:pt x="846" y="299"/>
                </a:lnTo>
                <a:lnTo>
                  <a:pt x="149" y="299"/>
                </a:lnTo>
              </a:path>
            </a:pathLst>
          </a:custGeom>
          <a:noFill/>
          <a:ln w="19050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37" name="Rectangle 49"/>
          <p:cNvSpPr>
            <a:spLocks noChangeArrowheads="1"/>
          </p:cNvSpPr>
          <p:nvPr/>
        </p:nvSpPr>
        <p:spPr bwMode="auto">
          <a:xfrm>
            <a:off x="3365161" y="2491979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38" name="Rectangle 50"/>
          <p:cNvSpPr>
            <a:spLocks noChangeArrowheads="1"/>
          </p:cNvSpPr>
          <p:nvPr/>
        </p:nvSpPr>
        <p:spPr bwMode="auto">
          <a:xfrm>
            <a:off x="3463983" y="249197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39" name="Rectangle 51"/>
          <p:cNvSpPr>
            <a:spLocks noChangeArrowheads="1"/>
          </p:cNvSpPr>
          <p:nvPr/>
        </p:nvSpPr>
        <p:spPr bwMode="auto">
          <a:xfrm>
            <a:off x="3531848" y="2491979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x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0" name="Line 52"/>
          <p:cNvSpPr>
            <a:spLocks noChangeShapeType="1"/>
          </p:cNvSpPr>
          <p:nvPr/>
        </p:nvSpPr>
        <p:spPr bwMode="auto">
          <a:xfrm>
            <a:off x="3798548" y="2852738"/>
            <a:ext cx="1191" cy="159544"/>
          </a:xfrm>
          <a:prstGeom prst="line">
            <a:avLst/>
          </a:prstGeom>
          <a:noFill/>
          <a:ln w="33338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41" name="Freeform 53"/>
          <p:cNvSpPr>
            <a:spLocks/>
          </p:cNvSpPr>
          <p:nvPr/>
        </p:nvSpPr>
        <p:spPr bwMode="auto">
          <a:xfrm>
            <a:off x="3767593" y="2820591"/>
            <a:ext cx="59531" cy="60722"/>
          </a:xfrm>
          <a:custGeom>
            <a:avLst/>
            <a:gdLst>
              <a:gd name="T0" fmla="*/ 0 w 50"/>
              <a:gd name="T1" fmla="*/ 2147483646 h 51"/>
              <a:gd name="T2" fmla="*/ 2147483646 w 50"/>
              <a:gd name="T3" fmla="*/ 2147483646 h 51"/>
              <a:gd name="T4" fmla="*/ 2147483646 w 50"/>
              <a:gd name="T5" fmla="*/ 0 h 51"/>
              <a:gd name="T6" fmla="*/ 2147483646 w 50"/>
              <a:gd name="T7" fmla="*/ 2147483646 h 51"/>
              <a:gd name="T8" fmla="*/ 2147483646 w 50"/>
              <a:gd name="T9" fmla="*/ 2147483646 h 51"/>
              <a:gd name="T10" fmla="*/ 0 w 50"/>
              <a:gd name="T11" fmla="*/ 2147483646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51"/>
              <a:gd name="T20" fmla="*/ 50 w 50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51">
                <a:moveTo>
                  <a:pt x="0" y="48"/>
                </a:moveTo>
                <a:lnTo>
                  <a:pt x="50" y="51"/>
                </a:lnTo>
                <a:lnTo>
                  <a:pt x="26" y="0"/>
                </a:lnTo>
                <a:lnTo>
                  <a:pt x="2" y="51"/>
                </a:lnTo>
                <a:lnTo>
                  <a:pt x="0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42" name="Freeform 54"/>
          <p:cNvSpPr>
            <a:spLocks/>
          </p:cNvSpPr>
          <p:nvPr/>
        </p:nvSpPr>
        <p:spPr bwMode="auto">
          <a:xfrm>
            <a:off x="3549708" y="2820591"/>
            <a:ext cx="64294" cy="60722"/>
          </a:xfrm>
          <a:custGeom>
            <a:avLst/>
            <a:gdLst>
              <a:gd name="T0" fmla="*/ 0 w 54"/>
              <a:gd name="T1" fmla="*/ 2147483646 h 51"/>
              <a:gd name="T2" fmla="*/ 2147483646 w 54"/>
              <a:gd name="T3" fmla="*/ 2147483646 h 51"/>
              <a:gd name="T4" fmla="*/ 2147483646 w 54"/>
              <a:gd name="T5" fmla="*/ 0 h 51"/>
              <a:gd name="T6" fmla="*/ 2147483646 w 54"/>
              <a:gd name="T7" fmla="*/ 2147483646 h 51"/>
              <a:gd name="T8" fmla="*/ 2147483646 w 54"/>
              <a:gd name="T9" fmla="*/ 2147483646 h 51"/>
              <a:gd name="T10" fmla="*/ 0 w 54"/>
              <a:gd name="T11" fmla="*/ 2147483646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"/>
              <a:gd name="T19" fmla="*/ 0 h 51"/>
              <a:gd name="T20" fmla="*/ 54 w 54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" h="51">
                <a:moveTo>
                  <a:pt x="0" y="48"/>
                </a:moveTo>
                <a:lnTo>
                  <a:pt x="54" y="51"/>
                </a:lnTo>
                <a:lnTo>
                  <a:pt x="27" y="0"/>
                </a:lnTo>
                <a:lnTo>
                  <a:pt x="3" y="51"/>
                </a:lnTo>
                <a:lnTo>
                  <a:pt x="0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43" name="Freeform 55"/>
          <p:cNvSpPr>
            <a:spLocks/>
          </p:cNvSpPr>
          <p:nvPr/>
        </p:nvSpPr>
        <p:spPr bwMode="auto">
          <a:xfrm>
            <a:off x="3336586" y="2820591"/>
            <a:ext cx="60722" cy="60722"/>
          </a:xfrm>
          <a:custGeom>
            <a:avLst/>
            <a:gdLst>
              <a:gd name="T0" fmla="*/ 0 w 51"/>
              <a:gd name="T1" fmla="*/ 2147483646 h 51"/>
              <a:gd name="T2" fmla="*/ 2147483646 w 51"/>
              <a:gd name="T3" fmla="*/ 2147483646 h 51"/>
              <a:gd name="T4" fmla="*/ 2147483646 w 51"/>
              <a:gd name="T5" fmla="*/ 0 h 51"/>
              <a:gd name="T6" fmla="*/ 0 w 51"/>
              <a:gd name="T7" fmla="*/ 2147483646 h 51"/>
              <a:gd name="T8" fmla="*/ 0 w 51"/>
              <a:gd name="T9" fmla="*/ 2147483646 h 51"/>
              <a:gd name="T10" fmla="*/ 0 w 51"/>
              <a:gd name="T11" fmla="*/ 2147483646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0" y="48"/>
                </a:moveTo>
                <a:lnTo>
                  <a:pt x="51" y="51"/>
                </a:lnTo>
                <a:lnTo>
                  <a:pt x="24" y="0"/>
                </a:lnTo>
                <a:lnTo>
                  <a:pt x="0" y="51"/>
                </a:lnTo>
                <a:lnTo>
                  <a:pt x="0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44" name="Rectangle 56"/>
          <p:cNvSpPr>
            <a:spLocks noChangeArrowheads="1"/>
          </p:cNvSpPr>
          <p:nvPr/>
        </p:nvSpPr>
        <p:spPr bwMode="auto">
          <a:xfrm>
            <a:off x="3111558" y="2656285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3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5" name="Rectangle 57"/>
          <p:cNvSpPr>
            <a:spLocks noChangeArrowheads="1"/>
          </p:cNvSpPr>
          <p:nvPr/>
        </p:nvSpPr>
        <p:spPr bwMode="auto">
          <a:xfrm>
            <a:off x="3329442" y="2656285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2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6" name="Rectangle 58"/>
          <p:cNvSpPr>
            <a:spLocks noChangeArrowheads="1"/>
          </p:cNvSpPr>
          <p:nvPr/>
        </p:nvSpPr>
        <p:spPr bwMode="auto">
          <a:xfrm>
            <a:off x="3546136" y="2656285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7" name="Rectangle 59"/>
          <p:cNvSpPr>
            <a:spLocks noChangeArrowheads="1"/>
          </p:cNvSpPr>
          <p:nvPr/>
        </p:nvSpPr>
        <p:spPr bwMode="auto">
          <a:xfrm>
            <a:off x="3764021" y="2656285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0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8" name="Rectangle 60"/>
          <p:cNvSpPr>
            <a:spLocks noChangeArrowheads="1"/>
          </p:cNvSpPr>
          <p:nvPr/>
        </p:nvSpPr>
        <p:spPr bwMode="auto">
          <a:xfrm>
            <a:off x="3692583" y="3471863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49" name="Rectangle 61"/>
          <p:cNvSpPr>
            <a:spLocks noChangeArrowheads="1"/>
          </p:cNvSpPr>
          <p:nvPr/>
        </p:nvSpPr>
        <p:spPr bwMode="auto">
          <a:xfrm>
            <a:off x="3777117" y="3471863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0" name="Rectangle 62"/>
          <p:cNvSpPr>
            <a:spLocks noChangeArrowheads="1"/>
          </p:cNvSpPr>
          <p:nvPr/>
        </p:nvSpPr>
        <p:spPr bwMode="auto">
          <a:xfrm>
            <a:off x="3802121" y="347186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1" name="Rectangle 63"/>
          <p:cNvSpPr>
            <a:spLocks noChangeArrowheads="1"/>
          </p:cNvSpPr>
          <p:nvPr/>
        </p:nvSpPr>
        <p:spPr bwMode="auto">
          <a:xfrm>
            <a:off x="3862842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p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2" name="Rectangle 64"/>
          <p:cNvSpPr>
            <a:spLocks noChangeArrowheads="1"/>
          </p:cNvSpPr>
          <p:nvPr/>
        </p:nvSpPr>
        <p:spPr bwMode="auto">
          <a:xfrm>
            <a:off x="3927136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3" name="Rectangle 65"/>
          <p:cNvSpPr>
            <a:spLocks noChangeArrowheads="1"/>
          </p:cNvSpPr>
          <p:nvPr/>
        </p:nvSpPr>
        <p:spPr bwMode="auto">
          <a:xfrm>
            <a:off x="3995002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4" name="Rectangle 66"/>
          <p:cNvSpPr>
            <a:spLocks noChangeArrowheads="1"/>
          </p:cNvSpPr>
          <p:nvPr/>
        </p:nvSpPr>
        <p:spPr bwMode="auto">
          <a:xfrm>
            <a:off x="4027148" y="347186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5" name="Rectangle 67"/>
          <p:cNvSpPr>
            <a:spLocks noChangeArrowheads="1"/>
          </p:cNvSpPr>
          <p:nvPr/>
        </p:nvSpPr>
        <p:spPr bwMode="auto">
          <a:xfrm>
            <a:off x="4087871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h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6" name="Rectangle 68"/>
          <p:cNvSpPr>
            <a:spLocks noChangeArrowheads="1"/>
          </p:cNvSpPr>
          <p:nvPr/>
        </p:nvSpPr>
        <p:spPr bwMode="auto">
          <a:xfrm>
            <a:off x="4150973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7" name="Rectangle 69"/>
          <p:cNvSpPr>
            <a:spLocks noChangeArrowheads="1"/>
          </p:cNvSpPr>
          <p:nvPr/>
        </p:nvSpPr>
        <p:spPr bwMode="auto">
          <a:xfrm>
            <a:off x="4183121" y="3471863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8" name="Rectangle 70"/>
          <p:cNvSpPr>
            <a:spLocks noChangeArrowheads="1"/>
          </p:cNvSpPr>
          <p:nvPr/>
        </p:nvSpPr>
        <p:spPr bwMode="auto">
          <a:xfrm>
            <a:off x="4268846" y="34718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59" name="Rectangle 71"/>
          <p:cNvSpPr>
            <a:spLocks noChangeArrowheads="1"/>
          </p:cNvSpPr>
          <p:nvPr/>
        </p:nvSpPr>
        <p:spPr bwMode="auto">
          <a:xfrm>
            <a:off x="4361714" y="3471863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M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0" name="Rectangle 72"/>
          <p:cNvSpPr>
            <a:spLocks noChangeArrowheads="1"/>
          </p:cNvSpPr>
          <p:nvPr/>
        </p:nvSpPr>
        <p:spPr bwMode="auto">
          <a:xfrm>
            <a:off x="4461727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1" name="Rectangle 73"/>
          <p:cNvSpPr>
            <a:spLocks noChangeArrowheads="1"/>
          </p:cNvSpPr>
          <p:nvPr/>
        </p:nvSpPr>
        <p:spPr bwMode="auto">
          <a:xfrm>
            <a:off x="4493873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2" name="Rectangle 75"/>
          <p:cNvSpPr>
            <a:spLocks noChangeArrowheads="1"/>
          </p:cNvSpPr>
          <p:nvPr/>
        </p:nvSpPr>
        <p:spPr bwMode="auto">
          <a:xfrm>
            <a:off x="2403136" y="3471863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3" name="Rectangle 76"/>
          <p:cNvSpPr>
            <a:spLocks noChangeArrowheads="1"/>
          </p:cNvSpPr>
          <p:nvPr/>
        </p:nvSpPr>
        <p:spPr bwMode="auto">
          <a:xfrm>
            <a:off x="2488861" y="3471863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4" name="Rectangle 77"/>
          <p:cNvSpPr>
            <a:spLocks noChangeArrowheads="1"/>
          </p:cNvSpPr>
          <p:nvPr/>
        </p:nvSpPr>
        <p:spPr bwMode="auto">
          <a:xfrm>
            <a:off x="2517436" y="347186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5" name="Rectangle 78"/>
          <p:cNvSpPr>
            <a:spLocks noChangeArrowheads="1"/>
          </p:cNvSpPr>
          <p:nvPr/>
        </p:nvSpPr>
        <p:spPr bwMode="auto">
          <a:xfrm>
            <a:off x="2574586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p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6" name="Rectangle 79"/>
          <p:cNvSpPr>
            <a:spLocks noChangeArrowheads="1"/>
          </p:cNvSpPr>
          <p:nvPr/>
        </p:nvSpPr>
        <p:spPr bwMode="auto">
          <a:xfrm>
            <a:off x="2642452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7" name="Rectangle 80"/>
          <p:cNvSpPr>
            <a:spLocks noChangeArrowheads="1"/>
          </p:cNvSpPr>
          <p:nvPr/>
        </p:nvSpPr>
        <p:spPr bwMode="auto">
          <a:xfrm>
            <a:off x="2705555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8" name="Rectangle 81"/>
          <p:cNvSpPr>
            <a:spLocks noChangeArrowheads="1"/>
          </p:cNvSpPr>
          <p:nvPr/>
        </p:nvSpPr>
        <p:spPr bwMode="auto">
          <a:xfrm>
            <a:off x="2737702" y="347186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69" name="Rectangle 82"/>
          <p:cNvSpPr>
            <a:spLocks noChangeArrowheads="1"/>
          </p:cNvSpPr>
          <p:nvPr/>
        </p:nvSpPr>
        <p:spPr bwMode="auto">
          <a:xfrm>
            <a:off x="2798423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h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0" name="Rectangle 83"/>
          <p:cNvSpPr>
            <a:spLocks noChangeArrowheads="1"/>
          </p:cNvSpPr>
          <p:nvPr/>
        </p:nvSpPr>
        <p:spPr bwMode="auto">
          <a:xfrm>
            <a:off x="2866289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1" name="Rectangle 84"/>
          <p:cNvSpPr>
            <a:spLocks noChangeArrowheads="1"/>
          </p:cNvSpPr>
          <p:nvPr/>
        </p:nvSpPr>
        <p:spPr bwMode="auto">
          <a:xfrm>
            <a:off x="2898436" y="3471863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2" name="Rectangle 85"/>
          <p:cNvSpPr>
            <a:spLocks noChangeArrowheads="1"/>
          </p:cNvSpPr>
          <p:nvPr/>
        </p:nvSpPr>
        <p:spPr bwMode="auto">
          <a:xfrm>
            <a:off x="2984161" y="34718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3" name="Rectangle 86"/>
          <p:cNvSpPr>
            <a:spLocks noChangeArrowheads="1"/>
          </p:cNvSpPr>
          <p:nvPr/>
        </p:nvSpPr>
        <p:spPr bwMode="auto">
          <a:xfrm>
            <a:off x="3075839" y="3471863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M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4" name="Rectangle 87"/>
          <p:cNvSpPr>
            <a:spLocks noChangeArrowheads="1"/>
          </p:cNvSpPr>
          <p:nvPr/>
        </p:nvSpPr>
        <p:spPr bwMode="auto">
          <a:xfrm>
            <a:off x="3175852" y="3471863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5" name="Rectangle 88"/>
          <p:cNvSpPr>
            <a:spLocks noChangeArrowheads="1"/>
          </p:cNvSpPr>
          <p:nvPr/>
        </p:nvSpPr>
        <p:spPr bwMode="auto">
          <a:xfrm>
            <a:off x="3207998" y="347186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 dirty="0">
                <a:latin typeface="Arial" panose="020B0604020202020204" pitchFamily="34" charset="0"/>
                <a:cs typeface="Times New Roman" panose="02020603050405020304" pitchFamily="18" charset="0"/>
              </a:rPr>
              <a:t>2</a:t>
            </a:r>
            <a:endParaRPr lang="en-US" altLang="en-US" sz="135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6" name="Rectangle 90"/>
          <p:cNvSpPr>
            <a:spLocks noChangeArrowheads="1"/>
          </p:cNvSpPr>
          <p:nvPr/>
        </p:nvSpPr>
        <p:spPr bwMode="auto">
          <a:xfrm>
            <a:off x="3764021" y="3033713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0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77" name="Freeform 91"/>
          <p:cNvSpPr>
            <a:spLocks/>
          </p:cNvSpPr>
          <p:nvPr/>
        </p:nvSpPr>
        <p:spPr bwMode="auto">
          <a:xfrm>
            <a:off x="2830571" y="2856310"/>
            <a:ext cx="534590" cy="554831"/>
          </a:xfrm>
          <a:custGeom>
            <a:avLst/>
            <a:gdLst>
              <a:gd name="T0" fmla="*/ 0 w 449"/>
              <a:gd name="T1" fmla="*/ 2147483646 h 466"/>
              <a:gd name="T2" fmla="*/ 0 w 449"/>
              <a:gd name="T3" fmla="*/ 2147483646 h 466"/>
              <a:gd name="T4" fmla="*/ 2147483646 w 449"/>
              <a:gd name="T5" fmla="*/ 2147483646 h 466"/>
              <a:gd name="T6" fmla="*/ 2147483646 w 449"/>
              <a:gd name="T7" fmla="*/ 0 h 466"/>
              <a:gd name="T8" fmla="*/ 0 60000 65536"/>
              <a:gd name="T9" fmla="*/ 0 60000 65536"/>
              <a:gd name="T10" fmla="*/ 0 60000 65536"/>
              <a:gd name="T11" fmla="*/ 0 60000 65536"/>
              <a:gd name="T12" fmla="*/ 0 w 449"/>
              <a:gd name="T13" fmla="*/ 0 h 466"/>
              <a:gd name="T14" fmla="*/ 449 w 449"/>
              <a:gd name="T15" fmla="*/ 466 h 4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" h="466">
                <a:moveTo>
                  <a:pt x="0" y="466"/>
                </a:moveTo>
                <a:lnTo>
                  <a:pt x="0" y="281"/>
                </a:lnTo>
                <a:lnTo>
                  <a:pt x="449" y="281"/>
                </a:lnTo>
                <a:lnTo>
                  <a:pt x="449" y="0"/>
                </a:lnTo>
              </a:path>
            </a:pathLst>
          </a:custGeom>
          <a:noFill/>
          <a:ln w="33338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78" name="Freeform 92"/>
          <p:cNvSpPr>
            <a:spLocks/>
          </p:cNvSpPr>
          <p:nvPr/>
        </p:nvSpPr>
        <p:spPr bwMode="auto">
          <a:xfrm>
            <a:off x="3581855" y="2856310"/>
            <a:ext cx="534591" cy="554831"/>
          </a:xfrm>
          <a:custGeom>
            <a:avLst/>
            <a:gdLst>
              <a:gd name="T0" fmla="*/ 2147483646 w 449"/>
              <a:gd name="T1" fmla="*/ 2147483646 h 466"/>
              <a:gd name="T2" fmla="*/ 2147483646 w 449"/>
              <a:gd name="T3" fmla="*/ 2147483646 h 466"/>
              <a:gd name="T4" fmla="*/ 0 w 449"/>
              <a:gd name="T5" fmla="*/ 2147483646 h 466"/>
              <a:gd name="T6" fmla="*/ 0 w 449"/>
              <a:gd name="T7" fmla="*/ 0 h 466"/>
              <a:gd name="T8" fmla="*/ 0 60000 65536"/>
              <a:gd name="T9" fmla="*/ 0 60000 65536"/>
              <a:gd name="T10" fmla="*/ 0 60000 65536"/>
              <a:gd name="T11" fmla="*/ 0 60000 65536"/>
              <a:gd name="T12" fmla="*/ 0 w 449"/>
              <a:gd name="T13" fmla="*/ 0 h 466"/>
              <a:gd name="T14" fmla="*/ 449 w 449"/>
              <a:gd name="T15" fmla="*/ 466 h 4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" h="466">
                <a:moveTo>
                  <a:pt x="449" y="466"/>
                </a:moveTo>
                <a:lnTo>
                  <a:pt x="449" y="281"/>
                </a:lnTo>
                <a:lnTo>
                  <a:pt x="0" y="281"/>
                </a:lnTo>
                <a:lnTo>
                  <a:pt x="0" y="0"/>
                </a:lnTo>
              </a:path>
            </a:pathLst>
          </a:custGeom>
          <a:noFill/>
          <a:ln w="33338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79" name="Freeform 93"/>
          <p:cNvSpPr>
            <a:spLocks/>
          </p:cNvSpPr>
          <p:nvPr/>
        </p:nvSpPr>
        <p:spPr bwMode="auto">
          <a:xfrm>
            <a:off x="2830571" y="3718322"/>
            <a:ext cx="1285875" cy="184547"/>
          </a:xfrm>
          <a:custGeom>
            <a:avLst/>
            <a:gdLst>
              <a:gd name="T0" fmla="*/ 2147483646 w 1080"/>
              <a:gd name="T1" fmla="*/ 0 h 155"/>
              <a:gd name="T2" fmla="*/ 2147483646 w 1080"/>
              <a:gd name="T3" fmla="*/ 2147483646 h 155"/>
              <a:gd name="T4" fmla="*/ 0 w 1080"/>
              <a:gd name="T5" fmla="*/ 2147483646 h 155"/>
              <a:gd name="T6" fmla="*/ 0 w 1080"/>
              <a:gd name="T7" fmla="*/ 0 h 155"/>
              <a:gd name="T8" fmla="*/ 0 60000 65536"/>
              <a:gd name="T9" fmla="*/ 0 60000 65536"/>
              <a:gd name="T10" fmla="*/ 0 60000 65536"/>
              <a:gd name="T11" fmla="*/ 0 60000 65536"/>
              <a:gd name="T12" fmla="*/ 0 w 1080"/>
              <a:gd name="T13" fmla="*/ 0 h 155"/>
              <a:gd name="T14" fmla="*/ 1080 w 1080"/>
              <a:gd name="T15" fmla="*/ 155 h 1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0" h="155">
                <a:moveTo>
                  <a:pt x="1080" y="0"/>
                </a:moveTo>
                <a:lnTo>
                  <a:pt x="1080" y="155"/>
                </a:lnTo>
                <a:lnTo>
                  <a:pt x="0" y="155"/>
                </a:lnTo>
                <a:lnTo>
                  <a:pt x="0" y="0"/>
                </a:lnTo>
              </a:path>
            </a:pathLst>
          </a:custGeom>
          <a:noFill/>
          <a:ln w="33338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580" name="Rectangle 94"/>
          <p:cNvSpPr>
            <a:spLocks noChangeArrowheads="1"/>
          </p:cNvSpPr>
          <p:nvPr/>
        </p:nvSpPr>
        <p:spPr bwMode="auto">
          <a:xfrm>
            <a:off x="5426133" y="2459832"/>
            <a:ext cx="7694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1" name="Rectangle 95"/>
          <p:cNvSpPr>
            <a:spLocks noChangeArrowheads="1"/>
          </p:cNvSpPr>
          <p:nvPr/>
        </p:nvSpPr>
        <p:spPr bwMode="auto">
          <a:xfrm>
            <a:off x="5508286" y="2459832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2" name="Rectangle 96"/>
          <p:cNvSpPr>
            <a:spLocks noChangeArrowheads="1"/>
          </p:cNvSpPr>
          <p:nvPr/>
        </p:nvSpPr>
        <p:spPr bwMode="auto">
          <a:xfrm>
            <a:off x="5572580" y="2459832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3" name="Rectangle 97"/>
          <p:cNvSpPr>
            <a:spLocks noChangeArrowheads="1"/>
          </p:cNvSpPr>
          <p:nvPr/>
        </p:nvSpPr>
        <p:spPr bwMode="auto">
          <a:xfrm>
            <a:off x="5639255" y="2459832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4" name="Rectangle 98"/>
          <p:cNvSpPr>
            <a:spLocks noChangeArrowheads="1"/>
          </p:cNvSpPr>
          <p:nvPr/>
        </p:nvSpPr>
        <p:spPr bwMode="auto">
          <a:xfrm>
            <a:off x="5678546" y="2459832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5" name="Rectangle 99"/>
          <p:cNvSpPr>
            <a:spLocks noChangeArrowheads="1"/>
          </p:cNvSpPr>
          <p:nvPr/>
        </p:nvSpPr>
        <p:spPr bwMode="auto">
          <a:xfrm>
            <a:off x="5764271" y="2459832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6" name="Rectangle 100"/>
          <p:cNvSpPr>
            <a:spLocks noChangeArrowheads="1"/>
          </p:cNvSpPr>
          <p:nvPr/>
        </p:nvSpPr>
        <p:spPr bwMode="auto">
          <a:xfrm>
            <a:off x="5796417" y="2459832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7" name="Rectangle 101"/>
          <p:cNvSpPr>
            <a:spLocks noChangeArrowheads="1"/>
          </p:cNvSpPr>
          <p:nvPr/>
        </p:nvSpPr>
        <p:spPr bwMode="auto">
          <a:xfrm>
            <a:off x="4304564" y="3802857"/>
            <a:ext cx="7694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8" name="Rectangle 102"/>
          <p:cNvSpPr>
            <a:spLocks noChangeArrowheads="1"/>
          </p:cNvSpPr>
          <p:nvPr/>
        </p:nvSpPr>
        <p:spPr bwMode="auto">
          <a:xfrm>
            <a:off x="4383146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89" name="Rectangle 103"/>
          <p:cNvSpPr>
            <a:spLocks noChangeArrowheads="1"/>
          </p:cNvSpPr>
          <p:nvPr/>
        </p:nvSpPr>
        <p:spPr bwMode="auto">
          <a:xfrm>
            <a:off x="4451011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0" name="Rectangle 104"/>
          <p:cNvSpPr>
            <a:spLocks noChangeArrowheads="1"/>
          </p:cNvSpPr>
          <p:nvPr/>
        </p:nvSpPr>
        <p:spPr bwMode="auto">
          <a:xfrm>
            <a:off x="4514114" y="3802857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1" name="Rectangle 105"/>
          <p:cNvSpPr>
            <a:spLocks noChangeArrowheads="1"/>
          </p:cNvSpPr>
          <p:nvPr/>
        </p:nvSpPr>
        <p:spPr bwMode="auto">
          <a:xfrm>
            <a:off x="4553405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2" name="Rectangle 106"/>
          <p:cNvSpPr>
            <a:spLocks noChangeArrowheads="1"/>
          </p:cNvSpPr>
          <p:nvPr/>
        </p:nvSpPr>
        <p:spPr bwMode="auto">
          <a:xfrm>
            <a:off x="4621271" y="3802857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3" name="Rectangle 107"/>
          <p:cNvSpPr>
            <a:spLocks noChangeArrowheads="1"/>
          </p:cNvSpPr>
          <p:nvPr/>
        </p:nvSpPr>
        <p:spPr bwMode="auto">
          <a:xfrm>
            <a:off x="4681992" y="3802857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4" name="Rectangle 108"/>
          <p:cNvSpPr>
            <a:spLocks noChangeArrowheads="1"/>
          </p:cNvSpPr>
          <p:nvPr/>
        </p:nvSpPr>
        <p:spPr bwMode="auto">
          <a:xfrm>
            <a:off x="4739142" y="3802857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5" name="Rectangle 109"/>
          <p:cNvSpPr>
            <a:spLocks noChangeArrowheads="1"/>
          </p:cNvSpPr>
          <p:nvPr/>
        </p:nvSpPr>
        <p:spPr bwMode="auto">
          <a:xfrm>
            <a:off x="4774861" y="3802857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 dirty="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6" name="Rectangle 110"/>
          <p:cNvSpPr>
            <a:spLocks noChangeArrowheads="1"/>
          </p:cNvSpPr>
          <p:nvPr/>
        </p:nvSpPr>
        <p:spPr bwMode="auto">
          <a:xfrm>
            <a:off x="4832011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7" name="Rectangle 111"/>
          <p:cNvSpPr>
            <a:spLocks noChangeArrowheads="1"/>
          </p:cNvSpPr>
          <p:nvPr/>
        </p:nvSpPr>
        <p:spPr bwMode="auto">
          <a:xfrm>
            <a:off x="4898686" y="3802857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8" name="Rectangle 112"/>
          <p:cNvSpPr>
            <a:spLocks noChangeArrowheads="1"/>
          </p:cNvSpPr>
          <p:nvPr/>
        </p:nvSpPr>
        <p:spPr bwMode="auto">
          <a:xfrm>
            <a:off x="4923689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599" name="Rectangle 113"/>
          <p:cNvSpPr>
            <a:spLocks noChangeArrowheads="1"/>
          </p:cNvSpPr>
          <p:nvPr/>
        </p:nvSpPr>
        <p:spPr bwMode="auto">
          <a:xfrm>
            <a:off x="4991555" y="3802857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0" name="Rectangle 114"/>
          <p:cNvSpPr>
            <a:spLocks noChangeArrowheads="1"/>
          </p:cNvSpPr>
          <p:nvPr/>
        </p:nvSpPr>
        <p:spPr bwMode="auto">
          <a:xfrm>
            <a:off x="5048705" y="3802857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1" name="Rectangle 115"/>
          <p:cNvSpPr>
            <a:spLocks noChangeArrowheads="1"/>
          </p:cNvSpPr>
          <p:nvPr/>
        </p:nvSpPr>
        <p:spPr bwMode="auto">
          <a:xfrm>
            <a:off x="5084423" y="3802857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2" name="Rectangle 116"/>
          <p:cNvSpPr>
            <a:spLocks noChangeArrowheads="1"/>
          </p:cNvSpPr>
          <p:nvPr/>
        </p:nvSpPr>
        <p:spPr bwMode="auto">
          <a:xfrm>
            <a:off x="5116571" y="3802857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3" name="Rectangle 117"/>
          <p:cNvSpPr>
            <a:spLocks noChangeArrowheads="1"/>
          </p:cNvSpPr>
          <p:nvPr/>
        </p:nvSpPr>
        <p:spPr bwMode="auto">
          <a:xfrm>
            <a:off x="5141573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4" name="Rectangle 118"/>
          <p:cNvSpPr>
            <a:spLocks noChangeArrowheads="1"/>
          </p:cNvSpPr>
          <p:nvPr/>
        </p:nvSpPr>
        <p:spPr bwMode="auto">
          <a:xfrm>
            <a:off x="5209439" y="3802857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g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5" name="Rectangle 119"/>
          <p:cNvSpPr>
            <a:spLocks noChangeArrowheads="1"/>
          </p:cNvSpPr>
          <p:nvPr/>
        </p:nvSpPr>
        <p:spPr bwMode="auto">
          <a:xfrm>
            <a:off x="5272542" y="3802857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6" name="Rectangle 120"/>
          <p:cNvSpPr>
            <a:spLocks noChangeArrowheads="1"/>
          </p:cNvSpPr>
          <p:nvPr/>
        </p:nvSpPr>
        <p:spPr bwMode="auto">
          <a:xfrm>
            <a:off x="5301117" y="3802857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EB75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07" name="Freeform 121"/>
          <p:cNvSpPr>
            <a:spLocks/>
          </p:cNvSpPr>
          <p:nvPr/>
        </p:nvSpPr>
        <p:spPr bwMode="auto">
          <a:xfrm>
            <a:off x="3446124" y="3874294"/>
            <a:ext cx="60722" cy="60722"/>
          </a:xfrm>
          <a:custGeom>
            <a:avLst/>
            <a:gdLst>
              <a:gd name="T0" fmla="*/ 2147483646 w 51"/>
              <a:gd name="T1" fmla="*/ 2147483646 h 51"/>
              <a:gd name="T2" fmla="*/ 2147483646 w 51"/>
              <a:gd name="T3" fmla="*/ 2147483646 h 51"/>
              <a:gd name="T4" fmla="*/ 2147483646 w 51"/>
              <a:gd name="T5" fmla="*/ 2147483646 h 51"/>
              <a:gd name="T6" fmla="*/ 2147483646 w 51"/>
              <a:gd name="T7" fmla="*/ 2147483646 h 51"/>
              <a:gd name="T8" fmla="*/ 2147483646 w 51"/>
              <a:gd name="T9" fmla="*/ 2147483646 h 51"/>
              <a:gd name="T10" fmla="*/ 2147483646 w 51"/>
              <a:gd name="T11" fmla="*/ 2147483646 h 51"/>
              <a:gd name="T12" fmla="*/ 2147483646 w 51"/>
              <a:gd name="T13" fmla="*/ 2147483646 h 51"/>
              <a:gd name="T14" fmla="*/ 2147483646 w 51"/>
              <a:gd name="T15" fmla="*/ 2147483646 h 51"/>
              <a:gd name="T16" fmla="*/ 2147483646 w 51"/>
              <a:gd name="T17" fmla="*/ 2147483646 h 51"/>
              <a:gd name="T18" fmla="*/ 2147483646 w 51"/>
              <a:gd name="T19" fmla="*/ 2147483646 h 51"/>
              <a:gd name="T20" fmla="*/ 2147483646 w 51"/>
              <a:gd name="T21" fmla="*/ 2147483646 h 51"/>
              <a:gd name="T22" fmla="*/ 2147483646 w 51"/>
              <a:gd name="T23" fmla="*/ 2147483646 h 51"/>
              <a:gd name="T24" fmla="*/ 2147483646 w 51"/>
              <a:gd name="T25" fmla="*/ 2147483646 h 51"/>
              <a:gd name="T26" fmla="*/ 2147483646 w 51"/>
              <a:gd name="T27" fmla="*/ 2147483646 h 51"/>
              <a:gd name="T28" fmla="*/ 2147483646 w 51"/>
              <a:gd name="T29" fmla="*/ 2147483646 h 51"/>
              <a:gd name="T30" fmla="*/ 2147483646 w 51"/>
              <a:gd name="T31" fmla="*/ 2147483646 h 51"/>
              <a:gd name="T32" fmla="*/ 2147483646 w 51"/>
              <a:gd name="T33" fmla="*/ 2147483646 h 51"/>
              <a:gd name="T34" fmla="*/ 2147483646 w 51"/>
              <a:gd name="T35" fmla="*/ 2147483646 h 51"/>
              <a:gd name="T36" fmla="*/ 2147483646 w 51"/>
              <a:gd name="T37" fmla="*/ 0 h 51"/>
              <a:gd name="T38" fmla="*/ 2147483646 w 51"/>
              <a:gd name="T39" fmla="*/ 0 h 51"/>
              <a:gd name="T40" fmla="*/ 2147483646 w 51"/>
              <a:gd name="T41" fmla="*/ 0 h 51"/>
              <a:gd name="T42" fmla="*/ 2147483646 w 51"/>
              <a:gd name="T43" fmla="*/ 0 h 51"/>
              <a:gd name="T44" fmla="*/ 2147483646 w 51"/>
              <a:gd name="T45" fmla="*/ 0 h 51"/>
              <a:gd name="T46" fmla="*/ 2147483646 w 51"/>
              <a:gd name="T47" fmla="*/ 2147483646 h 51"/>
              <a:gd name="T48" fmla="*/ 2147483646 w 51"/>
              <a:gd name="T49" fmla="*/ 2147483646 h 51"/>
              <a:gd name="T50" fmla="*/ 2147483646 w 51"/>
              <a:gd name="T51" fmla="*/ 2147483646 h 51"/>
              <a:gd name="T52" fmla="*/ 2147483646 w 51"/>
              <a:gd name="T53" fmla="*/ 2147483646 h 51"/>
              <a:gd name="T54" fmla="*/ 2147483646 w 51"/>
              <a:gd name="T55" fmla="*/ 2147483646 h 51"/>
              <a:gd name="T56" fmla="*/ 0 w 51"/>
              <a:gd name="T57" fmla="*/ 2147483646 h 51"/>
              <a:gd name="T58" fmla="*/ 0 w 51"/>
              <a:gd name="T59" fmla="*/ 2147483646 h 51"/>
              <a:gd name="T60" fmla="*/ 0 w 51"/>
              <a:gd name="T61" fmla="*/ 2147483646 h 51"/>
              <a:gd name="T62" fmla="*/ 0 w 51"/>
              <a:gd name="T63" fmla="*/ 2147483646 h 51"/>
              <a:gd name="T64" fmla="*/ 0 w 51"/>
              <a:gd name="T65" fmla="*/ 2147483646 h 51"/>
              <a:gd name="T66" fmla="*/ 2147483646 w 51"/>
              <a:gd name="T67" fmla="*/ 2147483646 h 51"/>
              <a:gd name="T68" fmla="*/ 2147483646 w 51"/>
              <a:gd name="T69" fmla="*/ 2147483646 h 51"/>
              <a:gd name="T70" fmla="*/ 2147483646 w 51"/>
              <a:gd name="T71" fmla="*/ 2147483646 h 51"/>
              <a:gd name="T72" fmla="*/ 2147483646 w 51"/>
              <a:gd name="T73" fmla="*/ 2147483646 h 51"/>
              <a:gd name="T74" fmla="*/ 2147483646 w 51"/>
              <a:gd name="T75" fmla="*/ 2147483646 h 51"/>
              <a:gd name="T76" fmla="*/ 2147483646 w 51"/>
              <a:gd name="T77" fmla="*/ 2147483646 h 51"/>
              <a:gd name="T78" fmla="*/ 2147483646 w 51"/>
              <a:gd name="T79" fmla="*/ 2147483646 h 51"/>
              <a:gd name="T80" fmla="*/ 2147483646 w 51"/>
              <a:gd name="T81" fmla="*/ 2147483646 h 51"/>
              <a:gd name="T82" fmla="*/ 2147483646 w 51"/>
              <a:gd name="T83" fmla="*/ 2147483646 h 51"/>
              <a:gd name="T84" fmla="*/ 2147483646 w 51"/>
              <a:gd name="T85" fmla="*/ 2147483646 h 5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51"/>
              <a:gd name="T130" fmla="*/ 0 h 51"/>
              <a:gd name="T131" fmla="*/ 51 w 51"/>
              <a:gd name="T132" fmla="*/ 51 h 5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51" h="51">
                <a:moveTo>
                  <a:pt x="24" y="48"/>
                </a:moveTo>
                <a:lnTo>
                  <a:pt x="30" y="48"/>
                </a:lnTo>
                <a:lnTo>
                  <a:pt x="33" y="48"/>
                </a:lnTo>
                <a:lnTo>
                  <a:pt x="36" y="48"/>
                </a:lnTo>
                <a:lnTo>
                  <a:pt x="39" y="45"/>
                </a:lnTo>
                <a:lnTo>
                  <a:pt x="42" y="42"/>
                </a:lnTo>
                <a:lnTo>
                  <a:pt x="45" y="39"/>
                </a:lnTo>
                <a:lnTo>
                  <a:pt x="48" y="36"/>
                </a:lnTo>
                <a:lnTo>
                  <a:pt x="48" y="33"/>
                </a:lnTo>
                <a:lnTo>
                  <a:pt x="48" y="30"/>
                </a:lnTo>
                <a:lnTo>
                  <a:pt x="51" y="24"/>
                </a:lnTo>
                <a:lnTo>
                  <a:pt x="48" y="21"/>
                </a:lnTo>
                <a:lnTo>
                  <a:pt x="48" y="18"/>
                </a:lnTo>
                <a:lnTo>
                  <a:pt x="48" y="12"/>
                </a:lnTo>
                <a:lnTo>
                  <a:pt x="45" y="9"/>
                </a:lnTo>
                <a:lnTo>
                  <a:pt x="42" y="6"/>
                </a:lnTo>
                <a:lnTo>
                  <a:pt x="39" y="3"/>
                </a:lnTo>
                <a:lnTo>
                  <a:pt x="36" y="3"/>
                </a:lnTo>
                <a:lnTo>
                  <a:pt x="33" y="0"/>
                </a:lnTo>
                <a:lnTo>
                  <a:pt x="30" y="0"/>
                </a:lnTo>
                <a:lnTo>
                  <a:pt x="24" y="0"/>
                </a:lnTo>
                <a:lnTo>
                  <a:pt x="21" y="0"/>
                </a:lnTo>
                <a:lnTo>
                  <a:pt x="18" y="0"/>
                </a:lnTo>
                <a:lnTo>
                  <a:pt x="12" y="3"/>
                </a:lnTo>
                <a:lnTo>
                  <a:pt x="9" y="3"/>
                </a:lnTo>
                <a:lnTo>
                  <a:pt x="6" y="6"/>
                </a:lnTo>
                <a:lnTo>
                  <a:pt x="3" y="9"/>
                </a:lnTo>
                <a:lnTo>
                  <a:pt x="3" y="12"/>
                </a:lnTo>
                <a:lnTo>
                  <a:pt x="0" y="18"/>
                </a:lnTo>
                <a:lnTo>
                  <a:pt x="0" y="21"/>
                </a:lnTo>
                <a:lnTo>
                  <a:pt x="0" y="24"/>
                </a:lnTo>
                <a:lnTo>
                  <a:pt x="0" y="30"/>
                </a:lnTo>
                <a:lnTo>
                  <a:pt x="0" y="33"/>
                </a:lnTo>
                <a:lnTo>
                  <a:pt x="3" y="36"/>
                </a:lnTo>
                <a:lnTo>
                  <a:pt x="3" y="39"/>
                </a:lnTo>
                <a:lnTo>
                  <a:pt x="6" y="42"/>
                </a:lnTo>
                <a:lnTo>
                  <a:pt x="9" y="45"/>
                </a:lnTo>
                <a:lnTo>
                  <a:pt x="12" y="48"/>
                </a:lnTo>
                <a:lnTo>
                  <a:pt x="18" y="48"/>
                </a:lnTo>
                <a:lnTo>
                  <a:pt x="21" y="48"/>
                </a:lnTo>
                <a:lnTo>
                  <a:pt x="24" y="51"/>
                </a:lnTo>
                <a:lnTo>
                  <a:pt x="24" y="4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608" name="Freeform 122"/>
          <p:cNvSpPr>
            <a:spLocks/>
          </p:cNvSpPr>
          <p:nvPr/>
        </p:nvSpPr>
        <p:spPr bwMode="auto">
          <a:xfrm>
            <a:off x="2798424" y="3686176"/>
            <a:ext cx="60722" cy="59531"/>
          </a:xfrm>
          <a:custGeom>
            <a:avLst/>
            <a:gdLst>
              <a:gd name="T0" fmla="*/ 0 w 51"/>
              <a:gd name="T1" fmla="*/ 2147483646 h 50"/>
              <a:gd name="T2" fmla="*/ 2147483646 w 51"/>
              <a:gd name="T3" fmla="*/ 2147483646 h 50"/>
              <a:gd name="T4" fmla="*/ 2147483646 w 51"/>
              <a:gd name="T5" fmla="*/ 0 h 50"/>
              <a:gd name="T6" fmla="*/ 0 w 51"/>
              <a:gd name="T7" fmla="*/ 2147483646 h 50"/>
              <a:gd name="T8" fmla="*/ 0 w 51"/>
              <a:gd name="T9" fmla="*/ 2147483646 h 50"/>
              <a:gd name="T10" fmla="*/ 0 w 51"/>
              <a:gd name="T11" fmla="*/ 2147483646 h 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0"/>
              <a:gd name="T20" fmla="*/ 51 w 51"/>
              <a:gd name="T21" fmla="*/ 50 h 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0">
                <a:moveTo>
                  <a:pt x="0" y="47"/>
                </a:moveTo>
                <a:lnTo>
                  <a:pt x="51" y="50"/>
                </a:lnTo>
                <a:lnTo>
                  <a:pt x="27" y="0"/>
                </a:lnTo>
                <a:lnTo>
                  <a:pt x="0" y="50"/>
                </a:lnTo>
                <a:lnTo>
                  <a:pt x="0" y="4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609" name="Freeform 123"/>
          <p:cNvSpPr>
            <a:spLocks/>
          </p:cNvSpPr>
          <p:nvPr/>
        </p:nvSpPr>
        <p:spPr bwMode="auto">
          <a:xfrm>
            <a:off x="4087871" y="3686176"/>
            <a:ext cx="59531" cy="59531"/>
          </a:xfrm>
          <a:custGeom>
            <a:avLst/>
            <a:gdLst>
              <a:gd name="T0" fmla="*/ 0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0 h 50"/>
              <a:gd name="T6" fmla="*/ 0 w 50"/>
              <a:gd name="T7" fmla="*/ 2147483646 h 50"/>
              <a:gd name="T8" fmla="*/ 0 w 50"/>
              <a:gd name="T9" fmla="*/ 2147483646 h 50"/>
              <a:gd name="T10" fmla="*/ 0 w 50"/>
              <a:gd name="T11" fmla="*/ 2147483646 h 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50"/>
              <a:gd name="T20" fmla="*/ 50 w 50"/>
              <a:gd name="T21" fmla="*/ 50 h 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50">
                <a:moveTo>
                  <a:pt x="0" y="47"/>
                </a:moveTo>
                <a:lnTo>
                  <a:pt x="50" y="50"/>
                </a:lnTo>
                <a:lnTo>
                  <a:pt x="24" y="0"/>
                </a:lnTo>
                <a:lnTo>
                  <a:pt x="0" y="50"/>
                </a:lnTo>
                <a:lnTo>
                  <a:pt x="0" y="4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3610" name="Rectangle 124"/>
          <p:cNvSpPr>
            <a:spLocks noChangeArrowheads="1"/>
          </p:cNvSpPr>
          <p:nvPr/>
        </p:nvSpPr>
        <p:spPr bwMode="auto">
          <a:xfrm>
            <a:off x="2984161" y="4312444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1" name="Rectangle 125"/>
          <p:cNvSpPr>
            <a:spLocks noChangeArrowheads="1"/>
          </p:cNvSpPr>
          <p:nvPr/>
        </p:nvSpPr>
        <p:spPr bwMode="auto">
          <a:xfrm>
            <a:off x="3019880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n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2" name="Rectangle 126"/>
          <p:cNvSpPr>
            <a:spLocks noChangeArrowheads="1"/>
          </p:cNvSpPr>
          <p:nvPr/>
        </p:nvSpPr>
        <p:spPr bwMode="auto">
          <a:xfrm>
            <a:off x="3082983" y="4312444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3" name="Rectangle 127"/>
          <p:cNvSpPr>
            <a:spLocks noChangeArrowheads="1"/>
          </p:cNvSpPr>
          <p:nvPr/>
        </p:nvSpPr>
        <p:spPr bwMode="auto">
          <a:xfrm>
            <a:off x="3143705" y="4312444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4" name="Rectangle 128"/>
          <p:cNvSpPr>
            <a:spLocks noChangeArrowheads="1"/>
          </p:cNvSpPr>
          <p:nvPr/>
        </p:nvSpPr>
        <p:spPr bwMode="auto">
          <a:xfrm>
            <a:off x="3175852" y="4312444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5" name="Rectangle 129"/>
          <p:cNvSpPr>
            <a:spLocks noChangeArrowheads="1"/>
          </p:cNvSpPr>
          <p:nvPr/>
        </p:nvSpPr>
        <p:spPr bwMode="auto">
          <a:xfrm>
            <a:off x="3215142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6" name="Rectangle 130"/>
          <p:cNvSpPr>
            <a:spLocks noChangeArrowheads="1"/>
          </p:cNvSpPr>
          <p:nvPr/>
        </p:nvSpPr>
        <p:spPr bwMode="auto">
          <a:xfrm>
            <a:off x="3283008" y="4312444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7" name="Rectangle 131"/>
          <p:cNvSpPr>
            <a:spLocks noChangeArrowheads="1"/>
          </p:cNvSpPr>
          <p:nvPr/>
        </p:nvSpPr>
        <p:spPr bwMode="auto">
          <a:xfrm>
            <a:off x="3340158" y="4312444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8" name="Rectangle 132"/>
          <p:cNvSpPr>
            <a:spLocks noChangeArrowheads="1"/>
          </p:cNvSpPr>
          <p:nvPr/>
        </p:nvSpPr>
        <p:spPr bwMode="auto">
          <a:xfrm>
            <a:off x="3375877" y="4312444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19" name="Rectangle 133"/>
          <p:cNvSpPr>
            <a:spLocks noChangeArrowheads="1"/>
          </p:cNvSpPr>
          <p:nvPr/>
        </p:nvSpPr>
        <p:spPr bwMode="auto">
          <a:xfrm>
            <a:off x="3400880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0" name="Rectangle 134"/>
          <p:cNvSpPr>
            <a:spLocks noChangeArrowheads="1"/>
          </p:cNvSpPr>
          <p:nvPr/>
        </p:nvSpPr>
        <p:spPr bwMode="auto">
          <a:xfrm>
            <a:off x="3463983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n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1" name="Rectangle 135"/>
          <p:cNvSpPr>
            <a:spLocks noChangeArrowheads="1"/>
          </p:cNvSpPr>
          <p:nvPr/>
        </p:nvSpPr>
        <p:spPr bwMode="auto">
          <a:xfrm>
            <a:off x="3531848" y="4312444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2" name="Rectangle 136"/>
          <p:cNvSpPr>
            <a:spLocks noChangeArrowheads="1"/>
          </p:cNvSpPr>
          <p:nvPr/>
        </p:nvSpPr>
        <p:spPr bwMode="auto">
          <a:xfrm>
            <a:off x="3563996" y="4312444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3" name="Rectangle 137"/>
          <p:cNvSpPr>
            <a:spLocks noChangeArrowheads="1"/>
          </p:cNvSpPr>
          <p:nvPr/>
        </p:nvSpPr>
        <p:spPr bwMode="auto">
          <a:xfrm>
            <a:off x="3603286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4" name="Rectangle 138"/>
          <p:cNvSpPr>
            <a:spLocks noChangeArrowheads="1"/>
          </p:cNvSpPr>
          <p:nvPr/>
        </p:nvSpPr>
        <p:spPr bwMode="auto">
          <a:xfrm>
            <a:off x="3671152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g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5" name="Rectangle 139"/>
          <p:cNvSpPr>
            <a:spLocks noChangeArrowheads="1"/>
          </p:cNvSpPr>
          <p:nvPr/>
        </p:nvSpPr>
        <p:spPr bwMode="auto">
          <a:xfrm>
            <a:off x="3735446" y="4312444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6" name="Rectangle 140"/>
          <p:cNvSpPr>
            <a:spLocks noChangeArrowheads="1"/>
          </p:cNvSpPr>
          <p:nvPr/>
        </p:nvSpPr>
        <p:spPr bwMode="auto">
          <a:xfrm>
            <a:off x="3764021" y="4312444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7" name="Rectangle 141"/>
          <p:cNvSpPr>
            <a:spLocks noChangeArrowheads="1"/>
          </p:cNvSpPr>
          <p:nvPr/>
        </p:nvSpPr>
        <p:spPr bwMode="auto">
          <a:xfrm>
            <a:off x="3819980" y="4312444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8" name="Rectangle 142"/>
          <p:cNvSpPr>
            <a:spLocks noChangeArrowheads="1"/>
          </p:cNvSpPr>
          <p:nvPr/>
        </p:nvSpPr>
        <p:spPr bwMode="auto">
          <a:xfrm>
            <a:off x="3855698" y="4312444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29" name="Rectangle 143"/>
          <p:cNvSpPr>
            <a:spLocks noChangeArrowheads="1"/>
          </p:cNvSpPr>
          <p:nvPr/>
        </p:nvSpPr>
        <p:spPr bwMode="auto">
          <a:xfrm>
            <a:off x="3919992" y="4312444"/>
            <a:ext cx="384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0" name="Rectangle 144"/>
          <p:cNvSpPr>
            <a:spLocks noChangeArrowheads="1"/>
          </p:cNvSpPr>
          <p:nvPr/>
        </p:nvSpPr>
        <p:spPr bwMode="auto">
          <a:xfrm>
            <a:off x="3959283" y="4312444"/>
            <a:ext cx="6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1" name="Rectangle 145"/>
          <p:cNvSpPr>
            <a:spLocks noChangeArrowheads="1"/>
          </p:cNvSpPr>
          <p:nvPr/>
        </p:nvSpPr>
        <p:spPr bwMode="auto">
          <a:xfrm>
            <a:off x="3154421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2" name="Rectangle 146"/>
          <p:cNvSpPr>
            <a:spLocks noChangeArrowheads="1"/>
          </p:cNvSpPr>
          <p:nvPr/>
        </p:nvSpPr>
        <p:spPr bwMode="auto">
          <a:xfrm>
            <a:off x="3222286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3" name="Rectangle 147"/>
          <p:cNvSpPr>
            <a:spLocks noChangeArrowheads="1"/>
          </p:cNvSpPr>
          <p:nvPr/>
        </p:nvSpPr>
        <p:spPr bwMode="auto">
          <a:xfrm>
            <a:off x="3286580" y="4454129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4" name="Rectangle 148"/>
          <p:cNvSpPr>
            <a:spLocks noChangeArrowheads="1"/>
          </p:cNvSpPr>
          <p:nvPr/>
        </p:nvSpPr>
        <p:spPr bwMode="auto">
          <a:xfrm>
            <a:off x="3347302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5" name="Rectangle 149"/>
          <p:cNvSpPr>
            <a:spLocks noChangeArrowheads="1"/>
          </p:cNvSpPr>
          <p:nvPr/>
        </p:nvSpPr>
        <p:spPr bwMode="auto">
          <a:xfrm>
            <a:off x="3413977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6" name="Rectangle 150"/>
          <p:cNvSpPr>
            <a:spLocks noChangeArrowheads="1"/>
          </p:cNvSpPr>
          <p:nvPr/>
        </p:nvSpPr>
        <p:spPr bwMode="auto">
          <a:xfrm>
            <a:off x="3478271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7" name="Rectangle 151"/>
          <p:cNvSpPr>
            <a:spLocks noChangeArrowheads="1"/>
          </p:cNvSpPr>
          <p:nvPr/>
        </p:nvSpPr>
        <p:spPr bwMode="auto">
          <a:xfrm>
            <a:off x="3546136" y="4454129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8" name="Rectangle 152"/>
          <p:cNvSpPr>
            <a:spLocks noChangeArrowheads="1"/>
          </p:cNvSpPr>
          <p:nvPr/>
        </p:nvSpPr>
        <p:spPr bwMode="auto">
          <a:xfrm>
            <a:off x="3578283" y="4454129"/>
            <a:ext cx="320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f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39" name="Rectangle 153"/>
          <p:cNvSpPr>
            <a:spLocks noChangeArrowheads="1"/>
          </p:cNvSpPr>
          <p:nvPr/>
        </p:nvSpPr>
        <p:spPr bwMode="auto">
          <a:xfrm>
            <a:off x="3610430" y="4454129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40" name="Rectangle 154"/>
          <p:cNvSpPr>
            <a:spLocks noChangeArrowheads="1"/>
          </p:cNvSpPr>
          <p:nvPr/>
        </p:nvSpPr>
        <p:spPr bwMode="auto">
          <a:xfrm>
            <a:off x="3635433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41" name="Rectangle 155"/>
          <p:cNvSpPr>
            <a:spLocks noChangeArrowheads="1"/>
          </p:cNvSpPr>
          <p:nvPr/>
        </p:nvSpPr>
        <p:spPr bwMode="auto">
          <a:xfrm>
            <a:off x="3703298" y="4454129"/>
            <a:ext cx="256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42" name="Rectangle 156"/>
          <p:cNvSpPr>
            <a:spLocks noChangeArrowheads="1"/>
          </p:cNvSpPr>
          <p:nvPr/>
        </p:nvSpPr>
        <p:spPr bwMode="auto">
          <a:xfrm>
            <a:off x="3728302" y="4454129"/>
            <a:ext cx="6412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endParaRPr lang="en-US" altLang="en-US" sz="135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643" name="Freeform 157"/>
          <p:cNvSpPr>
            <a:spLocks/>
          </p:cNvSpPr>
          <p:nvPr/>
        </p:nvSpPr>
        <p:spPr bwMode="auto">
          <a:xfrm>
            <a:off x="2830570" y="4258866"/>
            <a:ext cx="1289447" cy="406003"/>
          </a:xfrm>
          <a:custGeom>
            <a:avLst/>
            <a:gdLst>
              <a:gd name="T0" fmla="*/ 2147483646 w 1083"/>
              <a:gd name="T1" fmla="*/ 2147483646 h 341"/>
              <a:gd name="T2" fmla="*/ 2147483646 w 1083"/>
              <a:gd name="T3" fmla="*/ 0 h 341"/>
              <a:gd name="T4" fmla="*/ 0 w 1083"/>
              <a:gd name="T5" fmla="*/ 0 h 341"/>
              <a:gd name="T6" fmla="*/ 0 w 1083"/>
              <a:gd name="T7" fmla="*/ 2147483646 h 341"/>
              <a:gd name="T8" fmla="*/ 2147483646 w 1083"/>
              <a:gd name="T9" fmla="*/ 2147483646 h 341"/>
              <a:gd name="T10" fmla="*/ 2147483646 w 1083"/>
              <a:gd name="T11" fmla="*/ 2147483646 h 3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3"/>
              <a:gd name="T19" fmla="*/ 0 h 341"/>
              <a:gd name="T20" fmla="*/ 1083 w 1083"/>
              <a:gd name="T21" fmla="*/ 341 h 3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3" h="341">
                <a:moveTo>
                  <a:pt x="1083" y="341"/>
                </a:moveTo>
                <a:lnTo>
                  <a:pt x="1083" y="0"/>
                </a:lnTo>
                <a:lnTo>
                  <a:pt x="0" y="0"/>
                </a:lnTo>
                <a:lnTo>
                  <a:pt x="0" y="341"/>
                </a:lnTo>
                <a:lnTo>
                  <a:pt x="1083" y="341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pic>
        <p:nvPicPr>
          <p:cNvPr id="63644" name="Picture 156" descr="C:\Users\rostik\Desktop\Picture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614" y="2200081"/>
            <a:ext cx="1938186" cy="192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8AE35D8-C5D3-7641-E7CE-9CD5162D8016}"/>
              </a:ext>
            </a:extLst>
          </p:cNvPr>
          <p:cNvSpPr txBox="1">
            <a:spLocks noChangeArrowheads="1"/>
          </p:cNvSpPr>
          <p:nvPr/>
        </p:nvSpPr>
        <p:spPr>
          <a:xfrm>
            <a:off x="1768906" y="633537"/>
            <a:ext cx="6795682" cy="7127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altLang="en-US" dirty="0"/>
              <a:t>הוספת לוגיקה לבחירת המצב הבא – </a:t>
            </a:r>
            <a:r>
              <a:rPr lang="en-US" altLang="en-US" dirty="0"/>
              <a:t>Address Control</a:t>
            </a:r>
          </a:p>
        </p:txBody>
      </p:sp>
    </p:spTree>
    <p:extLst>
      <p:ext uri="{BB962C8B-B14F-4D97-AF65-F5344CB8AC3E}">
        <p14:creationId xmlns:p14="http://schemas.microsoft.com/office/powerpoint/2010/main" val="2494694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8F9BE260-C4FB-4846-97FF-39E1DA78AD6C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34</a:t>
            </a:fld>
            <a:endParaRPr lang="en-US" altLang="en-US" sz="750" dirty="0">
              <a:cs typeface="Times New Roman" panose="02020603050405020304" pitchFamily="18" charset="0"/>
            </a:endParaRP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500" y="145233"/>
            <a:ext cx="3429000" cy="476250"/>
          </a:xfrm>
        </p:spPr>
        <p:txBody>
          <a:bodyPr>
            <a:normAutofit fontScale="90000"/>
          </a:bodyPr>
          <a:lstStyle/>
          <a:p>
            <a:pPr algn="r" eaLnBrk="1" hangingPunct="1"/>
            <a:r>
              <a:rPr lang="he-IL" altLang="en-US" sz="2400" dirty="0"/>
              <a:t>טבלת מעברים – </a:t>
            </a:r>
            <a:r>
              <a:rPr lang="en-US" altLang="en-US" sz="2400" dirty="0"/>
              <a:t>Adress Control</a:t>
            </a:r>
          </a:p>
        </p:txBody>
      </p:sp>
      <p:graphicFrame>
        <p:nvGraphicFramePr>
          <p:cNvPr id="51275" name="Group 75">
            <a:extLst>
              <a:ext uri="{FF2B5EF4-FFF2-40B4-BE49-F238E27FC236}">
                <a16:creationId xmlns:a16="http://schemas.microsoft.com/office/drawing/2014/main" id="{1A72FFD6-FE33-434D-8083-31790904DEF2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476845" y="779686"/>
          <a:ext cx="4989909" cy="3352312"/>
        </p:xfrm>
        <a:graphic>
          <a:graphicData uri="http://schemas.openxmlformats.org/drawingml/2006/table">
            <a:tbl>
              <a:tblPr/>
              <a:tblGrid>
                <a:gridCol w="139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2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State number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Address control action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Value of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AddrCtl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David" panose="020E0502060401010101" pitchFamily="34" charset="-79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Increment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Use dispatch ROM 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Use dispatch ROM 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Increment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Go to state 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Go to state 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Increment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Go to state 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Go to state 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31"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9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l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Go to state 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1pPr>
                      <a:lvl2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2pPr>
                      <a:lvl3pPr algn="r" rtl="1">
                        <a:spcBef>
                          <a:spcPts val="600"/>
                        </a:spcBef>
                        <a:spcAft>
                          <a:spcPts val="6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3pPr>
                      <a:lvl4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David" panose="020E0502060401010101" pitchFamily="34" charset="-79"/>
                        </a:defRPr>
                      </a:lvl4pPr>
                      <a:lvl5pPr algn="r" rtl="1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5pPr>
                      <a:lvl6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6pPr>
                      <a:lvl7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7pPr>
                      <a:lvl8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8pPr>
                      <a:lvl9pPr algn="r" rtl="1" fontAlgn="base">
                        <a:spcBef>
                          <a:spcPts val="1200"/>
                        </a:spcBef>
                        <a:spcAft>
                          <a:spcPts val="300"/>
                        </a:spcAft>
                        <a:defRPr sz="16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David" panose="020E0502060401010101" pitchFamily="34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David" panose="020E0502060401010101" pitchFamily="34" charset="-79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7639" name="Picture 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516" y="699469"/>
            <a:ext cx="1850232" cy="19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40" name="Picture 63" descr="C:\Users\rostik\Desktop\Picture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169" y="2787253"/>
            <a:ext cx="1958579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41" name="TextBox 7"/>
          <p:cNvSpPr txBox="1">
            <a:spLocks noChangeArrowheads="1"/>
          </p:cNvSpPr>
          <p:nvPr/>
        </p:nvSpPr>
        <p:spPr bwMode="auto">
          <a:xfrm>
            <a:off x="906953" y="4386960"/>
            <a:ext cx="70104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he-IL" altLang="en-US" sz="1500" dirty="0">
                <a:latin typeface="+mn-lt"/>
                <a:cs typeface="Times New Roman" panose="02020603050405020304" pitchFamily="18" charset="0"/>
              </a:rPr>
              <a:t>התוצאה קטנה (יעילה יותר) משימוש ב-</a:t>
            </a:r>
            <a:r>
              <a:rPr lang="en-US" altLang="en-US" sz="1500" dirty="0">
                <a:latin typeface="+mn-lt"/>
                <a:cs typeface="Times New Roman" panose="02020603050405020304" pitchFamily="18" charset="0"/>
              </a:rPr>
              <a:t>ROM</a:t>
            </a:r>
            <a:r>
              <a:rPr lang="he-IL" altLang="en-US" sz="1500" dirty="0">
                <a:latin typeface="+mn-lt"/>
                <a:cs typeface="Times New Roman" panose="02020603050405020304" pitchFamily="18" charset="0"/>
              </a:rPr>
              <a:t>. במקום 4 ביט לבחירת מצב הבא, מספיקים 2 ביטים.</a:t>
            </a:r>
          </a:p>
        </p:txBody>
      </p:sp>
    </p:spTree>
    <p:extLst>
      <p:ext uri="{BB962C8B-B14F-4D97-AF65-F5344CB8AC3E}">
        <p14:creationId xmlns:p14="http://schemas.microsoft.com/office/powerpoint/2010/main" val="2069827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500CE3AB-BB1A-4AFC-BF52-544AEE3C8DC2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35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47900" y="148629"/>
            <a:ext cx="4648200" cy="5715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he-IL" altLang="en-US" dirty="0"/>
              <a:t>טבלאות של מצב 1 ומצב 2</a:t>
            </a:r>
            <a:endParaRPr lang="en-US" altLang="en-US" dirty="0"/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11024" y="820737"/>
            <a:ext cx="5821362" cy="1522413"/>
          </a:xfrm>
        </p:spPr>
        <p:txBody>
          <a:bodyPr/>
          <a:lstStyle/>
          <a:p>
            <a:pPr algn="r" rtl="1" eaLnBrk="1" hangingPunct="1"/>
            <a:r>
              <a:rPr lang="he-IL" altLang="en-US" sz="1800" dirty="0"/>
              <a:t>טבלה 1 לקפיצה ממצב מספר 1</a:t>
            </a:r>
          </a:p>
          <a:p>
            <a:pPr algn="r" rtl="1" eaLnBrk="1" hangingPunct="1"/>
            <a:r>
              <a:rPr lang="he-IL" altLang="en-US" sz="1800" dirty="0"/>
              <a:t>טבלה 2 לקפיצה ממצב מספר 2</a:t>
            </a:r>
          </a:p>
        </p:txBody>
      </p:sp>
      <p:sp>
        <p:nvSpPr>
          <p:cNvPr id="65542" name="Line 107"/>
          <p:cNvSpPr>
            <a:spLocks noChangeShapeType="1"/>
          </p:cNvSpPr>
          <p:nvPr/>
        </p:nvSpPr>
        <p:spPr bwMode="auto">
          <a:xfrm>
            <a:off x="4217194" y="4488656"/>
            <a:ext cx="66556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43" name="Rectangle 49"/>
          <p:cNvSpPr>
            <a:spLocks noChangeArrowheads="1"/>
          </p:cNvSpPr>
          <p:nvPr/>
        </p:nvSpPr>
        <p:spPr bwMode="auto">
          <a:xfrm>
            <a:off x="3875393" y="3317081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2</a:t>
            </a:r>
          </a:p>
        </p:txBody>
      </p:sp>
      <p:sp>
        <p:nvSpPr>
          <p:cNvPr id="65544" name="Rectangle 48"/>
          <p:cNvSpPr>
            <a:spLocks noChangeArrowheads="1"/>
          </p:cNvSpPr>
          <p:nvPr/>
        </p:nvSpPr>
        <p:spPr bwMode="auto">
          <a:xfrm>
            <a:off x="3211025" y="331708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SW</a:t>
            </a:r>
          </a:p>
        </p:txBody>
      </p:sp>
      <p:sp>
        <p:nvSpPr>
          <p:cNvPr id="65545" name="Rectangle 47"/>
          <p:cNvSpPr>
            <a:spLocks noChangeArrowheads="1"/>
          </p:cNvSpPr>
          <p:nvPr/>
        </p:nvSpPr>
        <p:spPr bwMode="auto">
          <a:xfrm>
            <a:off x="2546656" y="331708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x23</a:t>
            </a:r>
          </a:p>
        </p:txBody>
      </p:sp>
      <p:sp>
        <p:nvSpPr>
          <p:cNvPr id="65546" name="Rectangle 42"/>
          <p:cNvSpPr>
            <a:spLocks noChangeArrowheads="1"/>
          </p:cNvSpPr>
          <p:nvPr/>
        </p:nvSpPr>
        <p:spPr bwMode="auto">
          <a:xfrm>
            <a:off x="3875393" y="3058717"/>
            <a:ext cx="663178" cy="2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2</a:t>
            </a:r>
          </a:p>
        </p:txBody>
      </p:sp>
      <p:sp>
        <p:nvSpPr>
          <p:cNvPr id="65547" name="Rectangle 41"/>
          <p:cNvSpPr>
            <a:spLocks noChangeArrowheads="1"/>
          </p:cNvSpPr>
          <p:nvPr/>
        </p:nvSpPr>
        <p:spPr bwMode="auto">
          <a:xfrm>
            <a:off x="3211025" y="3058717"/>
            <a:ext cx="664369" cy="2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LW</a:t>
            </a:r>
          </a:p>
        </p:txBody>
      </p:sp>
      <p:sp>
        <p:nvSpPr>
          <p:cNvPr id="65548" name="Rectangle 40"/>
          <p:cNvSpPr>
            <a:spLocks noChangeArrowheads="1"/>
          </p:cNvSpPr>
          <p:nvPr/>
        </p:nvSpPr>
        <p:spPr bwMode="auto">
          <a:xfrm>
            <a:off x="2546656" y="3058717"/>
            <a:ext cx="664369" cy="2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x03</a:t>
            </a:r>
          </a:p>
        </p:txBody>
      </p:sp>
      <p:sp>
        <p:nvSpPr>
          <p:cNvPr id="65549" name="Rectangle 35"/>
          <p:cNvSpPr>
            <a:spLocks noChangeArrowheads="1"/>
          </p:cNvSpPr>
          <p:nvPr/>
        </p:nvSpPr>
        <p:spPr bwMode="auto">
          <a:xfrm>
            <a:off x="3875393" y="2801541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8</a:t>
            </a:r>
          </a:p>
        </p:txBody>
      </p:sp>
      <p:sp>
        <p:nvSpPr>
          <p:cNvPr id="65550" name="Rectangle 34"/>
          <p:cNvSpPr>
            <a:spLocks noChangeArrowheads="1"/>
          </p:cNvSpPr>
          <p:nvPr/>
        </p:nvSpPr>
        <p:spPr bwMode="auto">
          <a:xfrm>
            <a:off x="3211025" y="280154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BEQ</a:t>
            </a:r>
          </a:p>
        </p:txBody>
      </p:sp>
      <p:sp>
        <p:nvSpPr>
          <p:cNvPr id="65551" name="Rectangle 33"/>
          <p:cNvSpPr>
            <a:spLocks noChangeArrowheads="1"/>
          </p:cNvSpPr>
          <p:nvPr/>
        </p:nvSpPr>
        <p:spPr bwMode="auto">
          <a:xfrm>
            <a:off x="2546656" y="280154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x63</a:t>
            </a:r>
          </a:p>
        </p:txBody>
      </p:sp>
      <p:sp>
        <p:nvSpPr>
          <p:cNvPr id="65552" name="Rectangle 32"/>
          <p:cNvSpPr>
            <a:spLocks noChangeArrowheads="1"/>
          </p:cNvSpPr>
          <p:nvPr/>
        </p:nvSpPr>
        <p:spPr bwMode="auto">
          <a:xfrm>
            <a:off x="6210300" y="2544366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>
                <a:latin typeface="+mn-lt"/>
              </a:rPr>
              <a:t>5</a:t>
            </a:r>
          </a:p>
        </p:txBody>
      </p:sp>
      <p:sp>
        <p:nvSpPr>
          <p:cNvPr id="65553" name="Rectangle 31"/>
          <p:cNvSpPr>
            <a:spLocks noChangeArrowheads="1"/>
          </p:cNvSpPr>
          <p:nvPr/>
        </p:nvSpPr>
        <p:spPr bwMode="auto">
          <a:xfrm>
            <a:off x="5545932" y="2544366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SW</a:t>
            </a:r>
          </a:p>
        </p:txBody>
      </p:sp>
      <p:sp>
        <p:nvSpPr>
          <p:cNvPr id="65554" name="Rectangle 30"/>
          <p:cNvSpPr>
            <a:spLocks noChangeArrowheads="1"/>
          </p:cNvSpPr>
          <p:nvPr/>
        </p:nvSpPr>
        <p:spPr bwMode="auto">
          <a:xfrm>
            <a:off x="4882754" y="2544366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x23</a:t>
            </a:r>
          </a:p>
        </p:txBody>
      </p:sp>
      <p:sp>
        <p:nvSpPr>
          <p:cNvPr id="65555" name="Rectangle 28"/>
          <p:cNvSpPr>
            <a:spLocks noChangeArrowheads="1"/>
          </p:cNvSpPr>
          <p:nvPr/>
        </p:nvSpPr>
        <p:spPr bwMode="auto">
          <a:xfrm>
            <a:off x="3875393" y="2544366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9</a:t>
            </a:r>
          </a:p>
        </p:txBody>
      </p:sp>
      <p:sp>
        <p:nvSpPr>
          <p:cNvPr id="65556" name="Rectangle 27"/>
          <p:cNvSpPr>
            <a:spLocks noChangeArrowheads="1"/>
          </p:cNvSpPr>
          <p:nvPr/>
        </p:nvSpPr>
        <p:spPr bwMode="auto">
          <a:xfrm>
            <a:off x="3211025" y="2544366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JAL</a:t>
            </a:r>
          </a:p>
        </p:txBody>
      </p:sp>
      <p:sp>
        <p:nvSpPr>
          <p:cNvPr id="65557" name="Rectangle 26"/>
          <p:cNvSpPr>
            <a:spLocks noChangeArrowheads="1"/>
          </p:cNvSpPr>
          <p:nvPr/>
        </p:nvSpPr>
        <p:spPr bwMode="auto">
          <a:xfrm>
            <a:off x="2546656" y="2544366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x67</a:t>
            </a:r>
          </a:p>
        </p:txBody>
      </p:sp>
      <p:sp>
        <p:nvSpPr>
          <p:cNvPr id="65558" name="Rectangle 25"/>
          <p:cNvSpPr>
            <a:spLocks noChangeArrowheads="1"/>
          </p:cNvSpPr>
          <p:nvPr/>
        </p:nvSpPr>
        <p:spPr bwMode="auto">
          <a:xfrm>
            <a:off x="6210300" y="228719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3</a:t>
            </a:r>
          </a:p>
        </p:txBody>
      </p:sp>
      <p:sp>
        <p:nvSpPr>
          <p:cNvPr id="65559" name="Rectangle 24"/>
          <p:cNvSpPr>
            <a:spLocks noChangeArrowheads="1"/>
          </p:cNvSpPr>
          <p:nvPr/>
        </p:nvSpPr>
        <p:spPr bwMode="auto">
          <a:xfrm>
            <a:off x="5545932" y="228719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LW</a:t>
            </a:r>
          </a:p>
        </p:txBody>
      </p:sp>
      <p:sp>
        <p:nvSpPr>
          <p:cNvPr id="65560" name="Rectangle 23"/>
          <p:cNvSpPr>
            <a:spLocks noChangeArrowheads="1"/>
          </p:cNvSpPr>
          <p:nvPr/>
        </p:nvSpPr>
        <p:spPr bwMode="auto">
          <a:xfrm>
            <a:off x="4882754" y="2287191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x03</a:t>
            </a:r>
          </a:p>
        </p:txBody>
      </p:sp>
      <p:sp>
        <p:nvSpPr>
          <p:cNvPr id="65561" name="Rectangle 21"/>
          <p:cNvSpPr>
            <a:spLocks noChangeArrowheads="1"/>
          </p:cNvSpPr>
          <p:nvPr/>
        </p:nvSpPr>
        <p:spPr bwMode="auto">
          <a:xfrm>
            <a:off x="3875393" y="2287191"/>
            <a:ext cx="66317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6</a:t>
            </a:r>
          </a:p>
        </p:txBody>
      </p:sp>
      <p:sp>
        <p:nvSpPr>
          <p:cNvPr id="65562" name="Rectangle 20"/>
          <p:cNvSpPr>
            <a:spLocks noChangeArrowheads="1"/>
          </p:cNvSpPr>
          <p:nvPr/>
        </p:nvSpPr>
        <p:spPr bwMode="auto">
          <a:xfrm>
            <a:off x="3211025" y="228719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R-type</a:t>
            </a:r>
          </a:p>
        </p:txBody>
      </p:sp>
      <p:sp>
        <p:nvSpPr>
          <p:cNvPr id="65563" name="Rectangle 19"/>
          <p:cNvSpPr>
            <a:spLocks noChangeArrowheads="1"/>
          </p:cNvSpPr>
          <p:nvPr/>
        </p:nvSpPr>
        <p:spPr bwMode="auto">
          <a:xfrm>
            <a:off x="2546656" y="2287191"/>
            <a:ext cx="664369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400" dirty="0">
                <a:latin typeface="+mn-lt"/>
              </a:rPr>
              <a:t>x33</a:t>
            </a:r>
          </a:p>
        </p:txBody>
      </p:sp>
      <p:sp>
        <p:nvSpPr>
          <p:cNvPr id="65564" name="Rectangle 18"/>
          <p:cNvSpPr>
            <a:spLocks noChangeArrowheads="1"/>
          </p:cNvSpPr>
          <p:nvPr/>
        </p:nvSpPr>
        <p:spPr bwMode="auto">
          <a:xfrm>
            <a:off x="6210300" y="2028825"/>
            <a:ext cx="664369" cy="258366"/>
          </a:xfrm>
          <a:prstGeom prst="rect">
            <a:avLst/>
          </a:pr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 dirty="0"/>
              <a:t>Value</a:t>
            </a:r>
          </a:p>
        </p:txBody>
      </p:sp>
      <p:sp>
        <p:nvSpPr>
          <p:cNvPr id="65565" name="Rectangle 17"/>
          <p:cNvSpPr>
            <a:spLocks noChangeArrowheads="1"/>
          </p:cNvSpPr>
          <p:nvPr/>
        </p:nvSpPr>
        <p:spPr bwMode="auto">
          <a:xfrm>
            <a:off x="5545932" y="2028825"/>
            <a:ext cx="664369" cy="258366"/>
          </a:xfrm>
          <a:prstGeom prst="rect">
            <a:avLst/>
          </a:pr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/>
              <a:t>Name</a:t>
            </a:r>
          </a:p>
        </p:txBody>
      </p:sp>
      <p:sp>
        <p:nvSpPr>
          <p:cNvPr id="65566" name="Rectangle 16"/>
          <p:cNvSpPr>
            <a:spLocks noChangeArrowheads="1"/>
          </p:cNvSpPr>
          <p:nvPr/>
        </p:nvSpPr>
        <p:spPr bwMode="auto">
          <a:xfrm>
            <a:off x="4882754" y="2028825"/>
            <a:ext cx="663178" cy="258366"/>
          </a:xfrm>
          <a:prstGeom prst="rect">
            <a:avLst/>
          </a:pr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/>
              <a:t>Op</a:t>
            </a:r>
          </a:p>
        </p:txBody>
      </p:sp>
      <p:sp>
        <p:nvSpPr>
          <p:cNvPr id="65567" name="Rectangle 14"/>
          <p:cNvSpPr>
            <a:spLocks noChangeArrowheads="1"/>
          </p:cNvSpPr>
          <p:nvPr/>
        </p:nvSpPr>
        <p:spPr bwMode="auto">
          <a:xfrm>
            <a:off x="3875393" y="2028825"/>
            <a:ext cx="663178" cy="258366"/>
          </a:xfrm>
          <a:prstGeom prst="rect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 dirty="0"/>
              <a:t>Value</a:t>
            </a:r>
          </a:p>
        </p:txBody>
      </p:sp>
      <p:sp>
        <p:nvSpPr>
          <p:cNvPr id="65568" name="Rectangle 13"/>
          <p:cNvSpPr>
            <a:spLocks noChangeArrowheads="1"/>
          </p:cNvSpPr>
          <p:nvPr/>
        </p:nvSpPr>
        <p:spPr bwMode="auto">
          <a:xfrm>
            <a:off x="3211025" y="2028825"/>
            <a:ext cx="664369" cy="258366"/>
          </a:xfrm>
          <a:prstGeom prst="rect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/>
              <a:t>Name</a:t>
            </a:r>
          </a:p>
        </p:txBody>
      </p:sp>
      <p:sp>
        <p:nvSpPr>
          <p:cNvPr id="65569" name="Rectangle 12"/>
          <p:cNvSpPr>
            <a:spLocks noChangeArrowheads="1"/>
          </p:cNvSpPr>
          <p:nvPr/>
        </p:nvSpPr>
        <p:spPr bwMode="auto">
          <a:xfrm>
            <a:off x="2546656" y="2028825"/>
            <a:ext cx="664369" cy="258366"/>
          </a:xfrm>
          <a:prstGeom prst="rect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 dirty="0"/>
              <a:t>Op</a:t>
            </a:r>
          </a:p>
        </p:txBody>
      </p:sp>
      <p:sp>
        <p:nvSpPr>
          <p:cNvPr id="65570" name="Rectangle 9"/>
          <p:cNvSpPr>
            <a:spLocks noChangeArrowheads="1"/>
          </p:cNvSpPr>
          <p:nvPr/>
        </p:nvSpPr>
        <p:spPr bwMode="auto">
          <a:xfrm>
            <a:off x="4882754" y="1771650"/>
            <a:ext cx="1991915" cy="257175"/>
          </a:xfrm>
          <a:prstGeom prst="rect">
            <a:avLst/>
          </a:pr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 dirty="0"/>
              <a:t>Dispatch ROM 2</a:t>
            </a:r>
          </a:p>
        </p:txBody>
      </p:sp>
      <p:sp>
        <p:nvSpPr>
          <p:cNvPr id="65571" name="Rectangle 8"/>
          <p:cNvSpPr>
            <a:spLocks noChangeArrowheads="1"/>
          </p:cNvSpPr>
          <p:nvPr/>
        </p:nvSpPr>
        <p:spPr bwMode="auto">
          <a:xfrm>
            <a:off x="4538571" y="1771651"/>
            <a:ext cx="665560" cy="1802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ctr" eaLnBrk="1" hangingPunct="1">
              <a:buFontTx/>
              <a:buNone/>
            </a:pPr>
            <a:endParaRPr lang="en-US" altLang="en-US" sz="1050" b="1"/>
          </a:p>
        </p:txBody>
      </p:sp>
      <p:sp>
        <p:nvSpPr>
          <p:cNvPr id="65572" name="Rectangle 5"/>
          <p:cNvSpPr>
            <a:spLocks noChangeArrowheads="1"/>
          </p:cNvSpPr>
          <p:nvPr/>
        </p:nvSpPr>
        <p:spPr bwMode="auto">
          <a:xfrm>
            <a:off x="2546656" y="1771650"/>
            <a:ext cx="1991915" cy="257175"/>
          </a:xfrm>
          <a:prstGeom prst="rect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r>
              <a:rPr lang="en-US" altLang="en-US" sz="1350" dirty="0"/>
              <a:t>Dispatch ROM 1</a:t>
            </a:r>
          </a:p>
        </p:txBody>
      </p:sp>
      <p:sp>
        <p:nvSpPr>
          <p:cNvPr id="65573" name="Line 54"/>
          <p:cNvSpPr>
            <a:spLocks noChangeShapeType="1"/>
          </p:cNvSpPr>
          <p:nvPr/>
        </p:nvSpPr>
        <p:spPr bwMode="auto">
          <a:xfrm>
            <a:off x="2546656" y="1771650"/>
            <a:ext cx="199191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74" name="Line 55"/>
          <p:cNvSpPr>
            <a:spLocks noChangeShapeType="1"/>
          </p:cNvSpPr>
          <p:nvPr/>
        </p:nvSpPr>
        <p:spPr bwMode="auto">
          <a:xfrm>
            <a:off x="2546656" y="2028825"/>
            <a:ext cx="199191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75" name="Line 56"/>
          <p:cNvSpPr>
            <a:spLocks noChangeShapeType="1"/>
          </p:cNvSpPr>
          <p:nvPr/>
        </p:nvSpPr>
        <p:spPr bwMode="auto">
          <a:xfrm>
            <a:off x="2546656" y="2287191"/>
            <a:ext cx="1991915" cy="0"/>
          </a:xfrm>
          <a:prstGeom prst="line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65576" name="Line 57"/>
          <p:cNvSpPr>
            <a:spLocks noChangeShapeType="1"/>
          </p:cNvSpPr>
          <p:nvPr/>
        </p:nvSpPr>
        <p:spPr bwMode="auto">
          <a:xfrm>
            <a:off x="2546656" y="2544366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 dirty="0"/>
          </a:p>
        </p:txBody>
      </p:sp>
      <p:sp>
        <p:nvSpPr>
          <p:cNvPr id="65577" name="Line 58"/>
          <p:cNvSpPr>
            <a:spLocks noChangeShapeType="1"/>
          </p:cNvSpPr>
          <p:nvPr/>
        </p:nvSpPr>
        <p:spPr bwMode="auto">
          <a:xfrm>
            <a:off x="2546656" y="2801541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 dirty="0"/>
          </a:p>
        </p:txBody>
      </p:sp>
      <p:sp>
        <p:nvSpPr>
          <p:cNvPr id="65578" name="Line 59"/>
          <p:cNvSpPr>
            <a:spLocks noChangeShapeType="1"/>
          </p:cNvSpPr>
          <p:nvPr/>
        </p:nvSpPr>
        <p:spPr bwMode="auto">
          <a:xfrm>
            <a:off x="2546656" y="3058716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 dirty="0"/>
          </a:p>
        </p:txBody>
      </p:sp>
      <p:sp>
        <p:nvSpPr>
          <p:cNvPr id="65579" name="Line 60"/>
          <p:cNvSpPr>
            <a:spLocks noChangeShapeType="1"/>
          </p:cNvSpPr>
          <p:nvPr/>
        </p:nvSpPr>
        <p:spPr bwMode="auto">
          <a:xfrm>
            <a:off x="2546656" y="3317081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 dirty="0"/>
          </a:p>
        </p:txBody>
      </p:sp>
      <p:sp>
        <p:nvSpPr>
          <p:cNvPr id="65580" name="Line 61"/>
          <p:cNvSpPr>
            <a:spLocks noChangeShapeType="1"/>
          </p:cNvSpPr>
          <p:nvPr/>
        </p:nvSpPr>
        <p:spPr bwMode="auto">
          <a:xfrm>
            <a:off x="2546656" y="3574256"/>
            <a:ext cx="199191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 dirty="0"/>
          </a:p>
        </p:txBody>
      </p:sp>
      <p:sp>
        <p:nvSpPr>
          <p:cNvPr id="65581" name="Line 62"/>
          <p:cNvSpPr>
            <a:spLocks noChangeShapeType="1"/>
          </p:cNvSpPr>
          <p:nvPr/>
        </p:nvSpPr>
        <p:spPr bwMode="auto">
          <a:xfrm>
            <a:off x="2546656" y="1771651"/>
            <a:ext cx="0" cy="180260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82" name="Line 65"/>
          <p:cNvSpPr>
            <a:spLocks noChangeShapeType="1"/>
          </p:cNvSpPr>
          <p:nvPr/>
        </p:nvSpPr>
        <p:spPr bwMode="auto">
          <a:xfrm>
            <a:off x="4538571" y="1771651"/>
            <a:ext cx="0" cy="1802606"/>
          </a:xfrm>
          <a:prstGeom prst="line">
            <a:avLst/>
          </a:prstGeom>
          <a:solidFill>
            <a:srgbClr val="FFCCCC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65583" name="Group 145"/>
          <p:cNvGrpSpPr>
            <a:grpSpLocks/>
          </p:cNvGrpSpPr>
          <p:nvPr/>
        </p:nvGrpSpPr>
        <p:grpSpPr bwMode="auto">
          <a:xfrm>
            <a:off x="4882754" y="1771650"/>
            <a:ext cx="1991915" cy="1028700"/>
            <a:chOff x="3141" y="1488"/>
            <a:chExt cx="1673" cy="1514"/>
          </a:xfrm>
        </p:grpSpPr>
        <p:sp>
          <p:nvSpPr>
            <p:cNvPr id="65598" name="Line 66"/>
            <p:cNvSpPr>
              <a:spLocks noChangeShapeType="1"/>
            </p:cNvSpPr>
            <p:nvPr/>
          </p:nvSpPr>
          <p:spPr bwMode="auto">
            <a:xfrm>
              <a:off x="3141" y="1488"/>
              <a:ext cx="0" cy="15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599" name="Line 69"/>
            <p:cNvSpPr>
              <a:spLocks noChangeShapeType="1"/>
            </p:cNvSpPr>
            <p:nvPr/>
          </p:nvSpPr>
          <p:spPr bwMode="auto">
            <a:xfrm>
              <a:off x="4814" y="1488"/>
              <a:ext cx="0" cy="151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5584" name="Line 72"/>
          <p:cNvSpPr>
            <a:spLocks noChangeShapeType="1"/>
          </p:cNvSpPr>
          <p:nvPr/>
        </p:nvSpPr>
        <p:spPr bwMode="auto">
          <a:xfrm>
            <a:off x="3211024" y="2028826"/>
            <a:ext cx="0" cy="15454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85" name="Line 74"/>
          <p:cNvSpPr>
            <a:spLocks noChangeShapeType="1"/>
          </p:cNvSpPr>
          <p:nvPr/>
        </p:nvSpPr>
        <p:spPr bwMode="auto">
          <a:xfrm>
            <a:off x="3875393" y="2028826"/>
            <a:ext cx="0" cy="15454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grpSp>
        <p:nvGrpSpPr>
          <p:cNvPr id="65586" name="Group 146"/>
          <p:cNvGrpSpPr>
            <a:grpSpLocks/>
          </p:cNvGrpSpPr>
          <p:nvPr/>
        </p:nvGrpSpPr>
        <p:grpSpPr bwMode="auto">
          <a:xfrm>
            <a:off x="5545932" y="2028825"/>
            <a:ext cx="664369" cy="771525"/>
            <a:chOff x="3698" y="1704"/>
            <a:chExt cx="558" cy="1298"/>
          </a:xfrm>
        </p:grpSpPr>
        <p:sp>
          <p:nvSpPr>
            <p:cNvPr id="65596" name="Line 76"/>
            <p:cNvSpPr>
              <a:spLocks noChangeShapeType="1"/>
            </p:cNvSpPr>
            <p:nvPr/>
          </p:nvSpPr>
          <p:spPr bwMode="auto">
            <a:xfrm>
              <a:off x="3698" y="1704"/>
              <a:ext cx="0" cy="12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597" name="Line 78"/>
            <p:cNvSpPr>
              <a:spLocks noChangeShapeType="1"/>
            </p:cNvSpPr>
            <p:nvPr/>
          </p:nvSpPr>
          <p:spPr bwMode="auto">
            <a:xfrm>
              <a:off x="4256" y="1704"/>
              <a:ext cx="0" cy="12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5587" name="Line 88"/>
          <p:cNvSpPr>
            <a:spLocks noChangeShapeType="1"/>
          </p:cNvSpPr>
          <p:nvPr/>
        </p:nvSpPr>
        <p:spPr bwMode="auto">
          <a:xfrm>
            <a:off x="4882754" y="2028825"/>
            <a:ext cx="199191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88" name="Line 91"/>
          <p:cNvSpPr>
            <a:spLocks noChangeShapeType="1"/>
          </p:cNvSpPr>
          <p:nvPr/>
        </p:nvSpPr>
        <p:spPr bwMode="auto">
          <a:xfrm>
            <a:off x="4882754" y="2544366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 dirty="0"/>
          </a:p>
        </p:txBody>
      </p:sp>
      <p:sp>
        <p:nvSpPr>
          <p:cNvPr id="65589" name="Line 94"/>
          <p:cNvSpPr>
            <a:spLocks noChangeShapeType="1"/>
          </p:cNvSpPr>
          <p:nvPr/>
        </p:nvSpPr>
        <p:spPr bwMode="auto">
          <a:xfrm>
            <a:off x="4882754" y="2287191"/>
            <a:ext cx="1991915" cy="0"/>
          </a:xfrm>
          <a:prstGeom prst="line">
            <a:avLst/>
          </a:prstGeom>
          <a:solidFill>
            <a:srgbClr val="CCECFF"/>
          </a:solidFill>
          <a:ln w="111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5590" name="Line 97"/>
          <p:cNvSpPr>
            <a:spLocks noChangeShapeType="1"/>
          </p:cNvSpPr>
          <p:nvPr/>
        </p:nvSpPr>
        <p:spPr bwMode="auto">
          <a:xfrm>
            <a:off x="4882754" y="2801541"/>
            <a:ext cx="199191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91" name="Line 106"/>
          <p:cNvSpPr>
            <a:spLocks noChangeShapeType="1"/>
          </p:cNvSpPr>
          <p:nvPr/>
        </p:nvSpPr>
        <p:spPr bwMode="auto">
          <a:xfrm>
            <a:off x="4882754" y="2800350"/>
            <a:ext cx="199191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 dirty="0"/>
          </a:p>
        </p:txBody>
      </p:sp>
      <p:sp>
        <p:nvSpPr>
          <p:cNvPr id="65592" name="Line 109"/>
          <p:cNvSpPr>
            <a:spLocks noChangeShapeType="1"/>
          </p:cNvSpPr>
          <p:nvPr/>
        </p:nvSpPr>
        <p:spPr bwMode="auto">
          <a:xfrm>
            <a:off x="4882754" y="1771650"/>
            <a:ext cx="199191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5593" name="Line 110"/>
          <p:cNvSpPr>
            <a:spLocks noChangeShapeType="1"/>
          </p:cNvSpPr>
          <p:nvPr/>
        </p:nvSpPr>
        <p:spPr bwMode="auto">
          <a:xfrm>
            <a:off x="4538571" y="2686050"/>
            <a:ext cx="66556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350"/>
          </a:p>
        </p:txBody>
      </p:sp>
      <p:pic>
        <p:nvPicPr>
          <p:cNvPr id="65594" name="Picture 1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03" y="1744861"/>
            <a:ext cx="1811006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95" name="Picture 63" descr="C:\Users\rostik\Desktop\Picture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01" y="2811860"/>
            <a:ext cx="2619375" cy="1878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Line 62"/>
          <p:cNvSpPr>
            <a:spLocks noChangeShapeType="1"/>
          </p:cNvSpPr>
          <p:nvPr/>
        </p:nvSpPr>
        <p:spPr bwMode="auto">
          <a:xfrm>
            <a:off x="4538571" y="1771650"/>
            <a:ext cx="0" cy="180260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95208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FE71DDAC-923A-4FC6-A3FE-839499E9D4F7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36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0"/>
            <a:ext cx="4267200" cy="712788"/>
          </a:xfrm>
        </p:spPr>
        <p:txBody>
          <a:bodyPr/>
          <a:lstStyle/>
          <a:p>
            <a:pPr eaLnBrk="1" hangingPunct="1"/>
            <a:r>
              <a:rPr lang="en-US" altLang="en-US" dirty="0"/>
              <a:t>Micro-code Controller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57E24E-FACE-4789-9BDC-89E7355D8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9444" y="744188"/>
          <a:ext cx="5345112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515207" imgH="4791075" progId="Visio.Drawing.11">
                  <p:embed/>
                </p:oleObj>
              </mc:Choice>
              <mc:Fallback>
                <p:oleObj name="Visio" r:id="rId3" imgW="6515207" imgH="4791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B57E24E-FACE-4789-9BDC-89E7355D86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9444" y="744188"/>
                        <a:ext cx="5345112" cy="393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22189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1C91BAE3-616C-4531-8ADA-D2C524617F5E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37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7373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800100" y="192812"/>
            <a:ext cx="7543800" cy="1089025"/>
          </a:xfrm>
          <a:noFill/>
        </p:spPr>
        <p:txBody>
          <a:bodyPr vert="horz" lIns="67866" tIns="33338" rIns="67866" bIns="33338" rtlCol="0" anchor="ctr">
            <a:normAutofit/>
          </a:bodyPr>
          <a:lstStyle/>
          <a:p>
            <a:pPr algn="ctr" eaLnBrk="1" hangingPunct="1"/>
            <a:r>
              <a:rPr lang="en-US" altLang="en-US" dirty="0"/>
              <a:t>Micro-coded RISC-V controller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063625" y="936149"/>
            <a:ext cx="7016750" cy="113665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Symbolic 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code</a:t>
            </a:r>
            <a:endParaRPr lang="en-US" dirty="0"/>
          </a:p>
        </p:txBody>
      </p:sp>
      <p:sp>
        <p:nvSpPr>
          <p:cNvPr id="73732" name="Rectangle 2"/>
          <p:cNvSpPr>
            <a:spLocks noChangeArrowheads="1"/>
          </p:cNvSpPr>
          <p:nvPr/>
        </p:nvSpPr>
        <p:spPr bwMode="auto">
          <a:xfrm>
            <a:off x="1312069" y="234554"/>
            <a:ext cx="2141935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 rtl="1">
              <a:spcBef>
                <a:spcPts val="6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742950" indent="-285750" algn="r" rtl="1">
              <a:spcBef>
                <a:spcPts val="60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1143000" indent="-228600" algn="r" rtl="1">
              <a:spcBef>
                <a:spcPts val="600"/>
              </a:spcBef>
              <a:spcAft>
                <a:spcPts val="6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600200" indent="-228600" algn="r" rtl="1">
              <a:spcBef>
                <a:spcPts val="1200"/>
              </a:spcBef>
              <a:spcAft>
                <a:spcPts val="300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2057400" indent="-228600" algn="r" rtl="1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25146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9718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34290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3886200" indent="-228600" algn="r" rtl="1" eaLnBrk="0" fontAlgn="base" hangingPunct="0">
              <a:spcBef>
                <a:spcPts val="1200"/>
              </a:spcBef>
              <a:spcAft>
                <a:spcPts val="300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algn="l" rtl="0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500"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F2AFE6-FECD-4AF4-A598-CEDC5751BC6B}"/>
              </a:ext>
            </a:extLst>
          </p:cNvPr>
          <p:cNvGraphicFramePr>
            <a:graphicFrameLocks noGrp="1"/>
          </p:cNvGraphicFramePr>
          <p:nvPr/>
        </p:nvGraphicFramePr>
        <p:xfrm>
          <a:off x="288794" y="1428750"/>
          <a:ext cx="6492240" cy="270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38437196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3193883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5299792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0641256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78959123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0348172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09259765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235186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140977452"/>
                    </a:ext>
                  </a:extLst>
                </a:gridCol>
              </a:tblGrid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ALUsel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Asel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Bsel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MemRW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PCsource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WBsel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sz="1200" dirty="0"/>
                        <a:t>Sequencing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35962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721547"/>
                  </a:ext>
                </a:extLst>
              </a:tr>
              <a:tr h="13617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PCC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Imm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Dispatch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98028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Mem1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Imm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Dispatch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728672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LW2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02780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MDR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37276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661036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Rformat1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Func</a:t>
                      </a:r>
                      <a:r>
                        <a:rPr lang="en-US" sz="1200" dirty="0"/>
                        <a:t>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63258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67568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BEQ1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ALUout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92565"/>
                  </a:ext>
                </a:extLst>
              </a:tr>
              <a:tr h="185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JAL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PCC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 err="1"/>
                        <a:t>Imm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2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59427"/>
                  </a:ext>
                </a:extLst>
              </a:tr>
            </a:tbl>
          </a:graphicData>
        </a:graphic>
      </p:graphicFrame>
      <p:pic>
        <p:nvPicPr>
          <p:cNvPr id="56" name="Picture 156" descr="C:\Users\rostik\Desktop\Picture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25054"/>
            <a:ext cx="1943802" cy="1926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84482" y="4267075"/>
            <a:ext cx="139781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r" defTabSz="914400" rtl="1" eaLnBrk="1" latinLnBrk="0" hangingPunct="1"/>
            <a:r>
              <a:rPr lang="he-IL" sz="1200" dirty="0"/>
              <a:t>הערה:</a:t>
            </a:r>
          </a:p>
          <a:p>
            <a:pPr marL="0" algn="r" defTabSz="914400" rtl="1" eaLnBrk="1" latinLnBrk="0" hangingPunct="1"/>
            <a:r>
              <a:rPr lang="he-IL" sz="1200" dirty="0"/>
              <a:t>הטבלה הזו היא חלקית!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555554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he-IL" dirty="0"/>
              <a:t>שאלות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5294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שאלה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10200" y="1352550"/>
            <a:ext cx="34290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he-IL" dirty="0"/>
              <a:t>נתון קטע הקוד הבא (הניחו כי הפקודה </a:t>
            </a:r>
            <a:r>
              <a:rPr lang="he-IL" dirty="0" err="1"/>
              <a:t>addi</a:t>
            </a:r>
            <a:r>
              <a:rPr lang="he-IL" dirty="0"/>
              <a:t> נתמכת):</a:t>
            </a:r>
          </a:p>
          <a:p>
            <a:pPr algn="r" rtl="1"/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dirty="0" err="1"/>
              <a:t>addi</a:t>
            </a:r>
            <a:r>
              <a:rPr lang="en-US" dirty="0"/>
              <a:t> s0, x0, 0 </a:t>
            </a:r>
          </a:p>
          <a:p>
            <a:r>
              <a:rPr lang="en-US" dirty="0"/>
              <a:t>	</a:t>
            </a:r>
            <a:r>
              <a:rPr lang="en-US" dirty="0" err="1"/>
              <a:t>addi</a:t>
            </a:r>
            <a:r>
              <a:rPr lang="en-US" dirty="0"/>
              <a:t> s1, x0, 1 </a:t>
            </a:r>
          </a:p>
          <a:p>
            <a:r>
              <a:rPr lang="en-US" dirty="0"/>
              <a:t>	</a:t>
            </a:r>
            <a:r>
              <a:rPr lang="en-US" dirty="0" err="1"/>
              <a:t>addi</a:t>
            </a:r>
            <a:r>
              <a:rPr lang="en-US" dirty="0"/>
              <a:t> t0, x0, 5 </a:t>
            </a:r>
          </a:p>
          <a:p>
            <a:r>
              <a:rPr lang="en-US" dirty="0"/>
              <a:t>       loop: </a:t>
            </a:r>
            <a:r>
              <a:rPr lang="en-US" dirty="0" err="1"/>
              <a:t>beq</a:t>
            </a:r>
            <a:r>
              <a:rPr lang="en-US" dirty="0"/>
              <a:t> s0, t0, exit </a:t>
            </a:r>
          </a:p>
          <a:p>
            <a:r>
              <a:rPr lang="en-US" dirty="0"/>
              <a:t>	add s1, s1, s1</a:t>
            </a:r>
          </a:p>
          <a:p>
            <a:r>
              <a:rPr lang="en-US" dirty="0"/>
              <a:t>	</a:t>
            </a:r>
            <a:r>
              <a:rPr lang="en-US" dirty="0" err="1"/>
              <a:t>addi</a:t>
            </a:r>
            <a:r>
              <a:rPr lang="en-US" dirty="0"/>
              <a:t> s0, s0, 1</a:t>
            </a:r>
          </a:p>
          <a:p>
            <a:r>
              <a:rPr lang="en-US" dirty="0"/>
              <a:t>	</a:t>
            </a:r>
            <a:r>
              <a:rPr lang="en-US" dirty="0" err="1"/>
              <a:t>jal</a:t>
            </a:r>
            <a:r>
              <a:rPr lang="en-US" dirty="0"/>
              <a:t> x0, loop </a:t>
            </a:r>
          </a:p>
          <a:p>
            <a:r>
              <a:rPr lang="en-US" dirty="0"/>
              <a:t>        exit</a:t>
            </a:r>
            <a:endParaRPr lang="he-IL" dirty="0"/>
          </a:p>
        </p:txBody>
      </p:sp>
      <p:sp>
        <p:nvSpPr>
          <p:cNvPr id="6" name="Rectangle 5"/>
          <p:cNvSpPr/>
          <p:nvPr/>
        </p:nvSpPr>
        <p:spPr>
          <a:xfrm>
            <a:off x="533400" y="146675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e-IL" dirty="0"/>
              <a:t>א) כמה מחזורי שעון יידרשו לביצוע הקוד במלואו?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8600" y="211308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19193" y="1872328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r" rtl="1"/>
                <a:r>
                  <a:rPr lang="en-US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add, </a:t>
                </a:r>
                <a:r>
                  <a:rPr lang="en-US" b="0" i="1" dirty="0" err="1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addi</a:t>
                </a:r>
                <a:r>
                  <a:rPr lang="he-IL" b="0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- 4 מחזורים</a:t>
                </a:r>
                <a:endParaRPr lang="he-IL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algn="r" rtl="1"/>
                <a:r>
                  <a:rPr lang="en-US" i="1" dirty="0" err="1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beq</a:t>
                </a:r>
                <a:r>
                  <a:rPr lang="en-US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en-US" i="1" dirty="0" err="1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jal</a:t>
                </a:r>
                <a:r>
                  <a:rPr lang="he-IL" b="0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– 4 מחזורים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4∙3+5∙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3+4+4+3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+3=85 </m:t>
                      </m:r>
                    </m:oMath>
                  </m:oMathPara>
                </a14:m>
                <a:endParaRPr lang="en-US" b="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93" y="1872328"/>
                <a:ext cx="4572000" cy="923330"/>
              </a:xfrm>
              <a:prstGeom prst="rect">
                <a:avLst/>
              </a:prstGeom>
              <a:blipFill>
                <a:blip r:embed="rId3"/>
                <a:stretch>
                  <a:fillRect t="-4054" r="-1108" b="-540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58018" y="317541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he-IL" dirty="0"/>
              <a:t>ב) מהו מספר המחזור בו ייחשב ה-ALU</a:t>
            </a:r>
            <a:r>
              <a:rPr lang="en-US" dirty="0"/>
              <a:t> </a:t>
            </a:r>
            <a:r>
              <a:rPr lang="he-IL" dirty="0"/>
              <a:t> לראשונה את הערך </a:t>
            </a:r>
            <a:r>
              <a:rPr lang="en-US" dirty="0"/>
              <a:t>s1+s1</a:t>
            </a:r>
            <a:r>
              <a:rPr lang="he-IL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58018" y="3936766"/>
                <a:ext cx="4572000" cy="37427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4∙3+3+3=</m:t>
                      </m:r>
                      <m:r>
                        <a:rPr lang="he-I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8" y="3936766"/>
                <a:ext cx="4572000" cy="374270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19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19893" y="144005"/>
            <a:ext cx="2380432" cy="662357"/>
          </a:xfrm>
        </p:spPr>
        <p:txBody>
          <a:bodyPr/>
          <a:lstStyle/>
          <a:p>
            <a:pPr algn="r"/>
            <a:r>
              <a:rPr lang="he-IL" dirty="0"/>
              <a:t>שאלה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827" y="889366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ללא רגיסטר </a:t>
            </a:r>
            <a:r>
              <a:rPr lang="en-US" dirty="0" err="1"/>
              <a:t>ALUout</a:t>
            </a:r>
            <a:r>
              <a:rPr lang="he-IL" dirty="0"/>
              <a:t>. האם המעבד יעבוד? (מותר להאריך את זמן מחזור השעון או להוסיף מחזורי שעון לכל פקודה. אסור לבצע שינוי בחיבורים או הרכיבים ב</a:t>
            </a:r>
            <a:r>
              <a:rPr lang="en-US" dirty="0"/>
              <a:t> Data Path</a:t>
            </a:r>
            <a:r>
              <a:rPr lang="he-IL" dirty="0"/>
              <a:t> ו/או ה-</a:t>
            </a:r>
            <a:r>
              <a:rPr lang="en-US" dirty="0"/>
              <a:t>Controller</a:t>
            </a:r>
            <a:r>
              <a:rPr lang="he-IL" dirty="0"/>
              <a:t>).</a:t>
            </a:r>
          </a:p>
        </p:txBody>
      </p:sp>
      <p:grpSp>
        <p:nvGrpSpPr>
          <p:cNvPr id="230" name="Group 229"/>
          <p:cNvGrpSpPr/>
          <p:nvPr/>
        </p:nvGrpSpPr>
        <p:grpSpPr>
          <a:xfrm>
            <a:off x="385827" y="2212832"/>
            <a:ext cx="7157973" cy="2509671"/>
            <a:chOff x="234504" y="979519"/>
            <a:chExt cx="8755592" cy="3307080"/>
          </a:xfrm>
        </p:grpSpPr>
        <p:grpSp>
          <p:nvGrpSpPr>
            <p:cNvPr id="231" name="Group 230"/>
            <p:cNvGrpSpPr/>
            <p:nvPr/>
          </p:nvGrpSpPr>
          <p:grpSpPr>
            <a:xfrm>
              <a:off x="234504" y="979519"/>
              <a:ext cx="8755592" cy="3230728"/>
              <a:chOff x="252484" y="948519"/>
              <a:chExt cx="8755592" cy="3230728"/>
            </a:xfrm>
          </p:grpSpPr>
          <p:sp>
            <p:nvSpPr>
              <p:cNvPr id="252" name="Rectangle 251"/>
              <p:cNvSpPr/>
              <p:nvPr/>
            </p:nvSpPr>
            <p:spPr>
              <a:xfrm>
                <a:off x="1709663" y="2883847"/>
                <a:ext cx="609600" cy="6858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IMEM</a:t>
                </a:r>
              </a:p>
            </p:txBody>
          </p:sp>
          <p:grpSp>
            <p:nvGrpSpPr>
              <p:cNvPr id="253" name="Group 252"/>
              <p:cNvGrpSpPr/>
              <p:nvPr/>
            </p:nvGrpSpPr>
            <p:grpSpPr>
              <a:xfrm>
                <a:off x="5923116" y="2389916"/>
                <a:ext cx="521297" cy="990600"/>
                <a:chOff x="6324600" y="3115310"/>
                <a:chExt cx="521297" cy="1056640"/>
              </a:xfrm>
            </p:grpSpPr>
            <p:sp>
              <p:nvSpPr>
                <p:cNvPr id="343" name="Trapezoid 342"/>
                <p:cNvSpPr/>
                <p:nvPr/>
              </p:nvSpPr>
              <p:spPr>
                <a:xfrm rot="5400000">
                  <a:off x="6062980" y="3453130"/>
                  <a:ext cx="1056640" cy="381000"/>
                </a:xfrm>
                <a:prstGeom prst="trapezoid">
                  <a:avLst>
                    <a:gd name="adj" fmla="val 4659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Isosceles Triangle 343"/>
                <p:cNvSpPr/>
                <p:nvPr/>
              </p:nvSpPr>
              <p:spPr>
                <a:xfrm rot="5400000">
                  <a:off x="6362707" y="3641091"/>
                  <a:ext cx="152400" cy="762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5" name="Straight Connector 344"/>
                <p:cNvCxnSpPr>
                  <a:stCxn id="344" idx="2"/>
                  <a:endCxn id="344" idx="4"/>
                </p:cNvCxnSpPr>
                <p:nvPr/>
              </p:nvCxnSpPr>
              <p:spPr>
                <a:xfrm>
                  <a:off x="6400808" y="3602991"/>
                  <a:ext cx="0" cy="152400"/>
                </a:xfrm>
                <a:prstGeom prst="line">
                  <a:avLst/>
                </a:prstGeom>
                <a:ln w="28575" cmpd="sng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6" name="TextBox 345"/>
                <p:cNvSpPr txBox="1"/>
                <p:nvPr/>
              </p:nvSpPr>
              <p:spPr>
                <a:xfrm>
                  <a:off x="6324600" y="3181350"/>
                  <a:ext cx="5212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ALU</a:t>
                  </a:r>
                </a:p>
              </p:txBody>
            </p:sp>
          </p:grpSp>
          <p:grpSp>
            <p:nvGrpSpPr>
              <p:cNvPr id="254" name="Group 253"/>
              <p:cNvGrpSpPr/>
              <p:nvPr/>
            </p:nvGrpSpPr>
            <p:grpSpPr>
              <a:xfrm>
                <a:off x="7212723" y="2542316"/>
                <a:ext cx="990600" cy="838200"/>
                <a:chOff x="6324600" y="1733550"/>
                <a:chExt cx="990600" cy="838200"/>
              </a:xfrm>
            </p:grpSpPr>
            <p:sp>
              <p:nvSpPr>
                <p:cNvPr id="341" name="Rectangle 340"/>
                <p:cNvSpPr/>
                <p:nvPr/>
              </p:nvSpPr>
              <p:spPr>
                <a:xfrm>
                  <a:off x="6324600" y="1733550"/>
                  <a:ext cx="990600" cy="8382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DMEM</a:t>
                  </a:r>
                  <a:endParaRPr lang="en-US" dirty="0">
                    <a:solidFill>
                      <a:schemeClr val="tx1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342" name="Isosceles Triangle 341"/>
                <p:cNvSpPr/>
                <p:nvPr/>
              </p:nvSpPr>
              <p:spPr>
                <a:xfrm>
                  <a:off x="7010400" y="2419350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5" name="Group 254"/>
              <p:cNvGrpSpPr/>
              <p:nvPr/>
            </p:nvGrpSpPr>
            <p:grpSpPr>
              <a:xfrm>
                <a:off x="3396413" y="2161316"/>
                <a:ext cx="841921" cy="1447800"/>
                <a:chOff x="3657600" y="1428750"/>
                <a:chExt cx="841921" cy="1447800"/>
              </a:xfrm>
            </p:grpSpPr>
            <p:grpSp>
              <p:nvGrpSpPr>
                <p:cNvPr id="332" name="Group 331"/>
                <p:cNvGrpSpPr/>
                <p:nvPr/>
              </p:nvGrpSpPr>
              <p:grpSpPr>
                <a:xfrm>
                  <a:off x="3657600" y="1428750"/>
                  <a:ext cx="838199" cy="1447800"/>
                  <a:chOff x="3810000" y="1412681"/>
                  <a:chExt cx="838199" cy="1447800"/>
                </a:xfrm>
              </p:grpSpPr>
              <p:sp>
                <p:nvSpPr>
                  <p:cNvPr id="339" name="Rectangle 338"/>
                  <p:cNvSpPr/>
                  <p:nvPr/>
                </p:nvSpPr>
                <p:spPr>
                  <a:xfrm>
                    <a:off x="3810000" y="1412681"/>
                    <a:ext cx="838199" cy="14478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 anchorCtr="0"/>
                  <a:lstStyle/>
                  <a:p>
                    <a:pPr algn="ctr"/>
                    <a:r>
                      <a:rPr lang="en-US" dirty="0" err="1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Reg</a:t>
                    </a:r>
                    <a:r>
                      <a:rPr lang="en-US" dirty="0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[]</a:t>
                    </a:r>
                  </a:p>
                </p:txBody>
              </p:sp>
              <p:sp>
                <p:nvSpPr>
                  <p:cNvPr id="340" name="Isosceles Triangle 339"/>
                  <p:cNvSpPr/>
                  <p:nvPr/>
                </p:nvSpPr>
                <p:spPr>
                  <a:xfrm>
                    <a:off x="4419600" y="2708081"/>
                    <a:ext cx="152400" cy="152400"/>
                  </a:xfrm>
                  <a:prstGeom prst="triangle">
                    <a:avLst/>
                  </a:prstGeom>
                  <a:ln w="28575" cmpd="sng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33" name="TextBox 332"/>
                <p:cNvSpPr txBox="1"/>
                <p:nvPr/>
              </p:nvSpPr>
              <p:spPr>
                <a:xfrm>
                  <a:off x="3657600" y="2271415"/>
                  <a:ext cx="3975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AddrA</a:t>
                  </a:r>
                  <a:endParaRPr lang="en-US" sz="1200" dirty="0"/>
                </a:p>
              </p:txBody>
            </p:sp>
            <p:sp>
              <p:nvSpPr>
                <p:cNvPr id="334" name="TextBox 333"/>
                <p:cNvSpPr txBox="1"/>
                <p:nvPr/>
              </p:nvSpPr>
              <p:spPr>
                <a:xfrm>
                  <a:off x="3657600" y="2576215"/>
                  <a:ext cx="38810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AddrB</a:t>
                  </a:r>
                  <a:endParaRPr lang="en-US" sz="1200" dirty="0"/>
                </a:p>
              </p:txBody>
            </p:sp>
            <p:sp>
              <p:nvSpPr>
                <p:cNvPr id="335" name="TextBox 334"/>
                <p:cNvSpPr txBox="1"/>
                <p:nvPr/>
              </p:nvSpPr>
              <p:spPr>
                <a:xfrm>
                  <a:off x="4114800" y="2234684"/>
                  <a:ext cx="38472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DataA</a:t>
                  </a:r>
                  <a:endParaRPr lang="en-US" sz="1200" dirty="0"/>
                </a:p>
              </p:txBody>
            </p:sp>
            <p:sp>
              <p:nvSpPr>
                <p:cNvPr id="336" name="TextBox 335"/>
                <p:cNvSpPr txBox="1"/>
                <p:nvPr/>
              </p:nvSpPr>
              <p:spPr>
                <a:xfrm>
                  <a:off x="3657600" y="1998881"/>
                  <a:ext cx="39907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AddrD</a:t>
                  </a:r>
                  <a:endParaRPr lang="en-US" sz="1200" dirty="0"/>
                </a:p>
              </p:txBody>
            </p:sp>
            <p:sp>
              <p:nvSpPr>
                <p:cNvPr id="337" name="TextBox 336"/>
                <p:cNvSpPr txBox="1"/>
                <p:nvPr/>
              </p:nvSpPr>
              <p:spPr>
                <a:xfrm>
                  <a:off x="4114800" y="2463284"/>
                  <a:ext cx="37735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DataB</a:t>
                  </a:r>
                  <a:endParaRPr lang="en-US" sz="1200" dirty="0"/>
                </a:p>
              </p:txBody>
            </p:sp>
            <p:sp>
              <p:nvSpPr>
                <p:cNvPr id="338" name="TextBox 337"/>
                <p:cNvSpPr txBox="1"/>
                <p:nvPr/>
              </p:nvSpPr>
              <p:spPr>
                <a:xfrm>
                  <a:off x="3657600" y="1694081"/>
                  <a:ext cx="3883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DataD</a:t>
                  </a:r>
                  <a:endParaRPr lang="en-US" sz="1200" dirty="0"/>
                </a:p>
              </p:txBody>
            </p:sp>
          </p:grpSp>
          <p:sp>
            <p:nvSpPr>
              <p:cNvPr id="256" name="TextBox 255"/>
              <p:cNvSpPr txBox="1"/>
              <p:nvPr/>
            </p:nvSpPr>
            <p:spPr>
              <a:xfrm>
                <a:off x="7212723" y="2770916"/>
                <a:ext cx="3077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</a:t>
                </a:r>
                <a:endParaRPr lang="en-US" sz="1200" dirty="0"/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7233906" y="3043450"/>
                <a:ext cx="4360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DataW</a:t>
                </a:r>
                <a:endParaRPr lang="en-US" sz="1200" dirty="0"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746123" y="284711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DataR</a:t>
                </a:r>
                <a:endParaRPr lang="en-US" sz="1200" dirty="0"/>
              </a:p>
            </p:txBody>
          </p:sp>
          <p:sp>
            <p:nvSpPr>
              <p:cNvPr id="259" name="Trapezoid 258"/>
              <p:cNvSpPr/>
              <p:nvPr/>
            </p:nvSpPr>
            <p:spPr>
              <a:xfrm rot="5400000">
                <a:off x="5496864" y="2499261"/>
                <a:ext cx="533404" cy="162306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60" name="Straight Arrow Connector 259"/>
              <p:cNvCxnSpPr>
                <a:stCxn id="341" idx="3"/>
              </p:cNvCxnSpPr>
              <p:nvPr/>
            </p:nvCxnSpPr>
            <p:spPr>
              <a:xfrm flipV="1">
                <a:off x="8203323" y="2946104"/>
                <a:ext cx="367652" cy="1531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Arrow Connector 260"/>
              <p:cNvCxnSpPr>
                <a:endCxn id="256" idx="1"/>
              </p:cNvCxnSpPr>
              <p:nvPr/>
            </p:nvCxnSpPr>
            <p:spPr>
              <a:xfrm>
                <a:off x="6381135" y="2848897"/>
                <a:ext cx="831588" cy="1435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/>
              <p:cNvCxnSpPr/>
              <p:nvPr/>
            </p:nvCxnSpPr>
            <p:spPr>
              <a:xfrm flipV="1">
                <a:off x="6977813" y="2426647"/>
                <a:ext cx="0" cy="419099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Elbow Connector 262"/>
              <p:cNvCxnSpPr>
                <a:endCxn id="330" idx="1"/>
              </p:cNvCxnSpPr>
              <p:nvPr/>
            </p:nvCxnSpPr>
            <p:spPr>
              <a:xfrm rot="16200000" flipH="1">
                <a:off x="-92362" y="1676883"/>
                <a:ext cx="1478219" cy="361112"/>
              </a:xfrm>
              <a:prstGeom prst="bentConnector2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4" name="Group 263"/>
              <p:cNvGrpSpPr/>
              <p:nvPr/>
            </p:nvGrpSpPr>
            <p:grpSpPr>
              <a:xfrm>
                <a:off x="811428" y="2466116"/>
                <a:ext cx="152400" cy="533400"/>
                <a:chOff x="5791200" y="1352550"/>
                <a:chExt cx="152400" cy="533400"/>
              </a:xfrm>
            </p:grpSpPr>
            <p:sp>
              <p:nvSpPr>
                <p:cNvPr id="329" name="Trapezoid 328"/>
                <p:cNvSpPr/>
                <p:nvPr/>
              </p:nvSpPr>
              <p:spPr>
                <a:xfrm rot="5400000">
                  <a:off x="5600700" y="1543050"/>
                  <a:ext cx="533400" cy="152400"/>
                </a:xfrm>
                <a:prstGeom prst="trapezoid">
                  <a:avLst>
                    <a:gd name="adj" fmla="val 6270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TextBox 329"/>
                <p:cNvSpPr txBox="1"/>
                <p:nvPr/>
              </p:nvSpPr>
              <p:spPr>
                <a:xfrm>
                  <a:off x="5807075" y="1390650"/>
                  <a:ext cx="7620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1</a:t>
                  </a:r>
                </a:p>
              </p:txBody>
            </p:sp>
            <p:sp>
              <p:nvSpPr>
                <p:cNvPr id="331" name="TextBox 330"/>
                <p:cNvSpPr txBox="1"/>
                <p:nvPr/>
              </p:nvSpPr>
              <p:spPr>
                <a:xfrm>
                  <a:off x="5810250" y="1638300"/>
                  <a:ext cx="7799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/>
                    <a:t>0</a:t>
                  </a:r>
                </a:p>
              </p:txBody>
            </p:sp>
          </p:grpSp>
          <p:cxnSp>
            <p:nvCxnSpPr>
              <p:cNvPr id="265" name="Straight Connector 264"/>
              <p:cNvCxnSpPr>
                <a:endCxn id="327" idx="1"/>
              </p:cNvCxnSpPr>
              <p:nvPr/>
            </p:nvCxnSpPr>
            <p:spPr>
              <a:xfrm>
                <a:off x="963828" y="2732816"/>
                <a:ext cx="152400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Elbow Connector 265"/>
              <p:cNvCxnSpPr>
                <a:stCxn id="327" idx="3"/>
                <a:endCxn id="252" idx="1"/>
              </p:cNvCxnSpPr>
              <p:nvPr/>
            </p:nvCxnSpPr>
            <p:spPr>
              <a:xfrm>
                <a:off x="1389326" y="2732816"/>
                <a:ext cx="320337" cy="493931"/>
              </a:xfrm>
              <a:prstGeom prst="bentConnector3">
                <a:avLst>
                  <a:gd name="adj1" fmla="val 3846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Arrow Connector 266"/>
              <p:cNvCxnSpPr>
                <a:stCxn id="259" idx="0"/>
              </p:cNvCxnSpPr>
              <p:nvPr/>
            </p:nvCxnSpPr>
            <p:spPr>
              <a:xfrm flipV="1">
                <a:off x="5844719" y="2579048"/>
                <a:ext cx="142494" cy="136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Elbow Connector 267"/>
              <p:cNvCxnSpPr>
                <a:cxnSpLocks/>
              </p:cNvCxnSpPr>
              <p:nvPr/>
            </p:nvCxnSpPr>
            <p:spPr>
              <a:xfrm>
                <a:off x="4234613" y="2722783"/>
                <a:ext cx="1447800" cy="1367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Elbow Connector 268"/>
              <p:cNvCxnSpPr>
                <a:stCxn id="337" idx="3"/>
              </p:cNvCxnSpPr>
              <p:nvPr/>
            </p:nvCxnSpPr>
            <p:spPr>
              <a:xfrm>
                <a:off x="4230970" y="3288183"/>
                <a:ext cx="1058896" cy="320141"/>
              </a:xfrm>
              <a:prstGeom prst="bentConnector3">
                <a:avLst>
                  <a:gd name="adj1" fmla="val 29284"/>
                </a:avLst>
              </a:prstGeom>
              <a:ln w="28575" cmpd="sng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Elbow Connector 269"/>
              <p:cNvCxnSpPr/>
              <p:nvPr/>
            </p:nvCxnSpPr>
            <p:spPr>
              <a:xfrm flipV="1">
                <a:off x="1107954" y="1609462"/>
                <a:ext cx="1289350" cy="1123354"/>
              </a:xfrm>
              <a:prstGeom prst="bentConnector3">
                <a:avLst>
                  <a:gd name="adj1" fmla="val 73109"/>
                </a:avLst>
              </a:prstGeom>
              <a:ln w="28575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Elbow Connector 270"/>
              <p:cNvCxnSpPr/>
              <p:nvPr/>
            </p:nvCxnSpPr>
            <p:spPr>
              <a:xfrm rot="16200000" flipH="1">
                <a:off x="4864428" y="1564191"/>
                <a:ext cx="969816" cy="705448"/>
              </a:xfrm>
              <a:prstGeom prst="bentConnector3">
                <a:avLst>
                  <a:gd name="adj1" fmla="val 9999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2" name="Group 271"/>
              <p:cNvGrpSpPr/>
              <p:nvPr/>
            </p:nvGrpSpPr>
            <p:grpSpPr>
              <a:xfrm>
                <a:off x="1116228" y="2313716"/>
                <a:ext cx="273098" cy="838199"/>
                <a:chOff x="1540165" y="1809750"/>
                <a:chExt cx="273098" cy="838199"/>
              </a:xfrm>
            </p:grpSpPr>
            <p:sp>
              <p:nvSpPr>
                <p:cNvPr id="327" name="Rectangle 326"/>
                <p:cNvSpPr/>
                <p:nvPr/>
              </p:nvSpPr>
              <p:spPr>
                <a:xfrm>
                  <a:off x="1540165" y="1809750"/>
                  <a:ext cx="273098" cy="838199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8" name="Isosceles Triangle 327"/>
                <p:cNvSpPr/>
                <p:nvPr/>
              </p:nvSpPr>
              <p:spPr>
                <a:xfrm>
                  <a:off x="1600200" y="2495550"/>
                  <a:ext cx="152400" cy="152399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3" name="Trapezoid 272"/>
              <p:cNvSpPr/>
              <p:nvPr/>
            </p:nvSpPr>
            <p:spPr>
              <a:xfrm rot="5400000">
                <a:off x="5508368" y="3074347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4" name="Elbow Connector 273"/>
              <p:cNvCxnSpPr>
                <a:endCxn id="315" idx="2"/>
              </p:cNvCxnSpPr>
              <p:nvPr/>
            </p:nvCxnSpPr>
            <p:spPr>
              <a:xfrm>
                <a:off x="2321960" y="3113070"/>
                <a:ext cx="2674653" cy="837577"/>
              </a:xfrm>
              <a:prstGeom prst="bentConnector3">
                <a:avLst>
                  <a:gd name="adj1" fmla="val 3194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3167813" y="31124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/>
              <p:cNvCxnSpPr/>
              <p:nvPr/>
            </p:nvCxnSpPr>
            <p:spPr>
              <a:xfrm>
                <a:off x="3167813" y="34172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7" name="Trapezoid 276"/>
              <p:cNvSpPr/>
              <p:nvPr/>
            </p:nvSpPr>
            <p:spPr>
              <a:xfrm rot="5400000">
                <a:off x="2667000" y="2357191"/>
                <a:ext cx="7620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8" name="Straight Arrow Connector 277"/>
              <p:cNvCxnSpPr>
                <a:stCxn id="273" idx="0"/>
              </p:cNvCxnSpPr>
              <p:nvPr/>
            </p:nvCxnSpPr>
            <p:spPr>
              <a:xfrm>
                <a:off x="5851268" y="3150547"/>
                <a:ext cx="146337" cy="173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Elbow Connector 278"/>
              <p:cNvCxnSpPr/>
              <p:nvPr/>
            </p:nvCxnSpPr>
            <p:spPr>
              <a:xfrm flipV="1">
                <a:off x="5285248" y="3188647"/>
                <a:ext cx="1921165" cy="415636"/>
              </a:xfrm>
              <a:prstGeom prst="bentConnector3">
                <a:avLst>
                  <a:gd name="adj1" fmla="val 8155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Elbow Connector 279"/>
              <p:cNvCxnSpPr/>
              <p:nvPr/>
            </p:nvCxnSpPr>
            <p:spPr>
              <a:xfrm rot="5400000" flipH="1" flipV="1">
                <a:off x="5171093" y="3113747"/>
                <a:ext cx="624037" cy="389374"/>
              </a:xfrm>
              <a:prstGeom prst="bentConnector3">
                <a:avLst>
                  <a:gd name="adj1" fmla="val 10028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TextBox 280"/>
              <p:cNvSpPr txBox="1"/>
              <p:nvPr/>
            </p:nvSpPr>
            <p:spPr>
              <a:xfrm>
                <a:off x="516219" y="2341481"/>
                <a:ext cx="2528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/>
                  <a:t>ALU</a:t>
                </a:r>
                <a:endParaRPr lang="en-US" sz="1100" baseline="-25000" dirty="0"/>
              </a:p>
            </p:txBody>
          </p:sp>
          <p:sp>
            <p:nvSpPr>
              <p:cNvPr id="282" name="TextBox 281"/>
              <p:cNvSpPr txBox="1"/>
              <p:nvPr/>
            </p:nvSpPr>
            <p:spPr>
              <a:xfrm>
                <a:off x="304800" y="2924804"/>
                <a:ext cx="42479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100" dirty="0" err="1"/>
                  <a:t>ALUout</a:t>
                </a:r>
                <a:endParaRPr lang="en-US" sz="1100" dirty="0"/>
              </a:p>
            </p:txBody>
          </p:sp>
          <p:cxnSp>
            <p:nvCxnSpPr>
              <p:cNvPr id="283" name="Straight Connector 282"/>
              <p:cNvCxnSpPr/>
              <p:nvPr/>
            </p:nvCxnSpPr>
            <p:spPr>
              <a:xfrm flipH="1">
                <a:off x="466191" y="1131247"/>
                <a:ext cx="5978223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4" name="Group 283"/>
              <p:cNvGrpSpPr/>
              <p:nvPr/>
            </p:nvGrpSpPr>
            <p:grpSpPr>
              <a:xfrm>
                <a:off x="2716428" y="2960048"/>
                <a:ext cx="152401" cy="533399"/>
                <a:chOff x="1066799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25" name="Rectangle 324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6" name="Isosceles Triangle 325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5" name="Group 284"/>
              <p:cNvGrpSpPr/>
              <p:nvPr/>
            </p:nvGrpSpPr>
            <p:grpSpPr>
              <a:xfrm>
                <a:off x="4310813" y="30362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23" name="Rectangle 322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4" name="Isosceles Triangle 323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6" name="Elbow Connector 285"/>
              <p:cNvCxnSpPr/>
              <p:nvPr/>
            </p:nvCxnSpPr>
            <p:spPr>
              <a:xfrm flipV="1">
                <a:off x="4920413" y="3341047"/>
                <a:ext cx="762000" cy="609600"/>
              </a:xfrm>
              <a:prstGeom prst="bentConnector3">
                <a:avLst>
                  <a:gd name="adj1" fmla="val 6969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7" name="Group 286"/>
              <p:cNvGrpSpPr/>
              <p:nvPr/>
            </p:nvGrpSpPr>
            <p:grpSpPr>
              <a:xfrm>
                <a:off x="6596813" y="25790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21" name="Rectangle 320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2" name="Isosceles Triangle 321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8" name="Group 287"/>
              <p:cNvGrpSpPr/>
              <p:nvPr/>
            </p:nvGrpSpPr>
            <p:grpSpPr>
              <a:xfrm>
                <a:off x="4310813" y="24266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9" name="Rectangle 318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0" name="Isosceles Triangle 319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9" name="Group 288"/>
              <p:cNvGrpSpPr/>
              <p:nvPr/>
            </p:nvGrpSpPr>
            <p:grpSpPr>
              <a:xfrm>
                <a:off x="8558561" y="2713081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7" name="Rectangle 316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8" name="Isosceles Triangle 317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90" name="Straight Connector 289"/>
              <p:cNvCxnSpPr/>
              <p:nvPr/>
            </p:nvCxnSpPr>
            <p:spPr>
              <a:xfrm flipV="1">
                <a:off x="6444413" y="1131247"/>
                <a:ext cx="0" cy="1707487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TextBox 290"/>
              <p:cNvSpPr txBox="1"/>
              <p:nvPr/>
            </p:nvSpPr>
            <p:spPr>
              <a:xfrm>
                <a:off x="1792773" y="1057177"/>
                <a:ext cx="7697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PCC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2" name="TextBox 291"/>
              <p:cNvSpPr txBox="1"/>
              <p:nvPr/>
            </p:nvSpPr>
            <p:spPr>
              <a:xfrm>
                <a:off x="1046453" y="1967756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pc</a:t>
                </a:r>
                <a:endParaRPr lang="en-US" baseline="-25000" dirty="0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2604392" y="3455687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IR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4251341" y="2096976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4257440" y="354567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B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6520613" y="2249184"/>
                <a:ext cx="878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7030A0"/>
                    </a:solidFill>
                  </a:rPr>
                  <a:t>ALUout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453813" y="3645847"/>
                <a:ext cx="6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imm</a:t>
                </a:r>
                <a:r>
                  <a:rPr lang="en-US" baseline="-25000" dirty="0" err="1"/>
                  <a:t>X</a:t>
                </a:r>
                <a:endParaRPr lang="en-US" baseline="-25000" dirty="0"/>
              </a:p>
            </p:txBody>
          </p:sp>
          <p:grpSp>
            <p:nvGrpSpPr>
              <p:cNvPr id="298" name="Group 297"/>
              <p:cNvGrpSpPr/>
              <p:nvPr/>
            </p:nvGrpSpPr>
            <p:grpSpPr>
              <a:xfrm>
                <a:off x="4996613" y="3722047"/>
                <a:ext cx="556492" cy="457200"/>
                <a:chOff x="3886200" y="3257550"/>
                <a:chExt cx="556492" cy="457200"/>
              </a:xfrm>
            </p:grpSpPr>
            <p:sp>
              <p:nvSpPr>
                <p:cNvPr id="315" name="Trapezoid 314"/>
                <p:cNvSpPr/>
                <p:nvPr/>
              </p:nvSpPr>
              <p:spPr>
                <a:xfrm rot="5400000">
                  <a:off x="3848100" y="3295650"/>
                  <a:ext cx="457200" cy="381000"/>
                </a:xfrm>
                <a:prstGeom prst="trapezoid">
                  <a:avLst>
                    <a:gd name="adj" fmla="val 30656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6" name="TextBox 315"/>
                <p:cNvSpPr txBox="1"/>
                <p:nvPr/>
              </p:nvSpPr>
              <p:spPr>
                <a:xfrm>
                  <a:off x="3909292" y="3304885"/>
                  <a:ext cx="5334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 err="1"/>
                    <a:t>Imm</a:t>
                  </a:r>
                  <a:r>
                    <a:rPr lang="en-US" sz="1600" dirty="0"/>
                    <a:t>.</a:t>
                  </a:r>
                </a:p>
              </p:txBody>
            </p:sp>
          </p:grpSp>
          <p:cxnSp>
            <p:nvCxnSpPr>
              <p:cNvPr id="299" name="Straight Arrow Connector 298"/>
              <p:cNvCxnSpPr/>
              <p:nvPr/>
            </p:nvCxnSpPr>
            <p:spPr>
              <a:xfrm>
                <a:off x="3167813" y="2821754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 flipV="1">
                <a:off x="3175673" y="2807645"/>
                <a:ext cx="0" cy="304801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1" name="TextBox 300"/>
              <p:cNvSpPr txBox="1"/>
              <p:nvPr/>
            </p:nvSpPr>
            <p:spPr>
              <a:xfrm>
                <a:off x="8342063" y="3204346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MDR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302" name="Straight Connector 301"/>
              <p:cNvCxnSpPr/>
              <p:nvPr/>
            </p:nvCxnSpPr>
            <p:spPr>
              <a:xfrm>
                <a:off x="1806354" y="2731899"/>
                <a:ext cx="1165446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Freeform 302"/>
              <p:cNvSpPr/>
              <p:nvPr/>
            </p:nvSpPr>
            <p:spPr>
              <a:xfrm>
                <a:off x="2784222" y="1956747"/>
                <a:ext cx="4194428" cy="501650"/>
              </a:xfrm>
              <a:custGeom>
                <a:avLst/>
                <a:gdLst>
                  <a:gd name="connsiteX0" fmla="*/ 4292600 w 4292600"/>
                  <a:gd name="connsiteY0" fmla="*/ 501650 h 501650"/>
                  <a:gd name="connsiteX1" fmla="*/ 4292600 w 4292600"/>
                  <a:gd name="connsiteY1" fmla="*/ 0 h 501650"/>
                  <a:gd name="connsiteX2" fmla="*/ 0 w 4292600"/>
                  <a:gd name="connsiteY2" fmla="*/ 0 h 501650"/>
                  <a:gd name="connsiteX3" fmla="*/ 0 w 4292600"/>
                  <a:gd name="connsiteY3" fmla="*/ 342900 h 501650"/>
                  <a:gd name="connsiteX4" fmla="*/ 209550 w 4292600"/>
                  <a:gd name="connsiteY4" fmla="*/ 342900 h 50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92600" h="501650">
                    <a:moveTo>
                      <a:pt x="4292600" y="501650"/>
                    </a:moveTo>
                    <a:lnTo>
                      <a:pt x="4292600" y="0"/>
                    </a:lnTo>
                    <a:lnTo>
                      <a:pt x="0" y="0"/>
                    </a:lnTo>
                    <a:lnTo>
                      <a:pt x="0" y="342900"/>
                    </a:lnTo>
                    <a:lnTo>
                      <a:pt x="209550" y="34290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Freeform 303"/>
              <p:cNvSpPr/>
              <p:nvPr/>
            </p:nvSpPr>
            <p:spPr>
              <a:xfrm>
                <a:off x="2631989" y="1773538"/>
                <a:ext cx="6376087" cy="1193202"/>
              </a:xfrm>
              <a:custGeom>
                <a:avLst/>
                <a:gdLst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469557 w 6376087"/>
                  <a:gd name="connsiteY5" fmla="*/ 803189 h 1272746"/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337035 w 6376087"/>
                  <a:gd name="connsiteY5" fmla="*/ 803189 h 127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76087" h="1272746">
                    <a:moveTo>
                      <a:pt x="6079525" y="1272746"/>
                    </a:moveTo>
                    <a:lnTo>
                      <a:pt x="6376087" y="1272746"/>
                    </a:lnTo>
                    <a:lnTo>
                      <a:pt x="6376087" y="0"/>
                    </a:lnTo>
                    <a:lnTo>
                      <a:pt x="0" y="0"/>
                    </a:lnTo>
                    <a:lnTo>
                      <a:pt x="0" y="803189"/>
                    </a:lnTo>
                    <a:lnTo>
                      <a:pt x="337035" y="803189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5" name="Straight Arrow Connector 304"/>
              <p:cNvCxnSpPr/>
              <p:nvPr/>
            </p:nvCxnSpPr>
            <p:spPr>
              <a:xfrm>
                <a:off x="3124200" y="2502741"/>
                <a:ext cx="280073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/>
              <p:cNvCxnSpPr/>
              <p:nvPr/>
            </p:nvCxnSpPr>
            <p:spPr>
              <a:xfrm flipH="1" flipV="1">
                <a:off x="1828800" y="1426509"/>
                <a:ext cx="3167812" cy="549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" name="Freeform 306"/>
              <p:cNvSpPr/>
              <p:nvPr/>
            </p:nvSpPr>
            <p:spPr>
              <a:xfrm>
                <a:off x="1502860" y="1426509"/>
                <a:ext cx="173540" cy="1310541"/>
              </a:xfrm>
              <a:custGeom>
                <a:avLst/>
                <a:gdLst>
                  <a:gd name="connsiteX0" fmla="*/ 0 w 193637"/>
                  <a:gd name="connsiteY0" fmla="*/ 1376979 h 1376979"/>
                  <a:gd name="connsiteX1" fmla="*/ 0 w 193637"/>
                  <a:gd name="connsiteY1" fmla="*/ 0 h 1376979"/>
                  <a:gd name="connsiteX2" fmla="*/ 193637 w 193637"/>
                  <a:gd name="connsiteY2" fmla="*/ 0 h 137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37" h="1376979">
                    <a:moveTo>
                      <a:pt x="0" y="1376979"/>
                    </a:moveTo>
                    <a:lnTo>
                      <a:pt x="0" y="0"/>
                    </a:lnTo>
                    <a:lnTo>
                      <a:pt x="19363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8" name="Group 307"/>
              <p:cNvGrpSpPr/>
              <p:nvPr/>
            </p:nvGrpSpPr>
            <p:grpSpPr>
              <a:xfrm>
                <a:off x="1676399" y="1207447"/>
                <a:ext cx="152401" cy="533399"/>
                <a:chOff x="1523290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13" name="Rectangle 312"/>
                <p:cNvSpPr/>
                <p:nvPr/>
              </p:nvSpPr>
              <p:spPr>
                <a:xfrm>
                  <a:off x="1523290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4" name="Isosceles Triangle 313"/>
                <p:cNvSpPr/>
                <p:nvPr/>
              </p:nvSpPr>
              <p:spPr>
                <a:xfrm>
                  <a:off x="1523291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9" name="Freeform 308"/>
              <p:cNvSpPr/>
              <p:nvPr/>
            </p:nvSpPr>
            <p:spPr>
              <a:xfrm>
                <a:off x="252484" y="948519"/>
                <a:ext cx="6728346" cy="1890215"/>
              </a:xfrm>
              <a:custGeom>
                <a:avLst/>
                <a:gdLst>
                  <a:gd name="connsiteX0" fmla="*/ 6728346 w 6728346"/>
                  <a:gd name="connsiteY0" fmla="*/ 1003111 h 1890215"/>
                  <a:gd name="connsiteX1" fmla="*/ 6728346 w 6728346"/>
                  <a:gd name="connsiteY1" fmla="*/ 0 h 1890215"/>
                  <a:gd name="connsiteX2" fmla="*/ 0 w 6728346"/>
                  <a:gd name="connsiteY2" fmla="*/ 0 h 1890215"/>
                  <a:gd name="connsiteX3" fmla="*/ 0 w 6728346"/>
                  <a:gd name="connsiteY3" fmla="*/ 1890215 h 1890215"/>
                  <a:gd name="connsiteX4" fmla="*/ 559558 w 6728346"/>
                  <a:gd name="connsiteY4" fmla="*/ 1890215 h 189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8346" h="1890215">
                    <a:moveTo>
                      <a:pt x="6728346" y="1003111"/>
                    </a:moveTo>
                    <a:lnTo>
                      <a:pt x="6728346" y="0"/>
                    </a:lnTo>
                    <a:lnTo>
                      <a:pt x="0" y="0"/>
                    </a:lnTo>
                    <a:lnTo>
                      <a:pt x="0" y="1890215"/>
                    </a:lnTo>
                    <a:lnTo>
                      <a:pt x="559558" y="1890215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Arrow Connector 309"/>
              <p:cNvCxnSpPr/>
              <p:nvPr/>
            </p:nvCxnSpPr>
            <p:spPr>
              <a:xfrm>
                <a:off x="5501949" y="3181350"/>
                <a:ext cx="19266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1" name="TextBox 310"/>
              <p:cNvSpPr txBox="1"/>
              <p:nvPr/>
            </p:nvSpPr>
            <p:spPr>
              <a:xfrm>
                <a:off x="5418135" y="3095890"/>
                <a:ext cx="7854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4</a:t>
                </a:r>
              </a:p>
            </p:txBody>
          </p:sp>
          <p:cxnSp>
            <p:nvCxnSpPr>
              <p:cNvPr id="312" name="Elbow Connector 311"/>
              <p:cNvCxnSpPr/>
              <p:nvPr/>
            </p:nvCxnSpPr>
            <p:spPr>
              <a:xfrm>
                <a:off x="2389077" y="1607120"/>
                <a:ext cx="3288762" cy="967970"/>
              </a:xfrm>
              <a:prstGeom prst="bentConnector3">
                <a:avLst>
                  <a:gd name="adj1" fmla="val 70502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Slide Number Placeholder 5"/>
            <p:cNvSpPr txBox="1">
              <a:spLocks/>
            </p:cNvSpPr>
            <p:nvPr/>
          </p:nvSpPr>
          <p:spPr>
            <a:xfrm>
              <a:off x="6775543" y="4012755"/>
              <a:ext cx="2057400" cy="27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21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1pPr>
              <a:lvl2pPr marL="557213" indent="-214313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–"/>
                <a:defRPr sz="18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2pPr>
              <a:lvl3pPr marL="857250" indent="-17145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15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3pPr>
              <a:lvl4pPr marL="12001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–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David" panose="020E0502060401010101" pitchFamily="34" charset="-79"/>
                </a:defRPr>
              </a:lvl4pPr>
              <a:lvl5pPr marL="15430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5pPr>
              <a:lvl6pPr marL="18859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6pPr>
              <a:lvl7pPr marL="22288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7pPr>
              <a:lvl8pPr marL="25717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8pPr>
              <a:lvl9pPr marL="29146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9pPr>
            </a:lstStyle>
            <a:p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fld id="{9C85D208-0562-4EC6-A8D8-B3912B9A5675}" type="slidenum">
                <a:rPr lang="he-IL" altLang="en-US" sz="750" smtClean="0">
                  <a:cs typeface="Times New Roman" panose="02020603050405020304" pitchFamily="18" charset="0"/>
                </a:rPr>
                <a:pPr rtl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t>40</a:t>
              </a:fld>
              <a:endParaRPr lang="en-US" altLang="en-US" sz="750" dirty="0">
                <a:cs typeface="Times New Roman" panose="02020603050405020304" pitchFamily="18" charset="0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444005" y="3575340"/>
              <a:ext cx="55880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7030A0"/>
                  </a:solidFill>
                </a:rPr>
                <a:t>Pcsource</a:t>
              </a:r>
              <a:br>
                <a:rPr lang="en-US" sz="1200" dirty="0">
                  <a:solidFill>
                    <a:srgbClr val="7030A0"/>
                  </a:solidFill>
                </a:rPr>
              </a:br>
              <a:r>
                <a:rPr lang="en-US" sz="1200" dirty="0">
                  <a:solidFill>
                    <a:srgbClr val="7030A0"/>
                  </a:solidFill>
                </a:rPr>
                <a:t>=</a:t>
              </a:r>
              <a:r>
                <a:rPr lang="en-US" sz="1200" dirty="0" err="1">
                  <a:solidFill>
                    <a:srgbClr val="7030A0"/>
                  </a:solidFill>
                </a:rPr>
                <a:t>ALUout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37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41</a:t>
            </a:fld>
            <a:endParaRPr lang="en-US"/>
          </a:p>
        </p:txBody>
      </p:sp>
      <p:grpSp>
        <p:nvGrpSpPr>
          <p:cNvPr id="230" name="Group 229"/>
          <p:cNvGrpSpPr/>
          <p:nvPr/>
        </p:nvGrpSpPr>
        <p:grpSpPr>
          <a:xfrm>
            <a:off x="385827" y="2212832"/>
            <a:ext cx="7157973" cy="2509671"/>
            <a:chOff x="234504" y="979519"/>
            <a:chExt cx="8755592" cy="3307080"/>
          </a:xfrm>
        </p:grpSpPr>
        <p:grpSp>
          <p:nvGrpSpPr>
            <p:cNvPr id="231" name="Group 230"/>
            <p:cNvGrpSpPr/>
            <p:nvPr/>
          </p:nvGrpSpPr>
          <p:grpSpPr>
            <a:xfrm>
              <a:off x="234504" y="979519"/>
              <a:ext cx="8755592" cy="3230728"/>
              <a:chOff x="252484" y="948519"/>
              <a:chExt cx="8755592" cy="3230728"/>
            </a:xfrm>
          </p:grpSpPr>
          <p:sp>
            <p:nvSpPr>
              <p:cNvPr id="252" name="Rectangle 251"/>
              <p:cNvSpPr/>
              <p:nvPr/>
            </p:nvSpPr>
            <p:spPr>
              <a:xfrm>
                <a:off x="1709663" y="2883847"/>
                <a:ext cx="609600" cy="6858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IMEM</a:t>
                </a:r>
              </a:p>
            </p:txBody>
          </p:sp>
          <p:grpSp>
            <p:nvGrpSpPr>
              <p:cNvPr id="253" name="Group 252"/>
              <p:cNvGrpSpPr/>
              <p:nvPr/>
            </p:nvGrpSpPr>
            <p:grpSpPr>
              <a:xfrm>
                <a:off x="5923116" y="2389916"/>
                <a:ext cx="521297" cy="990600"/>
                <a:chOff x="6324600" y="3115310"/>
                <a:chExt cx="521297" cy="1056640"/>
              </a:xfrm>
            </p:grpSpPr>
            <p:sp>
              <p:nvSpPr>
                <p:cNvPr id="343" name="Trapezoid 342"/>
                <p:cNvSpPr/>
                <p:nvPr/>
              </p:nvSpPr>
              <p:spPr>
                <a:xfrm rot="5400000">
                  <a:off x="6062980" y="3453130"/>
                  <a:ext cx="1056640" cy="381000"/>
                </a:xfrm>
                <a:prstGeom prst="trapezoid">
                  <a:avLst>
                    <a:gd name="adj" fmla="val 4659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Isosceles Triangle 343"/>
                <p:cNvSpPr/>
                <p:nvPr/>
              </p:nvSpPr>
              <p:spPr>
                <a:xfrm rot="5400000">
                  <a:off x="6362707" y="3641091"/>
                  <a:ext cx="152400" cy="762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5" name="Straight Connector 344"/>
                <p:cNvCxnSpPr>
                  <a:stCxn id="344" idx="2"/>
                  <a:endCxn id="344" idx="4"/>
                </p:cNvCxnSpPr>
                <p:nvPr/>
              </p:nvCxnSpPr>
              <p:spPr>
                <a:xfrm>
                  <a:off x="6400808" y="3602991"/>
                  <a:ext cx="0" cy="152400"/>
                </a:xfrm>
                <a:prstGeom prst="line">
                  <a:avLst/>
                </a:prstGeom>
                <a:ln w="28575" cmpd="sng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6" name="TextBox 345"/>
                <p:cNvSpPr txBox="1"/>
                <p:nvPr/>
              </p:nvSpPr>
              <p:spPr>
                <a:xfrm>
                  <a:off x="6324600" y="3181350"/>
                  <a:ext cx="5212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ALU</a:t>
                  </a:r>
                </a:p>
              </p:txBody>
            </p:sp>
          </p:grpSp>
          <p:grpSp>
            <p:nvGrpSpPr>
              <p:cNvPr id="254" name="Group 253"/>
              <p:cNvGrpSpPr/>
              <p:nvPr/>
            </p:nvGrpSpPr>
            <p:grpSpPr>
              <a:xfrm>
                <a:off x="7212723" y="2542316"/>
                <a:ext cx="990600" cy="838200"/>
                <a:chOff x="6324600" y="1733550"/>
                <a:chExt cx="990600" cy="838200"/>
              </a:xfrm>
            </p:grpSpPr>
            <p:sp>
              <p:nvSpPr>
                <p:cNvPr id="341" name="Rectangle 340"/>
                <p:cNvSpPr/>
                <p:nvPr/>
              </p:nvSpPr>
              <p:spPr>
                <a:xfrm>
                  <a:off x="6324600" y="1733550"/>
                  <a:ext cx="990600" cy="8382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DMEM</a:t>
                  </a:r>
                  <a:endParaRPr lang="en-US" dirty="0">
                    <a:solidFill>
                      <a:schemeClr val="tx1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342" name="Isosceles Triangle 341"/>
                <p:cNvSpPr/>
                <p:nvPr/>
              </p:nvSpPr>
              <p:spPr>
                <a:xfrm>
                  <a:off x="7010400" y="2419350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5" name="Group 254"/>
              <p:cNvGrpSpPr/>
              <p:nvPr/>
            </p:nvGrpSpPr>
            <p:grpSpPr>
              <a:xfrm>
                <a:off x="3396413" y="2161316"/>
                <a:ext cx="841921" cy="1447800"/>
                <a:chOff x="3657600" y="1428750"/>
                <a:chExt cx="841921" cy="1447800"/>
              </a:xfrm>
            </p:grpSpPr>
            <p:grpSp>
              <p:nvGrpSpPr>
                <p:cNvPr id="332" name="Group 331"/>
                <p:cNvGrpSpPr/>
                <p:nvPr/>
              </p:nvGrpSpPr>
              <p:grpSpPr>
                <a:xfrm>
                  <a:off x="3657600" y="1428750"/>
                  <a:ext cx="838199" cy="1447800"/>
                  <a:chOff x="3810000" y="1412681"/>
                  <a:chExt cx="838199" cy="1447800"/>
                </a:xfrm>
              </p:grpSpPr>
              <p:sp>
                <p:nvSpPr>
                  <p:cNvPr id="339" name="Rectangle 338"/>
                  <p:cNvSpPr/>
                  <p:nvPr/>
                </p:nvSpPr>
                <p:spPr>
                  <a:xfrm>
                    <a:off x="3810000" y="1412681"/>
                    <a:ext cx="838199" cy="14478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 anchorCtr="0"/>
                  <a:lstStyle/>
                  <a:p>
                    <a:pPr algn="ctr"/>
                    <a:r>
                      <a:rPr lang="en-US" dirty="0" err="1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Reg</a:t>
                    </a:r>
                    <a:r>
                      <a:rPr lang="en-US" dirty="0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[]</a:t>
                    </a:r>
                  </a:p>
                </p:txBody>
              </p:sp>
              <p:sp>
                <p:nvSpPr>
                  <p:cNvPr id="340" name="Isosceles Triangle 339"/>
                  <p:cNvSpPr/>
                  <p:nvPr/>
                </p:nvSpPr>
                <p:spPr>
                  <a:xfrm>
                    <a:off x="4419600" y="2708081"/>
                    <a:ext cx="152400" cy="152400"/>
                  </a:xfrm>
                  <a:prstGeom prst="triangle">
                    <a:avLst/>
                  </a:prstGeom>
                  <a:ln w="28575" cmpd="sng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33" name="TextBox 332"/>
                <p:cNvSpPr txBox="1"/>
                <p:nvPr/>
              </p:nvSpPr>
              <p:spPr>
                <a:xfrm>
                  <a:off x="3657600" y="2271415"/>
                  <a:ext cx="3975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AddrA</a:t>
                  </a:r>
                  <a:endParaRPr lang="en-US" sz="1200" dirty="0"/>
                </a:p>
              </p:txBody>
            </p:sp>
            <p:sp>
              <p:nvSpPr>
                <p:cNvPr id="334" name="TextBox 333"/>
                <p:cNvSpPr txBox="1"/>
                <p:nvPr/>
              </p:nvSpPr>
              <p:spPr>
                <a:xfrm>
                  <a:off x="3657600" y="2576215"/>
                  <a:ext cx="38810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AddrB</a:t>
                  </a:r>
                  <a:endParaRPr lang="en-US" sz="1200" dirty="0"/>
                </a:p>
              </p:txBody>
            </p:sp>
            <p:sp>
              <p:nvSpPr>
                <p:cNvPr id="335" name="TextBox 334"/>
                <p:cNvSpPr txBox="1"/>
                <p:nvPr/>
              </p:nvSpPr>
              <p:spPr>
                <a:xfrm>
                  <a:off x="4114800" y="2234684"/>
                  <a:ext cx="38472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DataA</a:t>
                  </a:r>
                  <a:endParaRPr lang="en-US" sz="1200" dirty="0"/>
                </a:p>
              </p:txBody>
            </p:sp>
            <p:sp>
              <p:nvSpPr>
                <p:cNvPr id="336" name="TextBox 335"/>
                <p:cNvSpPr txBox="1"/>
                <p:nvPr/>
              </p:nvSpPr>
              <p:spPr>
                <a:xfrm>
                  <a:off x="3657600" y="1998881"/>
                  <a:ext cx="39907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AddrD</a:t>
                  </a:r>
                  <a:endParaRPr lang="en-US" sz="1200" dirty="0"/>
                </a:p>
              </p:txBody>
            </p:sp>
            <p:sp>
              <p:nvSpPr>
                <p:cNvPr id="337" name="TextBox 336"/>
                <p:cNvSpPr txBox="1"/>
                <p:nvPr/>
              </p:nvSpPr>
              <p:spPr>
                <a:xfrm>
                  <a:off x="4114800" y="2463284"/>
                  <a:ext cx="37735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DataB</a:t>
                  </a:r>
                  <a:endParaRPr lang="en-US" sz="1200" dirty="0"/>
                </a:p>
              </p:txBody>
            </p:sp>
            <p:sp>
              <p:nvSpPr>
                <p:cNvPr id="338" name="TextBox 337"/>
                <p:cNvSpPr txBox="1"/>
                <p:nvPr/>
              </p:nvSpPr>
              <p:spPr>
                <a:xfrm>
                  <a:off x="3657600" y="1694081"/>
                  <a:ext cx="3883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DataD</a:t>
                  </a:r>
                  <a:endParaRPr lang="en-US" sz="1200" dirty="0"/>
                </a:p>
              </p:txBody>
            </p:sp>
          </p:grpSp>
          <p:sp>
            <p:nvSpPr>
              <p:cNvPr id="256" name="TextBox 255"/>
              <p:cNvSpPr txBox="1"/>
              <p:nvPr/>
            </p:nvSpPr>
            <p:spPr>
              <a:xfrm>
                <a:off x="7212723" y="2770916"/>
                <a:ext cx="3077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</a:t>
                </a:r>
                <a:endParaRPr lang="en-US" sz="1200" dirty="0"/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7233906" y="3043450"/>
                <a:ext cx="4360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DataW</a:t>
                </a:r>
                <a:endParaRPr lang="en-US" sz="1200" dirty="0"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746123" y="284711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DataR</a:t>
                </a:r>
                <a:endParaRPr lang="en-US" sz="1200" dirty="0"/>
              </a:p>
            </p:txBody>
          </p:sp>
          <p:sp>
            <p:nvSpPr>
              <p:cNvPr id="259" name="Trapezoid 258"/>
              <p:cNvSpPr/>
              <p:nvPr/>
            </p:nvSpPr>
            <p:spPr>
              <a:xfrm rot="5400000">
                <a:off x="5496864" y="2499261"/>
                <a:ext cx="533404" cy="162306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60" name="Straight Arrow Connector 259"/>
              <p:cNvCxnSpPr>
                <a:stCxn id="341" idx="3"/>
              </p:cNvCxnSpPr>
              <p:nvPr/>
            </p:nvCxnSpPr>
            <p:spPr>
              <a:xfrm flipV="1">
                <a:off x="8203323" y="2946104"/>
                <a:ext cx="367652" cy="1531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Arrow Connector 260"/>
              <p:cNvCxnSpPr>
                <a:endCxn id="256" idx="1"/>
              </p:cNvCxnSpPr>
              <p:nvPr/>
            </p:nvCxnSpPr>
            <p:spPr>
              <a:xfrm>
                <a:off x="6381135" y="2848897"/>
                <a:ext cx="831588" cy="1435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/>
              <p:cNvCxnSpPr/>
              <p:nvPr/>
            </p:nvCxnSpPr>
            <p:spPr>
              <a:xfrm flipV="1">
                <a:off x="6977813" y="2426647"/>
                <a:ext cx="0" cy="419099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Elbow Connector 262"/>
              <p:cNvCxnSpPr>
                <a:endCxn id="330" idx="1"/>
              </p:cNvCxnSpPr>
              <p:nvPr/>
            </p:nvCxnSpPr>
            <p:spPr>
              <a:xfrm rot="16200000" flipH="1">
                <a:off x="-92362" y="1676883"/>
                <a:ext cx="1478219" cy="361112"/>
              </a:xfrm>
              <a:prstGeom prst="bentConnector2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4" name="Group 263"/>
              <p:cNvGrpSpPr/>
              <p:nvPr/>
            </p:nvGrpSpPr>
            <p:grpSpPr>
              <a:xfrm>
                <a:off x="811428" y="2466116"/>
                <a:ext cx="152400" cy="533400"/>
                <a:chOff x="5791200" y="1352550"/>
                <a:chExt cx="152400" cy="533400"/>
              </a:xfrm>
            </p:grpSpPr>
            <p:sp>
              <p:nvSpPr>
                <p:cNvPr id="329" name="Trapezoid 328"/>
                <p:cNvSpPr/>
                <p:nvPr/>
              </p:nvSpPr>
              <p:spPr>
                <a:xfrm rot="5400000">
                  <a:off x="5600700" y="1543050"/>
                  <a:ext cx="533400" cy="152400"/>
                </a:xfrm>
                <a:prstGeom prst="trapezoid">
                  <a:avLst>
                    <a:gd name="adj" fmla="val 6270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TextBox 329"/>
                <p:cNvSpPr txBox="1"/>
                <p:nvPr/>
              </p:nvSpPr>
              <p:spPr>
                <a:xfrm>
                  <a:off x="5807075" y="1390650"/>
                  <a:ext cx="7620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1</a:t>
                  </a:r>
                </a:p>
              </p:txBody>
            </p:sp>
            <p:sp>
              <p:nvSpPr>
                <p:cNvPr id="331" name="TextBox 330"/>
                <p:cNvSpPr txBox="1"/>
                <p:nvPr/>
              </p:nvSpPr>
              <p:spPr>
                <a:xfrm>
                  <a:off x="5810250" y="1638300"/>
                  <a:ext cx="7799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/>
                    <a:t>0</a:t>
                  </a:r>
                </a:p>
              </p:txBody>
            </p:sp>
          </p:grpSp>
          <p:cxnSp>
            <p:nvCxnSpPr>
              <p:cNvPr id="265" name="Straight Connector 264"/>
              <p:cNvCxnSpPr>
                <a:endCxn id="327" idx="1"/>
              </p:cNvCxnSpPr>
              <p:nvPr/>
            </p:nvCxnSpPr>
            <p:spPr>
              <a:xfrm>
                <a:off x="963828" y="2732816"/>
                <a:ext cx="152400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Elbow Connector 265"/>
              <p:cNvCxnSpPr>
                <a:stCxn id="327" idx="3"/>
                <a:endCxn id="252" idx="1"/>
              </p:cNvCxnSpPr>
              <p:nvPr/>
            </p:nvCxnSpPr>
            <p:spPr>
              <a:xfrm>
                <a:off x="1389326" y="2732816"/>
                <a:ext cx="320337" cy="493931"/>
              </a:xfrm>
              <a:prstGeom prst="bentConnector3">
                <a:avLst>
                  <a:gd name="adj1" fmla="val 3846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Arrow Connector 266"/>
              <p:cNvCxnSpPr>
                <a:stCxn id="259" idx="0"/>
              </p:cNvCxnSpPr>
              <p:nvPr/>
            </p:nvCxnSpPr>
            <p:spPr>
              <a:xfrm flipV="1">
                <a:off x="5844719" y="2579048"/>
                <a:ext cx="142494" cy="136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Elbow Connector 267"/>
              <p:cNvCxnSpPr>
                <a:cxnSpLocks/>
              </p:cNvCxnSpPr>
              <p:nvPr/>
            </p:nvCxnSpPr>
            <p:spPr>
              <a:xfrm>
                <a:off x="4234613" y="2722783"/>
                <a:ext cx="1447800" cy="1367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Elbow Connector 268"/>
              <p:cNvCxnSpPr>
                <a:stCxn id="337" idx="3"/>
              </p:cNvCxnSpPr>
              <p:nvPr/>
            </p:nvCxnSpPr>
            <p:spPr>
              <a:xfrm>
                <a:off x="4230970" y="3288183"/>
                <a:ext cx="1058896" cy="320141"/>
              </a:xfrm>
              <a:prstGeom prst="bentConnector3">
                <a:avLst>
                  <a:gd name="adj1" fmla="val 29284"/>
                </a:avLst>
              </a:prstGeom>
              <a:ln w="28575" cmpd="sng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Elbow Connector 269"/>
              <p:cNvCxnSpPr/>
              <p:nvPr/>
            </p:nvCxnSpPr>
            <p:spPr>
              <a:xfrm flipV="1">
                <a:off x="1107954" y="1609462"/>
                <a:ext cx="1289350" cy="1123354"/>
              </a:xfrm>
              <a:prstGeom prst="bentConnector3">
                <a:avLst>
                  <a:gd name="adj1" fmla="val 73109"/>
                </a:avLst>
              </a:prstGeom>
              <a:ln w="28575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Elbow Connector 270"/>
              <p:cNvCxnSpPr/>
              <p:nvPr/>
            </p:nvCxnSpPr>
            <p:spPr>
              <a:xfrm rot="16200000" flipH="1">
                <a:off x="4864428" y="1564191"/>
                <a:ext cx="969816" cy="705448"/>
              </a:xfrm>
              <a:prstGeom prst="bentConnector3">
                <a:avLst>
                  <a:gd name="adj1" fmla="val 9999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2" name="Group 271"/>
              <p:cNvGrpSpPr/>
              <p:nvPr/>
            </p:nvGrpSpPr>
            <p:grpSpPr>
              <a:xfrm>
                <a:off x="1116228" y="2313716"/>
                <a:ext cx="273098" cy="838199"/>
                <a:chOff x="1540165" y="1809750"/>
                <a:chExt cx="273098" cy="838199"/>
              </a:xfrm>
            </p:grpSpPr>
            <p:sp>
              <p:nvSpPr>
                <p:cNvPr id="327" name="Rectangle 326"/>
                <p:cNvSpPr/>
                <p:nvPr/>
              </p:nvSpPr>
              <p:spPr>
                <a:xfrm>
                  <a:off x="1540165" y="1809750"/>
                  <a:ext cx="273098" cy="838199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8" name="Isosceles Triangle 327"/>
                <p:cNvSpPr/>
                <p:nvPr/>
              </p:nvSpPr>
              <p:spPr>
                <a:xfrm>
                  <a:off x="1600200" y="2495550"/>
                  <a:ext cx="152400" cy="152399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3" name="Trapezoid 272"/>
              <p:cNvSpPr/>
              <p:nvPr/>
            </p:nvSpPr>
            <p:spPr>
              <a:xfrm rot="5400000">
                <a:off x="5508368" y="3074347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4" name="Elbow Connector 273"/>
              <p:cNvCxnSpPr>
                <a:endCxn id="315" idx="2"/>
              </p:cNvCxnSpPr>
              <p:nvPr/>
            </p:nvCxnSpPr>
            <p:spPr>
              <a:xfrm>
                <a:off x="2321960" y="3113070"/>
                <a:ext cx="2674653" cy="837577"/>
              </a:xfrm>
              <a:prstGeom prst="bentConnector3">
                <a:avLst>
                  <a:gd name="adj1" fmla="val 3194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3167813" y="31124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/>
              <p:cNvCxnSpPr/>
              <p:nvPr/>
            </p:nvCxnSpPr>
            <p:spPr>
              <a:xfrm>
                <a:off x="3167813" y="34172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7" name="Trapezoid 276"/>
              <p:cNvSpPr/>
              <p:nvPr/>
            </p:nvSpPr>
            <p:spPr>
              <a:xfrm rot="5400000">
                <a:off x="2667000" y="2357191"/>
                <a:ext cx="7620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8" name="Straight Arrow Connector 277"/>
              <p:cNvCxnSpPr>
                <a:stCxn id="273" idx="0"/>
              </p:cNvCxnSpPr>
              <p:nvPr/>
            </p:nvCxnSpPr>
            <p:spPr>
              <a:xfrm>
                <a:off x="5851268" y="3150547"/>
                <a:ext cx="146337" cy="173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Elbow Connector 278"/>
              <p:cNvCxnSpPr/>
              <p:nvPr/>
            </p:nvCxnSpPr>
            <p:spPr>
              <a:xfrm flipV="1">
                <a:off x="5285248" y="3188647"/>
                <a:ext cx="1921165" cy="415636"/>
              </a:xfrm>
              <a:prstGeom prst="bentConnector3">
                <a:avLst>
                  <a:gd name="adj1" fmla="val 8155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Elbow Connector 279"/>
              <p:cNvCxnSpPr/>
              <p:nvPr/>
            </p:nvCxnSpPr>
            <p:spPr>
              <a:xfrm rot="5400000" flipH="1" flipV="1">
                <a:off x="5171093" y="3113747"/>
                <a:ext cx="624037" cy="389374"/>
              </a:xfrm>
              <a:prstGeom prst="bentConnector3">
                <a:avLst>
                  <a:gd name="adj1" fmla="val 10028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TextBox 280"/>
              <p:cNvSpPr txBox="1"/>
              <p:nvPr/>
            </p:nvSpPr>
            <p:spPr>
              <a:xfrm>
                <a:off x="516219" y="2341481"/>
                <a:ext cx="2528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/>
                  <a:t>ALU</a:t>
                </a:r>
                <a:endParaRPr lang="en-US" sz="1100" baseline="-25000" dirty="0"/>
              </a:p>
            </p:txBody>
          </p:sp>
          <p:sp>
            <p:nvSpPr>
              <p:cNvPr id="282" name="TextBox 281"/>
              <p:cNvSpPr txBox="1"/>
              <p:nvPr/>
            </p:nvSpPr>
            <p:spPr>
              <a:xfrm>
                <a:off x="304800" y="2924804"/>
                <a:ext cx="42479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100" dirty="0" err="1"/>
                  <a:t>ALUout</a:t>
                </a:r>
                <a:endParaRPr lang="en-US" sz="1100" dirty="0"/>
              </a:p>
            </p:txBody>
          </p:sp>
          <p:cxnSp>
            <p:nvCxnSpPr>
              <p:cNvPr id="283" name="Straight Connector 282"/>
              <p:cNvCxnSpPr/>
              <p:nvPr/>
            </p:nvCxnSpPr>
            <p:spPr>
              <a:xfrm flipH="1">
                <a:off x="466191" y="1131247"/>
                <a:ext cx="5978223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4" name="Group 283"/>
              <p:cNvGrpSpPr/>
              <p:nvPr/>
            </p:nvGrpSpPr>
            <p:grpSpPr>
              <a:xfrm>
                <a:off x="2716428" y="2960048"/>
                <a:ext cx="152401" cy="533399"/>
                <a:chOff x="1066799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25" name="Rectangle 324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6" name="Isosceles Triangle 325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5" name="Group 284"/>
              <p:cNvGrpSpPr/>
              <p:nvPr/>
            </p:nvGrpSpPr>
            <p:grpSpPr>
              <a:xfrm>
                <a:off x="4310813" y="30362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23" name="Rectangle 322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4" name="Isosceles Triangle 323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6" name="Elbow Connector 285"/>
              <p:cNvCxnSpPr/>
              <p:nvPr/>
            </p:nvCxnSpPr>
            <p:spPr>
              <a:xfrm flipV="1">
                <a:off x="4920413" y="3341047"/>
                <a:ext cx="762000" cy="609600"/>
              </a:xfrm>
              <a:prstGeom prst="bentConnector3">
                <a:avLst>
                  <a:gd name="adj1" fmla="val 6969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8" name="Group 287"/>
              <p:cNvGrpSpPr/>
              <p:nvPr/>
            </p:nvGrpSpPr>
            <p:grpSpPr>
              <a:xfrm>
                <a:off x="4310813" y="24266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9" name="Rectangle 318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0" name="Isosceles Triangle 319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9" name="Group 288"/>
              <p:cNvGrpSpPr/>
              <p:nvPr/>
            </p:nvGrpSpPr>
            <p:grpSpPr>
              <a:xfrm>
                <a:off x="8558561" y="2713081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7" name="Rectangle 316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8" name="Isosceles Triangle 317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90" name="Straight Connector 289"/>
              <p:cNvCxnSpPr/>
              <p:nvPr/>
            </p:nvCxnSpPr>
            <p:spPr>
              <a:xfrm flipV="1">
                <a:off x="6444413" y="1131247"/>
                <a:ext cx="0" cy="1707487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TextBox 290"/>
              <p:cNvSpPr txBox="1"/>
              <p:nvPr/>
            </p:nvSpPr>
            <p:spPr>
              <a:xfrm>
                <a:off x="1792773" y="1057177"/>
                <a:ext cx="7697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PCC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2" name="TextBox 291"/>
              <p:cNvSpPr txBox="1"/>
              <p:nvPr/>
            </p:nvSpPr>
            <p:spPr>
              <a:xfrm>
                <a:off x="1046453" y="1967756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pc</a:t>
                </a:r>
                <a:endParaRPr lang="en-US" baseline="-25000" dirty="0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2604392" y="3455687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IR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4251341" y="2096976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4257440" y="354567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B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453813" y="3645847"/>
                <a:ext cx="6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imm</a:t>
                </a:r>
                <a:r>
                  <a:rPr lang="en-US" baseline="-25000" dirty="0" err="1"/>
                  <a:t>X</a:t>
                </a:r>
                <a:endParaRPr lang="en-US" baseline="-25000" dirty="0"/>
              </a:p>
            </p:txBody>
          </p:sp>
          <p:grpSp>
            <p:nvGrpSpPr>
              <p:cNvPr id="298" name="Group 297"/>
              <p:cNvGrpSpPr/>
              <p:nvPr/>
            </p:nvGrpSpPr>
            <p:grpSpPr>
              <a:xfrm>
                <a:off x="4996613" y="3722047"/>
                <a:ext cx="556492" cy="457200"/>
                <a:chOff x="3886200" y="3257550"/>
                <a:chExt cx="556492" cy="457200"/>
              </a:xfrm>
            </p:grpSpPr>
            <p:sp>
              <p:nvSpPr>
                <p:cNvPr id="315" name="Trapezoid 314"/>
                <p:cNvSpPr/>
                <p:nvPr/>
              </p:nvSpPr>
              <p:spPr>
                <a:xfrm rot="5400000">
                  <a:off x="3848100" y="3295650"/>
                  <a:ext cx="457200" cy="381000"/>
                </a:xfrm>
                <a:prstGeom prst="trapezoid">
                  <a:avLst>
                    <a:gd name="adj" fmla="val 30656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6" name="TextBox 315"/>
                <p:cNvSpPr txBox="1"/>
                <p:nvPr/>
              </p:nvSpPr>
              <p:spPr>
                <a:xfrm>
                  <a:off x="3909292" y="3304885"/>
                  <a:ext cx="5334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 err="1"/>
                    <a:t>Imm</a:t>
                  </a:r>
                  <a:r>
                    <a:rPr lang="en-US" sz="1600" dirty="0"/>
                    <a:t>.</a:t>
                  </a:r>
                </a:p>
              </p:txBody>
            </p:sp>
          </p:grpSp>
          <p:cxnSp>
            <p:nvCxnSpPr>
              <p:cNvPr id="299" name="Straight Arrow Connector 298"/>
              <p:cNvCxnSpPr/>
              <p:nvPr/>
            </p:nvCxnSpPr>
            <p:spPr>
              <a:xfrm>
                <a:off x="3167813" y="2821754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 flipV="1">
                <a:off x="3175673" y="2807645"/>
                <a:ext cx="0" cy="304801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1" name="TextBox 300"/>
              <p:cNvSpPr txBox="1"/>
              <p:nvPr/>
            </p:nvSpPr>
            <p:spPr>
              <a:xfrm>
                <a:off x="8342063" y="3204346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MDR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302" name="Straight Connector 301"/>
              <p:cNvCxnSpPr/>
              <p:nvPr/>
            </p:nvCxnSpPr>
            <p:spPr>
              <a:xfrm>
                <a:off x="1806354" y="2731899"/>
                <a:ext cx="1165446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Freeform 302"/>
              <p:cNvSpPr/>
              <p:nvPr/>
            </p:nvSpPr>
            <p:spPr>
              <a:xfrm>
                <a:off x="2784222" y="1956747"/>
                <a:ext cx="4194428" cy="501650"/>
              </a:xfrm>
              <a:custGeom>
                <a:avLst/>
                <a:gdLst>
                  <a:gd name="connsiteX0" fmla="*/ 4292600 w 4292600"/>
                  <a:gd name="connsiteY0" fmla="*/ 501650 h 501650"/>
                  <a:gd name="connsiteX1" fmla="*/ 4292600 w 4292600"/>
                  <a:gd name="connsiteY1" fmla="*/ 0 h 501650"/>
                  <a:gd name="connsiteX2" fmla="*/ 0 w 4292600"/>
                  <a:gd name="connsiteY2" fmla="*/ 0 h 501650"/>
                  <a:gd name="connsiteX3" fmla="*/ 0 w 4292600"/>
                  <a:gd name="connsiteY3" fmla="*/ 342900 h 501650"/>
                  <a:gd name="connsiteX4" fmla="*/ 209550 w 4292600"/>
                  <a:gd name="connsiteY4" fmla="*/ 342900 h 50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92600" h="501650">
                    <a:moveTo>
                      <a:pt x="4292600" y="501650"/>
                    </a:moveTo>
                    <a:lnTo>
                      <a:pt x="4292600" y="0"/>
                    </a:lnTo>
                    <a:lnTo>
                      <a:pt x="0" y="0"/>
                    </a:lnTo>
                    <a:lnTo>
                      <a:pt x="0" y="342900"/>
                    </a:lnTo>
                    <a:lnTo>
                      <a:pt x="209550" y="34290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Freeform 303"/>
              <p:cNvSpPr/>
              <p:nvPr/>
            </p:nvSpPr>
            <p:spPr>
              <a:xfrm>
                <a:off x="2631989" y="1773538"/>
                <a:ext cx="6376087" cy="1193202"/>
              </a:xfrm>
              <a:custGeom>
                <a:avLst/>
                <a:gdLst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469557 w 6376087"/>
                  <a:gd name="connsiteY5" fmla="*/ 803189 h 1272746"/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337035 w 6376087"/>
                  <a:gd name="connsiteY5" fmla="*/ 803189 h 127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76087" h="1272746">
                    <a:moveTo>
                      <a:pt x="6079525" y="1272746"/>
                    </a:moveTo>
                    <a:lnTo>
                      <a:pt x="6376087" y="1272746"/>
                    </a:lnTo>
                    <a:lnTo>
                      <a:pt x="6376087" y="0"/>
                    </a:lnTo>
                    <a:lnTo>
                      <a:pt x="0" y="0"/>
                    </a:lnTo>
                    <a:lnTo>
                      <a:pt x="0" y="803189"/>
                    </a:lnTo>
                    <a:lnTo>
                      <a:pt x="337035" y="803189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5" name="Straight Arrow Connector 304"/>
              <p:cNvCxnSpPr/>
              <p:nvPr/>
            </p:nvCxnSpPr>
            <p:spPr>
              <a:xfrm>
                <a:off x="3124200" y="2502741"/>
                <a:ext cx="280073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/>
              <p:cNvCxnSpPr/>
              <p:nvPr/>
            </p:nvCxnSpPr>
            <p:spPr>
              <a:xfrm flipH="1" flipV="1">
                <a:off x="1828800" y="1426509"/>
                <a:ext cx="3167812" cy="549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" name="Freeform 306"/>
              <p:cNvSpPr/>
              <p:nvPr/>
            </p:nvSpPr>
            <p:spPr>
              <a:xfrm>
                <a:off x="1502860" y="1426509"/>
                <a:ext cx="173540" cy="1310541"/>
              </a:xfrm>
              <a:custGeom>
                <a:avLst/>
                <a:gdLst>
                  <a:gd name="connsiteX0" fmla="*/ 0 w 193637"/>
                  <a:gd name="connsiteY0" fmla="*/ 1376979 h 1376979"/>
                  <a:gd name="connsiteX1" fmla="*/ 0 w 193637"/>
                  <a:gd name="connsiteY1" fmla="*/ 0 h 1376979"/>
                  <a:gd name="connsiteX2" fmla="*/ 193637 w 193637"/>
                  <a:gd name="connsiteY2" fmla="*/ 0 h 137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37" h="1376979">
                    <a:moveTo>
                      <a:pt x="0" y="1376979"/>
                    </a:moveTo>
                    <a:lnTo>
                      <a:pt x="0" y="0"/>
                    </a:lnTo>
                    <a:lnTo>
                      <a:pt x="19363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8" name="Group 307"/>
              <p:cNvGrpSpPr/>
              <p:nvPr/>
            </p:nvGrpSpPr>
            <p:grpSpPr>
              <a:xfrm>
                <a:off x="1676399" y="1207447"/>
                <a:ext cx="152401" cy="533399"/>
                <a:chOff x="1523290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13" name="Rectangle 312"/>
                <p:cNvSpPr/>
                <p:nvPr/>
              </p:nvSpPr>
              <p:spPr>
                <a:xfrm>
                  <a:off x="1523290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4" name="Isosceles Triangle 313"/>
                <p:cNvSpPr/>
                <p:nvPr/>
              </p:nvSpPr>
              <p:spPr>
                <a:xfrm>
                  <a:off x="1523291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9" name="Freeform 308"/>
              <p:cNvSpPr/>
              <p:nvPr/>
            </p:nvSpPr>
            <p:spPr>
              <a:xfrm>
                <a:off x="252484" y="948519"/>
                <a:ext cx="6728346" cy="1890215"/>
              </a:xfrm>
              <a:custGeom>
                <a:avLst/>
                <a:gdLst>
                  <a:gd name="connsiteX0" fmla="*/ 6728346 w 6728346"/>
                  <a:gd name="connsiteY0" fmla="*/ 1003111 h 1890215"/>
                  <a:gd name="connsiteX1" fmla="*/ 6728346 w 6728346"/>
                  <a:gd name="connsiteY1" fmla="*/ 0 h 1890215"/>
                  <a:gd name="connsiteX2" fmla="*/ 0 w 6728346"/>
                  <a:gd name="connsiteY2" fmla="*/ 0 h 1890215"/>
                  <a:gd name="connsiteX3" fmla="*/ 0 w 6728346"/>
                  <a:gd name="connsiteY3" fmla="*/ 1890215 h 1890215"/>
                  <a:gd name="connsiteX4" fmla="*/ 559558 w 6728346"/>
                  <a:gd name="connsiteY4" fmla="*/ 1890215 h 189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8346" h="1890215">
                    <a:moveTo>
                      <a:pt x="6728346" y="1003111"/>
                    </a:moveTo>
                    <a:lnTo>
                      <a:pt x="6728346" y="0"/>
                    </a:lnTo>
                    <a:lnTo>
                      <a:pt x="0" y="0"/>
                    </a:lnTo>
                    <a:lnTo>
                      <a:pt x="0" y="1890215"/>
                    </a:lnTo>
                    <a:lnTo>
                      <a:pt x="559558" y="1890215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Arrow Connector 309"/>
              <p:cNvCxnSpPr/>
              <p:nvPr/>
            </p:nvCxnSpPr>
            <p:spPr>
              <a:xfrm>
                <a:off x="5501949" y="3181350"/>
                <a:ext cx="19266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1" name="TextBox 310"/>
              <p:cNvSpPr txBox="1"/>
              <p:nvPr/>
            </p:nvSpPr>
            <p:spPr>
              <a:xfrm>
                <a:off x="5418135" y="3095890"/>
                <a:ext cx="7854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4</a:t>
                </a:r>
              </a:p>
            </p:txBody>
          </p:sp>
          <p:cxnSp>
            <p:nvCxnSpPr>
              <p:cNvPr id="312" name="Elbow Connector 311"/>
              <p:cNvCxnSpPr/>
              <p:nvPr/>
            </p:nvCxnSpPr>
            <p:spPr>
              <a:xfrm>
                <a:off x="2389077" y="1607120"/>
                <a:ext cx="3288762" cy="967970"/>
              </a:xfrm>
              <a:prstGeom prst="bentConnector3">
                <a:avLst>
                  <a:gd name="adj1" fmla="val 70502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Slide Number Placeholder 5"/>
            <p:cNvSpPr txBox="1">
              <a:spLocks/>
            </p:cNvSpPr>
            <p:nvPr/>
          </p:nvSpPr>
          <p:spPr>
            <a:xfrm>
              <a:off x="6775543" y="4012755"/>
              <a:ext cx="2057400" cy="27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21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1pPr>
              <a:lvl2pPr marL="557213" indent="-214313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–"/>
                <a:defRPr sz="18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2pPr>
              <a:lvl3pPr marL="857250" indent="-17145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15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3pPr>
              <a:lvl4pPr marL="12001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–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David" panose="020E0502060401010101" pitchFamily="34" charset="-79"/>
                </a:defRPr>
              </a:lvl4pPr>
              <a:lvl5pPr marL="15430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5pPr>
              <a:lvl6pPr marL="18859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6pPr>
              <a:lvl7pPr marL="22288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7pPr>
              <a:lvl8pPr marL="25717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8pPr>
              <a:lvl9pPr marL="29146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9pPr>
            </a:lstStyle>
            <a:p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fld id="{9C85D208-0562-4EC6-A8D8-B3912B9A5675}" type="slidenum">
                <a:rPr lang="he-IL" altLang="en-US" sz="750" smtClean="0">
                  <a:cs typeface="Times New Roman" panose="02020603050405020304" pitchFamily="18" charset="0"/>
                </a:rPr>
                <a:pPr rtl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t>41</a:t>
              </a:fld>
              <a:endParaRPr lang="en-US" altLang="en-US" sz="750" dirty="0">
                <a:cs typeface="Times New Roman" panose="02020603050405020304" pitchFamily="18" charset="0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444005" y="3575340"/>
              <a:ext cx="55880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7030A0"/>
                  </a:solidFill>
                </a:rPr>
                <a:t>Pcsource</a:t>
              </a:r>
              <a:br>
                <a:rPr lang="en-US" sz="1200" dirty="0">
                  <a:solidFill>
                    <a:srgbClr val="7030A0"/>
                  </a:solidFill>
                </a:rPr>
              </a:br>
              <a:r>
                <a:rPr lang="en-US" sz="1200" dirty="0">
                  <a:solidFill>
                    <a:srgbClr val="7030A0"/>
                  </a:solidFill>
                </a:rPr>
                <a:t>=</a:t>
              </a:r>
              <a:r>
                <a:rPr lang="en-US" sz="1200" dirty="0" err="1">
                  <a:solidFill>
                    <a:srgbClr val="7030A0"/>
                  </a:solidFill>
                </a:rPr>
                <a:t>ALUout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CFBAF49-6E05-48C4-6995-D22BE97DF2D1}"/>
              </a:ext>
            </a:extLst>
          </p:cNvPr>
          <p:cNvSpPr txBox="1">
            <a:spLocks/>
          </p:cNvSpPr>
          <p:nvPr/>
        </p:nvSpPr>
        <p:spPr>
          <a:xfrm>
            <a:off x="6019893" y="144005"/>
            <a:ext cx="2380432" cy="6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שאלה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B23C7-C992-5D7D-CEFA-BE8E2A46961F}"/>
              </a:ext>
            </a:extLst>
          </p:cNvPr>
          <p:cNvSpPr/>
          <p:nvPr/>
        </p:nvSpPr>
        <p:spPr>
          <a:xfrm>
            <a:off x="385827" y="889366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ללא רגיסטר </a:t>
            </a:r>
            <a:r>
              <a:rPr lang="en-US" dirty="0" err="1"/>
              <a:t>ALUout</a:t>
            </a:r>
            <a:r>
              <a:rPr lang="he-IL" dirty="0"/>
              <a:t>. האם המעבד יעבוד? (מותר להאריך את זמן מחזור השעון או להוסיף מחזורי שעון לכל פקודה. אסור לבצע שינוי בחיבורים או הרכיבים ב</a:t>
            </a:r>
            <a:r>
              <a:rPr lang="en-US" dirty="0"/>
              <a:t> Data Path</a:t>
            </a:r>
            <a:r>
              <a:rPr lang="he-IL" dirty="0"/>
              <a:t> ו/או ה-</a:t>
            </a:r>
            <a:r>
              <a:rPr lang="en-US" dirty="0"/>
              <a:t>Controller</a:t>
            </a:r>
            <a:r>
              <a:rPr lang="he-IL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651579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96705" y="1755942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solidFill>
                  <a:srgbClr val="0070C0"/>
                </a:solidFill>
              </a:rPr>
              <a:t>המעבד לא יעבוד כמו שצריך, כי עכשיו אין אפשרות לבצע פקודות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endParaRPr lang="he-IL" dirty="0">
              <a:solidFill>
                <a:srgbClr val="0070C0"/>
              </a:solidFill>
            </a:endParaRPr>
          </a:p>
        </p:txBody>
      </p:sp>
      <p:grpSp>
        <p:nvGrpSpPr>
          <p:cNvPr id="230" name="Group 229"/>
          <p:cNvGrpSpPr/>
          <p:nvPr/>
        </p:nvGrpSpPr>
        <p:grpSpPr>
          <a:xfrm>
            <a:off x="381000" y="2206785"/>
            <a:ext cx="7162800" cy="2638054"/>
            <a:chOff x="228600" y="971550"/>
            <a:chExt cx="8761496" cy="3476254"/>
          </a:xfrm>
        </p:grpSpPr>
        <p:grpSp>
          <p:nvGrpSpPr>
            <p:cNvPr id="231" name="Group 230"/>
            <p:cNvGrpSpPr/>
            <p:nvPr/>
          </p:nvGrpSpPr>
          <p:grpSpPr>
            <a:xfrm>
              <a:off x="234504" y="979519"/>
              <a:ext cx="8755592" cy="3230728"/>
              <a:chOff x="252484" y="948519"/>
              <a:chExt cx="8755592" cy="3230728"/>
            </a:xfrm>
          </p:grpSpPr>
          <p:sp>
            <p:nvSpPr>
              <p:cNvPr id="252" name="Rectangle 251"/>
              <p:cNvSpPr/>
              <p:nvPr/>
            </p:nvSpPr>
            <p:spPr>
              <a:xfrm>
                <a:off x="1709663" y="2883847"/>
                <a:ext cx="609600" cy="6858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IMEM</a:t>
                </a:r>
              </a:p>
            </p:txBody>
          </p:sp>
          <p:grpSp>
            <p:nvGrpSpPr>
              <p:cNvPr id="253" name="Group 252"/>
              <p:cNvGrpSpPr/>
              <p:nvPr/>
            </p:nvGrpSpPr>
            <p:grpSpPr>
              <a:xfrm>
                <a:off x="5923116" y="2389916"/>
                <a:ext cx="521297" cy="990600"/>
                <a:chOff x="6324600" y="3115310"/>
                <a:chExt cx="521297" cy="1056640"/>
              </a:xfrm>
            </p:grpSpPr>
            <p:sp>
              <p:nvSpPr>
                <p:cNvPr id="343" name="Trapezoid 342"/>
                <p:cNvSpPr/>
                <p:nvPr/>
              </p:nvSpPr>
              <p:spPr>
                <a:xfrm rot="5400000">
                  <a:off x="6062980" y="3453130"/>
                  <a:ext cx="1056640" cy="381000"/>
                </a:xfrm>
                <a:prstGeom prst="trapezoid">
                  <a:avLst>
                    <a:gd name="adj" fmla="val 4659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Isosceles Triangle 343"/>
                <p:cNvSpPr/>
                <p:nvPr/>
              </p:nvSpPr>
              <p:spPr>
                <a:xfrm rot="5400000">
                  <a:off x="6362707" y="3641091"/>
                  <a:ext cx="152400" cy="762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5" name="Straight Connector 344"/>
                <p:cNvCxnSpPr>
                  <a:stCxn id="344" idx="2"/>
                  <a:endCxn id="344" idx="4"/>
                </p:cNvCxnSpPr>
                <p:nvPr/>
              </p:nvCxnSpPr>
              <p:spPr>
                <a:xfrm>
                  <a:off x="6400808" y="3602991"/>
                  <a:ext cx="0" cy="152400"/>
                </a:xfrm>
                <a:prstGeom prst="line">
                  <a:avLst/>
                </a:prstGeom>
                <a:ln w="28575" cmpd="sng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6" name="TextBox 345"/>
                <p:cNvSpPr txBox="1"/>
                <p:nvPr/>
              </p:nvSpPr>
              <p:spPr>
                <a:xfrm>
                  <a:off x="6324600" y="3181350"/>
                  <a:ext cx="5212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ALU</a:t>
                  </a:r>
                </a:p>
              </p:txBody>
            </p:sp>
          </p:grpSp>
          <p:grpSp>
            <p:nvGrpSpPr>
              <p:cNvPr id="254" name="Group 253"/>
              <p:cNvGrpSpPr/>
              <p:nvPr/>
            </p:nvGrpSpPr>
            <p:grpSpPr>
              <a:xfrm>
                <a:off x="7212723" y="2542316"/>
                <a:ext cx="990600" cy="838200"/>
                <a:chOff x="6324600" y="1733550"/>
                <a:chExt cx="990600" cy="838200"/>
              </a:xfrm>
            </p:grpSpPr>
            <p:sp>
              <p:nvSpPr>
                <p:cNvPr id="341" name="Rectangle 340"/>
                <p:cNvSpPr/>
                <p:nvPr/>
              </p:nvSpPr>
              <p:spPr>
                <a:xfrm>
                  <a:off x="6324600" y="1733550"/>
                  <a:ext cx="990600" cy="8382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DMEM</a:t>
                  </a:r>
                  <a:endParaRPr lang="en-US" dirty="0">
                    <a:solidFill>
                      <a:schemeClr val="tx1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342" name="Isosceles Triangle 341"/>
                <p:cNvSpPr/>
                <p:nvPr/>
              </p:nvSpPr>
              <p:spPr>
                <a:xfrm>
                  <a:off x="7010400" y="2419350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5" name="Group 254"/>
              <p:cNvGrpSpPr/>
              <p:nvPr/>
            </p:nvGrpSpPr>
            <p:grpSpPr>
              <a:xfrm>
                <a:off x="3396413" y="2161316"/>
                <a:ext cx="841921" cy="1447800"/>
                <a:chOff x="3657600" y="1428750"/>
                <a:chExt cx="841921" cy="1447800"/>
              </a:xfrm>
            </p:grpSpPr>
            <p:grpSp>
              <p:nvGrpSpPr>
                <p:cNvPr id="332" name="Group 331"/>
                <p:cNvGrpSpPr/>
                <p:nvPr/>
              </p:nvGrpSpPr>
              <p:grpSpPr>
                <a:xfrm>
                  <a:off x="3657600" y="1428750"/>
                  <a:ext cx="838199" cy="1447800"/>
                  <a:chOff x="3810000" y="1412681"/>
                  <a:chExt cx="838199" cy="1447800"/>
                </a:xfrm>
              </p:grpSpPr>
              <p:sp>
                <p:nvSpPr>
                  <p:cNvPr id="339" name="Rectangle 338"/>
                  <p:cNvSpPr/>
                  <p:nvPr/>
                </p:nvSpPr>
                <p:spPr>
                  <a:xfrm>
                    <a:off x="3810000" y="1412681"/>
                    <a:ext cx="838199" cy="144780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 anchorCtr="0"/>
                  <a:lstStyle/>
                  <a:p>
                    <a:pPr algn="ctr"/>
                    <a:r>
                      <a:rPr lang="en-US" dirty="0" err="1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Reg</a:t>
                    </a:r>
                    <a:r>
                      <a:rPr lang="en-US" dirty="0">
                        <a:solidFill>
                          <a:schemeClr val="tx1"/>
                        </a:solidFill>
                        <a:latin typeface="Calibri"/>
                        <a:cs typeface="Calibri"/>
                      </a:rPr>
                      <a:t>[]</a:t>
                    </a:r>
                  </a:p>
                </p:txBody>
              </p:sp>
              <p:sp>
                <p:nvSpPr>
                  <p:cNvPr id="340" name="Isosceles Triangle 339"/>
                  <p:cNvSpPr/>
                  <p:nvPr/>
                </p:nvSpPr>
                <p:spPr>
                  <a:xfrm>
                    <a:off x="4419600" y="2708081"/>
                    <a:ext cx="152400" cy="152400"/>
                  </a:xfrm>
                  <a:prstGeom prst="triangle">
                    <a:avLst/>
                  </a:prstGeom>
                  <a:ln w="28575" cmpd="sng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33" name="TextBox 332"/>
                <p:cNvSpPr txBox="1"/>
                <p:nvPr/>
              </p:nvSpPr>
              <p:spPr>
                <a:xfrm>
                  <a:off x="3657600" y="2271415"/>
                  <a:ext cx="3975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AddrA</a:t>
                  </a:r>
                  <a:endParaRPr lang="en-US" sz="1200" dirty="0"/>
                </a:p>
              </p:txBody>
            </p:sp>
            <p:sp>
              <p:nvSpPr>
                <p:cNvPr id="334" name="TextBox 333"/>
                <p:cNvSpPr txBox="1"/>
                <p:nvPr/>
              </p:nvSpPr>
              <p:spPr>
                <a:xfrm>
                  <a:off x="3657600" y="2576215"/>
                  <a:ext cx="38810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AddrB</a:t>
                  </a:r>
                  <a:endParaRPr lang="en-US" sz="1200" dirty="0"/>
                </a:p>
              </p:txBody>
            </p:sp>
            <p:sp>
              <p:nvSpPr>
                <p:cNvPr id="335" name="TextBox 334"/>
                <p:cNvSpPr txBox="1"/>
                <p:nvPr/>
              </p:nvSpPr>
              <p:spPr>
                <a:xfrm>
                  <a:off x="4114800" y="2234684"/>
                  <a:ext cx="38472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DataA</a:t>
                  </a:r>
                  <a:endParaRPr lang="en-US" sz="1200" dirty="0"/>
                </a:p>
              </p:txBody>
            </p:sp>
            <p:sp>
              <p:nvSpPr>
                <p:cNvPr id="336" name="TextBox 335"/>
                <p:cNvSpPr txBox="1"/>
                <p:nvPr/>
              </p:nvSpPr>
              <p:spPr>
                <a:xfrm>
                  <a:off x="3657600" y="1998881"/>
                  <a:ext cx="39907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AddrD</a:t>
                  </a:r>
                  <a:endParaRPr lang="en-US" sz="1200" dirty="0"/>
                </a:p>
              </p:txBody>
            </p:sp>
            <p:sp>
              <p:nvSpPr>
                <p:cNvPr id="337" name="TextBox 336"/>
                <p:cNvSpPr txBox="1"/>
                <p:nvPr/>
              </p:nvSpPr>
              <p:spPr>
                <a:xfrm>
                  <a:off x="4114800" y="2463284"/>
                  <a:ext cx="37735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DataB</a:t>
                  </a:r>
                  <a:endParaRPr lang="en-US" sz="1200" dirty="0"/>
                </a:p>
              </p:txBody>
            </p:sp>
            <p:sp>
              <p:nvSpPr>
                <p:cNvPr id="338" name="TextBox 337"/>
                <p:cNvSpPr txBox="1"/>
                <p:nvPr/>
              </p:nvSpPr>
              <p:spPr>
                <a:xfrm>
                  <a:off x="3657600" y="1694081"/>
                  <a:ext cx="3883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 err="1"/>
                    <a:t>DataD</a:t>
                  </a:r>
                  <a:endParaRPr lang="en-US" sz="1200" dirty="0"/>
                </a:p>
              </p:txBody>
            </p:sp>
          </p:grpSp>
          <p:sp>
            <p:nvSpPr>
              <p:cNvPr id="256" name="TextBox 255"/>
              <p:cNvSpPr txBox="1"/>
              <p:nvPr/>
            </p:nvSpPr>
            <p:spPr>
              <a:xfrm>
                <a:off x="7212723" y="2770916"/>
                <a:ext cx="3077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</a:t>
                </a:r>
                <a:endParaRPr lang="en-US" sz="1200" dirty="0"/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7233906" y="3043450"/>
                <a:ext cx="4360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DataW</a:t>
                </a:r>
                <a:endParaRPr lang="en-US" sz="1200" dirty="0"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746123" y="284711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DataR</a:t>
                </a:r>
                <a:endParaRPr lang="en-US" sz="1200" dirty="0"/>
              </a:p>
            </p:txBody>
          </p:sp>
          <p:sp>
            <p:nvSpPr>
              <p:cNvPr id="259" name="Trapezoid 258"/>
              <p:cNvSpPr/>
              <p:nvPr/>
            </p:nvSpPr>
            <p:spPr>
              <a:xfrm rot="5400000">
                <a:off x="5496864" y="2499261"/>
                <a:ext cx="533404" cy="162306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60" name="Straight Arrow Connector 259"/>
              <p:cNvCxnSpPr>
                <a:stCxn id="341" idx="3"/>
              </p:cNvCxnSpPr>
              <p:nvPr/>
            </p:nvCxnSpPr>
            <p:spPr>
              <a:xfrm flipV="1">
                <a:off x="8203323" y="2946104"/>
                <a:ext cx="367652" cy="1531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Arrow Connector 260"/>
              <p:cNvCxnSpPr>
                <a:endCxn id="256" idx="1"/>
              </p:cNvCxnSpPr>
              <p:nvPr/>
            </p:nvCxnSpPr>
            <p:spPr>
              <a:xfrm>
                <a:off x="6381135" y="2848897"/>
                <a:ext cx="831588" cy="1435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/>
              <p:cNvCxnSpPr/>
              <p:nvPr/>
            </p:nvCxnSpPr>
            <p:spPr>
              <a:xfrm flipV="1">
                <a:off x="6977813" y="2426647"/>
                <a:ext cx="0" cy="419099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Elbow Connector 262"/>
              <p:cNvCxnSpPr>
                <a:endCxn id="330" idx="1"/>
              </p:cNvCxnSpPr>
              <p:nvPr/>
            </p:nvCxnSpPr>
            <p:spPr>
              <a:xfrm rot="16200000" flipH="1">
                <a:off x="-92362" y="1676883"/>
                <a:ext cx="1478219" cy="361112"/>
              </a:xfrm>
              <a:prstGeom prst="bentConnector2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4" name="Group 263"/>
              <p:cNvGrpSpPr/>
              <p:nvPr/>
            </p:nvGrpSpPr>
            <p:grpSpPr>
              <a:xfrm>
                <a:off x="811428" y="2466116"/>
                <a:ext cx="152400" cy="533400"/>
                <a:chOff x="5791200" y="1352550"/>
                <a:chExt cx="152400" cy="533400"/>
              </a:xfrm>
            </p:grpSpPr>
            <p:sp>
              <p:nvSpPr>
                <p:cNvPr id="329" name="Trapezoid 328"/>
                <p:cNvSpPr/>
                <p:nvPr/>
              </p:nvSpPr>
              <p:spPr>
                <a:xfrm rot="5400000">
                  <a:off x="5600700" y="1543050"/>
                  <a:ext cx="533400" cy="152400"/>
                </a:xfrm>
                <a:prstGeom prst="trapezoid">
                  <a:avLst>
                    <a:gd name="adj" fmla="val 62709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TextBox 329"/>
                <p:cNvSpPr txBox="1"/>
                <p:nvPr/>
              </p:nvSpPr>
              <p:spPr>
                <a:xfrm>
                  <a:off x="5807075" y="1390650"/>
                  <a:ext cx="7620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1</a:t>
                  </a:r>
                </a:p>
              </p:txBody>
            </p:sp>
            <p:sp>
              <p:nvSpPr>
                <p:cNvPr id="331" name="TextBox 330"/>
                <p:cNvSpPr txBox="1"/>
                <p:nvPr/>
              </p:nvSpPr>
              <p:spPr>
                <a:xfrm>
                  <a:off x="5810250" y="1638300"/>
                  <a:ext cx="7799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200" dirty="0"/>
                    <a:t>0</a:t>
                  </a:r>
                </a:p>
              </p:txBody>
            </p:sp>
          </p:grpSp>
          <p:cxnSp>
            <p:nvCxnSpPr>
              <p:cNvPr id="265" name="Straight Connector 264"/>
              <p:cNvCxnSpPr>
                <a:endCxn id="327" idx="1"/>
              </p:cNvCxnSpPr>
              <p:nvPr/>
            </p:nvCxnSpPr>
            <p:spPr>
              <a:xfrm>
                <a:off x="963828" y="2732816"/>
                <a:ext cx="152400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Elbow Connector 265"/>
              <p:cNvCxnSpPr>
                <a:stCxn id="327" idx="3"/>
                <a:endCxn id="252" idx="1"/>
              </p:cNvCxnSpPr>
              <p:nvPr/>
            </p:nvCxnSpPr>
            <p:spPr>
              <a:xfrm>
                <a:off x="1389326" y="2732816"/>
                <a:ext cx="320337" cy="493931"/>
              </a:xfrm>
              <a:prstGeom prst="bentConnector3">
                <a:avLst>
                  <a:gd name="adj1" fmla="val 3846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Arrow Connector 266"/>
              <p:cNvCxnSpPr>
                <a:stCxn id="259" idx="0"/>
              </p:cNvCxnSpPr>
              <p:nvPr/>
            </p:nvCxnSpPr>
            <p:spPr>
              <a:xfrm flipV="1">
                <a:off x="5844719" y="2579048"/>
                <a:ext cx="142494" cy="136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Elbow Connector 267"/>
              <p:cNvCxnSpPr>
                <a:cxnSpLocks/>
              </p:cNvCxnSpPr>
              <p:nvPr/>
            </p:nvCxnSpPr>
            <p:spPr>
              <a:xfrm>
                <a:off x="4234613" y="2722783"/>
                <a:ext cx="1447800" cy="1367"/>
              </a:xfrm>
              <a:prstGeom prst="bentConnector3">
                <a:avLst>
                  <a:gd name="adj1" fmla="val 50000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Elbow Connector 268"/>
              <p:cNvCxnSpPr>
                <a:stCxn id="337" idx="3"/>
              </p:cNvCxnSpPr>
              <p:nvPr/>
            </p:nvCxnSpPr>
            <p:spPr>
              <a:xfrm>
                <a:off x="4230970" y="3288183"/>
                <a:ext cx="1058896" cy="320141"/>
              </a:xfrm>
              <a:prstGeom prst="bentConnector3">
                <a:avLst>
                  <a:gd name="adj1" fmla="val 29284"/>
                </a:avLst>
              </a:prstGeom>
              <a:ln w="28575" cmpd="sng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Elbow Connector 269"/>
              <p:cNvCxnSpPr/>
              <p:nvPr/>
            </p:nvCxnSpPr>
            <p:spPr>
              <a:xfrm flipV="1">
                <a:off x="1107954" y="1609462"/>
                <a:ext cx="1289350" cy="1123354"/>
              </a:xfrm>
              <a:prstGeom prst="bentConnector3">
                <a:avLst>
                  <a:gd name="adj1" fmla="val 73109"/>
                </a:avLst>
              </a:prstGeom>
              <a:ln w="28575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Elbow Connector 270"/>
              <p:cNvCxnSpPr/>
              <p:nvPr/>
            </p:nvCxnSpPr>
            <p:spPr>
              <a:xfrm rot="16200000" flipH="1">
                <a:off x="4864428" y="1564191"/>
                <a:ext cx="969816" cy="705448"/>
              </a:xfrm>
              <a:prstGeom prst="bentConnector3">
                <a:avLst>
                  <a:gd name="adj1" fmla="val 9999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2" name="Group 271"/>
              <p:cNvGrpSpPr/>
              <p:nvPr/>
            </p:nvGrpSpPr>
            <p:grpSpPr>
              <a:xfrm>
                <a:off x="1116228" y="2313716"/>
                <a:ext cx="273098" cy="838199"/>
                <a:chOff x="1540165" y="1809750"/>
                <a:chExt cx="273098" cy="838199"/>
              </a:xfrm>
            </p:grpSpPr>
            <p:sp>
              <p:nvSpPr>
                <p:cNvPr id="327" name="Rectangle 326"/>
                <p:cNvSpPr/>
                <p:nvPr/>
              </p:nvSpPr>
              <p:spPr>
                <a:xfrm>
                  <a:off x="1540165" y="1809750"/>
                  <a:ext cx="273098" cy="838199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8" name="Isosceles Triangle 327"/>
                <p:cNvSpPr/>
                <p:nvPr/>
              </p:nvSpPr>
              <p:spPr>
                <a:xfrm>
                  <a:off x="1600200" y="2495550"/>
                  <a:ext cx="152400" cy="152399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3" name="Trapezoid 272"/>
              <p:cNvSpPr/>
              <p:nvPr/>
            </p:nvSpPr>
            <p:spPr>
              <a:xfrm rot="5400000">
                <a:off x="5508368" y="3074347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4" name="Elbow Connector 273"/>
              <p:cNvCxnSpPr>
                <a:endCxn id="315" idx="2"/>
              </p:cNvCxnSpPr>
              <p:nvPr/>
            </p:nvCxnSpPr>
            <p:spPr>
              <a:xfrm>
                <a:off x="2321960" y="3113070"/>
                <a:ext cx="2674653" cy="837577"/>
              </a:xfrm>
              <a:prstGeom prst="bentConnector3">
                <a:avLst>
                  <a:gd name="adj1" fmla="val 3194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3167813" y="31124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/>
              <p:cNvCxnSpPr/>
              <p:nvPr/>
            </p:nvCxnSpPr>
            <p:spPr>
              <a:xfrm>
                <a:off x="3167813" y="3417247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7" name="Trapezoid 276"/>
              <p:cNvSpPr/>
              <p:nvPr/>
            </p:nvSpPr>
            <p:spPr>
              <a:xfrm rot="5400000">
                <a:off x="2667000" y="2357191"/>
                <a:ext cx="7620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78" name="Straight Arrow Connector 277"/>
              <p:cNvCxnSpPr>
                <a:stCxn id="273" idx="0"/>
              </p:cNvCxnSpPr>
              <p:nvPr/>
            </p:nvCxnSpPr>
            <p:spPr>
              <a:xfrm>
                <a:off x="5851268" y="3150547"/>
                <a:ext cx="146337" cy="1732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Elbow Connector 278"/>
              <p:cNvCxnSpPr/>
              <p:nvPr/>
            </p:nvCxnSpPr>
            <p:spPr>
              <a:xfrm flipV="1">
                <a:off x="5285248" y="3188647"/>
                <a:ext cx="1921165" cy="415636"/>
              </a:xfrm>
              <a:prstGeom prst="bentConnector3">
                <a:avLst>
                  <a:gd name="adj1" fmla="val 81551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Elbow Connector 279"/>
              <p:cNvCxnSpPr/>
              <p:nvPr/>
            </p:nvCxnSpPr>
            <p:spPr>
              <a:xfrm rot="5400000" flipH="1" flipV="1">
                <a:off x="5171093" y="3113747"/>
                <a:ext cx="624037" cy="389374"/>
              </a:xfrm>
              <a:prstGeom prst="bentConnector3">
                <a:avLst>
                  <a:gd name="adj1" fmla="val 100286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TextBox 280"/>
              <p:cNvSpPr txBox="1"/>
              <p:nvPr/>
            </p:nvSpPr>
            <p:spPr>
              <a:xfrm>
                <a:off x="516219" y="2341481"/>
                <a:ext cx="334416" cy="223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/>
                  <a:t>ALU</a:t>
                </a:r>
                <a:endParaRPr lang="en-US" sz="1100" baseline="-25000" dirty="0"/>
              </a:p>
            </p:txBody>
          </p:sp>
          <p:sp>
            <p:nvSpPr>
              <p:cNvPr id="282" name="TextBox 281"/>
              <p:cNvSpPr txBox="1"/>
              <p:nvPr/>
            </p:nvSpPr>
            <p:spPr>
              <a:xfrm>
                <a:off x="304800" y="2924804"/>
                <a:ext cx="42479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100" dirty="0" err="1"/>
                  <a:t>ALUout</a:t>
                </a:r>
                <a:endParaRPr lang="en-US" sz="1100" dirty="0"/>
              </a:p>
            </p:txBody>
          </p:sp>
          <p:cxnSp>
            <p:nvCxnSpPr>
              <p:cNvPr id="283" name="Straight Connector 282"/>
              <p:cNvCxnSpPr/>
              <p:nvPr/>
            </p:nvCxnSpPr>
            <p:spPr>
              <a:xfrm flipH="1">
                <a:off x="466191" y="1131247"/>
                <a:ext cx="5978223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4" name="Group 283"/>
              <p:cNvGrpSpPr/>
              <p:nvPr/>
            </p:nvGrpSpPr>
            <p:grpSpPr>
              <a:xfrm>
                <a:off x="2716428" y="2960048"/>
                <a:ext cx="152401" cy="533399"/>
                <a:chOff x="1066799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25" name="Rectangle 324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6" name="Isosceles Triangle 325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5" name="Group 284"/>
              <p:cNvGrpSpPr/>
              <p:nvPr/>
            </p:nvGrpSpPr>
            <p:grpSpPr>
              <a:xfrm>
                <a:off x="4310813" y="30362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23" name="Rectangle 322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4" name="Isosceles Triangle 323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6" name="Elbow Connector 285"/>
              <p:cNvCxnSpPr/>
              <p:nvPr/>
            </p:nvCxnSpPr>
            <p:spPr>
              <a:xfrm flipV="1">
                <a:off x="4920413" y="3341047"/>
                <a:ext cx="762000" cy="609600"/>
              </a:xfrm>
              <a:prstGeom prst="bentConnector3">
                <a:avLst>
                  <a:gd name="adj1" fmla="val 69697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7" name="Group 286"/>
              <p:cNvGrpSpPr/>
              <p:nvPr/>
            </p:nvGrpSpPr>
            <p:grpSpPr>
              <a:xfrm>
                <a:off x="6596813" y="25790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21" name="Rectangle 320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2" name="Isosceles Triangle 321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8" name="Group 287"/>
              <p:cNvGrpSpPr/>
              <p:nvPr/>
            </p:nvGrpSpPr>
            <p:grpSpPr>
              <a:xfrm>
                <a:off x="4310813" y="2426647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9" name="Rectangle 318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20" name="Isosceles Triangle 319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9" name="Group 288"/>
              <p:cNvGrpSpPr/>
              <p:nvPr/>
            </p:nvGrpSpPr>
            <p:grpSpPr>
              <a:xfrm>
                <a:off x="8558561" y="2713081"/>
                <a:ext cx="152401" cy="533399"/>
                <a:chOff x="1066799" y="3333750"/>
                <a:chExt cx="152401" cy="533399"/>
              </a:xfrm>
              <a:solidFill>
                <a:srgbClr val="5B9BD5"/>
              </a:solidFill>
            </p:grpSpPr>
            <p:sp>
              <p:nvSpPr>
                <p:cNvPr id="317" name="Rectangle 316"/>
                <p:cNvSpPr/>
                <p:nvPr/>
              </p:nvSpPr>
              <p:spPr>
                <a:xfrm>
                  <a:off x="1066799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8" name="Isosceles Triangle 317"/>
                <p:cNvSpPr/>
                <p:nvPr/>
              </p:nvSpPr>
              <p:spPr>
                <a:xfrm>
                  <a:off x="1066800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90" name="Straight Connector 289"/>
              <p:cNvCxnSpPr/>
              <p:nvPr/>
            </p:nvCxnSpPr>
            <p:spPr>
              <a:xfrm flipV="1">
                <a:off x="6444413" y="1131247"/>
                <a:ext cx="0" cy="1707487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TextBox 290"/>
              <p:cNvSpPr txBox="1"/>
              <p:nvPr/>
            </p:nvSpPr>
            <p:spPr>
              <a:xfrm>
                <a:off x="1792773" y="1057177"/>
                <a:ext cx="7697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PCC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2" name="TextBox 291"/>
              <p:cNvSpPr txBox="1"/>
              <p:nvPr/>
            </p:nvSpPr>
            <p:spPr>
              <a:xfrm>
                <a:off x="1046453" y="1967756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pc</a:t>
                </a:r>
                <a:endParaRPr lang="en-US" baseline="-25000" dirty="0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2604392" y="3455687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IR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4251341" y="2096976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4257440" y="354567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B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6520613" y="2249184"/>
                <a:ext cx="878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7030A0"/>
                    </a:solidFill>
                  </a:rPr>
                  <a:t>ALUout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453813" y="3645847"/>
                <a:ext cx="6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imm</a:t>
                </a:r>
                <a:r>
                  <a:rPr lang="en-US" baseline="-25000" dirty="0" err="1"/>
                  <a:t>X</a:t>
                </a:r>
                <a:endParaRPr lang="en-US" baseline="-25000" dirty="0"/>
              </a:p>
            </p:txBody>
          </p:sp>
          <p:grpSp>
            <p:nvGrpSpPr>
              <p:cNvPr id="298" name="Group 297"/>
              <p:cNvGrpSpPr/>
              <p:nvPr/>
            </p:nvGrpSpPr>
            <p:grpSpPr>
              <a:xfrm>
                <a:off x="4996613" y="3722047"/>
                <a:ext cx="556492" cy="457200"/>
                <a:chOff x="3886200" y="3257550"/>
                <a:chExt cx="556492" cy="457200"/>
              </a:xfrm>
            </p:grpSpPr>
            <p:sp>
              <p:nvSpPr>
                <p:cNvPr id="315" name="Trapezoid 314"/>
                <p:cNvSpPr/>
                <p:nvPr/>
              </p:nvSpPr>
              <p:spPr>
                <a:xfrm rot="5400000">
                  <a:off x="3848100" y="3295650"/>
                  <a:ext cx="457200" cy="381000"/>
                </a:xfrm>
                <a:prstGeom prst="trapezoid">
                  <a:avLst>
                    <a:gd name="adj" fmla="val 30656"/>
                  </a:avLst>
                </a:prstGeom>
                <a:solidFill>
                  <a:srgbClr val="FFFFFF"/>
                </a:solidFill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6" name="TextBox 315"/>
                <p:cNvSpPr txBox="1"/>
                <p:nvPr/>
              </p:nvSpPr>
              <p:spPr>
                <a:xfrm>
                  <a:off x="3909292" y="3304885"/>
                  <a:ext cx="5334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 err="1"/>
                    <a:t>Imm</a:t>
                  </a:r>
                  <a:r>
                    <a:rPr lang="en-US" sz="1600" dirty="0"/>
                    <a:t>.</a:t>
                  </a:r>
                </a:p>
              </p:txBody>
            </p:sp>
          </p:grpSp>
          <p:cxnSp>
            <p:nvCxnSpPr>
              <p:cNvPr id="299" name="Straight Arrow Connector 298"/>
              <p:cNvCxnSpPr/>
              <p:nvPr/>
            </p:nvCxnSpPr>
            <p:spPr>
              <a:xfrm>
                <a:off x="3167813" y="2821754"/>
                <a:ext cx="22860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 flipV="1">
                <a:off x="3175673" y="2807645"/>
                <a:ext cx="0" cy="304801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1" name="TextBox 300"/>
              <p:cNvSpPr txBox="1"/>
              <p:nvPr/>
            </p:nvSpPr>
            <p:spPr>
              <a:xfrm>
                <a:off x="8342063" y="3204346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MDR</a:t>
                </a:r>
                <a:endParaRPr lang="en-US" baseline="-250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302" name="Straight Connector 301"/>
              <p:cNvCxnSpPr/>
              <p:nvPr/>
            </p:nvCxnSpPr>
            <p:spPr>
              <a:xfrm>
                <a:off x="1806354" y="2731899"/>
                <a:ext cx="1165446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3" name="Freeform 302"/>
              <p:cNvSpPr/>
              <p:nvPr/>
            </p:nvSpPr>
            <p:spPr>
              <a:xfrm>
                <a:off x="2784222" y="1956747"/>
                <a:ext cx="4194428" cy="501650"/>
              </a:xfrm>
              <a:custGeom>
                <a:avLst/>
                <a:gdLst>
                  <a:gd name="connsiteX0" fmla="*/ 4292600 w 4292600"/>
                  <a:gd name="connsiteY0" fmla="*/ 501650 h 501650"/>
                  <a:gd name="connsiteX1" fmla="*/ 4292600 w 4292600"/>
                  <a:gd name="connsiteY1" fmla="*/ 0 h 501650"/>
                  <a:gd name="connsiteX2" fmla="*/ 0 w 4292600"/>
                  <a:gd name="connsiteY2" fmla="*/ 0 h 501650"/>
                  <a:gd name="connsiteX3" fmla="*/ 0 w 4292600"/>
                  <a:gd name="connsiteY3" fmla="*/ 342900 h 501650"/>
                  <a:gd name="connsiteX4" fmla="*/ 209550 w 4292600"/>
                  <a:gd name="connsiteY4" fmla="*/ 342900 h 50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92600" h="501650">
                    <a:moveTo>
                      <a:pt x="4292600" y="501650"/>
                    </a:moveTo>
                    <a:lnTo>
                      <a:pt x="4292600" y="0"/>
                    </a:lnTo>
                    <a:lnTo>
                      <a:pt x="0" y="0"/>
                    </a:lnTo>
                    <a:lnTo>
                      <a:pt x="0" y="342900"/>
                    </a:lnTo>
                    <a:lnTo>
                      <a:pt x="209550" y="34290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Freeform 303"/>
              <p:cNvSpPr/>
              <p:nvPr/>
            </p:nvSpPr>
            <p:spPr>
              <a:xfrm>
                <a:off x="2631989" y="1773538"/>
                <a:ext cx="6376087" cy="1193202"/>
              </a:xfrm>
              <a:custGeom>
                <a:avLst/>
                <a:gdLst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469557 w 6376087"/>
                  <a:gd name="connsiteY5" fmla="*/ 803189 h 1272746"/>
                  <a:gd name="connsiteX0" fmla="*/ 6079525 w 6376087"/>
                  <a:gd name="connsiteY0" fmla="*/ 1272746 h 1272746"/>
                  <a:gd name="connsiteX1" fmla="*/ 6376087 w 6376087"/>
                  <a:gd name="connsiteY1" fmla="*/ 1272746 h 1272746"/>
                  <a:gd name="connsiteX2" fmla="*/ 6376087 w 6376087"/>
                  <a:gd name="connsiteY2" fmla="*/ 0 h 1272746"/>
                  <a:gd name="connsiteX3" fmla="*/ 0 w 6376087"/>
                  <a:gd name="connsiteY3" fmla="*/ 0 h 1272746"/>
                  <a:gd name="connsiteX4" fmla="*/ 0 w 6376087"/>
                  <a:gd name="connsiteY4" fmla="*/ 803189 h 1272746"/>
                  <a:gd name="connsiteX5" fmla="*/ 337035 w 6376087"/>
                  <a:gd name="connsiteY5" fmla="*/ 803189 h 127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76087" h="1272746">
                    <a:moveTo>
                      <a:pt x="6079525" y="1272746"/>
                    </a:moveTo>
                    <a:lnTo>
                      <a:pt x="6376087" y="1272746"/>
                    </a:lnTo>
                    <a:lnTo>
                      <a:pt x="6376087" y="0"/>
                    </a:lnTo>
                    <a:lnTo>
                      <a:pt x="0" y="0"/>
                    </a:lnTo>
                    <a:lnTo>
                      <a:pt x="0" y="803189"/>
                    </a:lnTo>
                    <a:lnTo>
                      <a:pt x="337035" y="803189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5" name="Straight Arrow Connector 304"/>
              <p:cNvCxnSpPr/>
              <p:nvPr/>
            </p:nvCxnSpPr>
            <p:spPr>
              <a:xfrm>
                <a:off x="3124200" y="2502741"/>
                <a:ext cx="280073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/>
              <p:cNvCxnSpPr/>
              <p:nvPr/>
            </p:nvCxnSpPr>
            <p:spPr>
              <a:xfrm flipH="1" flipV="1">
                <a:off x="1828800" y="1426509"/>
                <a:ext cx="3167812" cy="549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" name="Freeform 306"/>
              <p:cNvSpPr/>
              <p:nvPr/>
            </p:nvSpPr>
            <p:spPr>
              <a:xfrm>
                <a:off x="1502860" y="1426509"/>
                <a:ext cx="173540" cy="1310541"/>
              </a:xfrm>
              <a:custGeom>
                <a:avLst/>
                <a:gdLst>
                  <a:gd name="connsiteX0" fmla="*/ 0 w 193637"/>
                  <a:gd name="connsiteY0" fmla="*/ 1376979 h 1376979"/>
                  <a:gd name="connsiteX1" fmla="*/ 0 w 193637"/>
                  <a:gd name="connsiteY1" fmla="*/ 0 h 1376979"/>
                  <a:gd name="connsiteX2" fmla="*/ 193637 w 193637"/>
                  <a:gd name="connsiteY2" fmla="*/ 0 h 137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637" h="1376979">
                    <a:moveTo>
                      <a:pt x="0" y="1376979"/>
                    </a:moveTo>
                    <a:lnTo>
                      <a:pt x="0" y="0"/>
                    </a:lnTo>
                    <a:lnTo>
                      <a:pt x="19363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8" name="Group 307"/>
              <p:cNvGrpSpPr/>
              <p:nvPr/>
            </p:nvGrpSpPr>
            <p:grpSpPr>
              <a:xfrm>
                <a:off x="1676399" y="1207447"/>
                <a:ext cx="152401" cy="533399"/>
                <a:chOff x="1523290" y="3333750"/>
                <a:chExt cx="152401" cy="533399"/>
              </a:xfrm>
              <a:solidFill>
                <a:schemeClr val="accent1"/>
              </a:solidFill>
            </p:grpSpPr>
            <p:sp>
              <p:nvSpPr>
                <p:cNvPr id="313" name="Rectangle 312"/>
                <p:cNvSpPr/>
                <p:nvPr/>
              </p:nvSpPr>
              <p:spPr>
                <a:xfrm>
                  <a:off x="1523290" y="3333750"/>
                  <a:ext cx="152401" cy="533399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b="1" dirty="0">
                    <a:solidFill>
                      <a:schemeClr val="tx1"/>
                    </a:solidFill>
                    <a:latin typeface="Courier New"/>
                    <a:cs typeface="Courier New"/>
                  </a:endParaRPr>
                </a:p>
              </p:txBody>
            </p:sp>
            <p:sp>
              <p:nvSpPr>
                <p:cNvPr id="314" name="Isosceles Triangle 313"/>
                <p:cNvSpPr/>
                <p:nvPr/>
              </p:nvSpPr>
              <p:spPr>
                <a:xfrm>
                  <a:off x="1523291" y="3714750"/>
                  <a:ext cx="152400" cy="152399"/>
                </a:xfrm>
                <a:prstGeom prst="triangle">
                  <a:avLst/>
                </a:prstGeom>
                <a:grpFill/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9" name="Freeform 308"/>
              <p:cNvSpPr/>
              <p:nvPr/>
            </p:nvSpPr>
            <p:spPr>
              <a:xfrm>
                <a:off x="252484" y="948519"/>
                <a:ext cx="6728346" cy="1890215"/>
              </a:xfrm>
              <a:custGeom>
                <a:avLst/>
                <a:gdLst>
                  <a:gd name="connsiteX0" fmla="*/ 6728346 w 6728346"/>
                  <a:gd name="connsiteY0" fmla="*/ 1003111 h 1890215"/>
                  <a:gd name="connsiteX1" fmla="*/ 6728346 w 6728346"/>
                  <a:gd name="connsiteY1" fmla="*/ 0 h 1890215"/>
                  <a:gd name="connsiteX2" fmla="*/ 0 w 6728346"/>
                  <a:gd name="connsiteY2" fmla="*/ 0 h 1890215"/>
                  <a:gd name="connsiteX3" fmla="*/ 0 w 6728346"/>
                  <a:gd name="connsiteY3" fmla="*/ 1890215 h 1890215"/>
                  <a:gd name="connsiteX4" fmla="*/ 559558 w 6728346"/>
                  <a:gd name="connsiteY4" fmla="*/ 1890215 h 189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28346" h="1890215">
                    <a:moveTo>
                      <a:pt x="6728346" y="1003111"/>
                    </a:moveTo>
                    <a:lnTo>
                      <a:pt x="6728346" y="0"/>
                    </a:lnTo>
                    <a:lnTo>
                      <a:pt x="0" y="0"/>
                    </a:lnTo>
                    <a:lnTo>
                      <a:pt x="0" y="1890215"/>
                    </a:lnTo>
                    <a:lnTo>
                      <a:pt x="559558" y="1890215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0" name="Straight Arrow Connector 309"/>
              <p:cNvCxnSpPr/>
              <p:nvPr/>
            </p:nvCxnSpPr>
            <p:spPr>
              <a:xfrm>
                <a:off x="5501949" y="3181350"/>
                <a:ext cx="192660" cy="0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1" name="TextBox 310"/>
              <p:cNvSpPr txBox="1"/>
              <p:nvPr/>
            </p:nvSpPr>
            <p:spPr>
              <a:xfrm>
                <a:off x="5418135" y="3095890"/>
                <a:ext cx="7854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4</a:t>
                </a:r>
              </a:p>
            </p:txBody>
          </p:sp>
          <p:cxnSp>
            <p:nvCxnSpPr>
              <p:cNvPr id="312" name="Elbow Connector 311"/>
              <p:cNvCxnSpPr/>
              <p:nvPr/>
            </p:nvCxnSpPr>
            <p:spPr>
              <a:xfrm>
                <a:off x="2389077" y="1607120"/>
                <a:ext cx="3288762" cy="967970"/>
              </a:xfrm>
              <a:prstGeom prst="bentConnector3">
                <a:avLst>
                  <a:gd name="adj1" fmla="val 70502"/>
                </a:avLst>
              </a:prstGeom>
              <a:ln w="28575" cmpd="sng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Slide Number Placeholder 5"/>
            <p:cNvSpPr txBox="1">
              <a:spLocks/>
            </p:cNvSpPr>
            <p:nvPr/>
          </p:nvSpPr>
          <p:spPr>
            <a:xfrm>
              <a:off x="6775543" y="4012755"/>
              <a:ext cx="2057400" cy="27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21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1pPr>
              <a:lvl2pPr marL="557213" indent="-214313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–"/>
                <a:defRPr sz="18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2pPr>
              <a:lvl3pPr marL="857250" indent="-171450" algn="r" defTabSz="914400" rtl="1" eaLnBrk="1" latinLnBrk="0" hangingPunct="1">
                <a:spcBef>
                  <a:spcPts val="450"/>
                </a:spcBef>
                <a:spcAft>
                  <a:spcPts val="450"/>
                </a:spcAft>
                <a:buChar char="•"/>
                <a:defRPr sz="15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3pPr>
              <a:lvl4pPr marL="12001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–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David" panose="020E0502060401010101" pitchFamily="34" charset="-79"/>
                </a:defRPr>
              </a:lvl4pPr>
              <a:lvl5pPr marL="1543050" indent="-171450" algn="r" defTabSz="914400" rtl="1" eaLnBrk="1" latinLnBrk="0" hangingPunct="1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5pPr>
              <a:lvl6pPr marL="18859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6pPr>
              <a:lvl7pPr marL="22288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7pPr>
              <a:lvl8pPr marL="25717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8pPr>
              <a:lvl9pPr marL="2914650" indent="-171450" algn="r" defTabSz="914400" rtl="1" eaLnBrk="0" fontAlgn="base" latinLnBrk="0" hangingPunct="0">
                <a:spcBef>
                  <a:spcPts val="900"/>
                </a:spcBef>
                <a:spcAft>
                  <a:spcPts val="225"/>
                </a:spcAft>
                <a:buChar char="»"/>
                <a:defRPr sz="18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David" panose="020E0502060401010101" pitchFamily="34" charset="-79"/>
                </a:defRPr>
              </a:lvl9pPr>
            </a:lstStyle>
            <a:p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fld id="{9C85D208-0562-4EC6-A8D8-B3912B9A5675}" type="slidenum">
                <a:rPr lang="he-IL" altLang="en-US" sz="750" smtClean="0">
                  <a:cs typeface="Times New Roman" panose="02020603050405020304" pitchFamily="18" charset="0"/>
                </a:rPr>
                <a:pPr rtl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t>42</a:t>
              </a:fld>
              <a:endParaRPr lang="en-US" altLang="en-US" sz="750" dirty="0">
                <a:cs typeface="Times New Roman" panose="02020603050405020304" pitchFamily="18" charset="0"/>
              </a:endParaRPr>
            </a:p>
          </p:txBody>
        </p:sp>
        <p:cxnSp>
          <p:nvCxnSpPr>
            <p:cNvPr id="233" name="Straight Arrow Connector 232"/>
            <p:cNvCxnSpPr/>
            <p:nvPr/>
          </p:nvCxnSpPr>
          <p:spPr>
            <a:xfrm flipV="1">
              <a:off x="1236324" y="3144339"/>
              <a:ext cx="0" cy="951993"/>
            </a:xfrm>
            <a:prstGeom prst="straightConnector1">
              <a:avLst/>
            </a:prstGeom>
            <a:noFill/>
            <a:ln w="57150" cmpd="sng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/>
            <p:cNvCxnSpPr/>
            <p:nvPr/>
          </p:nvCxnSpPr>
          <p:spPr>
            <a:xfrm flipV="1">
              <a:off x="809323" y="3026938"/>
              <a:ext cx="0" cy="533400"/>
            </a:xfrm>
            <a:prstGeom prst="straightConnector1">
              <a:avLst/>
            </a:prstGeom>
            <a:noFill/>
            <a:ln w="57150" cmpd="sng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>
              <a:off x="444005" y="3575340"/>
              <a:ext cx="55880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7030A0"/>
                  </a:solidFill>
                </a:rPr>
                <a:t>Pcsource</a:t>
              </a:r>
              <a:br>
                <a:rPr lang="en-US" sz="1200" dirty="0">
                  <a:solidFill>
                    <a:srgbClr val="7030A0"/>
                  </a:solidFill>
                </a:rPr>
              </a:br>
              <a:r>
                <a:rPr lang="en-US" sz="1200" dirty="0">
                  <a:solidFill>
                    <a:srgbClr val="7030A0"/>
                  </a:solidFill>
                </a:rPr>
                <a:t>=</a:t>
              </a:r>
              <a:r>
                <a:rPr lang="en-US" sz="1200" dirty="0" err="1">
                  <a:solidFill>
                    <a:srgbClr val="7030A0"/>
                  </a:solidFill>
                </a:rPr>
                <a:t>ALUout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1542708" y="4204326"/>
              <a:ext cx="4872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rgbClr val="7030A0"/>
                  </a:solidFill>
                </a:rPr>
                <a:t>PCwrite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237" name="Freeform 236"/>
            <p:cNvSpPr/>
            <p:nvPr/>
          </p:nvSpPr>
          <p:spPr>
            <a:xfrm>
              <a:off x="228600" y="971550"/>
              <a:ext cx="6739847" cy="1931542"/>
            </a:xfrm>
            <a:custGeom>
              <a:avLst/>
              <a:gdLst>
                <a:gd name="connsiteX0" fmla="*/ 6524090 w 6739847"/>
                <a:gd name="connsiteY0" fmla="*/ 1931542 h 1931542"/>
                <a:gd name="connsiteX1" fmla="*/ 6719299 w 6739847"/>
                <a:gd name="connsiteY1" fmla="*/ 1910994 h 1931542"/>
                <a:gd name="connsiteX2" fmla="*/ 6739847 w 6739847"/>
                <a:gd name="connsiteY2" fmla="*/ 10275 h 1931542"/>
                <a:gd name="connsiteX3" fmla="*/ 0 w 6739847"/>
                <a:gd name="connsiteY3" fmla="*/ 0 h 1931542"/>
                <a:gd name="connsiteX4" fmla="*/ 0 w 6739847"/>
                <a:gd name="connsiteY4" fmla="*/ 1890445 h 1931542"/>
                <a:gd name="connsiteX5" fmla="*/ 554804 w 6739847"/>
                <a:gd name="connsiteY5" fmla="*/ 1910994 h 1931542"/>
                <a:gd name="connsiteX6" fmla="*/ 1017141 w 6739847"/>
                <a:gd name="connsiteY6" fmla="*/ 1705511 h 193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39847" h="1931542">
                  <a:moveTo>
                    <a:pt x="6524090" y="1931542"/>
                  </a:moveTo>
                  <a:lnTo>
                    <a:pt x="6719299" y="1910994"/>
                  </a:lnTo>
                  <a:lnTo>
                    <a:pt x="6739847" y="10275"/>
                  </a:lnTo>
                  <a:lnTo>
                    <a:pt x="0" y="0"/>
                  </a:lnTo>
                  <a:lnTo>
                    <a:pt x="0" y="1890445"/>
                  </a:lnTo>
                  <a:lnTo>
                    <a:pt x="554804" y="1910994"/>
                  </a:lnTo>
                  <a:lnTo>
                    <a:pt x="1017141" y="1705511"/>
                  </a:lnTo>
                </a:path>
              </a:pathLst>
            </a:custGeom>
            <a:noFill/>
            <a:ln w="76200" cmpd="sng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Freeform 237"/>
            <p:cNvSpPr/>
            <p:nvPr/>
          </p:nvSpPr>
          <p:spPr>
            <a:xfrm>
              <a:off x="2858784" y="3149672"/>
              <a:ext cx="308225" cy="1068512"/>
            </a:xfrm>
            <a:custGeom>
              <a:avLst/>
              <a:gdLst>
                <a:gd name="connsiteX0" fmla="*/ 0 w 308225"/>
                <a:gd name="connsiteY0" fmla="*/ 0 h 1068512"/>
                <a:gd name="connsiteX1" fmla="*/ 297951 w 308225"/>
                <a:gd name="connsiteY1" fmla="*/ 0 h 1068512"/>
                <a:gd name="connsiteX2" fmla="*/ 308225 w 308225"/>
                <a:gd name="connsiteY2" fmla="*/ 1068512 h 106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8225" h="1068512">
                  <a:moveTo>
                    <a:pt x="0" y="0"/>
                  </a:moveTo>
                  <a:lnTo>
                    <a:pt x="297951" y="0"/>
                  </a:lnTo>
                  <a:cubicBezTo>
                    <a:pt x="301376" y="356171"/>
                    <a:pt x="304800" y="712341"/>
                    <a:pt x="308225" y="1068512"/>
                  </a:cubicBezTo>
                </a:path>
              </a:pathLst>
            </a:custGeom>
            <a:noFill/>
            <a:ln w="76200" cmpd="sng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4628AA38-47E1-48EB-9384-530F762C1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4140" y="2884043"/>
              <a:ext cx="1" cy="971976"/>
            </a:xfrm>
            <a:prstGeom prst="straightConnector1">
              <a:avLst/>
            </a:prstGeom>
            <a:noFill/>
            <a:ln w="76200" cmpd="sng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F6D64F1C-20B0-48FB-AA5D-2EFC6FA8E29A}"/>
                </a:ext>
              </a:extLst>
            </p:cNvPr>
            <p:cNvCxnSpPr/>
            <p:nvPr/>
          </p:nvCxnSpPr>
          <p:spPr>
            <a:xfrm flipV="1">
              <a:off x="6230420" y="3265042"/>
              <a:ext cx="0" cy="879147"/>
            </a:xfrm>
            <a:prstGeom prst="straightConnector1">
              <a:avLst/>
            </a:prstGeom>
            <a:noFill/>
            <a:ln w="57150" cmpd="sng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C72EE44-F304-4EAB-9CE2-9CF6AE244B0B}"/>
                </a:ext>
              </a:extLst>
            </p:cNvPr>
            <p:cNvSpPr txBox="1"/>
            <p:nvPr/>
          </p:nvSpPr>
          <p:spPr>
            <a:xfrm>
              <a:off x="6123469" y="4144189"/>
              <a:ext cx="73084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rgbClr val="7030A0"/>
                  </a:solidFill>
                </a:rPr>
                <a:t>ALUsel</a:t>
              </a:r>
              <a:r>
                <a:rPr lang="en-US" sz="1200" dirty="0">
                  <a:solidFill>
                    <a:srgbClr val="7030A0"/>
                  </a:solidFill>
                </a:rPr>
                <a:t>=Sub</a:t>
              </a:r>
            </a:p>
          </p:txBody>
        </p:sp>
        <p:cxnSp>
          <p:nvCxnSpPr>
            <p:cNvPr id="242" name="Straight Arrow Connector 241"/>
            <p:cNvCxnSpPr/>
            <p:nvPr/>
          </p:nvCxnSpPr>
          <p:spPr>
            <a:xfrm flipV="1">
              <a:off x="5753106" y="3389724"/>
              <a:ext cx="16888" cy="725691"/>
            </a:xfrm>
            <a:prstGeom prst="straightConnector1">
              <a:avLst/>
            </a:prstGeom>
            <a:noFill/>
            <a:ln w="57150" cmpd="sng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/>
            <p:cNvCxnSpPr/>
            <p:nvPr/>
          </p:nvCxnSpPr>
          <p:spPr>
            <a:xfrm>
              <a:off x="5716056" y="1664554"/>
              <a:ext cx="0" cy="709955"/>
            </a:xfrm>
            <a:prstGeom prst="straightConnector1">
              <a:avLst/>
            </a:prstGeom>
            <a:noFill/>
            <a:ln w="57150" cmpd="sng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5524193" y="4108670"/>
              <a:ext cx="53335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rgbClr val="7030A0"/>
                  </a:solidFill>
                </a:rPr>
                <a:t>Bsel</a:t>
              </a:r>
              <a:r>
                <a:rPr lang="en-US" sz="1200" dirty="0">
                  <a:solidFill>
                    <a:srgbClr val="7030A0"/>
                  </a:solidFill>
                </a:rPr>
                <a:t>=</a:t>
              </a:r>
              <a:r>
                <a:rPr lang="en-US" sz="1200" dirty="0" err="1">
                  <a:solidFill>
                    <a:srgbClr val="7030A0"/>
                  </a:solidFill>
                </a:rPr>
                <a:t>reg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400155" y="1484742"/>
              <a:ext cx="53976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rgbClr val="7030A0"/>
                  </a:solidFill>
                </a:rPr>
                <a:t>Asel</a:t>
              </a:r>
              <a:r>
                <a:rPr lang="en-US" sz="1200" dirty="0">
                  <a:solidFill>
                    <a:srgbClr val="7030A0"/>
                  </a:solidFill>
                </a:rPr>
                <a:t>=</a:t>
              </a:r>
              <a:r>
                <a:rPr lang="en-US" sz="1200" dirty="0" err="1">
                  <a:solidFill>
                    <a:srgbClr val="7030A0"/>
                  </a:solidFill>
                </a:rPr>
                <a:t>reg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246" name="Freeform 245"/>
            <p:cNvSpPr/>
            <p:nvPr/>
          </p:nvSpPr>
          <p:spPr>
            <a:xfrm>
              <a:off x="4420456" y="3026382"/>
              <a:ext cx="1571946" cy="626723"/>
            </a:xfrm>
            <a:custGeom>
              <a:avLst/>
              <a:gdLst>
                <a:gd name="connsiteX0" fmla="*/ 0 w 1571946"/>
                <a:gd name="connsiteY0" fmla="*/ 277402 h 626723"/>
                <a:gd name="connsiteX1" fmla="*/ 133564 w 1571946"/>
                <a:gd name="connsiteY1" fmla="*/ 277402 h 626723"/>
                <a:gd name="connsiteX2" fmla="*/ 102742 w 1571946"/>
                <a:gd name="connsiteY2" fmla="*/ 626723 h 626723"/>
                <a:gd name="connsiteX3" fmla="*/ 863029 w 1571946"/>
                <a:gd name="connsiteY3" fmla="*/ 606175 h 626723"/>
                <a:gd name="connsiteX4" fmla="*/ 873303 w 1571946"/>
                <a:gd name="connsiteY4" fmla="*/ 10274 h 626723"/>
                <a:gd name="connsiteX5" fmla="*/ 1571946 w 1571946"/>
                <a:gd name="connsiteY5" fmla="*/ 0 h 626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1946" h="626723">
                  <a:moveTo>
                    <a:pt x="0" y="277402"/>
                  </a:moveTo>
                  <a:lnTo>
                    <a:pt x="133564" y="277402"/>
                  </a:lnTo>
                  <a:lnTo>
                    <a:pt x="102742" y="626723"/>
                  </a:lnTo>
                  <a:lnTo>
                    <a:pt x="863029" y="606175"/>
                  </a:lnTo>
                  <a:lnTo>
                    <a:pt x="873303" y="10274"/>
                  </a:lnTo>
                  <a:lnTo>
                    <a:pt x="1571946" y="0"/>
                  </a:lnTo>
                </a:path>
              </a:pathLst>
            </a:custGeom>
            <a:noFill/>
            <a:ln w="76200" cmpd="sng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7" name="Straight Connector 246"/>
            <p:cNvCxnSpPr/>
            <p:nvPr/>
          </p:nvCxnSpPr>
          <p:spPr>
            <a:xfrm>
              <a:off x="4432310" y="2738180"/>
              <a:ext cx="1639635" cy="28072"/>
            </a:xfrm>
            <a:prstGeom prst="line">
              <a:avLst/>
            </a:prstGeom>
            <a:noFill/>
            <a:ln w="76200" cmpd="sng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8" name="Object 2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9890500"/>
                </p:ext>
              </p:extLst>
            </p:nvPr>
          </p:nvGraphicFramePr>
          <p:xfrm>
            <a:off x="1011902" y="3603254"/>
            <a:ext cx="1498600" cy="844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14395" imgH="857250" progId="Visio.Drawing.15">
                    <p:embed/>
                  </p:oleObj>
                </mc:Choice>
                <mc:Fallback>
                  <p:oleObj name="Visio" r:id="rId2" imgW="1514395" imgH="857250" progId="Visio.Drawing.15">
                    <p:embed/>
                    <p:pic>
                      <p:nvPicPr>
                        <p:cNvPr id="248" name="Object 24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11902" y="3603254"/>
                          <a:ext cx="1498600" cy="844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9" name="TextBox 248"/>
            <p:cNvSpPr txBox="1"/>
            <p:nvPr/>
          </p:nvSpPr>
          <p:spPr>
            <a:xfrm>
              <a:off x="2287307" y="4003999"/>
              <a:ext cx="6492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>
                  <a:solidFill>
                    <a:srgbClr val="7030A0"/>
                  </a:solidFill>
                </a:rPr>
                <a:t>PCwrCond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9C72EE44-F304-4EAB-9CE2-9CF6AE244B0B}"/>
                </a:ext>
              </a:extLst>
            </p:cNvPr>
            <p:cNvSpPr txBox="1"/>
            <p:nvPr/>
          </p:nvSpPr>
          <p:spPr>
            <a:xfrm>
              <a:off x="6301840" y="3845080"/>
              <a:ext cx="3319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ZERO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9C72EE44-F304-4EAB-9CE2-9CF6AE244B0B}"/>
                </a:ext>
              </a:extLst>
            </p:cNvPr>
            <p:cNvSpPr txBox="1"/>
            <p:nvPr/>
          </p:nvSpPr>
          <p:spPr>
            <a:xfrm>
              <a:off x="2322327" y="3861513"/>
              <a:ext cx="3319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</a:rPr>
                <a:t>ZERO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04F4AF4-7898-BB19-6627-50F752E05857}"/>
              </a:ext>
            </a:extLst>
          </p:cNvPr>
          <p:cNvSpPr txBox="1">
            <a:spLocks/>
          </p:cNvSpPr>
          <p:nvPr/>
        </p:nvSpPr>
        <p:spPr>
          <a:xfrm>
            <a:off x="6019893" y="144005"/>
            <a:ext cx="2380432" cy="6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שאלה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64070-A7BC-6C94-155A-38C701B67949}"/>
              </a:ext>
            </a:extLst>
          </p:cNvPr>
          <p:cNvSpPr/>
          <p:nvPr/>
        </p:nvSpPr>
        <p:spPr>
          <a:xfrm>
            <a:off x="385827" y="889366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ללא רגיסטר </a:t>
            </a:r>
            <a:r>
              <a:rPr lang="en-US" dirty="0" err="1"/>
              <a:t>ALUout</a:t>
            </a:r>
            <a:r>
              <a:rPr lang="he-IL" dirty="0"/>
              <a:t>. האם המעבד יעבוד? (מותר להאריך את זמן מחזור השעון או להוסיף מחזורי שעון לכל פקודה. אסור לבצע שינוי בחיבורים או הרכיבים ב</a:t>
            </a:r>
            <a:r>
              <a:rPr lang="en-US" dirty="0"/>
              <a:t> Data Path</a:t>
            </a:r>
            <a:r>
              <a:rPr lang="he-IL" dirty="0"/>
              <a:t> ו/או ה-</a:t>
            </a:r>
            <a:r>
              <a:rPr lang="en-US" dirty="0"/>
              <a:t>Controller</a:t>
            </a:r>
            <a:r>
              <a:rPr lang="he-IL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339623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5917" y="670024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כך שהמוצא </a:t>
            </a:r>
            <a:r>
              <a:rPr lang="en-US" dirty="0" err="1"/>
              <a:t>DataA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he-IL" dirty="0" err="1"/>
              <a:t>B</a:t>
            </a:r>
            <a:r>
              <a:rPr lang="he-IL" dirty="0"/>
              <a:t>, והמוצא </a:t>
            </a:r>
            <a:r>
              <a:rPr lang="en-US" dirty="0"/>
              <a:t>DataB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en-US" dirty="0"/>
              <a:t>A</a:t>
            </a:r>
            <a:r>
              <a:rPr lang="he-IL" dirty="0"/>
              <a:t>. מתוך הפקודות הבאות, אילו פקודות בהכרח יעבדו בצורה נכונה?</a:t>
            </a:r>
          </a:p>
          <a:p>
            <a:pPr algn="ctr" rtl="1"/>
            <a:r>
              <a:rPr lang="en-US" dirty="0"/>
              <a:t>R-Type, </a:t>
            </a:r>
            <a:r>
              <a:rPr lang="en-US" dirty="0" err="1"/>
              <a:t>bne</a:t>
            </a:r>
            <a:r>
              <a:rPr lang="en-US" dirty="0"/>
              <a:t>, </a:t>
            </a:r>
            <a:r>
              <a:rPr lang="en-US" dirty="0" err="1"/>
              <a:t>beq</a:t>
            </a:r>
            <a:r>
              <a:rPr lang="en-US" dirty="0"/>
              <a:t>,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he-IL" dirty="0"/>
          </a:p>
        </p:txBody>
      </p:sp>
      <p:grpSp>
        <p:nvGrpSpPr>
          <p:cNvPr id="123" name="Group 122"/>
          <p:cNvGrpSpPr/>
          <p:nvPr/>
        </p:nvGrpSpPr>
        <p:grpSpPr>
          <a:xfrm>
            <a:off x="381000" y="1962150"/>
            <a:ext cx="7694441" cy="2805861"/>
            <a:chOff x="252484" y="948519"/>
            <a:chExt cx="8755592" cy="3230728"/>
          </a:xfrm>
        </p:grpSpPr>
        <p:sp>
          <p:nvSpPr>
            <p:cNvPr id="124" name="Rectangle 123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15" name="Trapezoid 214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16" name="Isosceles Triangle 215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17" name="Straight Connector 216"/>
              <p:cNvCxnSpPr>
                <a:stCxn id="216" idx="2"/>
                <a:endCxn id="216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TextBox 217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213" name="Rectangle 212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214" name="Isosceles Triangle 213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204" name="Group 203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11" name="Rectangle 210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212" name="Isosceles Triangle 211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5" name="TextBox 204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4062108" y="21648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4018762" y="2472088"/>
                <a:ext cx="3773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1" name="Trapezoid 130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2" name="Straight Arrow Connector 131"/>
            <p:cNvCxnSpPr>
              <a:stCxn id="21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endCxn id="128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134"/>
            <p:cNvCxnSpPr>
              <a:endCxn id="202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01" name="Trapezoid 200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37" name="Straight Connector 136"/>
            <p:cNvCxnSpPr>
              <a:endCxn id="19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Elbow Connector 137"/>
            <p:cNvCxnSpPr>
              <a:stCxn id="199" idx="3"/>
              <a:endCxn id="124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31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>
              <a:off x="4255681" y="3327618"/>
              <a:ext cx="1038382" cy="292690"/>
            </a:xfrm>
            <a:prstGeom prst="bentConnector3">
              <a:avLst>
                <a:gd name="adj1" fmla="val 70876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99" name="Rectangle 198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00" name="Isosceles Triangle 199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45" name="Trapezoid 144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6" name="Elbow Connector 145"/>
            <p:cNvCxnSpPr>
              <a:endCxn id="187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rapezoid 148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50" name="Straight Arrow Connector 149"/>
            <p:cNvCxnSpPr>
              <a:stCxn id="145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lbow Connector 151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/>
            <p:cNvSpPr txBox="1"/>
            <p:nvPr/>
          </p:nvSpPr>
          <p:spPr>
            <a:xfrm>
              <a:off x="516218" y="2341480"/>
              <a:ext cx="286937" cy="1949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55" name="Straight Connector 154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6" name="Group 155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97" name="Rectangle 19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8" name="Isosceles Triangle 19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4620949" y="3067169"/>
              <a:ext cx="153893" cy="550950"/>
              <a:chOff x="1376935" y="3364672"/>
              <a:chExt cx="153893" cy="550950"/>
            </a:xfrm>
            <a:solidFill>
              <a:srgbClr val="5B9BD5"/>
            </a:solidFill>
          </p:grpSpPr>
          <p:sp>
            <p:nvSpPr>
              <p:cNvPr id="195" name="Rectangle 194"/>
              <p:cNvSpPr/>
              <p:nvPr/>
            </p:nvSpPr>
            <p:spPr>
              <a:xfrm>
                <a:off x="1378427" y="3364672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6" name="Isosceles Triangle 195"/>
              <p:cNvSpPr/>
              <p:nvPr/>
            </p:nvSpPr>
            <p:spPr>
              <a:xfrm>
                <a:off x="1376935" y="3763223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cxnSp>
          <p:nvCxnSpPr>
            <p:cNvPr id="158" name="Elbow Connector 157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93" name="Rectangle 19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4" name="Isosceles Triangle 19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4492859" y="2407926"/>
              <a:ext cx="159364" cy="533399"/>
              <a:chOff x="1248845" y="3315029"/>
              <a:chExt cx="159364" cy="533399"/>
            </a:xfrm>
            <a:solidFill>
              <a:srgbClr val="5B9BD5"/>
            </a:solidFill>
          </p:grpSpPr>
          <p:sp>
            <p:nvSpPr>
              <p:cNvPr id="191" name="Rectangle 190"/>
              <p:cNvSpPr/>
              <p:nvPr/>
            </p:nvSpPr>
            <p:spPr>
              <a:xfrm>
                <a:off x="1248845" y="3315029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2" name="Isosceles Triangle 191"/>
              <p:cNvSpPr/>
              <p:nvPr/>
            </p:nvSpPr>
            <p:spPr>
              <a:xfrm>
                <a:off x="1255808" y="3681264"/>
                <a:ext cx="152401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89" name="Rectangle 18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0" name="Isosceles Triangle 18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2" name="Straight Connector 16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374096" y="207184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534715" y="3555462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grpSp>
          <p:nvGrpSpPr>
            <p:cNvPr id="170" name="Group 169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187" name="Trapezoid 186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71" name="Straight Arrow Connector 170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174" name="Straight Connector 173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Freeform 174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Arrow Connector 176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Freeform 178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0" name="Group 179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85" name="Rectangle 184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86" name="Isosceles Triangle 185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81" name="Freeform 180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2" name="Straight Arrow Connector 181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84" name="Elbow Connector 183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9A73EC3B-F502-6846-CE47-DEB915F121DF}"/>
              </a:ext>
            </a:extLst>
          </p:cNvPr>
          <p:cNvSpPr txBox="1">
            <a:spLocks/>
          </p:cNvSpPr>
          <p:nvPr/>
        </p:nvSpPr>
        <p:spPr>
          <a:xfrm>
            <a:off x="6019893" y="144005"/>
            <a:ext cx="2380432" cy="6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שאלה </a:t>
            </a:r>
            <a:r>
              <a:rPr lang="en-US" dirty="0"/>
              <a:t>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799039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44</a:t>
            </a:fld>
            <a:endParaRPr lang="en-US"/>
          </a:p>
        </p:txBody>
      </p:sp>
      <p:grpSp>
        <p:nvGrpSpPr>
          <p:cNvPr id="123" name="Group 122"/>
          <p:cNvGrpSpPr/>
          <p:nvPr/>
        </p:nvGrpSpPr>
        <p:grpSpPr>
          <a:xfrm>
            <a:off x="381000" y="1954665"/>
            <a:ext cx="7694441" cy="2805861"/>
            <a:chOff x="252484" y="948519"/>
            <a:chExt cx="8755592" cy="3230728"/>
          </a:xfrm>
        </p:grpSpPr>
        <p:sp>
          <p:nvSpPr>
            <p:cNvPr id="124" name="Rectangle 123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15" name="Trapezoid 214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16" name="Isosceles Triangle 215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17" name="Straight Connector 216"/>
              <p:cNvCxnSpPr>
                <a:stCxn id="216" idx="2"/>
                <a:endCxn id="216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TextBox 217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213" name="Rectangle 212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214" name="Isosceles Triangle 213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204" name="Group 203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11" name="Rectangle 210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212" name="Isosceles Triangle 211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5" name="TextBox 204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4062108" y="21648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4018762" y="2472088"/>
                <a:ext cx="3773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1" name="Trapezoid 130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2" name="Straight Arrow Connector 131"/>
            <p:cNvCxnSpPr>
              <a:stCxn id="213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endCxn id="128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134"/>
            <p:cNvCxnSpPr>
              <a:endCxn id="202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01" name="Trapezoid 200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37" name="Straight Connector 136"/>
            <p:cNvCxnSpPr>
              <a:endCxn id="199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Elbow Connector 137"/>
            <p:cNvCxnSpPr>
              <a:stCxn id="199" idx="3"/>
              <a:endCxn id="124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31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Elbow Connector 141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99" name="Rectangle 198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00" name="Isosceles Triangle 199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45" name="Trapezoid 144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6" name="Elbow Connector 145"/>
            <p:cNvCxnSpPr>
              <a:endCxn id="187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rapezoid 148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50" name="Straight Arrow Connector 149"/>
            <p:cNvCxnSpPr>
              <a:stCxn id="145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lbow Connector 151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55" name="Straight Connector 154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6" name="Group 155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97" name="Rectangle 19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8" name="Isosceles Triangle 19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4620949" y="3067169"/>
              <a:ext cx="153893" cy="550950"/>
              <a:chOff x="1376935" y="3364672"/>
              <a:chExt cx="153893" cy="550950"/>
            </a:xfrm>
            <a:solidFill>
              <a:srgbClr val="5B9BD5"/>
            </a:solidFill>
          </p:grpSpPr>
          <p:sp>
            <p:nvSpPr>
              <p:cNvPr id="195" name="Rectangle 194"/>
              <p:cNvSpPr/>
              <p:nvPr/>
            </p:nvSpPr>
            <p:spPr>
              <a:xfrm>
                <a:off x="1378427" y="3364672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6" name="Isosceles Triangle 195"/>
              <p:cNvSpPr/>
              <p:nvPr/>
            </p:nvSpPr>
            <p:spPr>
              <a:xfrm>
                <a:off x="1376935" y="3763223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cxnSp>
          <p:nvCxnSpPr>
            <p:cNvPr id="158" name="Elbow Connector 157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93" name="Rectangle 19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4" name="Isosceles Triangle 19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4492859" y="2407926"/>
              <a:ext cx="159364" cy="533399"/>
              <a:chOff x="1248845" y="3315029"/>
              <a:chExt cx="159364" cy="533399"/>
            </a:xfrm>
            <a:solidFill>
              <a:srgbClr val="5B9BD5"/>
            </a:solidFill>
          </p:grpSpPr>
          <p:sp>
            <p:nvSpPr>
              <p:cNvPr id="191" name="Rectangle 190"/>
              <p:cNvSpPr/>
              <p:nvPr/>
            </p:nvSpPr>
            <p:spPr>
              <a:xfrm>
                <a:off x="1248845" y="3315029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2" name="Isosceles Triangle 191"/>
              <p:cNvSpPr/>
              <p:nvPr/>
            </p:nvSpPr>
            <p:spPr>
              <a:xfrm>
                <a:off x="1255808" y="3681264"/>
                <a:ext cx="152401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89" name="Rectangle 18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90" name="Isosceles Triangle 18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2" name="Straight Connector 16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374096" y="207184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534715" y="3555462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grpSp>
          <p:nvGrpSpPr>
            <p:cNvPr id="170" name="Group 169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187" name="Trapezoid 186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71" name="Straight Arrow Connector 170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174" name="Straight Connector 173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Freeform 174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Arrow Connector 176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Freeform 178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0" name="Group 179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85" name="Rectangle 184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86" name="Isosceles Triangle 185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81" name="Freeform 180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2" name="Straight Arrow Connector 181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84" name="Elbow Connector 183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381000" y="1962150"/>
            <a:ext cx="7694441" cy="2805861"/>
            <a:chOff x="252484" y="948519"/>
            <a:chExt cx="8755592" cy="3230728"/>
          </a:xfrm>
        </p:grpSpPr>
        <p:sp>
          <p:nvSpPr>
            <p:cNvPr id="101" name="Rectangle 100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286" name="Trapezoid 28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88" name="Straight Connector 287"/>
              <p:cNvCxnSpPr>
                <a:stCxn id="287" idx="2"/>
                <a:endCxn id="28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TextBox 28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284" name="Rectangle 28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275" name="Group 27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282" name="Rectangle 28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283" name="Isosceles Triangle 28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6" name="TextBox 27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77" name="TextBox 27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78" name="TextBox 277"/>
              <p:cNvSpPr txBox="1"/>
              <p:nvPr/>
            </p:nvSpPr>
            <p:spPr>
              <a:xfrm>
                <a:off x="4062108" y="2164896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>
                <a:off x="4018762" y="2472088"/>
                <a:ext cx="3773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5" name="TextBox 104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08" name="Trapezoid 107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09" name="Straight Arrow Connector 108"/>
            <p:cNvCxnSpPr>
              <a:stCxn id="28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5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Elbow Connector 111"/>
            <p:cNvCxnSpPr>
              <a:endCxn id="27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72" name="Trapezoid 27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74" name="TextBox 27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14" name="Straight Connector 113"/>
            <p:cNvCxnSpPr>
              <a:endCxn id="27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Elbow Connector 114"/>
            <p:cNvCxnSpPr>
              <a:stCxn id="270" idx="3"/>
              <a:endCxn id="101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108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Elbow Connector 116"/>
            <p:cNvCxnSpPr>
              <a:cxnSpLocks/>
              <a:stCxn id="262" idx="3"/>
            </p:cNvCxnSpPr>
            <p:nvPr/>
          </p:nvCxnSpPr>
          <p:spPr>
            <a:xfrm>
              <a:off x="4645261" y="2674626"/>
              <a:ext cx="1037152" cy="49524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Elbow Connector 117"/>
            <p:cNvCxnSpPr>
              <a:stCxn id="266" idx="3"/>
            </p:cNvCxnSpPr>
            <p:nvPr/>
          </p:nvCxnSpPr>
          <p:spPr>
            <a:xfrm>
              <a:off x="4774842" y="3333869"/>
              <a:ext cx="519221" cy="286439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Elbow Connector 118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Elbow Connector 119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oup 120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70" name="Rectangle 26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1" name="Isosceles Triangle 27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22" name="Trapezoid 121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69" name="Elbow Connector 168"/>
            <p:cNvCxnSpPr>
              <a:endCxn id="25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rapezoid 220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22" name="Straight Arrow Connector 221"/>
            <p:cNvCxnSpPr>
              <a:stCxn id="122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Elbow Connector 22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lbow Connector 22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227" name="Straight Connector 226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Group 227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68" name="Rectangle 26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69" name="Isosceles Triangle 26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9" name="Group 228"/>
            <p:cNvGrpSpPr/>
            <p:nvPr/>
          </p:nvGrpSpPr>
          <p:grpSpPr>
            <a:xfrm>
              <a:off x="4620949" y="3067169"/>
              <a:ext cx="153893" cy="550950"/>
              <a:chOff x="1376935" y="3364672"/>
              <a:chExt cx="153893" cy="550950"/>
            </a:xfrm>
            <a:solidFill>
              <a:srgbClr val="5B9BD5"/>
            </a:solidFill>
          </p:grpSpPr>
          <p:sp>
            <p:nvSpPr>
              <p:cNvPr id="266" name="Rectangle 265"/>
              <p:cNvSpPr/>
              <p:nvPr/>
            </p:nvSpPr>
            <p:spPr>
              <a:xfrm>
                <a:off x="1378427" y="3364672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67" name="Isosceles Triangle 266"/>
              <p:cNvSpPr/>
              <p:nvPr/>
            </p:nvSpPr>
            <p:spPr>
              <a:xfrm>
                <a:off x="1376935" y="3763223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  <p:cxnSp>
          <p:nvCxnSpPr>
            <p:cNvPr id="230" name="Elbow Connector 22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1" name="Group 23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64" name="Rectangle 26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65" name="Isosceles Triangle 26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2" name="Group 231"/>
            <p:cNvGrpSpPr/>
            <p:nvPr/>
          </p:nvGrpSpPr>
          <p:grpSpPr>
            <a:xfrm>
              <a:off x="4492859" y="2407926"/>
              <a:ext cx="159364" cy="533399"/>
              <a:chOff x="1248845" y="3315029"/>
              <a:chExt cx="159364" cy="533399"/>
            </a:xfrm>
            <a:solidFill>
              <a:srgbClr val="5B9BD5"/>
            </a:solidFill>
          </p:grpSpPr>
          <p:sp>
            <p:nvSpPr>
              <p:cNvPr id="262" name="Rectangle 261"/>
              <p:cNvSpPr/>
              <p:nvPr/>
            </p:nvSpPr>
            <p:spPr>
              <a:xfrm>
                <a:off x="1248845" y="3315029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63" name="Isosceles Triangle 262"/>
              <p:cNvSpPr/>
              <p:nvPr/>
            </p:nvSpPr>
            <p:spPr>
              <a:xfrm>
                <a:off x="1255808" y="3681264"/>
                <a:ext cx="152401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60" name="Rectangle 25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61" name="Isosceles Triangle 26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4" name="Straight Connector 233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4374096" y="207184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4534715" y="3555462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grpSp>
          <p:nvGrpSpPr>
            <p:cNvPr id="241" name="Group 24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58" name="Trapezoid 25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59" name="TextBox 25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42" name="Straight Arrow Connector 24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45" name="Straight Connector 24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Freeform 24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Freeform 24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8" name="Straight Arrow Connector 24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Freeform 24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1" name="Group 25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56" name="Rectangle 25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57" name="Isosceles Triangle 25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52" name="Freeform 25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3" name="Straight Arrow Connector 25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Box 25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55" name="Elbow Connector 25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0" name="Straight Connector 289"/>
          <p:cNvCxnSpPr>
            <a:endCxn id="266" idx="1"/>
          </p:cNvCxnSpPr>
          <p:nvPr/>
        </p:nvCxnSpPr>
        <p:spPr>
          <a:xfrm>
            <a:off x="3878809" y="3530907"/>
            <a:ext cx="342522" cy="50290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>
            <a:endCxn id="262" idx="1"/>
          </p:cNvCxnSpPr>
          <p:nvPr/>
        </p:nvCxnSpPr>
        <p:spPr>
          <a:xfrm flipV="1">
            <a:off x="3891143" y="3461260"/>
            <a:ext cx="216312" cy="560345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32C59B-92BB-1384-6CA9-E054D8C5E04F}"/>
              </a:ext>
            </a:extLst>
          </p:cNvPr>
          <p:cNvSpPr/>
          <p:nvPr/>
        </p:nvSpPr>
        <p:spPr>
          <a:xfrm>
            <a:off x="285917" y="670024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כך שהמוצא </a:t>
            </a:r>
            <a:r>
              <a:rPr lang="en-US" dirty="0" err="1"/>
              <a:t>DataA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he-IL" dirty="0" err="1"/>
              <a:t>B</a:t>
            </a:r>
            <a:r>
              <a:rPr lang="he-IL" dirty="0"/>
              <a:t>, והמוצא </a:t>
            </a:r>
            <a:r>
              <a:rPr lang="en-US" dirty="0"/>
              <a:t>DataB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en-US" dirty="0"/>
              <a:t>A</a:t>
            </a:r>
            <a:r>
              <a:rPr lang="he-IL" dirty="0"/>
              <a:t>. מתוך הפקודות הבאות, אילו פקודות בהכרח יעבדו בצורה נכונה?</a:t>
            </a:r>
          </a:p>
          <a:p>
            <a:pPr algn="ctr" rtl="1"/>
            <a:r>
              <a:rPr lang="en-US" dirty="0"/>
              <a:t>R-Type, </a:t>
            </a:r>
            <a:r>
              <a:rPr lang="en-US" dirty="0" err="1"/>
              <a:t>bne</a:t>
            </a:r>
            <a:r>
              <a:rPr lang="en-US" dirty="0"/>
              <a:t>, </a:t>
            </a:r>
            <a:r>
              <a:rPr lang="en-US" dirty="0" err="1"/>
              <a:t>beq</a:t>
            </a:r>
            <a:r>
              <a:rPr lang="en-US" dirty="0"/>
              <a:t>,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he-IL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DFE612-C7D3-C596-3496-531F1AAF779A}"/>
              </a:ext>
            </a:extLst>
          </p:cNvPr>
          <p:cNvSpPr txBox="1">
            <a:spLocks/>
          </p:cNvSpPr>
          <p:nvPr/>
        </p:nvSpPr>
        <p:spPr>
          <a:xfrm>
            <a:off x="6019893" y="144005"/>
            <a:ext cx="2380432" cy="6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שאלה </a:t>
            </a:r>
            <a:r>
              <a:rPr lang="en-US" dirty="0"/>
              <a:t>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6776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1497" y="2038350"/>
            <a:ext cx="79207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solidFill>
                  <a:srgbClr val="0070C0"/>
                </a:solidFill>
              </a:rPr>
              <a:t>רק הפקודות </a:t>
            </a:r>
            <a:r>
              <a:rPr lang="en-US" dirty="0" err="1">
                <a:solidFill>
                  <a:srgbClr val="0070C0"/>
                </a:solidFill>
              </a:rPr>
              <a:t>beq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bne</a:t>
            </a:r>
            <a:r>
              <a:rPr lang="he-IL" dirty="0">
                <a:solidFill>
                  <a:srgbClr val="0070C0"/>
                </a:solidFill>
              </a:rPr>
              <a:t>. </a:t>
            </a:r>
            <a:endParaRPr lang="en-US" dirty="0">
              <a:solidFill>
                <a:srgbClr val="0070C0"/>
              </a:solidFill>
            </a:endParaRPr>
          </a:p>
          <a:p>
            <a:pPr algn="r" rtl="1"/>
            <a:endParaRPr lang="en-US" dirty="0">
              <a:solidFill>
                <a:srgbClr val="0070C0"/>
              </a:solidFill>
            </a:endParaRPr>
          </a:p>
          <a:p>
            <a:pPr algn="r" rtl="1"/>
            <a:r>
              <a:rPr lang="en-US" dirty="0">
                <a:solidFill>
                  <a:srgbClr val="0070C0"/>
                </a:solidFill>
              </a:rPr>
              <a:t>R-Type</a:t>
            </a:r>
            <a:r>
              <a:rPr lang="he-IL" dirty="0">
                <a:solidFill>
                  <a:srgbClr val="0070C0"/>
                </a:solidFill>
              </a:rPr>
              <a:t> – לא כל הפקודות הן קומוטטיביות (למשל חיסור). לא יעבוד.</a:t>
            </a:r>
            <a:endParaRPr lang="en-US" dirty="0">
              <a:solidFill>
                <a:srgbClr val="0070C0"/>
              </a:solidFill>
            </a:endParaRPr>
          </a:p>
          <a:p>
            <a:pPr algn="r" rtl="1"/>
            <a:endParaRPr lang="en-US" dirty="0">
              <a:solidFill>
                <a:srgbClr val="0070C0"/>
              </a:solidFill>
            </a:endParaRPr>
          </a:p>
          <a:p>
            <a:pPr algn="r" rtl="1"/>
            <a:r>
              <a:rPr lang="en-US" dirty="0" err="1">
                <a:solidFill>
                  <a:srgbClr val="0070C0"/>
                </a:solidFill>
              </a:rPr>
              <a:t>sw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lw</a:t>
            </a:r>
            <a:r>
              <a:rPr lang="he-IL" dirty="0">
                <a:solidFill>
                  <a:srgbClr val="0070C0"/>
                </a:solidFill>
              </a:rPr>
              <a:t> - רגיסטר היעד (פקודת </a:t>
            </a:r>
            <a:r>
              <a:rPr lang="en-US" dirty="0" err="1">
                <a:solidFill>
                  <a:srgbClr val="0070C0"/>
                </a:solidFill>
              </a:rPr>
              <a:t>sw</a:t>
            </a:r>
            <a:r>
              <a:rPr lang="he-IL" dirty="0">
                <a:solidFill>
                  <a:srgbClr val="0070C0"/>
                </a:solidFill>
              </a:rPr>
              <a:t>) והמקור (</a:t>
            </a:r>
            <a:r>
              <a:rPr lang="en-US" dirty="0" err="1">
                <a:solidFill>
                  <a:srgbClr val="0070C0"/>
                </a:solidFill>
              </a:rPr>
              <a:t>lw</a:t>
            </a:r>
            <a:r>
              <a:rPr lang="en-US" dirty="0">
                <a:solidFill>
                  <a:srgbClr val="0070C0"/>
                </a:solidFill>
              </a:rPr>
              <a:t> +</a:t>
            </a:r>
            <a:r>
              <a:rPr lang="en-US" dirty="0" err="1">
                <a:solidFill>
                  <a:srgbClr val="0070C0"/>
                </a:solidFill>
              </a:rPr>
              <a:t>sw</a:t>
            </a:r>
            <a:r>
              <a:rPr lang="he-IL" dirty="0">
                <a:solidFill>
                  <a:srgbClr val="0070C0"/>
                </a:solidFill>
              </a:rPr>
              <a:t>) לא נכונים. הפעולה לא תתבצע נכון.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he-IL" dirty="0">
                <a:solidFill>
                  <a:srgbClr val="0070C0"/>
                </a:solidFill>
              </a:rPr>
              <a:t>לא יעבוד.</a:t>
            </a:r>
            <a:endParaRPr lang="en-US" dirty="0">
              <a:solidFill>
                <a:srgbClr val="0070C0"/>
              </a:solidFill>
            </a:endParaRPr>
          </a:p>
          <a:p>
            <a:pPr algn="r" rtl="1"/>
            <a:endParaRPr lang="en-US" dirty="0">
              <a:solidFill>
                <a:srgbClr val="0070C0"/>
              </a:solidFill>
            </a:endParaRPr>
          </a:p>
          <a:p>
            <a:pPr algn="r" rtl="1"/>
            <a:r>
              <a:rPr lang="en-US" dirty="0" err="1">
                <a:solidFill>
                  <a:srgbClr val="0070C0"/>
                </a:solidFill>
              </a:rPr>
              <a:t>beq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bne</a:t>
            </a:r>
            <a:r>
              <a:rPr lang="he-IL" dirty="0">
                <a:solidFill>
                  <a:srgbClr val="0070C0"/>
                </a:solidFill>
              </a:rPr>
              <a:t> – מעניין רק אם תוצאות החיסור היא 0 או לא, לכן אין משמעות לסדר האופרנדים. יעבוד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BE427-0497-E77B-1A8A-6DEF2DF5C6FF}"/>
              </a:ext>
            </a:extLst>
          </p:cNvPr>
          <p:cNvSpPr/>
          <p:nvPr/>
        </p:nvSpPr>
        <p:spPr>
          <a:xfrm>
            <a:off x="285917" y="670024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מעבד מסוג </a:t>
            </a:r>
            <a:r>
              <a:rPr lang="en-US" dirty="0"/>
              <a:t>Multi-Cycle RISCV</a:t>
            </a:r>
            <a:r>
              <a:rPr lang="he-IL" dirty="0"/>
              <a:t> יוצר בטעות כך שהמוצא </a:t>
            </a:r>
            <a:r>
              <a:rPr lang="en-US" dirty="0" err="1"/>
              <a:t>DataA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he-IL" dirty="0" err="1"/>
              <a:t>B</a:t>
            </a:r>
            <a:r>
              <a:rPr lang="he-IL" dirty="0"/>
              <a:t>, והמוצא </a:t>
            </a:r>
            <a:r>
              <a:rPr lang="en-US" dirty="0"/>
              <a:t>DataB</a:t>
            </a:r>
            <a:r>
              <a:rPr lang="he-IL" dirty="0"/>
              <a:t> של ה-</a:t>
            </a:r>
            <a:r>
              <a:rPr lang="en-US" dirty="0"/>
              <a:t>Register File</a:t>
            </a:r>
            <a:r>
              <a:rPr lang="he-IL" dirty="0"/>
              <a:t> חובר לרגיסטר </a:t>
            </a:r>
            <a:r>
              <a:rPr lang="en-US" dirty="0"/>
              <a:t>A</a:t>
            </a:r>
            <a:r>
              <a:rPr lang="he-IL" dirty="0"/>
              <a:t>. מתוך הפקודות הבאות, אילו פקודות בהכרח יעבדו בצורה נכונה?</a:t>
            </a:r>
          </a:p>
          <a:p>
            <a:pPr algn="ctr" rtl="1"/>
            <a:r>
              <a:rPr lang="en-US" dirty="0"/>
              <a:t>R-Type, </a:t>
            </a:r>
            <a:r>
              <a:rPr lang="en-US" dirty="0" err="1"/>
              <a:t>bne</a:t>
            </a:r>
            <a:r>
              <a:rPr lang="en-US" dirty="0"/>
              <a:t>, </a:t>
            </a:r>
            <a:r>
              <a:rPr lang="en-US" dirty="0" err="1"/>
              <a:t>beq</a:t>
            </a:r>
            <a:r>
              <a:rPr lang="en-US" dirty="0"/>
              <a:t>,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he-I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6DF61A-B275-D89E-0213-7E3927E41D12}"/>
              </a:ext>
            </a:extLst>
          </p:cNvPr>
          <p:cNvSpPr txBox="1">
            <a:spLocks/>
          </p:cNvSpPr>
          <p:nvPr/>
        </p:nvSpPr>
        <p:spPr>
          <a:xfrm>
            <a:off x="6019893" y="144005"/>
            <a:ext cx="2380432" cy="6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1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dirty="0"/>
              <a:t>שאלה </a:t>
            </a:r>
            <a:r>
              <a:rPr lang="en-US" dirty="0"/>
              <a:t>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00160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168044" y="34181"/>
            <a:ext cx="2514600" cy="788988"/>
          </a:xfrm>
        </p:spPr>
        <p:txBody>
          <a:bodyPr/>
          <a:lstStyle/>
          <a:p>
            <a:pPr algn="r"/>
            <a:r>
              <a:rPr lang="he-IL" dirty="0"/>
              <a:t>שאלה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08854" y="903177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השוו בין </a:t>
            </a:r>
            <a:r>
              <a:rPr lang="en-US" dirty="0"/>
              <a:t>Single Cycle RISC-V</a:t>
            </a:r>
            <a:r>
              <a:rPr lang="he-IL" dirty="0"/>
              <a:t> ל- </a:t>
            </a:r>
            <a:r>
              <a:rPr lang="en-US" dirty="0"/>
              <a:t>Multi Cycle RISC-V</a:t>
            </a:r>
            <a:r>
              <a:rPr lang="he-IL" dirty="0"/>
              <a:t> מבחינת שטח, זמן וסיבוכיות.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854" y="1799057"/>
            <a:ext cx="7768346" cy="283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Single cycle RISC-V</a:t>
            </a:r>
            <a:endParaRPr lang="he-IL" altLang="en-US" b="1" dirty="0">
              <a:solidFill>
                <a:srgbClr val="002060"/>
              </a:solidFill>
            </a:endParaRP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ריבוי חומרה ייעודית (</a:t>
            </a:r>
            <a:r>
              <a:rPr lang="en-US" altLang="en-US" dirty="0">
                <a:solidFill>
                  <a:srgbClr val="00B0F0"/>
                </a:solidFill>
              </a:rPr>
              <a:t>Branch </a:t>
            </a:r>
            <a:r>
              <a:rPr lang="en-US" altLang="en-US" dirty="0" err="1">
                <a:solidFill>
                  <a:srgbClr val="00B0F0"/>
                </a:solidFill>
              </a:rPr>
              <a:t>Coparator</a:t>
            </a:r>
            <a:r>
              <a:rPr lang="en-US" altLang="en-US" dirty="0">
                <a:solidFill>
                  <a:srgbClr val="00B0F0"/>
                </a:solidFill>
              </a:rPr>
              <a:t>, +4 unit</a:t>
            </a:r>
            <a:r>
              <a:rPr lang="he-IL" altLang="en-US" dirty="0">
                <a:solidFill>
                  <a:srgbClr val="00B0F0"/>
                </a:solidFill>
              </a:rPr>
              <a:t>)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איטי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שליטה קומבינטורית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endParaRPr lang="en-US" altLang="en-US" dirty="0"/>
          </a:p>
          <a:p>
            <a:pPr algn="r" rt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Multi-cycle RISC-V</a:t>
            </a:r>
            <a:endParaRPr lang="he-IL" altLang="en-US" b="1" dirty="0">
              <a:solidFill>
                <a:srgbClr val="002060"/>
              </a:solidFill>
            </a:endParaRP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חסכוני בחומרה ייעודית (אבל עם יותר רגיסטרים)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מהיר יותר 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חישובים ספקולטיביים – מעט יותר בזבוז אנרגיה</a:t>
            </a: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שליטה ע״י </a:t>
            </a:r>
            <a:r>
              <a:rPr lang="en-US" altLang="en-US" dirty="0">
                <a:solidFill>
                  <a:srgbClr val="00B0F0"/>
                </a:solidFill>
              </a:rPr>
              <a:t>FSM</a:t>
            </a:r>
            <a:endParaRPr lang="he-IL" altLang="en-US" dirty="0">
              <a:solidFill>
                <a:srgbClr val="00B0F0"/>
              </a:solidFill>
            </a:endParaRPr>
          </a:p>
          <a:p>
            <a:pPr marL="742950" lvl="1" indent="-285750" algn="r" rtl="1">
              <a:lnSpc>
                <a:spcPct val="90000"/>
              </a:lnSpc>
              <a:buFontTx/>
              <a:buChar char="-"/>
            </a:pPr>
            <a:r>
              <a:rPr lang="he-IL" altLang="en-US" dirty="0">
                <a:solidFill>
                  <a:srgbClr val="00B0F0"/>
                </a:solidFill>
              </a:rPr>
              <a:t>גמיש יותר לשינויים (אין חובה שכל הפקודה תתבצע במחזור אחד)</a:t>
            </a:r>
            <a:endParaRPr lang="en-US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22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שאלה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2000" dirty="0"/>
              <a:t>עבור הפקודות הבאות, עדכנו את ה-</a:t>
            </a:r>
            <a:r>
              <a:rPr lang="en-US" sz="2000" dirty="0"/>
              <a:t>Data Path</a:t>
            </a:r>
            <a:r>
              <a:rPr lang="he-IL" sz="2000" dirty="0"/>
              <a:t> </a:t>
            </a:r>
            <a:r>
              <a:rPr lang="he-IL" sz="2000" dirty="0" err="1"/>
              <a:t>וה</a:t>
            </a:r>
            <a:r>
              <a:rPr lang="he-IL" sz="2000" dirty="0"/>
              <a:t>-</a:t>
            </a:r>
            <a:r>
              <a:rPr lang="en-US" sz="2000" dirty="0"/>
              <a:t>Controller State Machine</a:t>
            </a:r>
            <a:r>
              <a:rPr lang="he-IL" sz="2000" dirty="0"/>
              <a:t> של מעבד </a:t>
            </a:r>
            <a:r>
              <a:rPr lang="en-US" sz="2000" dirty="0"/>
              <a:t>Multi-Cycle RISC-V</a:t>
            </a:r>
            <a:r>
              <a:rPr lang="he-IL" sz="2000" dirty="0"/>
              <a:t> כפי שנלמד בקורס, ללא שינוי מבני של הזיכרון או ה-</a:t>
            </a:r>
            <a:r>
              <a:rPr lang="en-US" sz="2000" dirty="0"/>
              <a:t>Register File</a:t>
            </a:r>
            <a:r>
              <a:rPr lang="he-IL" sz="2000" dirty="0"/>
              <a:t>, כך שניתן יהיה לתמוך בפקודה. אם הדבר בלתי אפשרי, הסבירו מדוע.</a:t>
            </a:r>
            <a:endParaRPr lang="en-US" sz="2000" dirty="0"/>
          </a:p>
          <a:p>
            <a:pPr algn="r">
              <a:buFontTx/>
              <a:buChar char="-"/>
            </a:pPr>
            <a:r>
              <a:rPr lang="en-US" sz="2000" dirty="0"/>
              <a:t> </a:t>
            </a:r>
            <a:r>
              <a:rPr lang="he-IL" sz="2000" dirty="0"/>
              <a:t> </a:t>
            </a:r>
            <a:r>
              <a:rPr lang="en-US" sz="2000" dirty="0" err="1"/>
              <a:t>addi</a:t>
            </a:r>
            <a:endParaRPr lang="en-US" sz="2000" dirty="0"/>
          </a:p>
          <a:p>
            <a:pPr algn="r">
              <a:buFontTx/>
              <a:buChar char="-"/>
            </a:pPr>
            <a:r>
              <a:rPr lang="he-IL" sz="2000" dirty="0"/>
              <a:t> </a:t>
            </a:r>
            <a:r>
              <a:rPr lang="en-US" sz="2000" dirty="0"/>
              <a:t> sir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10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48</a:t>
            </a:fld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90548" y="699009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addi</a:t>
            </a:r>
            <a:r>
              <a:rPr lang="en-US" sz="2400" dirty="0">
                <a:solidFill>
                  <a:srgbClr val="FF0000"/>
                </a:solidFill>
              </a:rPr>
              <a:t> - EX</a:t>
            </a:r>
            <a:endParaRPr lang="he-IL" sz="2400" dirty="0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1AEE2-063E-8847-25C5-27F2877EB48E}"/>
              </a:ext>
            </a:extLst>
          </p:cNvPr>
          <p:cNvGrpSpPr/>
          <p:nvPr/>
        </p:nvGrpSpPr>
        <p:grpSpPr>
          <a:xfrm>
            <a:off x="194204" y="1276350"/>
            <a:ext cx="8755592" cy="3230728"/>
            <a:chOff x="252484" y="948519"/>
            <a:chExt cx="8755592" cy="323072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333BFF-0E02-0193-2925-88E765039511}"/>
                </a:ext>
              </a:extLst>
            </p:cNvPr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4F9D16BD-7288-630D-EA53-F267B8450867}"/>
                </a:ext>
              </a:extLst>
            </p:cNvPr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192" name="Trapezoid 191">
                <a:extLst>
                  <a:ext uri="{FF2B5EF4-FFF2-40B4-BE49-F238E27FC236}">
                    <a16:creationId xmlns:a16="http://schemas.microsoft.com/office/drawing/2014/main" id="{C53272AF-858F-35BE-BB95-D38AF5F924DA}"/>
                  </a:ext>
                </a:extLst>
              </p:cNvPr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93" name="Isosceles Triangle 316">
                <a:extLst>
                  <a:ext uri="{FF2B5EF4-FFF2-40B4-BE49-F238E27FC236}">
                    <a16:creationId xmlns:a16="http://schemas.microsoft.com/office/drawing/2014/main" id="{8B2388A8-106B-762D-F573-12A60D31D606}"/>
                  </a:ext>
                </a:extLst>
              </p:cNvPr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DBA5BD54-8E61-2CA4-634A-4DA13DE795A3}"/>
                  </a:ext>
                </a:extLst>
              </p:cNvPr>
              <p:cNvCxnSpPr>
                <a:stCxn id="193" idx="2"/>
                <a:endCxn id="193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C839D7FE-1C7E-4337-F257-F01F151D6072}"/>
                  </a:ext>
                </a:extLst>
              </p:cNvPr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D2ACE52-7E8D-7637-330E-3FA39DFAE31E}"/>
                </a:ext>
              </a:extLst>
            </p:cNvPr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9A9FE179-A4EC-FC9F-55C8-A0F14538B2BD}"/>
                  </a:ext>
                </a:extLst>
              </p:cNvPr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191" name="Isosceles Triangle 314">
                <a:extLst>
                  <a:ext uri="{FF2B5EF4-FFF2-40B4-BE49-F238E27FC236}">
                    <a16:creationId xmlns:a16="http://schemas.microsoft.com/office/drawing/2014/main" id="{907E38B6-9A99-1AB8-602C-CD6BE1A67E45}"/>
                  </a:ext>
                </a:extLst>
              </p:cNvPr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CC68043-10F7-D7B8-7866-EE71EF41CB63}"/>
                </a:ext>
              </a:extLst>
            </p:cNvPr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C3756A25-24B3-34C3-2019-46FC5FA5AE0F}"/>
                  </a:ext>
                </a:extLst>
              </p:cNvPr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5BEDB947-53F8-FE6E-2F6A-2FB4EE551E4A}"/>
                    </a:ext>
                  </a:extLst>
                </p:cNvPr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189" name="Isosceles Triangle 312">
                  <a:extLst>
                    <a:ext uri="{FF2B5EF4-FFF2-40B4-BE49-F238E27FC236}">
                      <a16:creationId xmlns:a16="http://schemas.microsoft.com/office/drawing/2014/main" id="{BD54C6EF-41FE-C586-EAAC-722567A8E544}"/>
                    </a:ext>
                  </a:extLst>
                </p:cNvPr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61BE14A4-14D2-9637-D85F-57C1A12539E6}"/>
                  </a:ext>
                </a:extLst>
              </p:cNvPr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F33E7BED-BF71-33AB-4F08-DB475D5F5CA2}"/>
                  </a:ext>
                </a:extLst>
              </p:cNvPr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63797BD9-E78B-E3B9-2B96-1FAEFDE2F64F}"/>
                  </a:ext>
                </a:extLst>
              </p:cNvPr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069A973F-2E09-0E9E-8E88-A9559D64AF67}"/>
                  </a:ext>
                </a:extLst>
              </p:cNvPr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9263795-24D4-5B55-7651-E162D8DC8BC6}"/>
                  </a:ext>
                </a:extLst>
              </p:cNvPr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86D364BD-80A3-95C1-D96D-C255ADF49B4D}"/>
                  </a:ext>
                </a:extLst>
              </p:cNvPr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4816133-679F-5CDB-2D6D-80E67023A2F6}"/>
                </a:ext>
              </a:extLst>
            </p:cNvPr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FB7917C-4448-C359-BB35-A665785DF880}"/>
                </a:ext>
              </a:extLst>
            </p:cNvPr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4B2A0DE-2B53-81FE-D7E4-8AEBD02C33F2}"/>
                </a:ext>
              </a:extLst>
            </p:cNvPr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08" name="Trapezoid 107">
              <a:extLst>
                <a:ext uri="{FF2B5EF4-FFF2-40B4-BE49-F238E27FC236}">
                  <a16:creationId xmlns:a16="http://schemas.microsoft.com/office/drawing/2014/main" id="{48A8A265-AEC5-3295-7E85-8701CD7352F7}"/>
                </a:ext>
              </a:extLst>
            </p:cNvPr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CEEBD27-A254-C468-422F-BF61DFE300CE}"/>
                </a:ext>
              </a:extLst>
            </p:cNvPr>
            <p:cNvCxnSpPr>
              <a:stCxn id="190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394F2DAE-BFC8-1BFE-6E01-B5ABEF44408E}"/>
                </a:ext>
              </a:extLst>
            </p:cNvPr>
            <p:cNvCxnSpPr>
              <a:endCxn id="105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E0BB2E6-D081-2DA5-752B-EAC64BEEE120}"/>
                </a:ext>
              </a:extLst>
            </p:cNvPr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Elbow Connector 111">
              <a:extLst>
                <a:ext uri="{FF2B5EF4-FFF2-40B4-BE49-F238E27FC236}">
                  <a16:creationId xmlns:a16="http://schemas.microsoft.com/office/drawing/2014/main" id="{3B2F98E1-6044-90B9-EE74-46115FB40C59}"/>
                </a:ext>
              </a:extLst>
            </p:cNvPr>
            <p:cNvCxnSpPr>
              <a:endCxn id="179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EC8A233-EEC8-DCC9-28B0-0DF5F03DF217}"/>
                </a:ext>
              </a:extLst>
            </p:cNvPr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178" name="Trapezoid 177">
                <a:extLst>
                  <a:ext uri="{FF2B5EF4-FFF2-40B4-BE49-F238E27FC236}">
                    <a16:creationId xmlns:a16="http://schemas.microsoft.com/office/drawing/2014/main" id="{BC7E0D89-E3E9-AA0E-B681-8480E98BDFEE}"/>
                  </a:ext>
                </a:extLst>
              </p:cNvPr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622BD622-364F-0A1E-9E43-4955639BE678}"/>
                  </a:ext>
                </a:extLst>
              </p:cNvPr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2593C7A5-7EC2-D1F5-F818-5D97096FC520}"/>
                  </a:ext>
                </a:extLst>
              </p:cNvPr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4B8EF19-D5D0-A379-B536-FC8886D967BE}"/>
                </a:ext>
              </a:extLst>
            </p:cNvPr>
            <p:cNvCxnSpPr>
              <a:endCxn id="176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722FCAB8-27CC-A1B2-B2AD-B41E301032A9}"/>
                </a:ext>
              </a:extLst>
            </p:cNvPr>
            <p:cNvCxnSpPr>
              <a:stCxn id="176" idx="3"/>
              <a:endCxn id="3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B621D9CF-FDE2-E33E-D432-3E5C23CBA2CD}"/>
                </a:ext>
              </a:extLst>
            </p:cNvPr>
            <p:cNvCxnSpPr>
              <a:stCxn id="108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660FF1E7-CC1C-394B-9172-BEFE514CE602}"/>
                </a:ext>
              </a:extLst>
            </p:cNvPr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Elbow Connector 117">
              <a:extLst>
                <a:ext uri="{FF2B5EF4-FFF2-40B4-BE49-F238E27FC236}">
                  <a16:creationId xmlns:a16="http://schemas.microsoft.com/office/drawing/2014/main" id="{81E0C185-5A10-2DE6-C375-7605F4E6E3EA}"/>
                </a:ext>
              </a:extLst>
            </p:cNvPr>
            <p:cNvCxnSpPr>
              <a:stCxn id="186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Elbow Connector 118">
              <a:extLst>
                <a:ext uri="{FF2B5EF4-FFF2-40B4-BE49-F238E27FC236}">
                  <a16:creationId xmlns:a16="http://schemas.microsoft.com/office/drawing/2014/main" id="{11746061-C0FE-9977-8D06-9C941A5138E7}"/>
                </a:ext>
              </a:extLst>
            </p:cNvPr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Elbow Connector 119">
              <a:extLst>
                <a:ext uri="{FF2B5EF4-FFF2-40B4-BE49-F238E27FC236}">
                  <a16:creationId xmlns:a16="http://schemas.microsoft.com/office/drawing/2014/main" id="{8F2DC9F5-6A83-071F-7488-1BF66DDD3CAD}"/>
                </a:ext>
              </a:extLst>
            </p:cNvPr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BCEDE2F4-8610-E03D-228C-8F05FABB970B}"/>
                </a:ext>
              </a:extLst>
            </p:cNvPr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9E7E52B2-569C-F933-44AA-D6719CB85E8E}"/>
                  </a:ext>
                </a:extLst>
              </p:cNvPr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7" name="Isosceles Triangle 300">
                <a:extLst>
                  <a:ext uri="{FF2B5EF4-FFF2-40B4-BE49-F238E27FC236}">
                    <a16:creationId xmlns:a16="http://schemas.microsoft.com/office/drawing/2014/main" id="{EE922940-589E-A367-73F3-5C3EB2198694}"/>
                  </a:ext>
                </a:extLst>
              </p:cNvPr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22" name="Trapezoid 121">
              <a:extLst>
                <a:ext uri="{FF2B5EF4-FFF2-40B4-BE49-F238E27FC236}">
                  <a16:creationId xmlns:a16="http://schemas.microsoft.com/office/drawing/2014/main" id="{1F84613C-BCDF-0590-7A1D-A499611ADB43}"/>
                </a:ext>
              </a:extLst>
            </p:cNvPr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3" name="Elbow Connector 122">
              <a:extLst>
                <a:ext uri="{FF2B5EF4-FFF2-40B4-BE49-F238E27FC236}">
                  <a16:creationId xmlns:a16="http://schemas.microsoft.com/office/drawing/2014/main" id="{B23BD31F-C800-D726-170B-C6CD1953C428}"/>
                </a:ext>
              </a:extLst>
            </p:cNvPr>
            <p:cNvCxnSpPr>
              <a:endCxn id="164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D3A70BB6-27E3-4D17-C314-2E6B3B6BFF49}"/>
                </a:ext>
              </a:extLst>
            </p:cNvPr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650C871-4969-740A-1C1A-DF10270EAF08}"/>
                </a:ext>
              </a:extLst>
            </p:cNvPr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rapezoid 125">
              <a:extLst>
                <a:ext uri="{FF2B5EF4-FFF2-40B4-BE49-F238E27FC236}">
                  <a16:creationId xmlns:a16="http://schemas.microsoft.com/office/drawing/2014/main" id="{3B8C865D-D391-7A7C-3D86-F134A6618C38}"/>
                </a:ext>
              </a:extLst>
            </p:cNvPr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BE954E37-220F-E563-69EB-80BD260517DA}"/>
                </a:ext>
              </a:extLst>
            </p:cNvPr>
            <p:cNvCxnSpPr>
              <a:stCxn id="122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Elbow Connector 127">
              <a:extLst>
                <a:ext uri="{FF2B5EF4-FFF2-40B4-BE49-F238E27FC236}">
                  <a16:creationId xmlns:a16="http://schemas.microsoft.com/office/drawing/2014/main" id="{E80EDB64-E2FE-1D04-5301-0DC3F095D79B}"/>
                </a:ext>
              </a:extLst>
            </p:cNvPr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>
              <a:extLst>
                <a:ext uri="{FF2B5EF4-FFF2-40B4-BE49-F238E27FC236}">
                  <a16:creationId xmlns:a16="http://schemas.microsoft.com/office/drawing/2014/main" id="{D34274B1-BA41-2DBC-D39B-84216F0AFF03}"/>
                </a:ext>
              </a:extLst>
            </p:cNvPr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8DC7DB4-12A3-74FB-DA1E-7DC2DE0EFE89}"/>
                </a:ext>
              </a:extLst>
            </p:cNvPr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265DCDC-EB76-5C88-7C75-0779F8E4F48F}"/>
                </a:ext>
              </a:extLst>
            </p:cNvPr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58CAE0A-219C-A16A-0F2D-2DF4D41DA441}"/>
                </a:ext>
              </a:extLst>
            </p:cNvPr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9237B0C-D129-E235-40AD-78360C06D0DC}"/>
                </a:ext>
              </a:extLst>
            </p:cNvPr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BD29AFB-242D-040D-2061-E3651ED2A856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5" name="Isosceles Triangle 298">
                <a:extLst>
                  <a:ext uri="{FF2B5EF4-FFF2-40B4-BE49-F238E27FC236}">
                    <a16:creationId xmlns:a16="http://schemas.microsoft.com/office/drawing/2014/main" id="{A2C387FC-758E-71A0-8A1D-AB7066AD74D9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4A05FEE-A934-AE10-4CB8-7C704DC0687A}"/>
                </a:ext>
              </a:extLst>
            </p:cNvPr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85AF81E3-6F8D-0526-4CD1-9FEC800640E3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3" name="Isosceles Triangle 296">
                <a:extLst>
                  <a:ext uri="{FF2B5EF4-FFF2-40B4-BE49-F238E27FC236}">
                    <a16:creationId xmlns:a16="http://schemas.microsoft.com/office/drawing/2014/main" id="{B8489D23-7920-C795-1F45-76C15492C818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5" name="Elbow Connector 134">
              <a:extLst>
                <a:ext uri="{FF2B5EF4-FFF2-40B4-BE49-F238E27FC236}">
                  <a16:creationId xmlns:a16="http://schemas.microsoft.com/office/drawing/2014/main" id="{C062AD92-998B-7C2A-9894-2FDE0E36B14E}"/>
                </a:ext>
              </a:extLst>
            </p:cNvPr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E64A4B3-33D5-B65C-09A7-D454D787496B}"/>
                </a:ext>
              </a:extLst>
            </p:cNvPr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B504F63A-C822-C112-EFED-109BE14C745D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71" name="Isosceles Triangle 294">
                <a:extLst>
                  <a:ext uri="{FF2B5EF4-FFF2-40B4-BE49-F238E27FC236}">
                    <a16:creationId xmlns:a16="http://schemas.microsoft.com/office/drawing/2014/main" id="{49AB3408-1A4F-5C2C-B729-DBDBDD68A939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BC9703DC-B07B-8B5F-48A8-AFEB52F44FB0}"/>
                </a:ext>
              </a:extLst>
            </p:cNvPr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42C0A9F-32A8-6A2F-F155-0DA70045E685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69" name="Isosceles Triangle 292">
                <a:extLst>
                  <a:ext uri="{FF2B5EF4-FFF2-40B4-BE49-F238E27FC236}">
                    <a16:creationId xmlns:a16="http://schemas.microsoft.com/office/drawing/2014/main" id="{EF4440E4-4A5F-AACD-7659-D5A28C7910D0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F73940A-7D8D-5BB8-67ED-7302B287B568}"/>
                </a:ext>
              </a:extLst>
            </p:cNvPr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E93A6035-9B5F-8B6D-150C-594D75304F9B}"/>
                  </a:ext>
                </a:extLst>
              </p:cNvPr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67" name="Isosceles Triangle 290">
                <a:extLst>
                  <a:ext uri="{FF2B5EF4-FFF2-40B4-BE49-F238E27FC236}">
                    <a16:creationId xmlns:a16="http://schemas.microsoft.com/office/drawing/2014/main" id="{5C397EB6-40CB-A2FB-2123-4FA8BB0B3FF9}"/>
                  </a:ext>
                </a:extLst>
              </p:cNvPr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E580E3A-6BBD-D191-3081-B57EB0BE6783}"/>
                </a:ext>
              </a:extLst>
            </p:cNvPr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66B06CD-6A0E-E58B-C165-C2B5B380E492}"/>
                </a:ext>
              </a:extLst>
            </p:cNvPr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3E16FD3-CC3C-E168-6A16-9FE9541D77CB}"/>
                </a:ext>
              </a:extLst>
            </p:cNvPr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D4EC5E0-617C-C811-5A86-09C029DF752D}"/>
                </a:ext>
              </a:extLst>
            </p:cNvPr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7615C0A-EA60-A5ED-5CD7-547A2CF52AD5}"/>
                </a:ext>
              </a:extLst>
            </p:cNvPr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3E84A19-1B01-6B05-ADF4-6083EB4A7249}"/>
                </a:ext>
              </a:extLst>
            </p:cNvPr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1659B38-C58F-432F-94AF-6F82A5BFC6F4}"/>
                </a:ext>
              </a:extLst>
            </p:cNvPr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AED51F6-E199-1B66-4F63-AC925D4FB6EF}"/>
                </a:ext>
              </a:extLst>
            </p:cNvPr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B534F8A-E1D1-30C0-0F8B-56A6371A52D6}"/>
                </a:ext>
              </a:extLst>
            </p:cNvPr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164" name="Trapezoid 163">
                <a:extLst>
                  <a:ext uri="{FF2B5EF4-FFF2-40B4-BE49-F238E27FC236}">
                    <a16:creationId xmlns:a16="http://schemas.microsoft.com/office/drawing/2014/main" id="{6A7B91A9-6674-8C4D-B6E7-345E75215651}"/>
                  </a:ext>
                </a:extLst>
              </p:cNvPr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8D1A8F4-F336-D146-BDFE-9F2E7DD295BA}"/>
                  </a:ext>
                </a:extLst>
              </p:cNvPr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A006CA52-3484-4905-193D-71AF405808AB}"/>
                </a:ext>
              </a:extLst>
            </p:cNvPr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A754CCC-9D89-0D29-8107-5C8A4CBC6D44}"/>
                </a:ext>
              </a:extLst>
            </p:cNvPr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E574CB6-0799-AB50-BDC5-04D3B1018DA6}"/>
                </a:ext>
              </a:extLst>
            </p:cNvPr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FA04644-3609-1B4A-0E4B-AA91E6036C83}"/>
                </a:ext>
              </a:extLst>
            </p:cNvPr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33E4FBEC-2F0B-A708-2F89-8D127A891027}"/>
                </a:ext>
              </a:extLst>
            </p:cNvPr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151FDC6-7FCF-F91B-785C-54A9F9FC7912}"/>
                </a:ext>
              </a:extLst>
            </p:cNvPr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8B39AA5-DDBA-2DCD-E239-0C1F5915ACC7}"/>
                </a:ext>
              </a:extLst>
            </p:cNvPr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D192A82-57A5-6888-6E56-61981420162E}"/>
                </a:ext>
              </a:extLst>
            </p:cNvPr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1631FB46-9880-6681-F810-F46757AE2906}"/>
                </a:ext>
              </a:extLst>
            </p:cNvPr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1439856-1A46-06EB-5B5D-E080FD4BABCA}"/>
                </a:ext>
              </a:extLst>
            </p:cNvPr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B11B85-CBAF-BB19-A67C-EEAC53C09F63}"/>
                  </a:ext>
                </a:extLst>
              </p:cNvPr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163" name="Isosceles Triangle 286">
                <a:extLst>
                  <a:ext uri="{FF2B5EF4-FFF2-40B4-BE49-F238E27FC236}">
                    <a16:creationId xmlns:a16="http://schemas.microsoft.com/office/drawing/2014/main" id="{E6CEFC3E-8AA5-EBF9-14A9-BC777F4B95DF}"/>
                  </a:ext>
                </a:extLst>
              </p:cNvPr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7126F54B-5FE3-708E-5865-C7838527F55F}"/>
                </a:ext>
              </a:extLst>
            </p:cNvPr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88AB2FCE-472B-80A0-037C-442B292C7DE6}"/>
                </a:ext>
              </a:extLst>
            </p:cNvPr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1E5E468-1062-965E-58FE-6DFAC9DF888F}"/>
                </a:ext>
              </a:extLst>
            </p:cNvPr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161" name="Elbow Connector 160">
              <a:extLst>
                <a:ext uri="{FF2B5EF4-FFF2-40B4-BE49-F238E27FC236}">
                  <a16:creationId xmlns:a16="http://schemas.microsoft.com/office/drawing/2014/main" id="{5450BC18-F254-162E-8A92-B5F73905AAC9}"/>
                </a:ext>
              </a:extLst>
            </p:cNvPr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3C6C8D71-F3A8-1CF2-6AF6-A217FB8C3D17}"/>
              </a:ext>
            </a:extLst>
          </p:cNvPr>
          <p:cNvSpPr txBox="1"/>
          <p:nvPr/>
        </p:nvSpPr>
        <p:spPr>
          <a:xfrm>
            <a:off x="5391325" y="4435975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Bsel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Imm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F6562538-2C27-A880-E385-17CB0C763202}"/>
              </a:ext>
            </a:extLst>
          </p:cNvPr>
          <p:cNvCxnSpPr/>
          <p:nvPr/>
        </p:nvCxnSpPr>
        <p:spPr>
          <a:xfrm flipV="1">
            <a:off x="6315577" y="3542833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FCB3C504-0C62-D72B-0C2D-337D6ED7DF33}"/>
              </a:ext>
            </a:extLst>
          </p:cNvPr>
          <p:cNvSpPr txBox="1"/>
          <p:nvPr/>
        </p:nvSpPr>
        <p:spPr>
          <a:xfrm>
            <a:off x="6021307" y="4120167"/>
            <a:ext cx="7500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ALUsel</a:t>
            </a:r>
            <a:r>
              <a:rPr lang="en-US" sz="1200" dirty="0">
                <a:solidFill>
                  <a:srgbClr val="7030A0"/>
                </a:solidFill>
              </a:rPr>
              <a:t>=Add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4E99C32C-65CA-403E-BEF5-6BBE0D85DC44}"/>
              </a:ext>
            </a:extLst>
          </p:cNvPr>
          <p:cNvCxnSpPr/>
          <p:nvPr/>
        </p:nvCxnSpPr>
        <p:spPr>
          <a:xfrm flipV="1">
            <a:off x="5088431" y="4321595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F048019E-A0A3-4518-4791-6675874586B4}"/>
              </a:ext>
            </a:extLst>
          </p:cNvPr>
          <p:cNvSpPr txBox="1"/>
          <p:nvPr/>
        </p:nvSpPr>
        <p:spPr>
          <a:xfrm>
            <a:off x="4157550" y="4428686"/>
            <a:ext cx="7197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IMMsel</a:t>
            </a:r>
            <a:r>
              <a:rPr lang="en-US" sz="1200" dirty="0">
                <a:solidFill>
                  <a:srgbClr val="7030A0"/>
                </a:solidFill>
              </a:rPr>
              <a:t>=I/S</a:t>
            </a:r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F7C589C9-6125-283D-570A-B9DBA9A2F41F}"/>
              </a:ext>
            </a:extLst>
          </p:cNvPr>
          <p:cNvSpPr/>
          <p:nvPr/>
        </p:nvSpPr>
        <p:spPr>
          <a:xfrm>
            <a:off x="2808210" y="3410271"/>
            <a:ext cx="3236359" cy="873304"/>
          </a:xfrm>
          <a:custGeom>
            <a:avLst/>
            <a:gdLst>
              <a:gd name="connsiteX0" fmla="*/ 0 w 3236359"/>
              <a:gd name="connsiteY0" fmla="*/ 30823 h 873304"/>
              <a:gd name="connsiteX1" fmla="*/ 297950 w 3236359"/>
              <a:gd name="connsiteY1" fmla="*/ 20548 h 873304"/>
              <a:gd name="connsiteX2" fmla="*/ 297950 w 3236359"/>
              <a:gd name="connsiteY2" fmla="*/ 863029 h 873304"/>
              <a:gd name="connsiteX3" fmla="*/ 2578813 w 3236359"/>
              <a:gd name="connsiteY3" fmla="*/ 873304 h 873304"/>
              <a:gd name="connsiteX4" fmla="*/ 2599362 w 3236359"/>
              <a:gd name="connsiteY4" fmla="*/ 277402 h 873304"/>
              <a:gd name="connsiteX5" fmla="*/ 2856216 w 3236359"/>
              <a:gd name="connsiteY5" fmla="*/ 246580 h 873304"/>
              <a:gd name="connsiteX6" fmla="*/ 3236359 w 3236359"/>
              <a:gd name="connsiteY6" fmla="*/ 0 h 87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6359" h="873304">
                <a:moveTo>
                  <a:pt x="0" y="30823"/>
                </a:moveTo>
                <a:lnTo>
                  <a:pt x="297950" y="20548"/>
                </a:lnTo>
                <a:lnTo>
                  <a:pt x="297950" y="863029"/>
                </a:lnTo>
                <a:lnTo>
                  <a:pt x="2578813" y="873304"/>
                </a:lnTo>
                <a:lnTo>
                  <a:pt x="2599362" y="277402"/>
                </a:lnTo>
                <a:lnTo>
                  <a:pt x="2856216" y="246580"/>
                </a:lnTo>
                <a:lnTo>
                  <a:pt x="3236359" y="0"/>
                </a:lnTo>
              </a:path>
            </a:pathLst>
          </a:cu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4640B85-5F2F-D79B-7037-591F7892C401}"/>
              </a:ext>
            </a:extLst>
          </p:cNvPr>
          <p:cNvCxnSpPr/>
          <p:nvPr/>
        </p:nvCxnSpPr>
        <p:spPr>
          <a:xfrm>
            <a:off x="4392010" y="3039876"/>
            <a:ext cx="1639635" cy="28072"/>
          </a:xfrm>
          <a:prstGeom prst="line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C7C5FB6-D1F2-DD92-56AB-0DD313464D30}"/>
              </a:ext>
            </a:extLst>
          </p:cNvPr>
          <p:cNvCxnSpPr/>
          <p:nvPr/>
        </p:nvCxnSpPr>
        <p:spPr>
          <a:xfrm>
            <a:off x="6081839" y="3170953"/>
            <a:ext cx="456694" cy="7013"/>
          </a:xfrm>
          <a:prstGeom prst="straightConnector1">
            <a:avLst/>
          </a:prstGeom>
          <a:noFill/>
          <a:ln w="76200" cmpd="sng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2B1A2A24-D5B1-AB5C-43CD-2ECC773FD4C0}"/>
              </a:ext>
            </a:extLst>
          </p:cNvPr>
          <p:cNvCxnSpPr/>
          <p:nvPr/>
        </p:nvCxnSpPr>
        <p:spPr>
          <a:xfrm flipV="1">
            <a:off x="5706537" y="3695329"/>
            <a:ext cx="16888" cy="725691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B01101FF-F416-C167-DD19-85E2D383D433}"/>
              </a:ext>
            </a:extLst>
          </p:cNvPr>
          <p:cNvCxnSpPr/>
          <p:nvPr/>
        </p:nvCxnSpPr>
        <p:spPr>
          <a:xfrm>
            <a:off x="5707877" y="1979410"/>
            <a:ext cx="0" cy="709955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932CAB3D-A6DA-1973-D8DC-A2A1F16B30A8}"/>
              </a:ext>
            </a:extLst>
          </p:cNvPr>
          <p:cNvSpPr txBox="1"/>
          <p:nvPr/>
        </p:nvSpPr>
        <p:spPr>
          <a:xfrm>
            <a:off x="5451363" y="1752748"/>
            <a:ext cx="5750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Asel</a:t>
            </a: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reg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568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8" grpId="0"/>
      <p:bldP spid="200" grpId="0"/>
      <p:bldP spid="201" grpId="0" animBg="1"/>
      <p:bldP spid="20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/>
          <p:cNvGrpSpPr/>
          <p:nvPr/>
        </p:nvGrpSpPr>
        <p:grpSpPr>
          <a:xfrm>
            <a:off x="230359" y="1276350"/>
            <a:ext cx="8755592" cy="3230728"/>
            <a:chOff x="252484" y="948519"/>
            <a:chExt cx="8755592" cy="3230728"/>
          </a:xfrm>
        </p:grpSpPr>
        <p:sp>
          <p:nvSpPr>
            <p:cNvPr id="113" name="Rectangle 112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114" name="Group 113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306" name="Trapezoid 305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Isosceles Triangle 306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308" name="Straight Connector 307"/>
              <p:cNvCxnSpPr>
                <a:stCxn id="307" idx="2"/>
                <a:endCxn id="307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TextBox 308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304" name="Rectangle 303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305" name="Isosceles Triangle 304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302" name="Rectangle 301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303" name="Isosceles Triangle 302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TextBox 295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298" name="TextBox 297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20" name="Trapezoid 119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1" name="Straight Arrow Connector 120"/>
            <p:cNvCxnSpPr>
              <a:stCxn id="304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endCxn id="117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Elbow Connector 123"/>
            <p:cNvCxnSpPr>
              <a:endCxn id="293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124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292" name="Trapezoid 291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294" name="TextBox 293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26" name="Straight Connector 125"/>
            <p:cNvCxnSpPr>
              <a:endCxn id="290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Elbow Connector 126"/>
            <p:cNvCxnSpPr>
              <a:stCxn id="290" idx="3"/>
              <a:endCxn id="113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120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300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290" name="Rectangle 289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91" name="Isosceles Triangle 290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Trapezoid 133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5" name="Elbow Connector 134"/>
            <p:cNvCxnSpPr>
              <a:endCxn id="278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rapezoid 137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9" name="Straight Arrow Connector 138"/>
            <p:cNvCxnSpPr>
              <a:stCxn id="134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Elbow Connector 139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144" name="Straight Connector 143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288" name="Rectangle 287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9" name="Isosceles Triangle 288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6" name="Rectangle 285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7" name="Isosceles Triangle 286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2" name="Elbow Connector 181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9" name="Group 238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4" name="Rectangle 283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5" name="Isosceles Triangle 284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2" name="Rectangle 281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3" name="Isosceles Triangle 282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280" name="Rectangle 279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81" name="Isosceles Triangle 280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2" name="Straight Connector 241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261" name="Group 260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278" name="Trapezoid 277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262" name="Straight Arrow Connector 261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265" name="Straight Connector 264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Freeform 265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8" name="Straight Arrow Connector 267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Freeform 269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1" name="Group 270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276" name="Rectangle 275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277" name="Isosceles Triangle 276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2" name="Freeform 271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Arrow Connector 272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275" name="Elbow Connector 274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F847AC60-068B-4785-AE96-4792455632D2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49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cxnSp>
        <p:nvCxnSpPr>
          <p:cNvPr id="250" name="Straight Arrow Connector 249"/>
          <p:cNvCxnSpPr/>
          <p:nvPr/>
        </p:nvCxnSpPr>
        <p:spPr>
          <a:xfrm flipV="1">
            <a:off x="3792198" y="3901061"/>
            <a:ext cx="0" cy="533400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3336311" y="4466235"/>
            <a:ext cx="676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RegWEn</a:t>
            </a:r>
            <a:r>
              <a:rPr lang="en-US" sz="1200" dirty="0">
                <a:solidFill>
                  <a:srgbClr val="7030A0"/>
                </a:solidFill>
              </a:rPr>
              <a:t>=1</a:t>
            </a:r>
          </a:p>
        </p:txBody>
      </p:sp>
      <p:cxnSp>
        <p:nvCxnSpPr>
          <p:cNvPr id="255" name="Elbow Connector 254"/>
          <p:cNvCxnSpPr/>
          <p:nvPr/>
        </p:nvCxnSpPr>
        <p:spPr>
          <a:xfrm flipV="1">
            <a:off x="2885271" y="3151611"/>
            <a:ext cx="489017" cy="288665"/>
          </a:xfrm>
          <a:prstGeom prst="bentConnector3">
            <a:avLst>
              <a:gd name="adj1" fmla="val 50000"/>
            </a:avLst>
          </a:pr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/>
          <p:nvPr/>
        </p:nvCxnSpPr>
        <p:spPr>
          <a:xfrm flipV="1">
            <a:off x="3025875" y="3040912"/>
            <a:ext cx="0" cy="1383386"/>
          </a:xfrm>
          <a:prstGeom prst="straightConnector1">
            <a:avLst/>
          </a:prstGeom>
          <a:noFill/>
          <a:ln w="57150" cmpd="sng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2762172" y="2255178"/>
            <a:ext cx="4202130" cy="945222"/>
          </a:xfrm>
          <a:custGeom>
            <a:avLst/>
            <a:gdLst>
              <a:gd name="connsiteX0" fmla="*/ 3965824 w 4202130"/>
              <a:gd name="connsiteY0" fmla="*/ 945222 h 945222"/>
              <a:gd name="connsiteX1" fmla="*/ 4191856 w 4202130"/>
              <a:gd name="connsiteY1" fmla="*/ 945222 h 945222"/>
              <a:gd name="connsiteX2" fmla="*/ 4202130 w 4202130"/>
              <a:gd name="connsiteY2" fmla="*/ 41096 h 945222"/>
              <a:gd name="connsiteX3" fmla="*/ 0 w 4202130"/>
              <a:gd name="connsiteY3" fmla="*/ 0 h 945222"/>
              <a:gd name="connsiteX4" fmla="*/ 10274 w 4202130"/>
              <a:gd name="connsiteY4" fmla="*/ 369869 h 945222"/>
              <a:gd name="connsiteX5" fmla="*/ 164386 w 4202130"/>
              <a:gd name="connsiteY5" fmla="*/ 369869 h 945222"/>
              <a:gd name="connsiteX6" fmla="*/ 770561 w 4202130"/>
              <a:gd name="connsiteY6" fmla="*/ 626723 h 945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2130" h="945222">
                <a:moveTo>
                  <a:pt x="3965824" y="945222"/>
                </a:moveTo>
                <a:lnTo>
                  <a:pt x="4191856" y="945222"/>
                </a:lnTo>
                <a:lnTo>
                  <a:pt x="4202130" y="41096"/>
                </a:lnTo>
                <a:lnTo>
                  <a:pt x="0" y="0"/>
                </a:lnTo>
                <a:lnTo>
                  <a:pt x="10274" y="369869"/>
                </a:lnTo>
                <a:lnTo>
                  <a:pt x="164386" y="369869"/>
                </a:lnTo>
                <a:lnTo>
                  <a:pt x="770561" y="626723"/>
                </a:lnTo>
              </a:path>
            </a:pathLst>
          </a:custGeom>
          <a:ln w="762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/>
          <p:cNvSpPr txBox="1"/>
          <p:nvPr/>
        </p:nvSpPr>
        <p:spPr>
          <a:xfrm>
            <a:off x="2416275" y="4152850"/>
            <a:ext cx="54008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>
                <a:solidFill>
                  <a:srgbClr val="7030A0"/>
                </a:solidFill>
              </a:rPr>
              <a:t>WBsel</a:t>
            </a:r>
            <a:br>
              <a:rPr lang="en-US" sz="1200" dirty="0">
                <a:solidFill>
                  <a:srgbClr val="7030A0"/>
                </a:solidFill>
              </a:rPr>
            </a:br>
            <a:r>
              <a:rPr lang="en-US" sz="1200" dirty="0">
                <a:solidFill>
                  <a:srgbClr val="7030A0"/>
                </a:solidFill>
              </a:rPr>
              <a:t>=</a:t>
            </a:r>
            <a:r>
              <a:rPr lang="en-US" sz="1200" dirty="0" err="1">
                <a:solidFill>
                  <a:srgbClr val="7030A0"/>
                </a:solidFill>
              </a:rPr>
              <a:t>ALUout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 rot="20255107">
            <a:off x="-233170" y="2150682"/>
            <a:ext cx="9610340" cy="76944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solidFill>
                  <a:srgbClr val="FF0000"/>
                </a:solidFill>
              </a:rPr>
              <a:t>אין צ ורך בשינויים ב- </a:t>
            </a:r>
            <a:r>
              <a:rPr lang="en-US" sz="4400" dirty="0">
                <a:solidFill>
                  <a:srgbClr val="FF0000"/>
                </a:solidFill>
              </a:rPr>
              <a:t>Data Path</a:t>
            </a:r>
            <a:endParaRPr lang="he-IL" sz="44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B76B3-2CA7-1C6F-DF92-48090CBCE90D}"/>
              </a:ext>
            </a:extLst>
          </p:cNvPr>
          <p:cNvSpPr/>
          <p:nvPr/>
        </p:nvSpPr>
        <p:spPr>
          <a:xfrm>
            <a:off x="590548" y="699009"/>
            <a:ext cx="1399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addi</a:t>
            </a:r>
            <a:r>
              <a:rPr lang="en-US" sz="2400" dirty="0">
                <a:solidFill>
                  <a:srgbClr val="FF0000"/>
                </a:solidFill>
              </a:rPr>
              <a:t> - WB</a:t>
            </a:r>
            <a:endParaRPr lang="he-IL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86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50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2088406" y="-14541"/>
            <a:ext cx="4876800" cy="657226"/>
          </a:xfrm>
        </p:spPr>
        <p:txBody>
          <a:bodyPr/>
          <a:lstStyle/>
          <a:p>
            <a:r>
              <a:rPr lang="en-US" altLang="en-US" dirty="0"/>
              <a:t>Controller State Machine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734345"/>
              </p:ext>
            </p:extLst>
          </p:nvPr>
        </p:nvGraphicFramePr>
        <p:xfrm>
          <a:off x="2514600" y="514350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0" y="514350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954085" y="522796"/>
            <a:ext cx="726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addi</a:t>
            </a:r>
            <a:endParaRPr lang="he-IL" sz="24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87737" y="1785937"/>
            <a:ext cx="533400" cy="184666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1">
            <a:spAutoFit/>
          </a:bodyPr>
          <a:lstStyle/>
          <a:p>
            <a:r>
              <a:rPr lang="en-US" sz="1200" dirty="0"/>
              <a:t>/</a:t>
            </a:r>
            <a:r>
              <a:rPr lang="en-US" sz="1200" dirty="0" err="1"/>
              <a:t>addi</a:t>
            </a:r>
            <a:endParaRPr lang="he-IL" sz="1200" dirty="0" err="1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887537" y="2243137"/>
            <a:ext cx="762000" cy="76200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01737" y="3005137"/>
            <a:ext cx="1219200" cy="1143000"/>
          </a:xfrm>
          <a:prstGeom prst="ellipse">
            <a:avLst/>
          </a:prstGeom>
          <a:solidFill>
            <a:srgbClr val="FFFFFF"/>
          </a:solidFill>
          <a:ln w="952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10</a:t>
            </a:r>
          </a:p>
          <a:p>
            <a:pPr algn="ctr"/>
            <a:endParaRPr lang="en-US" sz="1400" dirty="0"/>
          </a:p>
          <a:p>
            <a:pPr algn="ctr"/>
            <a:r>
              <a:rPr lang="en-US" sz="800" dirty="0" err="1"/>
              <a:t>RegWen</a:t>
            </a:r>
            <a:r>
              <a:rPr lang="en-US" sz="800" dirty="0"/>
              <a:t>=1</a:t>
            </a:r>
          </a:p>
          <a:p>
            <a:pPr algn="ctr"/>
            <a:r>
              <a:rPr lang="en-US" sz="800" dirty="0" err="1"/>
              <a:t>WBSel</a:t>
            </a:r>
            <a:r>
              <a:rPr lang="en-US" sz="800" dirty="0"/>
              <a:t>=</a:t>
            </a:r>
            <a:r>
              <a:rPr lang="en-US" sz="800" dirty="0" err="1"/>
              <a:t>ALUout</a:t>
            </a:r>
            <a:endParaRPr lang="he-IL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1899441" y="2556641"/>
            <a:ext cx="56912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1400" dirty="0" err="1"/>
              <a:t>addi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048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51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2088406" y="-14541"/>
            <a:ext cx="4876800" cy="657226"/>
          </a:xfrm>
        </p:spPr>
        <p:txBody>
          <a:bodyPr/>
          <a:lstStyle/>
          <a:p>
            <a:r>
              <a:rPr lang="en-US" altLang="en-US" dirty="0"/>
              <a:t>Controller State Machine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14350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0" y="514350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954085" y="522796"/>
            <a:ext cx="726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addi</a:t>
            </a:r>
            <a:endParaRPr lang="he-IL" sz="24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87737" y="1785937"/>
            <a:ext cx="533400" cy="184666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1">
            <a:spAutoFit/>
          </a:bodyPr>
          <a:lstStyle/>
          <a:p>
            <a:r>
              <a:rPr lang="en-US" sz="1200" dirty="0"/>
              <a:t>/</a:t>
            </a:r>
            <a:r>
              <a:rPr lang="en-US" sz="1200" dirty="0" err="1"/>
              <a:t>addi</a:t>
            </a:r>
            <a:endParaRPr lang="he-IL" sz="1200" dirty="0" err="1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344820" y="2265362"/>
            <a:ext cx="1181986" cy="76358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581400" y="2340601"/>
            <a:ext cx="56912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1400" dirty="0" err="1"/>
              <a:t>addi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48669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67600" y="4558939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52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01405" y="1520669"/>
            <a:ext cx="8755592" cy="3230728"/>
            <a:chOff x="252484" y="948519"/>
            <a:chExt cx="8755592" cy="3230728"/>
          </a:xfrm>
        </p:grpSpPr>
        <p:sp>
          <p:nvSpPr>
            <p:cNvPr id="6" name="Rectangle 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97" name="Trapezoid 96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Isosceles Triangle 97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>
                <a:stCxn id="98" idx="2"/>
                <a:endCxn id="98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93" name="Rectangle 92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" name="Trapezoid 1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95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endCxn id="84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83" name="Trapezoid 82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9" name="Straight Connector 18"/>
            <p:cNvCxnSpPr>
              <a:endCxn id="81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81" idx="3"/>
              <a:endCxn id="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91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rapezoid 2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8" name="Elbow Connector 27"/>
            <p:cNvCxnSpPr>
              <a:endCxn id="69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apezoid 30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Elbow Connector 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5" name="Rectangle 7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3" name="Rectangle 7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1" name="Rectangle 7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69" name="Trapezoid 68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67" name="Rectangle 66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Freeform 62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66" name="Elbow Connector 65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274389" y="234445"/>
                <a:ext cx="8723876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sir rs1, rs2,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imm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𝑀𝑒𝑚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2]←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𝑒𝑥𝑡𝑒𝑛𝑑𝑒𝑑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𝑖𝑚𝑚𝑒𝑑𝑖𝑎𝑡𝑒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9" y="234445"/>
                <a:ext cx="8723876" cy="1015663"/>
              </a:xfrm>
              <a:prstGeom prst="rect">
                <a:avLst/>
              </a:prstGeom>
              <a:blipFill>
                <a:blip r:embed="rId3"/>
                <a:stretch>
                  <a:fillRect l="-1163" t="-4938" b="-49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5549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53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1837532" y="-100585"/>
            <a:ext cx="4800600" cy="712788"/>
          </a:xfrm>
        </p:spPr>
        <p:txBody>
          <a:bodyPr/>
          <a:lstStyle/>
          <a:p>
            <a:r>
              <a:rPr lang="en-US" altLang="en-US" dirty="0"/>
              <a:t>Controller State Machine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547912"/>
              </p:ext>
            </p:extLst>
          </p:nvPr>
        </p:nvGraphicFramePr>
        <p:xfrm>
          <a:off x="2453656" y="361950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3656" y="361950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893141" y="370396"/>
            <a:ext cx="482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sir</a:t>
            </a:r>
            <a:endParaRPr lang="he-IL" sz="2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endCxn id="9" idx="7"/>
          </p:cNvCxnSpPr>
          <p:nvPr/>
        </p:nvCxnSpPr>
        <p:spPr>
          <a:xfrm flipH="1">
            <a:off x="1995055" y="1252537"/>
            <a:ext cx="2574738" cy="66344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49525" y="1770909"/>
            <a:ext cx="990600" cy="990600"/>
          </a:xfrm>
          <a:prstGeom prst="ellipse">
            <a:avLst/>
          </a:prstGeom>
          <a:solidFill>
            <a:srgbClr val="FFFFFF"/>
          </a:solidFill>
          <a:ln w="952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sp>
        <p:nvSpPr>
          <p:cNvPr id="13" name="Oval 12"/>
          <p:cNvSpPr/>
          <p:nvPr/>
        </p:nvSpPr>
        <p:spPr>
          <a:xfrm>
            <a:off x="1149525" y="3205057"/>
            <a:ext cx="990600" cy="990600"/>
          </a:xfrm>
          <a:prstGeom prst="ellipse">
            <a:avLst/>
          </a:prstGeom>
          <a:solidFill>
            <a:srgbClr val="FFFFFF"/>
          </a:solidFill>
          <a:ln w="952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cxnSp>
        <p:nvCxnSpPr>
          <p:cNvPr id="14" name="Straight Arrow Connector 13"/>
          <p:cNvCxnSpPr>
            <a:stCxn id="9" idx="4"/>
            <a:endCxn id="13" idx="0"/>
          </p:cNvCxnSpPr>
          <p:nvPr/>
        </p:nvCxnSpPr>
        <p:spPr>
          <a:xfrm>
            <a:off x="1644825" y="2761509"/>
            <a:ext cx="0" cy="44354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3" idx="4"/>
          </p:cNvCxnSpPr>
          <p:nvPr/>
        </p:nvCxnSpPr>
        <p:spPr>
          <a:xfrm rot="5400000" flipH="1" flipV="1">
            <a:off x="2893049" y="2899913"/>
            <a:ext cx="47520" cy="2543968"/>
          </a:xfrm>
          <a:prstGeom prst="bentConnector4">
            <a:avLst>
              <a:gd name="adj1" fmla="val -1010227"/>
              <a:gd name="adj2" fmla="val 99872"/>
            </a:avLst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3919" y="1950781"/>
            <a:ext cx="1941812" cy="692497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dirty="0"/>
              <a:t>10</a:t>
            </a:r>
          </a:p>
          <a:p>
            <a:pPr algn="ctr"/>
            <a:r>
              <a:rPr lang="en-US" sz="1050" dirty="0" err="1"/>
              <a:t>Asel</a:t>
            </a:r>
            <a:r>
              <a:rPr lang="en-US" sz="1050" dirty="0"/>
              <a:t>=</a:t>
            </a:r>
            <a:r>
              <a:rPr lang="en-US" sz="1050" dirty="0" err="1"/>
              <a:t>reg</a:t>
            </a:r>
            <a:endParaRPr lang="en-US" sz="1050" dirty="0"/>
          </a:p>
          <a:p>
            <a:pPr algn="ctr"/>
            <a:r>
              <a:rPr lang="en-US" sz="1050" dirty="0" err="1"/>
              <a:t>Bsel</a:t>
            </a:r>
            <a:r>
              <a:rPr lang="en-US" sz="1050" dirty="0"/>
              <a:t>=</a:t>
            </a:r>
            <a:r>
              <a:rPr lang="en-US" sz="1050" dirty="0" err="1"/>
              <a:t>reg</a:t>
            </a:r>
            <a:endParaRPr lang="en-US" sz="1050" dirty="0"/>
          </a:p>
          <a:p>
            <a:pPr algn="ctr"/>
            <a:r>
              <a:rPr lang="en-US" sz="1050" dirty="0" err="1"/>
              <a:t>ALUsel</a:t>
            </a:r>
            <a:r>
              <a:rPr lang="en-US" sz="1050" dirty="0"/>
              <a:t>=Add</a:t>
            </a:r>
            <a:endParaRPr lang="he-IL" sz="1050" dirty="0" err="1"/>
          </a:p>
        </p:txBody>
      </p:sp>
      <p:sp>
        <p:nvSpPr>
          <p:cNvPr id="34" name="TextBox 33"/>
          <p:cNvSpPr txBox="1"/>
          <p:nvPr/>
        </p:nvSpPr>
        <p:spPr>
          <a:xfrm>
            <a:off x="684429" y="3362200"/>
            <a:ext cx="1941812" cy="530915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dirty="0"/>
              <a:t>11</a:t>
            </a:r>
          </a:p>
          <a:p>
            <a:pPr algn="ctr"/>
            <a:endParaRPr lang="en-US" sz="1200" dirty="0"/>
          </a:p>
          <a:p>
            <a:pPr algn="ctr"/>
            <a:r>
              <a:rPr lang="en-US" sz="1050" dirty="0" err="1"/>
              <a:t>MemRW</a:t>
            </a:r>
            <a:r>
              <a:rPr lang="en-US" sz="1050" dirty="0"/>
              <a:t>=Write</a:t>
            </a:r>
          </a:p>
        </p:txBody>
      </p:sp>
    </p:spTree>
    <p:extLst>
      <p:ext uri="{BB962C8B-B14F-4D97-AF65-F5344CB8AC3E}">
        <p14:creationId xmlns:p14="http://schemas.microsoft.com/office/powerpoint/2010/main" val="157184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31" grpId="0"/>
      <p:bldP spid="3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60554" y="4552950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54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4359" y="1514680"/>
            <a:ext cx="8755592" cy="3281179"/>
            <a:chOff x="252484" y="948519"/>
            <a:chExt cx="8755592" cy="3281179"/>
          </a:xfrm>
        </p:grpSpPr>
        <p:sp>
          <p:nvSpPr>
            <p:cNvPr id="6" name="Rectangle 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97" name="Trapezoid 96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Isosceles Triangle 97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>
                <a:stCxn id="98" idx="2"/>
                <a:endCxn id="98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96413" y="2161316"/>
              <a:ext cx="841921" cy="1447800"/>
              <a:chOff x="3657600" y="1428750"/>
              <a:chExt cx="841921" cy="144780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93" name="Rectangle 92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114800" y="2234684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114800" y="2463284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" name="Trapezoid 1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95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endCxn id="84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83" name="Trapezoid 82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9" name="Straight Connector 18"/>
            <p:cNvCxnSpPr>
              <a:endCxn id="81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81" idx="3"/>
              <a:endCxn id="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91" idx="3"/>
            </p:cNvCxnSpPr>
            <p:nvPr/>
          </p:nvCxnSpPr>
          <p:spPr>
            <a:xfrm>
              <a:off x="4230970" y="3288183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rapezoid 2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8" name="Elbow Connector 27"/>
            <p:cNvCxnSpPr>
              <a:endCxn id="69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apezoid 30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Elbow Connector 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5" name="Rectangle 7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3" name="Rectangle 7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1" name="Rectangle 7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38839" y="3860366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69" name="Trapezoid 68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67" name="Rectangle 66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Freeform 62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66" name="Elbow Connector 65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rapezoid 100"/>
          <p:cNvSpPr/>
          <p:nvPr/>
        </p:nvSpPr>
        <p:spPr>
          <a:xfrm rot="5400000">
            <a:off x="6358998" y="4156046"/>
            <a:ext cx="533400" cy="152400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5495687" y="4347169"/>
            <a:ext cx="1066801" cy="10752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V="1">
            <a:off x="5594980" y="4167090"/>
            <a:ext cx="978420" cy="12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 flipV="1">
            <a:off x="6611196" y="4475374"/>
            <a:ext cx="14502" cy="320485"/>
          </a:xfrm>
          <a:prstGeom prst="straightConnector1">
            <a:avLst/>
          </a:prstGeom>
          <a:ln w="2857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615663" y="4433094"/>
            <a:ext cx="825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DataW</a:t>
            </a:r>
            <a:endParaRPr lang="en-US" baseline="-25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443BDE4-B303-1865-1A6D-7653147845DD}"/>
              </a:ext>
            </a:extLst>
          </p:cNvPr>
          <p:cNvSpPr/>
          <p:nvPr/>
        </p:nvSpPr>
        <p:spPr>
          <a:xfrm>
            <a:off x="6183475" y="3816948"/>
            <a:ext cx="1257651" cy="119320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D3C7C9-7337-FD63-C524-597D4A33FF68}"/>
                  </a:ext>
                </a:extLst>
              </p:cNvPr>
              <p:cNvSpPr/>
              <p:nvPr/>
            </p:nvSpPr>
            <p:spPr>
              <a:xfrm>
                <a:off x="274389" y="234445"/>
                <a:ext cx="8723876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sir rs1, rs2,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imm</a:t>
                </a:r>
                <a:endParaRPr lang="en-US" sz="2400" dirty="0">
                  <a:solidFill>
                    <a:srgbClr val="FF0000"/>
                  </a:solidFill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𝑀𝑒𝑚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2]←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𝑒𝑥𝑡𝑒𝑛𝑑𝑒𝑑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𝑖𝑚𝑚𝑒𝑑𝑖𝑎𝑡𝑒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D3C7C9-7337-FD63-C524-597D4A33FF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9" y="234445"/>
                <a:ext cx="8723876" cy="1015663"/>
              </a:xfrm>
              <a:prstGeom prst="rect">
                <a:avLst/>
              </a:prstGeom>
              <a:blipFill>
                <a:blip r:embed="rId3"/>
                <a:stretch>
                  <a:fillRect l="-1163" t="-4938" b="-49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9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10" grpId="0"/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ts val="450"/>
              </a:spcBef>
              <a:spcAft>
                <a:spcPts val="450"/>
              </a:spcAft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1pPr>
            <a:lvl2pPr marL="557213" indent="-214313" algn="r" rtl="1">
              <a:spcBef>
                <a:spcPts val="450"/>
              </a:spcBef>
              <a:spcAft>
                <a:spcPts val="45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2pPr>
            <a:lvl3pPr marL="857250" indent="-171450" algn="r" rtl="1">
              <a:spcBef>
                <a:spcPts val="450"/>
              </a:spcBef>
              <a:spcAft>
                <a:spcPts val="450"/>
              </a:spcAft>
              <a:buChar char="•"/>
              <a:defRPr sz="1500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3pPr>
            <a:lvl4pPr marL="1200150" indent="-171450" algn="r" rtl="1">
              <a:spcBef>
                <a:spcPts val="900"/>
              </a:spcBef>
              <a:spcAft>
                <a:spcPts val="225"/>
              </a:spcAft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David" panose="020E0502060401010101" pitchFamily="34" charset="-79"/>
              </a:defRPr>
            </a:lvl4pPr>
            <a:lvl5pPr marL="1543050" indent="-171450" algn="r" rtl="1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5pPr>
            <a:lvl6pPr marL="18859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6pPr>
            <a:lvl7pPr marL="22288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7pPr>
            <a:lvl8pPr marL="25717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8pPr>
            <a:lvl9pPr marL="2914650" indent="-171450" algn="r" rtl="1" eaLnBrk="0" fontAlgn="base" hangingPunct="0">
              <a:spcBef>
                <a:spcPts val="900"/>
              </a:spcBef>
              <a:spcAft>
                <a:spcPts val="225"/>
              </a:spcAft>
              <a:buChar char="»"/>
              <a:defRPr i="1">
                <a:solidFill>
                  <a:schemeClr val="tx1"/>
                </a:solidFill>
                <a:latin typeface="Times New Roman" panose="02020603050405020304" pitchFamily="18" charset="0"/>
                <a:cs typeface="David" panose="020E0502060401010101" pitchFamily="34" charset="-79"/>
              </a:defRPr>
            </a:lvl9pPr>
          </a:lstStyle>
          <a:p>
            <a:pPr rtl="0">
              <a:spcBef>
                <a:spcPct val="0"/>
              </a:spcBef>
              <a:spcAft>
                <a:spcPct val="0"/>
              </a:spcAft>
              <a:buFontTx/>
              <a:buNone/>
            </a:pPr>
            <a:fld id="{BBD5F42A-6718-44C0-9132-4971812449F4}" type="slidenum">
              <a:rPr lang="he-IL" altLang="en-US" sz="750">
                <a:cs typeface="Times New Roman" panose="02020603050405020304" pitchFamily="18" charset="0"/>
              </a:rPr>
              <a:pPr rtl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55</a:t>
            </a:fld>
            <a:endParaRPr lang="en-US" altLang="en-US" sz="750">
              <a:cs typeface="Times New Roman" panose="02020603050405020304" pitchFamily="18" charset="0"/>
            </a:endParaRPr>
          </a:p>
        </p:txBody>
      </p:sp>
      <p:sp>
        <p:nvSpPr>
          <p:cNvPr id="40964" name="Rectangle 69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86234"/>
            <a:ext cx="4648200" cy="612775"/>
          </a:xfrm>
        </p:spPr>
        <p:txBody>
          <a:bodyPr/>
          <a:lstStyle/>
          <a:p>
            <a:r>
              <a:rPr lang="en-US" altLang="en-US" dirty="0"/>
              <a:t>Controller State Machine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56A251-173F-4C50-AF51-71B3C9EC1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83903"/>
              </p:ext>
            </p:extLst>
          </p:nvPr>
        </p:nvGraphicFramePr>
        <p:xfrm>
          <a:off x="2895600" y="439737"/>
          <a:ext cx="4995862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1515639" imgH="9744075" progId="Visio.Drawing.11">
                  <p:embed/>
                </p:oleObj>
              </mc:Choice>
              <mc:Fallback>
                <p:oleObj name="Visio" r:id="rId3" imgW="11515639" imgH="9744075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56A251-173F-4C50-AF51-71B3C9EC1C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5600" y="439737"/>
                        <a:ext cx="4995862" cy="426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335085" y="448183"/>
            <a:ext cx="482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sir</a:t>
            </a:r>
            <a:endParaRPr lang="he-IL" sz="2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endCxn id="9" idx="7"/>
          </p:cNvCxnSpPr>
          <p:nvPr/>
        </p:nvCxnSpPr>
        <p:spPr>
          <a:xfrm flipH="1">
            <a:off x="2436999" y="1330324"/>
            <a:ext cx="2574738" cy="66344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91469" y="1848696"/>
            <a:ext cx="990600" cy="990600"/>
          </a:xfrm>
          <a:prstGeom prst="ellipse">
            <a:avLst/>
          </a:prstGeom>
          <a:solidFill>
            <a:srgbClr val="FFFFFF"/>
          </a:solidFill>
          <a:ln w="952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sp>
        <p:nvSpPr>
          <p:cNvPr id="13" name="Oval 12"/>
          <p:cNvSpPr/>
          <p:nvPr/>
        </p:nvSpPr>
        <p:spPr>
          <a:xfrm>
            <a:off x="1591469" y="3282844"/>
            <a:ext cx="990600" cy="990600"/>
          </a:xfrm>
          <a:prstGeom prst="ellipse">
            <a:avLst/>
          </a:prstGeom>
          <a:solidFill>
            <a:srgbClr val="FFFFFF"/>
          </a:solidFill>
          <a:ln w="9525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cxnSp>
        <p:nvCxnSpPr>
          <p:cNvPr id="14" name="Straight Arrow Connector 13"/>
          <p:cNvCxnSpPr>
            <a:stCxn id="9" idx="4"/>
            <a:endCxn id="13" idx="0"/>
          </p:cNvCxnSpPr>
          <p:nvPr/>
        </p:nvCxnSpPr>
        <p:spPr>
          <a:xfrm>
            <a:off x="2086769" y="2839296"/>
            <a:ext cx="0" cy="44354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3" idx="4"/>
          </p:cNvCxnSpPr>
          <p:nvPr/>
        </p:nvCxnSpPr>
        <p:spPr>
          <a:xfrm rot="5400000" flipH="1" flipV="1">
            <a:off x="3334993" y="2977700"/>
            <a:ext cx="47520" cy="2543968"/>
          </a:xfrm>
          <a:prstGeom prst="bentConnector4">
            <a:avLst>
              <a:gd name="adj1" fmla="val -864251"/>
              <a:gd name="adj2" fmla="val 99872"/>
            </a:avLst>
          </a:prstGeom>
          <a:ln w="95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15863" y="1974675"/>
            <a:ext cx="1941812" cy="692497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dirty="0"/>
              <a:t>10</a:t>
            </a:r>
          </a:p>
          <a:p>
            <a:pPr algn="ctr"/>
            <a:r>
              <a:rPr lang="en-US" sz="1050" dirty="0" err="1"/>
              <a:t>Asel</a:t>
            </a:r>
            <a:r>
              <a:rPr lang="en-US" sz="1050" dirty="0"/>
              <a:t>=</a:t>
            </a:r>
            <a:r>
              <a:rPr lang="en-US" sz="1050" dirty="0" err="1"/>
              <a:t>reg</a:t>
            </a:r>
            <a:endParaRPr lang="en-US" sz="1050" dirty="0"/>
          </a:p>
          <a:p>
            <a:pPr algn="ctr"/>
            <a:r>
              <a:rPr lang="en-US" sz="1050" dirty="0" err="1"/>
              <a:t>Bsel</a:t>
            </a:r>
            <a:r>
              <a:rPr lang="en-US" sz="1050" dirty="0"/>
              <a:t>=</a:t>
            </a:r>
            <a:r>
              <a:rPr lang="en-US" sz="1050" dirty="0" err="1"/>
              <a:t>reg</a:t>
            </a:r>
            <a:endParaRPr lang="en-US" sz="1050" dirty="0"/>
          </a:p>
          <a:p>
            <a:pPr algn="ctr"/>
            <a:r>
              <a:rPr lang="en-US" sz="1050" dirty="0" err="1"/>
              <a:t>ALUsel</a:t>
            </a:r>
            <a:r>
              <a:rPr lang="en-US" sz="1050" dirty="0"/>
              <a:t>=Add</a:t>
            </a:r>
            <a:endParaRPr lang="he-IL" sz="1050" dirty="0" err="1"/>
          </a:p>
        </p:txBody>
      </p:sp>
      <p:sp>
        <p:nvSpPr>
          <p:cNvPr id="34" name="TextBox 33"/>
          <p:cNvSpPr txBox="1"/>
          <p:nvPr/>
        </p:nvSpPr>
        <p:spPr>
          <a:xfrm>
            <a:off x="1117393" y="3336906"/>
            <a:ext cx="1941812" cy="692497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1200" dirty="0"/>
              <a:t>11</a:t>
            </a:r>
          </a:p>
          <a:p>
            <a:pPr algn="ctr"/>
            <a:endParaRPr lang="en-US" sz="1200" dirty="0"/>
          </a:p>
          <a:p>
            <a:pPr algn="ctr"/>
            <a:r>
              <a:rPr lang="en-US" sz="1050" dirty="0" err="1"/>
              <a:t>MemRW</a:t>
            </a:r>
            <a:r>
              <a:rPr lang="en-US" sz="1050" dirty="0"/>
              <a:t>=Write</a:t>
            </a:r>
          </a:p>
          <a:p>
            <a:pPr algn="ctr"/>
            <a:endParaRPr lang="en-US" sz="1050" b="1" dirty="0"/>
          </a:p>
        </p:txBody>
      </p:sp>
      <p:sp>
        <p:nvSpPr>
          <p:cNvPr id="2" name="Rectangle 1"/>
          <p:cNvSpPr/>
          <p:nvPr/>
        </p:nvSpPr>
        <p:spPr>
          <a:xfrm>
            <a:off x="3873073" y="3282844"/>
            <a:ext cx="72808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 err="1"/>
              <a:t>DataW</a:t>
            </a:r>
            <a:r>
              <a:rPr lang="en-US" sz="900" b="1" dirty="0"/>
              <a:t>=</a:t>
            </a:r>
            <a:r>
              <a:rPr lang="en-US" sz="900" b="1" dirty="0" err="1"/>
              <a:t>reg</a:t>
            </a:r>
            <a:endParaRPr lang="en-US" sz="900" b="1" dirty="0"/>
          </a:p>
        </p:txBody>
      </p:sp>
      <p:sp>
        <p:nvSpPr>
          <p:cNvPr id="4" name="Rectangle 3"/>
          <p:cNvSpPr/>
          <p:nvPr/>
        </p:nvSpPr>
        <p:spPr>
          <a:xfrm>
            <a:off x="1642123" y="3850483"/>
            <a:ext cx="88998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50" b="1" dirty="0" err="1"/>
              <a:t>DataW</a:t>
            </a:r>
            <a:r>
              <a:rPr lang="en-US" sz="1050" b="1" dirty="0"/>
              <a:t>=</a:t>
            </a:r>
            <a:r>
              <a:rPr lang="en-US" sz="1050" b="1" dirty="0" err="1"/>
              <a:t>Imm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8911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שאלה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2400" dirty="0">
                <a:latin typeface="Arial Hebrew Scholar" pitchFamily="2" charset="-79"/>
                <a:cs typeface="+mj-cs"/>
              </a:rPr>
              <a:t>עבור הפקודה</a:t>
            </a:r>
            <a:r>
              <a:rPr lang="he-IL" sz="2400" b="1" dirty="0">
                <a:latin typeface="Arial Hebrew Scholar" pitchFamily="2" charset="-79"/>
                <a:cs typeface="+mj-cs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+mj-cs"/>
              </a:rPr>
              <a:t>swap</a:t>
            </a:r>
            <a:r>
              <a:rPr lang="he-IL" sz="2400" dirty="0">
                <a:latin typeface="Arial Hebrew Scholar" pitchFamily="2" charset="-79"/>
                <a:cs typeface="+mj-cs"/>
              </a:rPr>
              <a:t>, עדכנו את ה- </a:t>
            </a:r>
            <a:r>
              <a:rPr lang="en-US" sz="2400" dirty="0">
                <a:latin typeface="Arial Hebrew Scholar" pitchFamily="2" charset="-79"/>
                <a:cs typeface="+mj-cs"/>
              </a:rPr>
              <a:t>Data Path</a:t>
            </a:r>
            <a:r>
              <a:rPr lang="he-IL" sz="2400" dirty="0">
                <a:latin typeface="Arial Hebrew Scholar" pitchFamily="2" charset="-79"/>
                <a:cs typeface="+mj-cs"/>
              </a:rPr>
              <a:t> של מעבד </a:t>
            </a:r>
            <a:r>
              <a:rPr lang="en-US" sz="2400" dirty="0">
                <a:latin typeface="Arial Hebrew Scholar" pitchFamily="2" charset="-79"/>
                <a:cs typeface="+mj-cs"/>
              </a:rPr>
              <a:t>Multi-Cycle RISC-V</a:t>
            </a:r>
            <a:r>
              <a:rPr lang="he-IL" sz="2400" dirty="0">
                <a:latin typeface="Arial Hebrew Scholar" pitchFamily="2" charset="-79"/>
                <a:cs typeface="+mj-cs"/>
              </a:rPr>
              <a:t>, ללא שינוי מבני של ה- </a:t>
            </a:r>
            <a:r>
              <a:rPr lang="en-US" sz="2400" dirty="0">
                <a:latin typeface="Arial Hebrew Scholar" pitchFamily="2" charset="-79"/>
                <a:cs typeface="+mj-cs"/>
              </a:rPr>
              <a:t>Register File</a:t>
            </a:r>
            <a:r>
              <a:rPr lang="he-IL" sz="2400" dirty="0">
                <a:latin typeface="Arial Hebrew Scholar" pitchFamily="2" charset="-79"/>
                <a:cs typeface="+mj-cs"/>
              </a:rPr>
              <a:t> או הזיכרון. אם הדבר אינו אפשרי, הסבירו למה.</a:t>
            </a:r>
            <a:endParaRPr lang="en-US" sz="2400" b="1" dirty="0">
              <a:latin typeface="Courier New" panose="02070309020205020404" pitchFamily="49" charset="0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797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60399" y="4467020"/>
            <a:ext cx="984019" cy="273844"/>
          </a:xfrm>
        </p:spPr>
        <p:txBody>
          <a:bodyPr/>
          <a:lstStyle/>
          <a:p>
            <a:fld id="{3FF131CF-B26C-E347-9AC9-78212C099DD5}" type="slidenum">
              <a:rPr lang="en-US" smtClean="0"/>
              <a:t>57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94204" y="1428750"/>
            <a:ext cx="8755592" cy="3230728"/>
            <a:chOff x="252484" y="948519"/>
            <a:chExt cx="8755592" cy="3230728"/>
          </a:xfrm>
        </p:grpSpPr>
        <p:sp>
          <p:nvSpPr>
            <p:cNvPr id="6" name="Rectangle 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97" name="Trapezoid 96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Isosceles Triangle 97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>
                <a:stCxn id="98" idx="2"/>
                <a:endCxn id="98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93" name="Rectangle 92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083875" y="1878297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099296" y="2471512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" name="Trapezoid 1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95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endCxn id="84" idx="1"/>
            </p:cNvCxnSpPr>
            <p:nvPr/>
          </p:nvCxnSpPr>
          <p:spPr>
            <a:xfrm rot="16200000" flipH="1">
              <a:off x="-92362" y="1676883"/>
              <a:ext cx="1478219" cy="361112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83" name="Trapezoid 82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9" name="Straight Connector 18"/>
            <p:cNvCxnSpPr>
              <a:endCxn id="81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81" idx="3"/>
              <a:endCxn id="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91" idx="3"/>
            </p:cNvCxnSpPr>
            <p:nvPr/>
          </p:nvCxnSpPr>
          <p:spPr>
            <a:xfrm>
              <a:off x="4215466" y="3296411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/>
            <p:nvPr/>
          </p:nvCxnSpPr>
          <p:spPr>
            <a:xfrm flipV="1">
              <a:off x="1107954" y="1609462"/>
              <a:ext cx="1289350" cy="1123354"/>
            </a:xfrm>
            <a:prstGeom prst="bentConnector3">
              <a:avLst>
                <a:gd name="adj1" fmla="val 73109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4864428" y="1564191"/>
              <a:ext cx="969816" cy="705448"/>
            </a:xfrm>
            <a:prstGeom prst="bentConnector3">
              <a:avLst>
                <a:gd name="adj1" fmla="val 9999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rapezoid 2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8" name="Elbow Connector 27"/>
            <p:cNvCxnSpPr>
              <a:endCxn id="69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apezoid 30"/>
            <p:cNvSpPr/>
            <p:nvPr/>
          </p:nvSpPr>
          <p:spPr>
            <a:xfrm rot="5400000">
              <a:off x="2667000" y="2357191"/>
              <a:ext cx="7620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466191" y="1131247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Elbow Connector 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5" name="Rectangle 7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3" name="Rectangle 7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1" name="Rectangle 7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 flipV="1">
              <a:off x="6444413" y="1131247"/>
              <a:ext cx="0" cy="1707487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792773" y="1057177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69" name="Trapezoid 68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828800" y="1426509"/>
              <a:ext cx="3167812" cy="5498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/>
            <p:cNvSpPr/>
            <p:nvPr/>
          </p:nvSpPr>
          <p:spPr>
            <a:xfrm>
              <a:off x="1502860" y="1426509"/>
              <a:ext cx="173540" cy="1310541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676399" y="1207447"/>
              <a:ext cx="152401" cy="533399"/>
              <a:chOff x="1523290" y="3333750"/>
              <a:chExt cx="152401" cy="533399"/>
            </a:xfrm>
            <a:solidFill>
              <a:schemeClr val="accent1"/>
            </a:solidFill>
          </p:grpSpPr>
          <p:sp>
            <p:nvSpPr>
              <p:cNvPr id="67" name="Rectangle 66"/>
              <p:cNvSpPr/>
              <p:nvPr/>
            </p:nvSpPr>
            <p:spPr>
              <a:xfrm>
                <a:off x="1523290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1523291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Freeform 62"/>
            <p:cNvSpPr/>
            <p:nvPr/>
          </p:nvSpPr>
          <p:spPr>
            <a:xfrm>
              <a:off x="252484" y="948519"/>
              <a:ext cx="6728346" cy="1890215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66" name="Elbow Connector 65"/>
            <p:cNvCxnSpPr/>
            <p:nvPr/>
          </p:nvCxnSpPr>
          <p:spPr>
            <a:xfrm>
              <a:off x="2389077" y="1607120"/>
              <a:ext cx="3288762" cy="967970"/>
            </a:xfrm>
            <a:prstGeom prst="bentConnector3">
              <a:avLst>
                <a:gd name="adj1" fmla="val 70502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dirty="0">
                    <a:solidFill>
                      <a:srgbClr val="FF0000"/>
                    </a:solidFill>
                  </a:rPr>
                  <a:t>swap rs1, rs2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  <a:blipFill>
                <a:blip r:embed="rId3"/>
                <a:stretch>
                  <a:fillRect l="-1163" t="-4819" b="-60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017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58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149" y="1286477"/>
            <a:ext cx="8755592" cy="3750820"/>
            <a:chOff x="252484" y="428427"/>
            <a:chExt cx="8755592" cy="3750820"/>
          </a:xfrm>
        </p:grpSpPr>
        <p:sp>
          <p:nvSpPr>
            <p:cNvPr id="6" name="Rectangle 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97" name="Trapezoid 96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Isosceles Triangle 97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>
                <a:stCxn id="98" idx="2"/>
                <a:endCxn id="98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93" name="Rectangle 92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083875" y="1878297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099296" y="2471512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" name="Trapezoid 1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95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endCxn id="84" idx="1"/>
            </p:cNvCxnSpPr>
            <p:nvPr/>
          </p:nvCxnSpPr>
          <p:spPr>
            <a:xfrm rot="16200000" flipH="1">
              <a:off x="-412105" y="1357140"/>
              <a:ext cx="2102049" cy="376768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83" name="Trapezoid 82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9" name="Straight Connector 18"/>
            <p:cNvCxnSpPr>
              <a:endCxn id="81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81" idx="3"/>
              <a:endCxn id="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91" idx="3"/>
            </p:cNvCxnSpPr>
            <p:nvPr/>
          </p:nvCxnSpPr>
          <p:spPr>
            <a:xfrm>
              <a:off x="4215466" y="3296411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/>
            <p:nvPr/>
          </p:nvCxnSpPr>
          <p:spPr>
            <a:xfrm flipV="1">
              <a:off x="997381" y="875500"/>
              <a:ext cx="948169" cy="1861551"/>
            </a:xfrm>
            <a:prstGeom prst="bentConnector2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4723250" y="1511229"/>
              <a:ext cx="1700155" cy="187050"/>
            </a:xfrm>
            <a:prstGeom prst="bentConnector3">
              <a:avLst>
                <a:gd name="adj1" fmla="val 99969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rapezoid 2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8" name="Elbow Connector 27"/>
            <p:cNvCxnSpPr>
              <a:endCxn id="69" idx="2"/>
            </p:cNvCxnSpPr>
            <p:nvPr/>
          </p:nvCxnSpPr>
          <p:spPr>
            <a:xfrm>
              <a:off x="2321960" y="3113070"/>
              <a:ext cx="2674653" cy="837577"/>
            </a:xfrm>
            <a:prstGeom prst="bentConnector3">
              <a:avLst>
                <a:gd name="adj1" fmla="val 3194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apezoid 30"/>
            <p:cNvSpPr/>
            <p:nvPr/>
          </p:nvSpPr>
          <p:spPr>
            <a:xfrm rot="5400000">
              <a:off x="2332914" y="2024777"/>
              <a:ext cx="1428500" cy="150727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450535" y="494499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2716428" y="2960048"/>
              <a:ext cx="152401" cy="533399"/>
              <a:chOff x="1066799" y="3333750"/>
              <a:chExt cx="152401" cy="533399"/>
            </a:xfrm>
            <a:solidFill>
              <a:schemeClr val="accent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Elbow Connector 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5" name="Rectangle 7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3" name="Rectangle 7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1" name="Rectangle 7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 flipV="1">
              <a:off x="6444413" y="494500"/>
              <a:ext cx="0" cy="2344235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781761" y="448154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04392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69" name="Trapezoid 68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175673" y="2807645"/>
              <a:ext cx="0" cy="304801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844362" y="766365"/>
              <a:ext cx="3633767" cy="6693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/>
            <p:cNvSpPr/>
            <p:nvPr/>
          </p:nvSpPr>
          <p:spPr>
            <a:xfrm>
              <a:off x="1502860" y="787787"/>
              <a:ext cx="187200" cy="1949264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682851" y="559063"/>
              <a:ext cx="154074" cy="533399"/>
              <a:chOff x="1529742" y="2685366"/>
              <a:chExt cx="154074" cy="533399"/>
            </a:xfrm>
            <a:solidFill>
              <a:schemeClr val="accent1"/>
            </a:solidFill>
          </p:grpSpPr>
          <p:sp>
            <p:nvSpPr>
              <p:cNvPr id="67" name="Rectangle 66"/>
              <p:cNvSpPr/>
              <p:nvPr/>
            </p:nvSpPr>
            <p:spPr>
              <a:xfrm>
                <a:off x="1531415" y="2685366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1529742" y="3050317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4" name="Straight Arrow Connector 63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66" name="Elbow Connector 65"/>
            <p:cNvCxnSpPr/>
            <p:nvPr/>
          </p:nvCxnSpPr>
          <p:spPr>
            <a:xfrm>
              <a:off x="1924969" y="882147"/>
              <a:ext cx="3752870" cy="1692943"/>
            </a:xfrm>
            <a:prstGeom prst="bentConnector3">
              <a:avLst>
                <a:gd name="adj1" fmla="val 92683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62"/>
            <p:cNvSpPr/>
            <p:nvPr/>
          </p:nvSpPr>
          <p:spPr>
            <a:xfrm>
              <a:off x="252484" y="428427"/>
              <a:ext cx="6724493" cy="2410308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Connector 102"/>
          <p:cNvCxnSpPr/>
          <p:nvPr/>
        </p:nvCxnSpPr>
        <p:spPr>
          <a:xfrm flipV="1">
            <a:off x="6984478" y="1772869"/>
            <a:ext cx="0" cy="102338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 flipV="1">
            <a:off x="4572000" y="1950512"/>
            <a:ext cx="1805" cy="1630321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V="1">
            <a:off x="4720040" y="1814317"/>
            <a:ext cx="13069" cy="2678470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 flipV="1">
            <a:off x="2967480" y="1950511"/>
            <a:ext cx="1585219" cy="419322"/>
          </a:xfrm>
          <a:prstGeom prst="bentConnector3">
            <a:avLst>
              <a:gd name="adj1" fmla="val 119547"/>
            </a:avLst>
          </a:prstGeom>
          <a:ln w="28575" cmpd="sng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/>
          <p:nvPr/>
        </p:nvCxnSpPr>
        <p:spPr>
          <a:xfrm rot="10800000" flipV="1">
            <a:off x="2978465" y="1814316"/>
            <a:ext cx="1754578" cy="719080"/>
          </a:xfrm>
          <a:prstGeom prst="bentConnector3">
            <a:avLst>
              <a:gd name="adj1" fmla="val 125401"/>
            </a:avLst>
          </a:prstGeom>
          <a:ln w="28575" cmpd="sng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14ED0D3-EFC2-71EC-6CD4-B5A48DAFAA04}"/>
                  </a:ext>
                </a:extLst>
              </p:cNvPr>
              <p:cNvSpPr/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dirty="0">
                    <a:solidFill>
                      <a:srgbClr val="FF0000"/>
                    </a:solidFill>
                  </a:rPr>
                  <a:t>swap rs1, rs2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14ED0D3-EFC2-71EC-6CD4-B5A48DAFA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  <a:blipFill>
                <a:blip r:embed="rId2"/>
                <a:stretch>
                  <a:fillRect l="-1163" t="-4819" b="-60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1199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131CF-B26C-E347-9AC9-78212C099DD5}" type="slidenum">
              <a:rPr lang="en-US" smtClean="0"/>
              <a:t>59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149" y="1286477"/>
            <a:ext cx="8755592" cy="3750820"/>
            <a:chOff x="252484" y="428427"/>
            <a:chExt cx="8755592" cy="3750820"/>
          </a:xfrm>
        </p:grpSpPr>
        <p:sp>
          <p:nvSpPr>
            <p:cNvPr id="6" name="Rectangle 5"/>
            <p:cNvSpPr/>
            <p:nvPr/>
          </p:nvSpPr>
          <p:spPr>
            <a:xfrm>
              <a:off x="1709663" y="2883847"/>
              <a:ext cx="609600" cy="685800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/>
                  <a:cs typeface="Calibri"/>
                </a:rPr>
                <a:t>IMEM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923116" y="2389916"/>
              <a:ext cx="521297" cy="990600"/>
              <a:chOff x="6324600" y="3115310"/>
              <a:chExt cx="521297" cy="1056640"/>
            </a:xfrm>
          </p:grpSpPr>
          <p:sp>
            <p:nvSpPr>
              <p:cNvPr id="97" name="Trapezoid 96"/>
              <p:cNvSpPr/>
              <p:nvPr/>
            </p:nvSpPr>
            <p:spPr>
              <a:xfrm rot="5400000">
                <a:off x="6062980" y="3453130"/>
                <a:ext cx="1056640" cy="381000"/>
              </a:xfrm>
              <a:prstGeom prst="trapezoid">
                <a:avLst>
                  <a:gd name="adj" fmla="val 4659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Isosceles Triangle 97"/>
              <p:cNvSpPr/>
              <p:nvPr/>
            </p:nvSpPr>
            <p:spPr>
              <a:xfrm rot="5400000">
                <a:off x="6362707" y="3641091"/>
                <a:ext cx="152400" cy="762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>
                <a:stCxn id="98" idx="2"/>
                <a:endCxn id="98" idx="4"/>
              </p:cNvCxnSpPr>
              <p:nvPr/>
            </p:nvCxnSpPr>
            <p:spPr>
              <a:xfrm>
                <a:off x="6400808" y="3602991"/>
                <a:ext cx="0" cy="152400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/>
              <p:cNvSpPr txBox="1"/>
              <p:nvPr/>
            </p:nvSpPr>
            <p:spPr>
              <a:xfrm>
                <a:off x="6324600" y="3181350"/>
                <a:ext cx="521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ALU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212723" y="2542316"/>
              <a:ext cx="990600" cy="838200"/>
              <a:chOff x="6324600" y="1733550"/>
              <a:chExt cx="990600" cy="838200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6324600" y="1733550"/>
                <a:ext cx="990600" cy="838200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/>
                    <a:cs typeface="Calibri"/>
                  </a:rPr>
                  <a:t>DMEM</a:t>
                </a:r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>
                <a:off x="7010400" y="2419350"/>
                <a:ext cx="152400" cy="152400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96413" y="2161316"/>
              <a:ext cx="838199" cy="1447800"/>
              <a:chOff x="3657600" y="1428750"/>
              <a:chExt cx="838199" cy="1447800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3657600" y="1428750"/>
                <a:ext cx="838199" cy="1447800"/>
                <a:chOff x="3810000" y="1412681"/>
                <a:chExt cx="838199" cy="1447800"/>
              </a:xfrm>
            </p:grpSpPr>
            <p:sp>
              <p:nvSpPr>
                <p:cNvPr id="93" name="Rectangle 92"/>
                <p:cNvSpPr/>
                <p:nvPr/>
              </p:nvSpPr>
              <p:spPr>
                <a:xfrm>
                  <a:off x="3810000" y="1412681"/>
                  <a:ext cx="838199" cy="1447800"/>
                </a:xfrm>
                <a:prstGeom prst="rect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Reg</a:t>
                  </a:r>
                  <a:r>
                    <a:rPr lang="en-US" dirty="0">
                      <a:solidFill>
                        <a:schemeClr val="tx1"/>
                      </a:solidFill>
                      <a:latin typeface="Calibri"/>
                      <a:cs typeface="Calibri"/>
                    </a:rPr>
                    <a:t>[]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>
                <a:xfrm>
                  <a:off x="4419600" y="2708081"/>
                  <a:ext cx="152400" cy="152400"/>
                </a:xfrm>
                <a:prstGeom prst="triangle">
                  <a:avLst/>
                </a:prstGeom>
                <a:ln w="28575" cmpd="sng"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3657600" y="2271415"/>
                <a:ext cx="3975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AddrA</a:t>
                </a:r>
                <a:endParaRPr lang="en-US" sz="1200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57600" y="2576215"/>
                <a:ext cx="3881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AddrB</a:t>
                </a:r>
                <a:endParaRPr lang="en-US" sz="1200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083875" y="1878297"/>
                <a:ext cx="384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DataA</a:t>
                </a:r>
                <a:endParaRPr lang="en-US" sz="1200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657600" y="1998881"/>
                <a:ext cx="3990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AddrD</a:t>
                </a:r>
                <a:endParaRPr lang="en-US" sz="1200" dirty="0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099296" y="2471512"/>
                <a:ext cx="3773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DataB</a:t>
                </a:r>
                <a:endParaRPr lang="en-US" sz="1200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657600" y="1694081"/>
                <a:ext cx="3883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 err="1"/>
                  <a:t>DataD</a:t>
                </a:r>
                <a:endParaRPr lang="en-US" sz="1200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212723" y="2770916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Addr</a:t>
              </a:r>
              <a:endParaRPr lang="en-US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3906" y="3043450"/>
              <a:ext cx="4360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DataW</a:t>
              </a:r>
              <a:endParaRPr lang="en-US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46123" y="2847116"/>
              <a:ext cx="3847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DataR</a:t>
              </a:r>
              <a:endParaRPr lang="en-US" sz="1200" dirty="0"/>
            </a:p>
          </p:txBody>
        </p:sp>
        <p:sp>
          <p:nvSpPr>
            <p:cNvPr id="13" name="Trapezoid 12"/>
            <p:cNvSpPr/>
            <p:nvPr/>
          </p:nvSpPr>
          <p:spPr>
            <a:xfrm rot="5400000">
              <a:off x="5496864" y="2499261"/>
              <a:ext cx="533404" cy="162306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95" idx="3"/>
            </p:cNvCxnSpPr>
            <p:nvPr/>
          </p:nvCxnSpPr>
          <p:spPr>
            <a:xfrm flipV="1">
              <a:off x="8203323" y="2946104"/>
              <a:ext cx="367652" cy="1531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0" idx="1"/>
            </p:cNvCxnSpPr>
            <p:nvPr/>
          </p:nvCxnSpPr>
          <p:spPr>
            <a:xfrm>
              <a:off x="6381135" y="2848897"/>
              <a:ext cx="831588" cy="1435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977813" y="2426647"/>
              <a:ext cx="0" cy="419099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endCxn id="84" idx="1"/>
            </p:cNvCxnSpPr>
            <p:nvPr/>
          </p:nvCxnSpPr>
          <p:spPr>
            <a:xfrm rot="16200000" flipH="1">
              <a:off x="-412105" y="1357140"/>
              <a:ext cx="2102049" cy="376768"/>
            </a:xfrm>
            <a:prstGeom prst="bentConnector2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811428" y="2466116"/>
              <a:ext cx="152400" cy="533400"/>
              <a:chOff x="5791200" y="1352550"/>
              <a:chExt cx="152400" cy="533400"/>
            </a:xfrm>
          </p:grpSpPr>
          <p:sp>
            <p:nvSpPr>
              <p:cNvPr id="83" name="Trapezoid 82"/>
              <p:cNvSpPr/>
              <p:nvPr/>
            </p:nvSpPr>
            <p:spPr>
              <a:xfrm rot="5400000">
                <a:off x="5600700" y="1543050"/>
                <a:ext cx="533400" cy="152400"/>
              </a:xfrm>
              <a:prstGeom prst="trapezoid">
                <a:avLst>
                  <a:gd name="adj" fmla="val 62709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807075" y="1390650"/>
                <a:ext cx="762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10250" y="1638300"/>
                <a:ext cx="779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/>
                  <a:t>0</a:t>
                </a:r>
              </a:p>
            </p:txBody>
          </p:sp>
        </p:grpSp>
        <p:cxnSp>
          <p:nvCxnSpPr>
            <p:cNvPr id="19" name="Straight Connector 18"/>
            <p:cNvCxnSpPr>
              <a:endCxn id="81" idx="1"/>
            </p:cNvCxnSpPr>
            <p:nvPr/>
          </p:nvCxnSpPr>
          <p:spPr>
            <a:xfrm>
              <a:off x="963828" y="2732816"/>
              <a:ext cx="152400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81" idx="3"/>
              <a:endCxn id="6" idx="1"/>
            </p:cNvCxnSpPr>
            <p:nvPr/>
          </p:nvCxnSpPr>
          <p:spPr>
            <a:xfrm>
              <a:off x="1389326" y="2732816"/>
              <a:ext cx="320337" cy="493931"/>
            </a:xfrm>
            <a:prstGeom prst="bentConnector3">
              <a:avLst>
                <a:gd name="adj1" fmla="val 3846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3" idx="0"/>
            </p:cNvCxnSpPr>
            <p:nvPr/>
          </p:nvCxnSpPr>
          <p:spPr>
            <a:xfrm flipV="1">
              <a:off x="5844719" y="2579048"/>
              <a:ext cx="142494" cy="136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cxnSpLocks/>
            </p:cNvCxnSpPr>
            <p:nvPr/>
          </p:nvCxnSpPr>
          <p:spPr>
            <a:xfrm>
              <a:off x="4234613" y="2722783"/>
              <a:ext cx="1447800" cy="1367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91" idx="3"/>
            </p:cNvCxnSpPr>
            <p:nvPr/>
          </p:nvCxnSpPr>
          <p:spPr>
            <a:xfrm>
              <a:off x="4215466" y="3296411"/>
              <a:ext cx="1058896" cy="320141"/>
            </a:xfrm>
            <a:prstGeom prst="bentConnector3">
              <a:avLst>
                <a:gd name="adj1" fmla="val 29284"/>
              </a:avLst>
            </a:prstGeom>
            <a:ln w="28575" cmpd="sng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/>
            <p:nvPr/>
          </p:nvCxnSpPr>
          <p:spPr>
            <a:xfrm flipV="1">
              <a:off x="997381" y="875500"/>
              <a:ext cx="948169" cy="1861551"/>
            </a:xfrm>
            <a:prstGeom prst="bentConnector2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/>
            <p:nvPr/>
          </p:nvCxnSpPr>
          <p:spPr>
            <a:xfrm rot="16200000" flipH="1">
              <a:off x="4723250" y="1511229"/>
              <a:ext cx="1700155" cy="187050"/>
            </a:xfrm>
            <a:prstGeom prst="bentConnector3">
              <a:avLst>
                <a:gd name="adj1" fmla="val 99969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1116228" y="2313716"/>
              <a:ext cx="273098" cy="838199"/>
              <a:chOff x="1540165" y="1809750"/>
              <a:chExt cx="273098" cy="83819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540165" y="1809750"/>
                <a:ext cx="273098" cy="838199"/>
              </a:xfrm>
              <a:prstGeom prst="rect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>
                <a:off x="1600200" y="2495550"/>
                <a:ext cx="152400" cy="152399"/>
              </a:xfrm>
              <a:prstGeom prst="triangl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rapezoid 26"/>
            <p:cNvSpPr/>
            <p:nvPr/>
          </p:nvSpPr>
          <p:spPr>
            <a:xfrm rot="5400000">
              <a:off x="5508368" y="3074347"/>
              <a:ext cx="533400" cy="152400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8" name="Elbow Connector 27"/>
            <p:cNvCxnSpPr/>
            <p:nvPr/>
          </p:nvCxnSpPr>
          <p:spPr>
            <a:xfrm>
              <a:off x="2328242" y="3113069"/>
              <a:ext cx="2674653" cy="837577"/>
            </a:xfrm>
            <a:prstGeom prst="bentConnector3">
              <a:avLst>
                <a:gd name="adj1" fmla="val 1230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67813" y="3112447"/>
              <a:ext cx="228600" cy="0"/>
            </a:xfrm>
            <a:prstGeom prst="straightConnector1">
              <a:avLst/>
            </a:prstGeom>
            <a:ln w="28575" cmpd="sng"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167813" y="3417247"/>
              <a:ext cx="228600" cy="0"/>
            </a:xfrm>
            <a:prstGeom prst="straightConnector1">
              <a:avLst/>
            </a:prstGeom>
            <a:ln w="28575" cmpd="sng"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apezoid 30"/>
            <p:cNvSpPr/>
            <p:nvPr/>
          </p:nvSpPr>
          <p:spPr>
            <a:xfrm rot="5400000">
              <a:off x="2332914" y="2024777"/>
              <a:ext cx="1428500" cy="150727"/>
            </a:xfrm>
            <a:prstGeom prst="trapezoid">
              <a:avLst>
                <a:gd name="adj" fmla="val 62709"/>
              </a:avLst>
            </a:prstGeom>
            <a:solidFill>
              <a:srgbClr val="FFFFFF"/>
            </a:solidFill>
            <a:ln w="28575" cmpd="sng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7" idx="0"/>
            </p:cNvCxnSpPr>
            <p:nvPr/>
          </p:nvCxnSpPr>
          <p:spPr>
            <a:xfrm>
              <a:off x="5851268" y="3150547"/>
              <a:ext cx="146337" cy="173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5285248" y="3188647"/>
              <a:ext cx="1921165" cy="415636"/>
            </a:xfrm>
            <a:prstGeom prst="bentConnector3">
              <a:avLst>
                <a:gd name="adj1" fmla="val 81551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/>
            <p:nvPr/>
          </p:nvCxnSpPr>
          <p:spPr>
            <a:xfrm rot="5400000" flipH="1" flipV="1">
              <a:off x="5171093" y="3113747"/>
              <a:ext cx="624037" cy="389374"/>
            </a:xfrm>
            <a:prstGeom prst="bentConnector3">
              <a:avLst>
                <a:gd name="adj1" fmla="val 100286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6219" y="2341481"/>
              <a:ext cx="2528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/>
                <a:t>ALU</a:t>
              </a:r>
              <a:endParaRPr lang="en-US" sz="1100" baseline="-25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4800" y="2924804"/>
              <a:ext cx="42479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err="1"/>
                <a:t>ALUout</a:t>
              </a:r>
              <a:endParaRPr lang="en-US" sz="11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flipH="1">
              <a:off x="450535" y="494499"/>
              <a:ext cx="5978223" cy="0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2406485" y="2960048"/>
              <a:ext cx="152401" cy="533399"/>
              <a:chOff x="756856" y="3333750"/>
              <a:chExt cx="152401" cy="533399"/>
            </a:xfrm>
            <a:solidFill>
              <a:schemeClr val="accent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756856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>
                <a:off x="756857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310813" y="30362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0" name="Elbow Connector 39"/>
            <p:cNvCxnSpPr/>
            <p:nvPr/>
          </p:nvCxnSpPr>
          <p:spPr>
            <a:xfrm flipV="1">
              <a:off x="4920413" y="3341047"/>
              <a:ext cx="762000" cy="609600"/>
            </a:xfrm>
            <a:prstGeom prst="bentConnector3">
              <a:avLst>
                <a:gd name="adj1" fmla="val 69697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6596813" y="25790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5" name="Rectangle 74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310813" y="2426647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3" name="Rectangle 72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8558561" y="2713081"/>
              <a:ext cx="152401" cy="533399"/>
              <a:chOff x="1066799" y="3333750"/>
              <a:chExt cx="152401" cy="533399"/>
            </a:xfrm>
            <a:solidFill>
              <a:srgbClr val="5B9BD5"/>
            </a:solidFill>
          </p:grpSpPr>
          <p:sp>
            <p:nvSpPr>
              <p:cNvPr id="71" name="Rectangle 70"/>
              <p:cNvSpPr/>
              <p:nvPr/>
            </p:nvSpPr>
            <p:spPr>
              <a:xfrm>
                <a:off x="1066799" y="3333750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>
                <a:off x="1066800" y="3714750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/>
            <p:cNvCxnSpPr/>
            <p:nvPr/>
          </p:nvCxnSpPr>
          <p:spPr>
            <a:xfrm flipV="1">
              <a:off x="6444413" y="494500"/>
              <a:ext cx="0" cy="2344235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781761" y="448154"/>
              <a:ext cx="769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PCC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6453" y="196775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</a:t>
              </a:r>
              <a:endParaRPr lang="en-US" baseline="-25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94449" y="345568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IR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341" y="209697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A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57440" y="354567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B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20613" y="2249184"/>
              <a:ext cx="87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ALUout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453813" y="3645847"/>
              <a:ext cx="686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imm</a:t>
              </a:r>
              <a:r>
                <a:rPr lang="en-US" baseline="-25000" dirty="0" err="1"/>
                <a:t>X</a:t>
              </a:r>
              <a:endParaRPr lang="en-US" baseline="-25000" dirty="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4996613" y="3722047"/>
              <a:ext cx="556492" cy="457200"/>
              <a:chOff x="3886200" y="3257550"/>
              <a:chExt cx="556492" cy="457200"/>
            </a:xfrm>
          </p:grpSpPr>
          <p:sp>
            <p:nvSpPr>
              <p:cNvPr id="69" name="Trapezoid 68"/>
              <p:cNvSpPr/>
              <p:nvPr/>
            </p:nvSpPr>
            <p:spPr>
              <a:xfrm rot="5400000">
                <a:off x="3848100" y="3295650"/>
                <a:ext cx="457200" cy="381000"/>
              </a:xfrm>
              <a:prstGeom prst="trapezoid">
                <a:avLst>
                  <a:gd name="adj" fmla="val 30656"/>
                </a:avLst>
              </a:prstGeom>
              <a:solidFill>
                <a:srgbClr val="FFFFFF"/>
              </a:solidFill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09292" y="3304885"/>
                <a:ext cx="53340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err="1"/>
                  <a:t>Imm</a:t>
                </a:r>
                <a:r>
                  <a:rPr lang="en-US" sz="1600" dirty="0"/>
                  <a:t>.</a:t>
                </a: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3167813" y="2821754"/>
              <a:ext cx="228600" cy="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110" idx="0"/>
            </p:cNvCxnSpPr>
            <p:nvPr/>
          </p:nvCxnSpPr>
          <p:spPr>
            <a:xfrm flipV="1">
              <a:off x="2991667" y="2806919"/>
              <a:ext cx="210777" cy="481034"/>
            </a:xfrm>
            <a:prstGeom prst="line">
              <a:avLst/>
            </a:prstGeom>
            <a:ln w="28575" cmpd="sng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342063" y="320434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MDR</a:t>
              </a:r>
              <a:endParaRPr lang="en-US" baseline="-25000" dirty="0">
                <a:solidFill>
                  <a:srgbClr val="7030A0"/>
                </a:solidFill>
              </a:endParaRP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1806354" y="2731899"/>
              <a:ext cx="1165446" cy="0"/>
            </a:xfrm>
            <a:prstGeom prst="line">
              <a:avLst/>
            </a:prstGeom>
            <a:ln w="28575" cmpd="sng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2784222" y="1956747"/>
              <a:ext cx="4194428" cy="501650"/>
            </a:xfrm>
            <a:custGeom>
              <a:avLst/>
              <a:gdLst>
                <a:gd name="connsiteX0" fmla="*/ 4292600 w 4292600"/>
                <a:gd name="connsiteY0" fmla="*/ 501650 h 501650"/>
                <a:gd name="connsiteX1" fmla="*/ 4292600 w 4292600"/>
                <a:gd name="connsiteY1" fmla="*/ 0 h 501650"/>
                <a:gd name="connsiteX2" fmla="*/ 0 w 4292600"/>
                <a:gd name="connsiteY2" fmla="*/ 0 h 501650"/>
                <a:gd name="connsiteX3" fmla="*/ 0 w 4292600"/>
                <a:gd name="connsiteY3" fmla="*/ 342900 h 501650"/>
                <a:gd name="connsiteX4" fmla="*/ 209550 w 4292600"/>
                <a:gd name="connsiteY4" fmla="*/ 342900 h 50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2600" h="501650">
                  <a:moveTo>
                    <a:pt x="4292600" y="501650"/>
                  </a:moveTo>
                  <a:lnTo>
                    <a:pt x="4292600" y="0"/>
                  </a:lnTo>
                  <a:lnTo>
                    <a:pt x="0" y="0"/>
                  </a:lnTo>
                  <a:lnTo>
                    <a:pt x="0" y="342900"/>
                  </a:lnTo>
                  <a:lnTo>
                    <a:pt x="209550" y="34290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631989" y="1773538"/>
              <a:ext cx="6376087" cy="1193202"/>
            </a:xfrm>
            <a:custGeom>
              <a:avLst/>
              <a:gdLst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469557 w 6376087"/>
                <a:gd name="connsiteY5" fmla="*/ 803189 h 1272746"/>
                <a:gd name="connsiteX0" fmla="*/ 6079525 w 6376087"/>
                <a:gd name="connsiteY0" fmla="*/ 1272746 h 1272746"/>
                <a:gd name="connsiteX1" fmla="*/ 6376087 w 6376087"/>
                <a:gd name="connsiteY1" fmla="*/ 1272746 h 1272746"/>
                <a:gd name="connsiteX2" fmla="*/ 6376087 w 6376087"/>
                <a:gd name="connsiteY2" fmla="*/ 0 h 1272746"/>
                <a:gd name="connsiteX3" fmla="*/ 0 w 6376087"/>
                <a:gd name="connsiteY3" fmla="*/ 0 h 1272746"/>
                <a:gd name="connsiteX4" fmla="*/ 0 w 6376087"/>
                <a:gd name="connsiteY4" fmla="*/ 803189 h 1272746"/>
                <a:gd name="connsiteX5" fmla="*/ 337035 w 6376087"/>
                <a:gd name="connsiteY5" fmla="*/ 803189 h 127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6087" h="1272746">
                  <a:moveTo>
                    <a:pt x="6079525" y="1272746"/>
                  </a:moveTo>
                  <a:lnTo>
                    <a:pt x="6376087" y="1272746"/>
                  </a:lnTo>
                  <a:lnTo>
                    <a:pt x="6376087" y="0"/>
                  </a:lnTo>
                  <a:lnTo>
                    <a:pt x="0" y="0"/>
                  </a:lnTo>
                  <a:lnTo>
                    <a:pt x="0" y="803189"/>
                  </a:lnTo>
                  <a:lnTo>
                    <a:pt x="337035" y="80318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4200" y="2502741"/>
              <a:ext cx="280073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 flipV="1">
              <a:off x="1844362" y="766365"/>
              <a:ext cx="3633767" cy="6693"/>
            </a:xfrm>
            <a:prstGeom prst="line">
              <a:avLst/>
            </a:prstGeom>
            <a:ln w="28575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 60"/>
            <p:cNvSpPr/>
            <p:nvPr/>
          </p:nvSpPr>
          <p:spPr>
            <a:xfrm>
              <a:off x="1502860" y="787787"/>
              <a:ext cx="187200" cy="1949264"/>
            </a:xfrm>
            <a:custGeom>
              <a:avLst/>
              <a:gdLst>
                <a:gd name="connsiteX0" fmla="*/ 0 w 193637"/>
                <a:gd name="connsiteY0" fmla="*/ 1376979 h 1376979"/>
                <a:gd name="connsiteX1" fmla="*/ 0 w 193637"/>
                <a:gd name="connsiteY1" fmla="*/ 0 h 1376979"/>
                <a:gd name="connsiteX2" fmla="*/ 193637 w 193637"/>
                <a:gd name="connsiteY2" fmla="*/ 0 h 13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637" h="1376979">
                  <a:moveTo>
                    <a:pt x="0" y="1376979"/>
                  </a:moveTo>
                  <a:lnTo>
                    <a:pt x="0" y="0"/>
                  </a:lnTo>
                  <a:lnTo>
                    <a:pt x="19363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682851" y="559063"/>
              <a:ext cx="154074" cy="533399"/>
              <a:chOff x="1529742" y="2685366"/>
              <a:chExt cx="154074" cy="533399"/>
            </a:xfrm>
            <a:solidFill>
              <a:schemeClr val="accent1"/>
            </a:solidFill>
          </p:grpSpPr>
          <p:sp>
            <p:nvSpPr>
              <p:cNvPr id="67" name="Rectangle 66"/>
              <p:cNvSpPr/>
              <p:nvPr/>
            </p:nvSpPr>
            <p:spPr>
              <a:xfrm>
                <a:off x="1531415" y="2685366"/>
                <a:ext cx="152401" cy="533399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Courier New"/>
                  <a:cs typeface="Courier New"/>
                </a:endParaRPr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1529742" y="3050317"/>
                <a:ext cx="152400" cy="152399"/>
              </a:xfrm>
              <a:prstGeom prst="triangle">
                <a:avLst/>
              </a:prstGeom>
              <a:grpFill/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4" name="Straight Arrow Connector 63"/>
            <p:cNvCxnSpPr/>
            <p:nvPr/>
          </p:nvCxnSpPr>
          <p:spPr>
            <a:xfrm>
              <a:off x="5501949" y="3181350"/>
              <a:ext cx="19266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418135" y="309589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4</a:t>
              </a:r>
            </a:p>
          </p:txBody>
        </p:sp>
        <p:cxnSp>
          <p:nvCxnSpPr>
            <p:cNvPr id="66" name="Elbow Connector 65"/>
            <p:cNvCxnSpPr/>
            <p:nvPr/>
          </p:nvCxnSpPr>
          <p:spPr>
            <a:xfrm>
              <a:off x="1924969" y="882147"/>
              <a:ext cx="3752870" cy="1692943"/>
            </a:xfrm>
            <a:prstGeom prst="bentConnector3">
              <a:avLst>
                <a:gd name="adj1" fmla="val 92683"/>
              </a:avLst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62"/>
            <p:cNvSpPr/>
            <p:nvPr/>
          </p:nvSpPr>
          <p:spPr>
            <a:xfrm>
              <a:off x="252484" y="428427"/>
              <a:ext cx="6724493" cy="2410308"/>
            </a:xfrm>
            <a:custGeom>
              <a:avLst/>
              <a:gdLst>
                <a:gd name="connsiteX0" fmla="*/ 6728346 w 6728346"/>
                <a:gd name="connsiteY0" fmla="*/ 1003111 h 1890215"/>
                <a:gd name="connsiteX1" fmla="*/ 6728346 w 6728346"/>
                <a:gd name="connsiteY1" fmla="*/ 0 h 1890215"/>
                <a:gd name="connsiteX2" fmla="*/ 0 w 6728346"/>
                <a:gd name="connsiteY2" fmla="*/ 0 h 1890215"/>
                <a:gd name="connsiteX3" fmla="*/ 0 w 6728346"/>
                <a:gd name="connsiteY3" fmla="*/ 1890215 h 1890215"/>
                <a:gd name="connsiteX4" fmla="*/ 559558 w 6728346"/>
                <a:gd name="connsiteY4" fmla="*/ 1890215 h 189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8346" h="1890215">
                  <a:moveTo>
                    <a:pt x="6728346" y="1003111"/>
                  </a:moveTo>
                  <a:lnTo>
                    <a:pt x="6728346" y="0"/>
                  </a:lnTo>
                  <a:lnTo>
                    <a:pt x="0" y="0"/>
                  </a:lnTo>
                  <a:lnTo>
                    <a:pt x="0" y="1890215"/>
                  </a:lnTo>
                  <a:lnTo>
                    <a:pt x="559558" y="18902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Connector 102"/>
          <p:cNvCxnSpPr/>
          <p:nvPr/>
        </p:nvCxnSpPr>
        <p:spPr>
          <a:xfrm flipV="1">
            <a:off x="6984478" y="1772869"/>
            <a:ext cx="0" cy="102338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 flipV="1">
            <a:off x="4572000" y="1950512"/>
            <a:ext cx="1805" cy="1630321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V="1">
            <a:off x="4720040" y="1814317"/>
            <a:ext cx="13069" cy="2678470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 flipV="1">
            <a:off x="2967480" y="1950511"/>
            <a:ext cx="1585219" cy="419322"/>
          </a:xfrm>
          <a:prstGeom prst="bentConnector3">
            <a:avLst>
              <a:gd name="adj1" fmla="val 119547"/>
            </a:avLst>
          </a:prstGeom>
          <a:ln w="28575" cmpd="sng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/>
          <p:nvPr/>
        </p:nvCxnSpPr>
        <p:spPr>
          <a:xfrm rot="10800000" flipV="1">
            <a:off x="2978465" y="1814316"/>
            <a:ext cx="1754578" cy="719080"/>
          </a:xfrm>
          <a:prstGeom prst="bentConnector3">
            <a:avLst>
              <a:gd name="adj1" fmla="val 125401"/>
            </a:avLst>
          </a:prstGeom>
          <a:ln w="28575" cmpd="sng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rapezoid 109"/>
          <p:cNvSpPr/>
          <p:nvPr/>
        </p:nvSpPr>
        <p:spPr>
          <a:xfrm rot="5400000">
            <a:off x="2512698" y="4066494"/>
            <a:ext cx="812251" cy="159017"/>
          </a:xfrm>
          <a:prstGeom prst="trapezoid">
            <a:avLst>
              <a:gd name="adj" fmla="val 62709"/>
            </a:avLst>
          </a:prstGeom>
          <a:solidFill>
            <a:srgbClr val="FFFFFF"/>
          </a:solidFill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2667000" y="4019550"/>
            <a:ext cx="172315" cy="0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2667000" y="4207609"/>
            <a:ext cx="172315" cy="0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2667000" y="4400550"/>
            <a:ext cx="172315" cy="0"/>
          </a:xfrm>
          <a:prstGeom prst="line">
            <a:avLst/>
          </a:prstGeom>
          <a:ln w="28575" cmpd="sng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2778925" y="4203065"/>
            <a:ext cx="11962" cy="424367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2743200" y="4393225"/>
            <a:ext cx="9957" cy="318953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2778925" y="4627432"/>
            <a:ext cx="219407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flipH="1">
            <a:off x="2980924" y="3970496"/>
            <a:ext cx="193555" cy="656936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2735506" y="4705350"/>
            <a:ext cx="274904" cy="0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flipH="1">
            <a:off x="3011600" y="4274676"/>
            <a:ext cx="168158" cy="437502"/>
          </a:xfrm>
          <a:prstGeom prst="line">
            <a:avLst/>
          </a:prstGeom>
          <a:ln w="285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A65E188-8556-ADB1-AF6A-C705A2E7EAE1}"/>
                  </a:ext>
                </a:extLst>
              </p:cNvPr>
              <p:cNvSpPr/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dirty="0">
                    <a:solidFill>
                      <a:srgbClr val="FF0000"/>
                    </a:solidFill>
                  </a:rPr>
                  <a:t>swap rs1, rs2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𝑅𝑒𝑔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A65E188-8556-ADB1-AF6A-C705A2E7E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9" y="234445"/>
                <a:ext cx="8723876" cy="1042721"/>
              </a:xfrm>
              <a:prstGeom prst="rect">
                <a:avLst/>
              </a:prstGeom>
              <a:blipFill>
                <a:blip r:embed="rId3"/>
                <a:stretch>
                  <a:fillRect l="-1163" t="-4819" b="-602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7698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D536-8BC2-A00F-F3D5-9A3875F0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7D2102-D002-9DFD-7E00-430C3263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8576" tIns="19289" rIns="38576" bIns="19289" rtlCol="0" anchor="b">
            <a:normAutofit/>
          </a:bodyPr>
          <a:lstStyle/>
          <a:p>
            <a:pPr algn="r"/>
            <a:r>
              <a:rPr lang="he-IL" dirty="0"/>
              <a:t>סיכום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17FA55-A75F-E8B2-A70A-89A21A724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61993"/>
            <a:ext cx="7543800" cy="3267157"/>
          </a:xfrm>
        </p:spPr>
        <p:txBody>
          <a:bodyPr>
            <a:normAutofit/>
          </a:bodyPr>
          <a:lstStyle/>
          <a:p>
            <a:pPr marL="68580" indent="-6858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 </a:t>
            </a:r>
            <a:r>
              <a:rPr lang="he-IL" sz="2100" dirty="0"/>
              <a:t>ארכיטקטורת </a:t>
            </a:r>
            <a:r>
              <a:rPr lang="en-US" sz="2100" dirty="0"/>
              <a:t>Multi Cycle RISC-V</a:t>
            </a:r>
            <a:endParaRPr lang="he-IL" sz="2100" dirty="0"/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שינויים ב-</a:t>
            </a:r>
            <a:r>
              <a:rPr lang="en-US" sz="1650" dirty="0"/>
              <a:t>Data Path</a:t>
            </a:r>
            <a:endParaRPr lang="he-IL" sz="1650" dirty="0"/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350" dirty="0"/>
              <a:t> הוספת רגיסטרים זמניים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350" dirty="0"/>
              <a:t> אין יותר חומרה ייעודית לחישוב תנאי קפיצה וקידום ה-</a:t>
            </a:r>
            <a:r>
              <a:rPr lang="en-US" sz="1350" dirty="0"/>
              <a:t>pc</a:t>
            </a:r>
            <a:r>
              <a:rPr lang="he-IL" sz="1350" dirty="0"/>
              <a:t>.</a:t>
            </a:r>
          </a:p>
          <a:p>
            <a:pPr lvl="1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650" dirty="0"/>
              <a:t> בקר (</a:t>
            </a:r>
            <a:r>
              <a:rPr lang="en-US" sz="1650" dirty="0"/>
              <a:t>Controller</a:t>
            </a:r>
            <a:r>
              <a:rPr lang="he-IL" sz="1650" dirty="0"/>
              <a:t>) כמכונת מצבים</a:t>
            </a:r>
          </a:p>
          <a:p>
            <a:pPr lvl="2" indent="-68580">
              <a:spcBef>
                <a:spcPts val="900"/>
              </a:spcBef>
              <a:spcAft>
                <a:spcPts val="150"/>
              </a:spcAft>
              <a:buSzPct val="100000"/>
              <a:buFont typeface="Wingdings" panose="05000000000000000000" pitchFamily="2" charset="2"/>
              <a:buChar char="§"/>
            </a:pPr>
            <a:r>
              <a:rPr lang="he-IL" sz="1350" dirty="0"/>
              <a:t> מימוש יעיל ע״י </a:t>
            </a:r>
            <a:r>
              <a:rPr lang="en-US" sz="1350" dirty="0"/>
              <a:t>Adress Controller</a:t>
            </a:r>
            <a:r>
              <a:rPr lang="he-IL" sz="13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14406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1912-04CC-D3BD-CA8E-F066A3A1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346DBC-0C1C-AAAB-C761-76F7680C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8576" tIns="19289" rIns="38576" bIns="19289" rtlCol="0" anchor="b">
            <a:normAutofit/>
          </a:bodyPr>
          <a:lstStyle/>
          <a:p>
            <a:pPr algn="r"/>
            <a:r>
              <a:rPr lang="he-IL" dirty="0"/>
              <a:t>שבוע הבא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43F51DB-70ED-B316-1066-86F68F17B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61993"/>
            <a:ext cx="7543800" cy="3267157"/>
          </a:xfrm>
        </p:spPr>
        <p:txBody>
          <a:bodyPr>
            <a:normAutofit/>
          </a:bodyPr>
          <a:lstStyle/>
          <a:p>
            <a:pPr marL="68580" indent="-6858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he-IL" sz="2100" dirty="0"/>
              <a:t> חריגות</a:t>
            </a:r>
          </a:p>
          <a:p>
            <a:pPr marL="68580" indent="-6858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he-IL" sz="2100" dirty="0"/>
              <a:t> פסיקות</a:t>
            </a:r>
          </a:p>
          <a:p>
            <a:pPr marL="0" indent="0" algn="r" defTabSz="68580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None/>
            </a:pPr>
            <a:endParaRPr lang="he-IL" sz="2100" dirty="0"/>
          </a:p>
        </p:txBody>
      </p:sp>
    </p:spTree>
    <p:extLst>
      <p:ext uri="{BB962C8B-B14F-4D97-AF65-F5344CB8AC3E}">
        <p14:creationId xmlns:p14="http://schemas.microsoft.com/office/powerpoint/2010/main" val="2500434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26623</TotalTime>
  <Words>3313</Words>
  <Application>Microsoft Macintosh PowerPoint</Application>
  <PresentationFormat>On-screen Show (16:9)</PresentationFormat>
  <Paragraphs>1598</Paragraphs>
  <Slides>61</Slides>
  <Notes>51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Arial Hebrew Scholar</vt:lpstr>
      <vt:lpstr>Calibri</vt:lpstr>
      <vt:lpstr>Calibri Light</vt:lpstr>
      <vt:lpstr>Cambria Math</vt:lpstr>
      <vt:lpstr>Courier New</vt:lpstr>
      <vt:lpstr>Symbol</vt:lpstr>
      <vt:lpstr>Times New Roman</vt:lpstr>
      <vt:lpstr>Wingdings</vt:lpstr>
      <vt:lpstr>Retrospect</vt:lpstr>
      <vt:lpstr>Visio</vt:lpstr>
      <vt:lpstr> תרגול 11   RISC-V Multi Cycle</vt:lpstr>
      <vt:lpstr>שבוע שעבר - תזכרות</vt:lpstr>
      <vt:lpstr>השבוע</vt:lpstr>
      <vt:lpstr>מוטיבציה</vt:lpstr>
      <vt:lpstr>Single-Cycle RISC-V RV32I Datapath</vt:lpstr>
      <vt:lpstr>נחלק את ה-Datapath ל-5 שלבים כמו שראינו...</vt:lpstr>
      <vt:lpstr>PowerPoint Presentation</vt:lpstr>
      <vt:lpstr>5 שלבים ← 5 מחזורים (עם לולאות)</vt:lpstr>
      <vt:lpstr>הבקר הופך למכונת מצבים (FSM)</vt:lpstr>
      <vt:lpstr>מכונת המצבים של הבקר -Controller State Machine</vt:lpstr>
      <vt:lpstr>הוספת רגיסטרים זמניים (temporary)  (ועוד כמה שינויים...)</vt:lpstr>
      <vt:lpstr>הוספת רגיסטרים זמניים (temporary)  (ועוד כמה שינויים...)</vt:lpstr>
      <vt:lpstr>הוספת רגיסטרים זמניים (temporary)  (ועוד כמה שינויים...)</vt:lpstr>
      <vt:lpstr>מחזורFETCH  - זהה לכל הפקודות</vt:lpstr>
      <vt:lpstr> Fetch Cycle</vt:lpstr>
      <vt:lpstr>מחזור Decode  - זהה לכל הפקודות</vt:lpstr>
      <vt:lpstr>Instruction Decode / Register Fetch</vt:lpstr>
      <vt:lpstr>Controller State Machine – R-Type</vt:lpstr>
      <vt:lpstr>Execute (R-Type)</vt:lpstr>
      <vt:lpstr>Write-back (R-Type)</vt:lpstr>
      <vt:lpstr>PowerPoint Presentation</vt:lpstr>
      <vt:lpstr>Execute (Branch)</vt:lpstr>
      <vt:lpstr>PowerPoint Presentation</vt:lpstr>
      <vt:lpstr>Execute (Load / Store)</vt:lpstr>
      <vt:lpstr>Memory (Store)</vt:lpstr>
      <vt:lpstr>Memory (Load)</vt:lpstr>
      <vt:lpstr>Write-Back (Load)</vt:lpstr>
      <vt:lpstr>PowerPoint Presentation</vt:lpstr>
      <vt:lpstr>Execute (JAL)</vt:lpstr>
      <vt:lpstr>Execute (JALR)</vt:lpstr>
      <vt:lpstr>תזכורת: Data Path + Controller</vt:lpstr>
      <vt:lpstr>הוספת לוגיקה לבחירת המצב הבא</vt:lpstr>
      <vt:lpstr>PowerPoint Presentation</vt:lpstr>
      <vt:lpstr>טבלת מעברים – Adress Control</vt:lpstr>
      <vt:lpstr>טבלאות של מצב 1 ומצב 2</vt:lpstr>
      <vt:lpstr>Micro-code Controller</vt:lpstr>
      <vt:lpstr>Micro-coded RISC-V controller</vt:lpstr>
      <vt:lpstr>שאלות</vt:lpstr>
      <vt:lpstr>שאלה 1</vt:lpstr>
      <vt:lpstr>שאלה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שאלה 4</vt:lpstr>
      <vt:lpstr>שאלה 5</vt:lpstr>
      <vt:lpstr>PowerPoint Presentation</vt:lpstr>
      <vt:lpstr>PowerPoint Presentation</vt:lpstr>
      <vt:lpstr>Controller State Machine</vt:lpstr>
      <vt:lpstr>Controller State Machine</vt:lpstr>
      <vt:lpstr>PowerPoint Presentation</vt:lpstr>
      <vt:lpstr>Controller State Machine</vt:lpstr>
      <vt:lpstr>PowerPoint Presentation</vt:lpstr>
      <vt:lpstr>Controller State Machine</vt:lpstr>
      <vt:lpstr>שאלה 6</vt:lpstr>
      <vt:lpstr>PowerPoint Presentation</vt:lpstr>
      <vt:lpstr>PowerPoint Presentation</vt:lpstr>
      <vt:lpstr>PowerPoint Presentation</vt:lpstr>
      <vt:lpstr>סיכום</vt:lpstr>
      <vt:lpstr>שבוע הבא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61C:  Great Ideas in Computer Architecture   Lecture 1: Introduction</dc:title>
  <dc:subject/>
  <dc:creator>Bernhard E. Boser</dc:creator>
  <cp:keywords/>
  <dc:description/>
  <cp:lastModifiedBy>Ben Hanuka</cp:lastModifiedBy>
  <cp:revision>1535</cp:revision>
  <dcterms:created xsi:type="dcterms:W3CDTF">2016-08-05T18:45:47Z</dcterms:created>
  <dcterms:modified xsi:type="dcterms:W3CDTF">2026-01-14T15:18:05Z</dcterms:modified>
  <cp:category/>
</cp:coreProperties>
</file>